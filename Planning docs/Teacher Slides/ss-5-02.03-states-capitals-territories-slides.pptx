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Antique engraved map showing the eastern seaboard of North America circa 1776-1790, showing colonial boundaries transitioning to state boundaries, parchment texture, scholarly editorial feelIMAGE TO INSERT: Antique engraved map of the eastern seaboard 1776-1790, colonial boundaries to state boundaries, parchment texture. Welcome back. Recap: physical features are evidence, not scenery. Today the Herald claims states, territories, and colonies can all be reported the same way. An honest Gazette knows the difference — and today we learn why that precision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Herald's mistake is understandable — to a casual reader, these all seem like 'places that are part of the US.' The important insight today: precision in language shapes the story. Calling Puerto Rico a 'state' is legally wrong and historically misleading. Let students feel why it matters before teaching the distinctions.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An editor's desk covered with historical maps — colonial maps, territorial maps, state maps from different eras side by side — warm light, careful scholarly atmosphereMs. Avery's charge: precision is honesty. This is different from the last two lessons — today is about language and legal categories, not just geographic features. The skill is knowing which word fits which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Silence first. Students should notice: colonial and state boundaries are very similar. Capitals appear as stars on the state map but not always the colonial map. This visual comparison sets up the distinction between a colony (British-controlled) and a state (self-governing, full member of the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column. The critical distinctions: States = full representation. Territories = citizens but limited votes. Colonies = no self-governance under Britain. The Virginia example shows the path: colony → state. Puerto Rico shows the difference: territory ≠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scaffolds Notebook Q1 ('In your own words, explain the difference between a US state and a US territory'). The Puerto Rico example is especially powerful — residents are citizens, but cannot vote for president. That's a real-world consequence of imprecise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clue box directly supports Notebook Question 2: 'Name two of the original thirteen colonies and explain what happened to their boundaries when they became states.' Students explore this here before writing their answer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historical engraving of the signing of the US Constitution or the Declaration of Independence — formal, significant, the moment colonies became states — editorial illustration styleReveal: three distinct terms, three distinct legal histories. The Virginia example is the perfect thread — British colony 1607, declared independence 1776, ratified the Constitution 1788, full state. Run the retrieval. Cover the screen. Name all three with one distinction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an editor's pencil correcting a draft — crossing out an imprecise word and writing the correct term above it — meticulous, honest, careful craftHonesty in journalism: the willingness to use the right word even when the simpler word would be faster. This is harder than it sounds — imprecision often comes from laziness, not dishonesty. But the effect is the same: readers are misled.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four-step process: identify time period → apply correct term → add the transition → check precision. The Massachusetts example is perfect because it has both a colonial period AND a state period. Show the transformation from imprecise Herald draft to precise Gazette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Puerto Rico example is the most important one for modern relevance. Students should be able to say: territory (not state), residents are citizens, but cannot vote for president, no voting members of Congress. The Herald is right that residents are citizens — wrong to call it 'basically a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Errors: (1) Puerto Rico is a TERRITORY, not a state. (2) The thirteen colonies were NOT territories — they were British colonies with no self-governance. Territories are different. (3) Colonies did NOT have senators or capitals — those came with statehood. Multiple serious errors. Let students find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contemporary debate. Don't take a side — present both arguments fairly. The pedagogical point: knowing the precise legal distinction between state and territory is what makes this debate intelligible. The Herald's imprecision obscures a real civil rights question. Precision isn't just academic — it matters for citizenship.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questions scaffolded: Q1 on slide 6 (state vs. territory discussion), Q2 on slide 7 (colonies-to-states map), Q3 throughout the lesson. Check all boxes before submitting Issue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fact-check. Note for Q2: Florida is a good trap answer — students might think it's a colony because it's in the South. It wasn't — it was Spanish, then a US territory, then a state. Massachusetts is the correct answer for an original colony.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printing press setting individual letter blocks to spell out 'STATE — TERRITORY — COLONY' — metaphor for precise language, careful craft, honest reportingCelebrate the team. Restate: three precise terms, three distinct legal histories. Tomorrow: the Map Room's biggest question yet — does geography explain American history, or did everything just happen by chance? The Herald has already called it 'mostly random.' See you then, Junior Editors.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THE REPUBLIC GAZETTE  ·  Vol. 1, Issue 7  ·  Week 4 · Map Room Edition</a:t>
            </a:r>
            <a:endParaRPr lang="en-US" sz="1100" dirty="0"/>
          </a:p>
        </p:txBody>
      </p:sp>
      <p:sp>
        <p:nvSpPr>
          <p:cNvPr id="7" name="Text 4"/>
          <p:cNvSpPr/>
          <p:nvPr/>
        </p:nvSpPr>
        <p:spPr>
          <a:xfrm>
            <a:off x="457200" y="658368"/>
            <a:ext cx="8229600" cy="50292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STATES, CAPITALS, TERRITORIES,</a:t>
            </a:r>
            <a:endParaRPr lang="en-US" sz="3400" dirty="0"/>
          </a:p>
        </p:txBody>
      </p:sp>
      <p:sp>
        <p:nvSpPr>
          <p:cNvPr id="8" name="Text 5"/>
          <p:cNvSpPr/>
          <p:nvPr/>
        </p:nvSpPr>
        <p:spPr>
          <a:xfrm>
            <a:off x="457200" y="1170432"/>
            <a:ext cx="8229600" cy="438912"/>
          </a:xfrm>
          <a:prstGeom prst="rect">
            <a:avLst/>
          </a:prstGeom>
          <a:noFill/>
          <a:ln/>
        </p:spPr>
        <p:txBody>
          <a:bodyPr wrap="square" rtlCol="0" anchor="ctr"/>
          <a:lstStyle/>
          <a:p>
            <a:pPr algn="ctr" indent="0" marL="0">
              <a:buNone/>
            </a:pPr>
            <a:r>
              <a:rPr lang="en-US" sz="2800" b="1" dirty="0">
                <a:solidFill>
                  <a:srgbClr val="55C8E8"/>
                </a:solidFill>
                <a:latin typeface="Cambria" pitchFamily="34" charset="0"/>
                <a:ea typeface="Cambria" pitchFamily="34" charset="-122"/>
                <a:cs typeface="Cambria" pitchFamily="34" charset="-120"/>
              </a:rPr>
              <a:t>AND THE THIRTEEN COLONIES</a:t>
            </a:r>
            <a:endParaRPr lang="en-US" sz="2800" dirty="0"/>
          </a:p>
        </p:txBody>
      </p:sp>
      <p:sp>
        <p:nvSpPr>
          <p:cNvPr id="9" name="Text 6"/>
          <p:cNvSpPr/>
          <p:nvPr/>
        </p:nvSpPr>
        <p:spPr>
          <a:xfrm>
            <a:off x="457200" y="1664208"/>
            <a:ext cx="8229600" cy="274320"/>
          </a:xfrm>
          <a:prstGeom prst="rect">
            <a:avLst/>
          </a:prstGeom>
          <a:noFill/>
          <a:ln/>
        </p:spPr>
        <p:txBody>
          <a:bodyPr wrap="square" rtlCol="0" anchor="ctr"/>
          <a:lstStyle/>
          <a:p>
            <a:pPr algn="ctr" indent="0" marL="0">
              <a:buNone/>
            </a:pPr>
            <a:r>
              <a:rPr lang="en-US" sz="1300" dirty="0">
                <a:solidFill>
                  <a:srgbClr val="7A88A8"/>
                </a:solidFill>
                <a:latin typeface="Calibri" pitchFamily="34" charset="0"/>
                <a:ea typeface="Calibri" pitchFamily="34" charset="-122"/>
                <a:cs typeface="Calibri" pitchFamily="34" charset="-120"/>
              </a:rPr>
              <a:t>Lesson 5.02.03  ·  Week 4, Q1  ·  Unit 2: Geography of North America</a:t>
            </a:r>
            <a:endParaRPr lang="en-US" sz="1300" dirty="0"/>
          </a:p>
        </p:txBody>
      </p:sp>
      <p:sp>
        <p:nvSpPr>
          <p:cNvPr id="10" name="Shape 7"/>
          <p:cNvSpPr/>
          <p:nvPr/>
        </p:nvSpPr>
        <p:spPr>
          <a:xfrm>
            <a:off x="1097280" y="2057400"/>
            <a:ext cx="6949440" cy="685800"/>
          </a:xfrm>
          <a:prstGeom prst="roundRect">
            <a:avLst>
              <a:gd name="adj" fmla="val 16000"/>
            </a:avLst>
          </a:prstGeom>
          <a:solidFill>
            <a:srgbClr val="1A2D5A"/>
          </a:solidFill>
          <a:ln w="19050">
            <a:solidFill>
              <a:srgbClr val="55C8E8"/>
            </a:solidFill>
            <a:prstDash val="solid"/>
          </a:ln>
        </p:spPr>
      </p:sp>
      <p:sp>
        <p:nvSpPr>
          <p:cNvPr id="11" name="Text 8"/>
          <p:cNvSpPr/>
          <p:nvPr/>
        </p:nvSpPr>
        <p:spPr>
          <a:xfrm>
            <a:off x="1280160" y="2121408"/>
            <a:ext cx="6583680" cy="557784"/>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Are states, territories, and the thirteen colonies really the same kind of thing — or does each one mean something distinct on the map and in history?</a:t>
            </a:r>
            <a:endParaRPr lang="en-US" sz="1400" dirty="0"/>
          </a:p>
        </p:txBody>
      </p:sp>
      <p:sp>
        <p:nvSpPr>
          <p:cNvPr id="12" name="Shape 9"/>
          <p:cNvSpPr/>
          <p:nvPr/>
        </p:nvSpPr>
        <p:spPr>
          <a:xfrm>
            <a:off x="1097280" y="2852928"/>
            <a:ext cx="6949440" cy="594360"/>
          </a:xfrm>
          <a:prstGeom prst="roundRect">
            <a:avLst>
              <a:gd name="adj" fmla="val 15385"/>
            </a:avLst>
          </a:prstGeom>
          <a:solidFill>
            <a:srgbClr val="E8636B">
              <a:alpha val="80000"/>
            </a:srgbClr>
          </a:solidFill>
          <a:ln w="19050">
            <a:solidFill>
              <a:srgbClr val="E8636B"/>
            </a:solidFill>
            <a:prstDash val="solid"/>
          </a:ln>
        </p:spPr>
      </p:sp>
      <p:sp>
        <p:nvSpPr>
          <p:cNvPr id="13" name="Text 10"/>
          <p:cNvSpPr/>
          <p:nvPr/>
        </p:nvSpPr>
        <p:spPr>
          <a:xfrm>
            <a:off x="1280160" y="2907792"/>
            <a:ext cx="6583680" cy="4846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HASTY HERALD CLAIMS: "States, capitals, territories, and colonies can all be reported the same way."</a:t>
            </a:r>
            <a:endParaRPr lang="en-US" sz="1300" dirty="0"/>
          </a:p>
        </p:txBody>
      </p:sp>
      <p:sp>
        <p:nvSpPr>
          <p:cNvPr id="14" name="Text 11"/>
          <p:cNvSpPr/>
          <p:nvPr/>
        </p:nvSpPr>
        <p:spPr>
          <a:xfrm>
            <a:off x="457200" y="3611880"/>
            <a:ext cx="8229600" cy="27432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Junior Editors  ·  The Map Room  ·  Virtue: Honesty  ·  SS.5.G.1.1 · 1.2 · 1.3 · 1.4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640080"/>
          </a:xfrm>
          <a:prstGeom prst="rect">
            <a:avLst/>
          </a:prstGeom>
          <a:solidFill>
            <a:srgbClr val="E8636B"/>
          </a:solidFill>
          <a:ln/>
        </p:spPr>
      </p:sp>
      <p:sp>
        <p:nvSpPr>
          <p:cNvPr id="4" name="Text 2"/>
          <p:cNvSpPr/>
          <p:nvPr/>
        </p:nvSpPr>
        <p:spPr>
          <a:xfrm>
            <a:off x="182880" y="109728"/>
            <a:ext cx="877824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THE HASTY HERALD  ·  Today's News · Yesterday · Maybe</a:t>
            </a:r>
            <a:endParaRPr lang="en-US" sz="1400" dirty="0"/>
          </a:p>
        </p:txBody>
      </p:sp>
      <p:sp>
        <p:nvSpPr>
          <p:cNvPr id="5" name="Shape 3"/>
          <p:cNvSpPr/>
          <p:nvPr/>
        </p:nvSpPr>
        <p:spPr>
          <a:xfrm>
            <a:off x="457200" y="777240"/>
            <a:ext cx="8229600" cy="914400"/>
          </a:xfrm>
          <a:prstGeom prst="roundRect">
            <a:avLst>
              <a:gd name="adj" fmla="val 10000"/>
            </a:avLst>
          </a:prstGeom>
          <a:solidFill>
            <a:srgbClr val="FFFFFF"/>
          </a:solidFill>
          <a:ln w="25400">
            <a:solidFill>
              <a:srgbClr val="E8636B"/>
            </a:solidFill>
            <a:prstDash val="solid"/>
          </a:ln>
        </p:spPr>
      </p:sp>
      <p:sp>
        <p:nvSpPr>
          <p:cNvPr id="6" name="Text 4"/>
          <p:cNvSpPr/>
          <p:nvPr/>
        </p:nvSpPr>
        <p:spPr>
          <a:xfrm>
            <a:off x="594360" y="841248"/>
            <a:ext cx="7955280" cy="384048"/>
          </a:xfrm>
          <a:prstGeom prst="rect">
            <a:avLst/>
          </a:prstGeom>
          <a:noFill/>
          <a:ln/>
        </p:spPr>
        <p:txBody>
          <a:bodyPr wrap="square" rtlCol="0" anchor="ctr"/>
          <a:lstStyle/>
          <a:p>
            <a:pPr algn="ctr" indent="0" marL="0">
              <a:buNone/>
            </a:pPr>
            <a:r>
              <a:rPr lang="en-US" sz="2200" b="1" dirty="0">
                <a:solidFill>
                  <a:srgbClr val="E8636B"/>
                </a:solidFill>
                <a:latin typeface="Cambria" pitchFamily="34" charset="0"/>
                <a:ea typeface="Cambria" pitchFamily="34" charset="-122"/>
                <a:cs typeface="Cambria" pitchFamily="34" charset="-120"/>
              </a:rPr>
              <a:t>STATES, TERRITORIES, COLONIES — ALL THE SAME!</a:t>
            </a:r>
            <a:endParaRPr lang="en-US" sz="2200" dirty="0"/>
          </a:p>
        </p:txBody>
      </p:sp>
      <p:sp>
        <p:nvSpPr>
          <p:cNvPr id="7" name="Text 5"/>
          <p:cNvSpPr/>
          <p:nvPr/>
        </p:nvSpPr>
        <p:spPr>
          <a:xfrm>
            <a:off x="594360" y="1243584"/>
            <a:ext cx="7955280" cy="347472"/>
          </a:xfrm>
          <a:prstGeom prst="rect">
            <a:avLst/>
          </a:prstGeom>
          <a:noFill/>
          <a:ln/>
        </p:spPr>
        <p:txBody>
          <a:bodyPr wrap="square" rtlCol="0" anchor="ctr"/>
          <a:lstStyle/>
          <a:p>
            <a:pPr algn="ctr" indent="0" marL="0">
              <a:buNone/>
            </a:pPr>
            <a:r>
              <a:rPr lang="en-US" sz="1300" i="1" dirty="0">
                <a:solidFill>
                  <a:srgbClr val="5A4A3A"/>
                </a:solidFill>
                <a:latin typeface="Calibri" pitchFamily="34" charset="0"/>
                <a:ea typeface="Calibri" pitchFamily="34" charset="-122"/>
                <a:cs typeface="Calibri" pitchFamily="34" charset="-120"/>
              </a:rPr>
              <a:t>"States, capitals, territories, and colonies can all be reported the same way."  — Filed by The Herald, minutes ago</a:t>
            </a:r>
            <a:endParaRPr lang="en-US" sz="1300" dirty="0"/>
          </a:p>
        </p:txBody>
      </p:sp>
      <p:sp>
        <p:nvSpPr>
          <p:cNvPr id="8" name="Shape 6"/>
          <p:cNvSpPr/>
          <p:nvPr/>
        </p:nvSpPr>
        <p:spPr>
          <a:xfrm>
            <a:off x="3474720" y="1828800"/>
            <a:ext cx="2194560" cy="347472"/>
          </a:xfrm>
          <a:prstGeom prst="roundRect">
            <a:avLst>
              <a:gd name="adj" fmla="val 26316"/>
            </a:avLst>
          </a:prstGeom>
          <a:solidFill>
            <a:srgbClr val="E8636B"/>
          </a:solidFill>
          <a:ln/>
        </p:spPr>
      </p:sp>
      <p:sp>
        <p:nvSpPr>
          <p:cNvPr id="9" name="Text 7"/>
          <p:cNvSpPr/>
          <p:nvPr/>
        </p:nvSpPr>
        <p:spPr>
          <a:xfrm>
            <a:off x="3520440" y="1874520"/>
            <a:ext cx="2103120" cy="256032"/>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RUSHED TO PRINT!</a:t>
            </a:r>
            <a:endParaRPr lang="en-US" sz="1000" dirty="0"/>
          </a:p>
        </p:txBody>
      </p:sp>
      <p:sp>
        <p:nvSpPr>
          <p:cNvPr id="10" name="Shape 8"/>
          <p:cNvSpPr/>
          <p:nvPr/>
        </p:nvSpPr>
        <p:spPr>
          <a:xfrm>
            <a:off x="274320" y="2331720"/>
            <a:ext cx="4297680" cy="2514600"/>
          </a:xfrm>
          <a:prstGeom prst="roundRect">
            <a:avLst>
              <a:gd name="adj" fmla="val 4364"/>
            </a:avLst>
          </a:prstGeom>
          <a:solidFill>
            <a:srgbClr val="1A2D5A"/>
          </a:solidFill>
          <a:ln w="12700">
            <a:solidFill>
              <a:srgbClr val="2A4070"/>
            </a:solidFill>
            <a:prstDash val="solid"/>
          </a:ln>
        </p:spPr>
      </p:sp>
      <p:sp>
        <p:nvSpPr>
          <p:cNvPr id="11" name="Text 9"/>
          <p:cNvSpPr/>
          <p:nvPr/>
        </p:nvSpPr>
        <p:spPr>
          <a:xfrm>
            <a:off x="411480" y="2386584"/>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457200" y="2651760"/>
            <a:ext cx="3931920" cy="21031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might someone think all these terms mean the same thing?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you think of ONE difference between a state and a colony — even without knowing the details?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the precision of these words actually matter for understanding history? Why?</a:t>
            </a:r>
            <a:endParaRPr lang="en-US" sz="1100" dirty="0"/>
          </a:p>
        </p:txBody>
      </p:sp>
      <p:sp>
        <p:nvSpPr>
          <p:cNvPr id="13" name="Shape 11"/>
          <p:cNvSpPr/>
          <p:nvPr/>
        </p:nvSpPr>
        <p:spPr>
          <a:xfrm>
            <a:off x="4754880" y="2331720"/>
            <a:ext cx="4114800" cy="2514600"/>
          </a:xfrm>
          <a:prstGeom prst="roundRect">
            <a:avLst>
              <a:gd name="adj" fmla="val 4364"/>
            </a:avLst>
          </a:prstGeom>
          <a:solidFill>
            <a:srgbClr val="FFF3DC"/>
          </a:solidFill>
          <a:ln w="19050">
            <a:solidFill>
              <a:srgbClr val="F5E6C8"/>
            </a:solidFill>
            <a:prstDash val="solid"/>
          </a:ln>
        </p:spPr>
      </p:sp>
      <p:sp>
        <p:nvSpPr>
          <p:cNvPr id="14" name="Text 12"/>
          <p:cNvSpPr/>
          <p:nvPr/>
        </p:nvSpPr>
        <p:spPr>
          <a:xfrm>
            <a:off x="4892040" y="238658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892040" y="2587752"/>
            <a:ext cx="3840480" cy="2194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there's a difference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might be right if... but wrong if..."</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"Precision matters in this case because..."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dirty="0">
                <a:solidFill>
                  <a:srgbClr val="0E1C42"/>
                </a:solidFill>
                <a:latin typeface="Cambria" pitchFamily="34" charset="0"/>
                <a:ea typeface="Cambria" pitchFamily="34" charset="-122"/>
                <a:cs typeface="Cambria" pitchFamily="34" charset="-120"/>
              </a:rPr>
              <a:t>DISPATCH 5.02.03  ·  PRECISE LANGUAGE IS HONEST LANGUAGE</a:t>
            </a:r>
            <a:endParaRPr lang="en-US" sz="1000" dirty="0"/>
          </a:p>
        </p:txBody>
      </p:sp>
      <p:sp>
        <p:nvSpPr>
          <p:cNvPr id="7" name="Text 4"/>
          <p:cNvSpPr/>
          <p:nvPr/>
        </p:nvSpPr>
        <p:spPr>
          <a:xfrm>
            <a:off x="457200" y="640080"/>
            <a:ext cx="8229600" cy="54864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Three Different Things on the Same Map</a:t>
            </a:r>
            <a:endParaRPr lang="en-US" sz="2800" dirty="0"/>
          </a:p>
        </p:txBody>
      </p:sp>
      <p:sp>
        <p:nvSpPr>
          <p:cNvPr id="8" name="Shape 5"/>
          <p:cNvSpPr/>
          <p:nvPr/>
        </p:nvSpPr>
        <p:spPr>
          <a:xfrm>
            <a:off x="457200" y="1325880"/>
            <a:ext cx="8229600" cy="1051560"/>
          </a:xfrm>
          <a:prstGeom prst="roundRect">
            <a:avLst>
              <a:gd name="adj" fmla="val 10435"/>
            </a:avLst>
          </a:prstGeom>
          <a:solidFill>
            <a:srgbClr val="1A2D5A"/>
          </a:solidFill>
          <a:ln w="25400">
            <a:solidFill>
              <a:srgbClr val="D4943A"/>
            </a:solidFill>
            <a:prstDash val="solid"/>
          </a:ln>
        </p:spPr>
      </p:sp>
      <p:sp>
        <p:nvSpPr>
          <p:cNvPr id="9" name="Text 6"/>
          <p:cNvSpPr/>
          <p:nvPr/>
        </p:nvSpPr>
        <p:spPr>
          <a:xfrm>
            <a:off x="640080" y="1389888"/>
            <a:ext cx="7863840" cy="25603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 Ms. Avery, Editor-in-Chief</a:t>
            </a:r>
            <a:endParaRPr lang="en-US" sz="1000" dirty="0"/>
          </a:p>
        </p:txBody>
      </p:sp>
      <p:sp>
        <p:nvSpPr>
          <p:cNvPr id="10" name="Text 7"/>
          <p:cNvSpPr/>
          <p:nvPr/>
        </p:nvSpPr>
        <p:spPr>
          <a:xfrm>
            <a:off x="640080" y="1664208"/>
            <a:ext cx="7863840" cy="64008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"An honest editor uses precise language — because calling a territory a state, or a colony a territory, misleads readers. What something IS on the map tells you what category it belongs to — and an honest editor reports that category correctly."</a:t>
            </a:r>
            <a:endParaRPr lang="en-US" sz="1300" dirty="0"/>
          </a:p>
        </p:txBody>
      </p:sp>
      <p:sp>
        <p:nvSpPr>
          <p:cNvPr id="11" name="Shape 8"/>
          <p:cNvSpPr/>
          <p:nvPr/>
        </p:nvSpPr>
        <p:spPr>
          <a:xfrm>
            <a:off x="457200" y="2514600"/>
            <a:ext cx="8229600" cy="2286000"/>
          </a:xfrm>
          <a:prstGeom prst="roundRect">
            <a:avLst>
              <a:gd name="adj" fmla="val 4800"/>
            </a:avLst>
          </a:prstGeom>
          <a:solidFill>
            <a:srgbClr val="FFFFFF">
              <a:alpha val="88000"/>
            </a:srgbClr>
          </a:solidFill>
          <a:ln w="12700">
            <a:solidFill>
              <a:srgbClr val="55C8E8"/>
            </a:solidFill>
            <a:prstDash val="solid"/>
          </a:ln>
        </p:spPr>
      </p:sp>
      <p:sp>
        <p:nvSpPr>
          <p:cNvPr id="12" name="Text 9"/>
          <p:cNvSpPr/>
          <p:nvPr/>
        </p:nvSpPr>
        <p:spPr>
          <a:xfrm>
            <a:off x="640080" y="2587752"/>
            <a:ext cx="3840480" cy="256032"/>
          </a:xfrm>
          <a:prstGeom prst="rect">
            <a:avLst/>
          </a:prstGeom>
          <a:noFill/>
          <a:ln/>
        </p:spPr>
        <p:txBody>
          <a:bodyPr wrap="square"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TODAY'S BEAT</a:t>
            </a:r>
            <a:endParaRPr lang="en-US" sz="1000" dirty="0"/>
          </a:p>
        </p:txBody>
      </p:sp>
      <p:sp>
        <p:nvSpPr>
          <p:cNvPr id="13" name="Text 10"/>
          <p:cNvSpPr/>
          <p:nvPr/>
        </p:nvSpPr>
        <p:spPr>
          <a:xfrm>
            <a:off x="4846320" y="2587752"/>
            <a:ext cx="3566160" cy="256032"/>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HONESTY</a:t>
            </a:r>
            <a:endParaRPr lang="en-US" sz="1000" dirty="0"/>
          </a:p>
        </p:txBody>
      </p:sp>
      <p:sp>
        <p:nvSpPr>
          <p:cNvPr id="14" name="Text 11"/>
          <p:cNvSpPr/>
          <p:nvPr/>
        </p:nvSpPr>
        <p:spPr>
          <a:xfrm>
            <a:off x="640080" y="2898648"/>
            <a:ext cx="41148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Distinguish US states, territories, and the thirteen original colonies</a:t>
            </a:r>
            <a:endParaRPr lang="en-US" sz="1200" dirty="0"/>
          </a:p>
        </p:txBody>
      </p:sp>
      <p:sp>
        <p:nvSpPr>
          <p:cNvPr id="15" name="Text 12"/>
          <p:cNvSpPr/>
          <p:nvPr/>
        </p:nvSpPr>
        <p:spPr>
          <a:xfrm>
            <a:off x="640080" y="3401568"/>
            <a:ext cx="41148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Use a map to locate capitals and identify differences between political units</a:t>
            </a:r>
            <a:endParaRPr lang="en-US" sz="1200" dirty="0"/>
          </a:p>
        </p:txBody>
      </p:sp>
      <p:sp>
        <p:nvSpPr>
          <p:cNvPr id="16" name="Text 13"/>
          <p:cNvSpPr/>
          <p:nvPr/>
        </p:nvSpPr>
        <p:spPr>
          <a:xfrm>
            <a:off x="640080" y="3904488"/>
            <a:ext cx="4114800" cy="4114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Publish a Map Note correcting the Herald with precise language</a:t>
            </a:r>
            <a:endParaRPr lang="en-US" sz="1200" dirty="0"/>
          </a:p>
        </p:txBody>
      </p:sp>
      <p:sp>
        <p:nvSpPr>
          <p:cNvPr id="17" name="Text 14"/>
          <p:cNvSpPr/>
          <p:nvPr/>
        </p:nvSpPr>
        <p:spPr>
          <a:xfrm>
            <a:off x="4846320" y="2898648"/>
            <a:ext cx="3566160" cy="164592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An honest editor uses precise language because calling a territory a state, or a colony a territory, misleads readers and distorts history.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1A8A7D"/>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CLUE BOX  ·  LOOK BEFORE WE DEFINE</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 You Notice About These Boundaries?</a:t>
            </a:r>
            <a:endParaRPr lang="en-US" sz="2200" dirty="0"/>
          </a:p>
        </p:txBody>
      </p:sp>
      <p:sp>
        <p:nvSpPr>
          <p:cNvPr id="6" name="Shape 4"/>
          <p:cNvSpPr/>
          <p:nvPr/>
        </p:nvSpPr>
        <p:spPr>
          <a:xfrm>
            <a:off x="274320" y="1143000"/>
            <a:ext cx="5303520" cy="3474720"/>
          </a:xfrm>
          <a:prstGeom prst="roundRect">
            <a:avLst>
              <a:gd name="adj" fmla="val 3158"/>
            </a:avLst>
          </a:prstGeom>
          <a:solidFill>
            <a:srgbClr val="E2E8F4"/>
          </a:solidFill>
          <a:ln w="19050">
            <a:solidFill>
              <a:srgbClr val="B0B8CC"/>
            </a:solidFill>
            <a:prstDash val="dash"/>
          </a:ln>
        </p:spPr>
      </p:sp>
      <p:sp>
        <p:nvSpPr>
          <p:cNvPr id="7" name="Text 5"/>
          <p:cNvSpPr/>
          <p:nvPr/>
        </p:nvSpPr>
        <p:spPr>
          <a:xfrm>
            <a:off x="274320" y="1143000"/>
            <a:ext cx="5303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417320"/>
            <a:ext cx="502920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or overlay map showing (A) the thirteen British colonies before 1776 and (B) the thirteen original US states after independence. Shows how colonial boundaries became state boundaries, with capitals marked. Library of Congress or National Archives historical atlas.</a:t>
            </a:r>
            <a:endParaRPr lang="en-US" sz="1100" dirty="0"/>
          </a:p>
        </p:txBody>
      </p:sp>
      <p:sp>
        <p:nvSpPr>
          <p:cNvPr id="9" name="Shape 7"/>
          <p:cNvSpPr/>
          <p:nvPr/>
        </p:nvSpPr>
        <p:spPr>
          <a:xfrm>
            <a:off x="5760720" y="1143000"/>
            <a:ext cx="3108960" cy="1645920"/>
          </a:xfrm>
          <a:prstGeom prst="roundRect">
            <a:avLst>
              <a:gd name="adj" fmla="val 5556"/>
            </a:avLst>
          </a:prstGeom>
          <a:solidFill>
            <a:srgbClr val="FFFFFF"/>
          </a:solidFill>
          <a:ln w="19050">
            <a:solidFill>
              <a:srgbClr val="1A8A7D"/>
            </a:solidFill>
            <a:prstDash val="solid"/>
          </a:ln>
        </p:spPr>
      </p:sp>
      <p:sp>
        <p:nvSpPr>
          <p:cNvPr id="10" name="Text 8"/>
          <p:cNvSpPr/>
          <p:nvPr/>
        </p:nvSpPr>
        <p:spPr>
          <a:xfrm>
            <a:off x="5897880" y="1207008"/>
            <a:ext cx="283464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OBSERVE</a:t>
            </a:r>
            <a:endParaRPr lang="en-US" sz="900" dirty="0"/>
          </a:p>
        </p:txBody>
      </p:sp>
      <p:sp>
        <p:nvSpPr>
          <p:cNvPr id="11" name="Text 9"/>
          <p:cNvSpPr/>
          <p:nvPr/>
        </p:nvSpPr>
        <p:spPr>
          <a:xfrm>
            <a:off x="5897880" y="1463040"/>
            <a:ext cx="2834640" cy="12344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the two maps.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stays the same?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changes?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do the stars (capitals) tell you?</a:t>
            </a:r>
            <a:endParaRPr lang="en-US" sz="1200" dirty="0"/>
          </a:p>
        </p:txBody>
      </p:sp>
      <p:sp>
        <p:nvSpPr>
          <p:cNvPr id="12" name="Shape 10"/>
          <p:cNvSpPr/>
          <p:nvPr/>
        </p:nvSpPr>
        <p:spPr>
          <a:xfrm>
            <a:off x="5760720" y="2880360"/>
            <a:ext cx="3108960" cy="530352"/>
          </a:xfrm>
          <a:prstGeom prst="roundRect">
            <a:avLst>
              <a:gd name="adj" fmla="val 17241"/>
            </a:avLst>
          </a:prstGeom>
          <a:solidFill>
            <a:srgbClr val="1A2D5A"/>
          </a:solidFill>
          <a:ln/>
        </p:spPr>
      </p:sp>
      <p:sp>
        <p:nvSpPr>
          <p:cNvPr id="13" name="Text 11"/>
          <p:cNvSpPr/>
          <p:nvPr/>
        </p:nvSpPr>
        <p:spPr>
          <a:xfrm>
            <a:off x="5852160" y="2971800"/>
            <a:ext cx="2926080" cy="347472"/>
          </a:xfrm>
          <a:prstGeom prst="rect">
            <a:avLst/>
          </a:prstGeom>
          <a:noFill/>
          <a:ln/>
        </p:spPr>
        <p:txBody>
          <a:bodyPr wrap="square" rtlCol="0" anchor="ctr"/>
          <a:lstStyle/>
          <a:p>
            <a:pPr algn="ctr" indent="0" marL="0">
              <a:buNone/>
            </a:pPr>
            <a:r>
              <a:rPr lang="en-US" sz="1100" i="1" dirty="0">
                <a:solidFill>
                  <a:srgbClr val="55C8E8"/>
                </a:solidFill>
                <a:latin typeface="Calibri" pitchFamily="34" charset="0"/>
                <a:ea typeface="Calibri" pitchFamily="34" charset="-122"/>
                <a:cs typeface="Calibri" pitchFamily="34" charset="-120"/>
              </a:rPr>
              <a:t>5 seconds of silence — look before we talk</a:t>
            </a:r>
            <a:endParaRPr lang="en-US" sz="1100" dirty="0"/>
          </a:p>
        </p:txBody>
      </p:sp>
      <p:sp>
        <p:nvSpPr>
          <p:cNvPr id="14" name="Shape 12"/>
          <p:cNvSpPr/>
          <p:nvPr/>
        </p:nvSpPr>
        <p:spPr>
          <a:xfrm>
            <a:off x="5760720" y="3493008"/>
            <a:ext cx="3108960" cy="1325880"/>
          </a:xfrm>
          <a:prstGeom prst="roundRect">
            <a:avLst>
              <a:gd name="adj" fmla="val 8276"/>
            </a:avLst>
          </a:prstGeom>
          <a:solidFill>
            <a:srgbClr val="FFF3DC"/>
          </a:solidFill>
          <a:ln w="19050">
            <a:solidFill>
              <a:srgbClr val="F5E6C8"/>
            </a:solidFill>
            <a:prstDash val="solid"/>
          </a:ln>
        </p:spPr>
      </p:sp>
      <p:sp>
        <p:nvSpPr>
          <p:cNvPr id="15" name="Text 13"/>
          <p:cNvSpPr/>
          <p:nvPr/>
        </p:nvSpPr>
        <p:spPr>
          <a:xfrm>
            <a:off x="5897880" y="3547872"/>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97880" y="3749040"/>
            <a:ext cx="2834640" cy="10058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boundaries are similar/different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capitals appear near..."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"Something that surprised me 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MAP ROOM  ·  THREE DISTINCT POLITICAL UNITS</a:t>
            </a:r>
            <a:endParaRPr lang="en-US" sz="1000" dirty="0"/>
          </a:p>
        </p:txBody>
      </p:sp>
      <p:sp>
        <p:nvSpPr>
          <p:cNvPr id="5" name="Text 3"/>
          <p:cNvSpPr/>
          <p:nvPr/>
        </p:nvSpPr>
        <p:spPr>
          <a:xfrm>
            <a:off x="274320" y="594360"/>
            <a:ext cx="859536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Each One Is Different — And Precision Matters</a:t>
            </a:r>
            <a:endParaRPr lang="en-US" sz="2200" dirty="0"/>
          </a:p>
        </p:txBody>
      </p:sp>
      <p:sp>
        <p:nvSpPr>
          <p:cNvPr id="6" name="Shape 4"/>
          <p:cNvSpPr/>
          <p:nvPr/>
        </p:nvSpPr>
        <p:spPr>
          <a:xfrm>
            <a:off x="274320" y="1143000"/>
            <a:ext cx="2788920" cy="3566160"/>
          </a:xfrm>
          <a:prstGeom prst="roundRect">
            <a:avLst>
              <a:gd name="adj" fmla="val 3934"/>
            </a:avLst>
          </a:prstGeom>
          <a:solidFill>
            <a:srgbClr val="34B76F">
              <a:alpha val="80000"/>
            </a:srgbClr>
          </a:solidFill>
          <a:ln w="25400">
            <a:solidFill>
              <a:srgbClr val="34B76F"/>
            </a:solidFill>
            <a:prstDash val="solid"/>
          </a:ln>
        </p:spPr>
      </p:sp>
      <p:sp>
        <p:nvSpPr>
          <p:cNvPr id="7" name="Text 5"/>
          <p:cNvSpPr/>
          <p:nvPr/>
        </p:nvSpPr>
        <p:spPr>
          <a:xfrm>
            <a:off x="411480" y="1207008"/>
            <a:ext cx="2514600" cy="347472"/>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US STATE</a:t>
            </a:r>
            <a:endParaRPr lang="en-US" sz="1400" dirty="0"/>
          </a:p>
        </p:txBody>
      </p:sp>
      <p:sp>
        <p:nvSpPr>
          <p:cNvPr id="8" name="Text 6"/>
          <p:cNvSpPr/>
          <p:nvPr/>
        </p:nvSpPr>
        <p:spPr>
          <a:xfrm>
            <a:off x="457200" y="16276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50 today</a:t>
            </a:r>
            <a:endParaRPr lang="en-US" sz="1100" dirty="0"/>
          </a:p>
        </p:txBody>
      </p:sp>
      <p:sp>
        <p:nvSpPr>
          <p:cNvPr id="9" name="Text 7"/>
          <p:cNvSpPr/>
          <p:nvPr/>
        </p:nvSpPr>
        <p:spPr>
          <a:xfrm>
            <a:off x="457200" y="20848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Has a capital city</a:t>
            </a:r>
            <a:endParaRPr lang="en-US" sz="1100" dirty="0"/>
          </a:p>
        </p:txBody>
      </p:sp>
      <p:sp>
        <p:nvSpPr>
          <p:cNvPr id="10" name="Text 8"/>
          <p:cNvSpPr/>
          <p:nvPr/>
        </p:nvSpPr>
        <p:spPr>
          <a:xfrm>
            <a:off x="457200" y="25420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2 senators in US Senate</a:t>
            </a:r>
            <a:endParaRPr lang="en-US" sz="1100" dirty="0"/>
          </a:p>
        </p:txBody>
      </p:sp>
      <p:sp>
        <p:nvSpPr>
          <p:cNvPr id="11" name="Text 9"/>
          <p:cNvSpPr/>
          <p:nvPr/>
        </p:nvSpPr>
        <p:spPr>
          <a:xfrm>
            <a:off x="457200" y="29992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House reps based on population</a:t>
            </a:r>
            <a:endParaRPr lang="en-US" sz="1100" dirty="0"/>
          </a:p>
        </p:txBody>
      </p:sp>
      <p:sp>
        <p:nvSpPr>
          <p:cNvPr id="12" name="Text 10"/>
          <p:cNvSpPr/>
          <p:nvPr/>
        </p:nvSpPr>
        <p:spPr>
          <a:xfrm>
            <a:off x="457200" y="34564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Full constitutional rights</a:t>
            </a:r>
            <a:endParaRPr lang="en-US" sz="1100" dirty="0"/>
          </a:p>
        </p:txBody>
      </p:sp>
      <p:sp>
        <p:nvSpPr>
          <p:cNvPr id="13" name="Text 11"/>
          <p:cNvSpPr/>
          <p:nvPr/>
        </p:nvSpPr>
        <p:spPr>
          <a:xfrm>
            <a:off x="457200" y="39136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Example: Virginia, Massachusetts</a:t>
            </a:r>
            <a:endParaRPr lang="en-US" sz="1100" dirty="0"/>
          </a:p>
        </p:txBody>
      </p:sp>
      <p:sp>
        <p:nvSpPr>
          <p:cNvPr id="14" name="Shape 12"/>
          <p:cNvSpPr/>
          <p:nvPr/>
        </p:nvSpPr>
        <p:spPr>
          <a:xfrm>
            <a:off x="274320" y="4434840"/>
            <a:ext cx="2788920" cy="256032"/>
          </a:xfrm>
          <a:prstGeom prst="roundRect">
            <a:avLst>
              <a:gd name="adj" fmla="val 17857"/>
            </a:avLst>
          </a:prstGeom>
          <a:solidFill>
            <a:srgbClr val="34B76F">
              <a:alpha val="90000"/>
            </a:srgbClr>
          </a:solidFill>
          <a:ln/>
        </p:spPr>
      </p:sp>
      <p:sp>
        <p:nvSpPr>
          <p:cNvPr id="15" name="Text 13"/>
          <p:cNvSpPr/>
          <p:nvPr/>
        </p:nvSpPr>
        <p:spPr>
          <a:xfrm>
            <a:off x="411480" y="4453128"/>
            <a:ext cx="2514600" cy="201168"/>
          </a:xfrm>
          <a:prstGeom prst="rect">
            <a:avLst/>
          </a:prstGeom>
          <a:noFill/>
          <a:ln/>
        </p:spPr>
        <p:txBody>
          <a:bodyPr wrap="square" rtlCol="0" anchor="ctr"/>
          <a:lstStyle/>
          <a:p>
            <a:pPr algn="ctr" indent="0" marL="0">
              <a:buNone/>
            </a:pPr>
            <a:r>
              <a:rPr lang="en-US" sz="900" i="1" dirty="0">
                <a:solidFill>
                  <a:srgbClr val="0E1C42"/>
                </a:solidFill>
                <a:latin typeface="Calibri" pitchFamily="34" charset="0"/>
                <a:ea typeface="Calibri" pitchFamily="34" charset="-122"/>
                <a:cs typeface="Calibri" pitchFamily="34" charset="-120"/>
              </a:rPr>
              <a:t>Virginia (formerly a colony, became a state in 1788)</a:t>
            </a:r>
            <a:endParaRPr lang="en-US" sz="900" dirty="0"/>
          </a:p>
        </p:txBody>
      </p:sp>
      <p:sp>
        <p:nvSpPr>
          <p:cNvPr id="16" name="Shape 14"/>
          <p:cNvSpPr/>
          <p:nvPr/>
        </p:nvSpPr>
        <p:spPr>
          <a:xfrm>
            <a:off x="3200400" y="1143000"/>
            <a:ext cx="2788920" cy="3566160"/>
          </a:xfrm>
          <a:prstGeom prst="roundRect">
            <a:avLst>
              <a:gd name="adj" fmla="val 3934"/>
            </a:avLst>
          </a:prstGeom>
          <a:solidFill>
            <a:srgbClr val="D4943A">
              <a:alpha val="80000"/>
            </a:srgbClr>
          </a:solidFill>
          <a:ln w="25400">
            <a:solidFill>
              <a:srgbClr val="D4943A"/>
            </a:solidFill>
            <a:prstDash val="solid"/>
          </a:ln>
        </p:spPr>
      </p:sp>
      <p:sp>
        <p:nvSpPr>
          <p:cNvPr id="17" name="Text 15"/>
          <p:cNvSpPr/>
          <p:nvPr/>
        </p:nvSpPr>
        <p:spPr>
          <a:xfrm>
            <a:off x="3337560" y="1207008"/>
            <a:ext cx="2514600" cy="347472"/>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US TERRITORY</a:t>
            </a:r>
            <a:endParaRPr lang="en-US" sz="1400" dirty="0"/>
          </a:p>
        </p:txBody>
      </p:sp>
      <p:sp>
        <p:nvSpPr>
          <p:cNvPr id="18" name="Text 16"/>
          <p:cNvSpPr/>
          <p:nvPr/>
        </p:nvSpPr>
        <p:spPr>
          <a:xfrm>
            <a:off x="3383280" y="16276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Controlled by the US</a:t>
            </a:r>
            <a:endParaRPr lang="en-US" sz="1100" dirty="0"/>
          </a:p>
        </p:txBody>
      </p:sp>
      <p:sp>
        <p:nvSpPr>
          <p:cNvPr id="19" name="Text 17"/>
          <p:cNvSpPr/>
          <p:nvPr/>
        </p:nvSpPr>
        <p:spPr>
          <a:xfrm>
            <a:off x="3383280" y="20848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Residents are citizens</a:t>
            </a:r>
            <a:endParaRPr lang="en-US" sz="1100" dirty="0"/>
          </a:p>
        </p:txBody>
      </p:sp>
      <p:sp>
        <p:nvSpPr>
          <p:cNvPr id="20" name="Text 18"/>
          <p:cNvSpPr/>
          <p:nvPr/>
        </p:nvSpPr>
        <p:spPr>
          <a:xfrm>
            <a:off x="3383280" y="25420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Limited federal representation</a:t>
            </a:r>
            <a:endParaRPr lang="en-US" sz="1100" dirty="0"/>
          </a:p>
        </p:txBody>
      </p:sp>
      <p:sp>
        <p:nvSpPr>
          <p:cNvPr id="21" name="Text 19"/>
          <p:cNvSpPr/>
          <p:nvPr/>
        </p:nvSpPr>
        <p:spPr>
          <a:xfrm>
            <a:off x="3383280" y="29992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Cannot vote for president</a:t>
            </a:r>
            <a:endParaRPr lang="en-US" sz="1100" dirty="0"/>
          </a:p>
        </p:txBody>
      </p:sp>
      <p:sp>
        <p:nvSpPr>
          <p:cNvPr id="22" name="Text 20"/>
          <p:cNvSpPr/>
          <p:nvPr/>
        </p:nvSpPr>
        <p:spPr>
          <a:xfrm>
            <a:off x="3383280" y="34564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No voting members of Congress</a:t>
            </a:r>
            <a:endParaRPr lang="en-US" sz="1100" dirty="0"/>
          </a:p>
        </p:txBody>
      </p:sp>
      <p:sp>
        <p:nvSpPr>
          <p:cNvPr id="23" name="Text 21"/>
          <p:cNvSpPr/>
          <p:nvPr/>
        </p:nvSpPr>
        <p:spPr>
          <a:xfrm>
            <a:off x="3383280" y="39136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Examples: Puerto Rico, Guam, US Virgin Islands</a:t>
            </a:r>
            <a:endParaRPr lang="en-US" sz="1100" dirty="0"/>
          </a:p>
        </p:txBody>
      </p:sp>
      <p:sp>
        <p:nvSpPr>
          <p:cNvPr id="24" name="Shape 22"/>
          <p:cNvSpPr/>
          <p:nvPr/>
        </p:nvSpPr>
        <p:spPr>
          <a:xfrm>
            <a:off x="3200400" y="4434840"/>
            <a:ext cx="2788920" cy="256032"/>
          </a:xfrm>
          <a:prstGeom prst="roundRect">
            <a:avLst>
              <a:gd name="adj" fmla="val 17857"/>
            </a:avLst>
          </a:prstGeom>
          <a:solidFill>
            <a:srgbClr val="D4943A">
              <a:alpha val="90000"/>
            </a:srgbClr>
          </a:solidFill>
          <a:ln/>
        </p:spPr>
      </p:sp>
      <p:sp>
        <p:nvSpPr>
          <p:cNvPr id="25" name="Text 23"/>
          <p:cNvSpPr/>
          <p:nvPr/>
        </p:nvSpPr>
        <p:spPr>
          <a:xfrm>
            <a:off x="3337560" y="4453128"/>
            <a:ext cx="2514600" cy="201168"/>
          </a:xfrm>
          <a:prstGeom prst="rect">
            <a:avLst/>
          </a:prstGeom>
          <a:noFill/>
          <a:ln/>
        </p:spPr>
        <p:txBody>
          <a:bodyPr wrap="square" rtlCol="0" anchor="ctr"/>
          <a:lstStyle/>
          <a:p>
            <a:pPr algn="ctr" indent="0" marL="0">
              <a:buNone/>
            </a:pPr>
            <a:r>
              <a:rPr lang="en-US" sz="900" i="1" dirty="0">
                <a:solidFill>
                  <a:srgbClr val="0E1C42"/>
                </a:solidFill>
                <a:latin typeface="Calibri" pitchFamily="34" charset="0"/>
                <a:ea typeface="Calibri" pitchFamily="34" charset="-122"/>
                <a:cs typeface="Calibri" pitchFamily="34" charset="-120"/>
              </a:rPr>
              <a:t>Puerto Rico (territory since 1898)</a:t>
            </a:r>
            <a:endParaRPr lang="en-US" sz="900" dirty="0"/>
          </a:p>
        </p:txBody>
      </p:sp>
      <p:sp>
        <p:nvSpPr>
          <p:cNvPr id="26" name="Shape 24"/>
          <p:cNvSpPr/>
          <p:nvPr/>
        </p:nvSpPr>
        <p:spPr>
          <a:xfrm>
            <a:off x="6126480" y="1143000"/>
            <a:ext cx="2788920" cy="3566160"/>
          </a:xfrm>
          <a:prstGeom prst="roundRect">
            <a:avLst>
              <a:gd name="adj" fmla="val 3934"/>
            </a:avLst>
          </a:prstGeom>
          <a:solidFill>
            <a:srgbClr val="55C8E8">
              <a:alpha val="80000"/>
            </a:srgbClr>
          </a:solidFill>
          <a:ln w="25400">
            <a:solidFill>
              <a:srgbClr val="55C8E8"/>
            </a:solidFill>
            <a:prstDash val="solid"/>
          </a:ln>
        </p:spPr>
      </p:sp>
      <p:sp>
        <p:nvSpPr>
          <p:cNvPr id="27" name="Text 25"/>
          <p:cNvSpPr/>
          <p:nvPr/>
        </p:nvSpPr>
        <p:spPr>
          <a:xfrm>
            <a:off x="6263640" y="1207008"/>
            <a:ext cx="2514600" cy="347472"/>
          </a:xfrm>
          <a:prstGeom prst="rect">
            <a:avLst/>
          </a:prstGeom>
          <a:noFill/>
          <a:ln/>
        </p:spPr>
        <p:txBody>
          <a:bodyPr wrap="square"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THE 13 COLONIES</a:t>
            </a:r>
            <a:endParaRPr lang="en-US" sz="1400" dirty="0"/>
          </a:p>
        </p:txBody>
      </p:sp>
      <p:sp>
        <p:nvSpPr>
          <p:cNvPr id="28" name="Text 26"/>
          <p:cNvSpPr/>
          <p:nvPr/>
        </p:nvSpPr>
        <p:spPr>
          <a:xfrm>
            <a:off x="6309360" y="16276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British colonies 1607-1776</a:t>
            </a:r>
            <a:endParaRPr lang="en-US" sz="1100" dirty="0"/>
          </a:p>
        </p:txBody>
      </p:sp>
      <p:sp>
        <p:nvSpPr>
          <p:cNvPr id="29" name="Text 27"/>
          <p:cNvSpPr/>
          <p:nvPr/>
        </p:nvSpPr>
        <p:spPr>
          <a:xfrm>
            <a:off x="6309360" y="20848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Along the eastern seaboard</a:t>
            </a:r>
            <a:endParaRPr lang="en-US" sz="1100" dirty="0"/>
          </a:p>
        </p:txBody>
      </p:sp>
      <p:sp>
        <p:nvSpPr>
          <p:cNvPr id="30" name="Text 28"/>
          <p:cNvSpPr/>
          <p:nvPr/>
        </p:nvSpPr>
        <p:spPr>
          <a:xfrm>
            <a:off x="6309360" y="25420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No self-governance under Britain</a:t>
            </a:r>
            <a:endParaRPr lang="en-US" sz="1100" dirty="0"/>
          </a:p>
        </p:txBody>
      </p:sp>
      <p:sp>
        <p:nvSpPr>
          <p:cNvPr id="31" name="Text 29"/>
          <p:cNvSpPr/>
          <p:nvPr/>
        </p:nvSpPr>
        <p:spPr>
          <a:xfrm>
            <a:off x="6309360" y="29992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Declared independence 1776</a:t>
            </a:r>
            <a:endParaRPr lang="en-US" sz="1100" dirty="0"/>
          </a:p>
        </p:txBody>
      </p:sp>
      <p:sp>
        <p:nvSpPr>
          <p:cNvPr id="32" name="Text 30"/>
          <p:cNvSpPr/>
          <p:nvPr/>
        </p:nvSpPr>
        <p:spPr>
          <a:xfrm>
            <a:off x="6309360" y="34564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Became the first 13 states</a:t>
            </a:r>
            <a:endParaRPr lang="en-US" sz="1100" dirty="0"/>
          </a:p>
        </p:txBody>
      </p:sp>
      <p:sp>
        <p:nvSpPr>
          <p:cNvPr id="33" name="Text 31"/>
          <p:cNvSpPr/>
          <p:nvPr/>
        </p:nvSpPr>
        <p:spPr>
          <a:xfrm>
            <a:off x="6309360" y="3913632"/>
            <a:ext cx="2423160" cy="384048"/>
          </a:xfrm>
          <a:prstGeom prst="rect">
            <a:avLst/>
          </a:prstGeom>
          <a:noFill/>
          <a:ln/>
        </p:spPr>
        <p:txBody>
          <a:bodyPr wrap="square" rtlCol="0" anchor="ctr"/>
          <a:lstStyle/>
          <a:p>
            <a:pPr indent="0" marL="0">
              <a:buNone/>
            </a:pPr>
            <a:r>
              <a:rPr lang="en-US" sz="1100" dirty="0">
                <a:solidFill>
                  <a:srgbClr val="0E1C42"/>
                </a:solidFill>
                <a:latin typeface="Calibri" pitchFamily="34" charset="0"/>
                <a:ea typeface="Calibri" pitchFamily="34" charset="-122"/>
                <a:cs typeface="Calibri" pitchFamily="34" charset="-120"/>
              </a:rPr>
              <a:t>Example: Virginia colony → Virginia state</a:t>
            </a:r>
            <a:endParaRPr lang="en-US" sz="1100" dirty="0"/>
          </a:p>
        </p:txBody>
      </p:sp>
      <p:sp>
        <p:nvSpPr>
          <p:cNvPr id="34" name="Shape 32"/>
          <p:cNvSpPr/>
          <p:nvPr/>
        </p:nvSpPr>
        <p:spPr>
          <a:xfrm>
            <a:off x="6126480" y="4434840"/>
            <a:ext cx="2788920" cy="256032"/>
          </a:xfrm>
          <a:prstGeom prst="roundRect">
            <a:avLst>
              <a:gd name="adj" fmla="val 17857"/>
            </a:avLst>
          </a:prstGeom>
          <a:solidFill>
            <a:srgbClr val="55C8E8">
              <a:alpha val="90000"/>
            </a:srgbClr>
          </a:solidFill>
          <a:ln/>
        </p:spPr>
      </p:sp>
      <p:sp>
        <p:nvSpPr>
          <p:cNvPr id="35" name="Text 33"/>
          <p:cNvSpPr/>
          <p:nvPr/>
        </p:nvSpPr>
        <p:spPr>
          <a:xfrm>
            <a:off x="6263640" y="4453128"/>
            <a:ext cx="2514600" cy="201168"/>
          </a:xfrm>
          <a:prstGeom prst="rect">
            <a:avLst/>
          </a:prstGeom>
          <a:noFill/>
          <a:ln/>
        </p:spPr>
        <p:txBody>
          <a:bodyPr wrap="square" rtlCol="0" anchor="ctr"/>
          <a:lstStyle/>
          <a:p>
            <a:pPr algn="ctr" indent="0" marL="0">
              <a:buNone/>
            </a:pPr>
            <a:r>
              <a:rPr lang="en-US" sz="900" i="1" dirty="0">
                <a:solidFill>
                  <a:srgbClr val="0E1C42"/>
                </a:solidFill>
                <a:latin typeface="Calibri" pitchFamily="34" charset="0"/>
                <a:ea typeface="Calibri" pitchFamily="34" charset="-122"/>
                <a:cs typeface="Calibri" pitchFamily="34" charset="-120"/>
              </a:rPr>
              <a:t>Virginia (colony 1607 → state 1788)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DISCUSSION  ·  WHY DOES PRECISION MATTER?</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Same Map, Different Stories — Depending on the Word</a:t>
            </a:r>
            <a:endParaRPr lang="en-US" sz="2000" dirty="0"/>
          </a:p>
        </p:txBody>
      </p:sp>
      <p:sp>
        <p:nvSpPr>
          <p:cNvPr id="6" name="Shape 4"/>
          <p:cNvSpPr/>
          <p:nvPr/>
        </p:nvSpPr>
        <p:spPr>
          <a:xfrm>
            <a:off x="274320" y="1188720"/>
            <a:ext cx="4114800" cy="1234440"/>
          </a:xfrm>
          <a:prstGeom prst="roundRect">
            <a:avLst>
              <a:gd name="adj" fmla="val 7407"/>
            </a:avLst>
          </a:prstGeom>
          <a:solidFill>
            <a:srgbClr val="E8636B">
              <a:alpha val="75000"/>
            </a:srgbClr>
          </a:solidFill>
          <a:ln w="19050">
            <a:solidFill>
              <a:srgbClr val="E8636B"/>
            </a:solidFill>
            <a:prstDash val="solid"/>
          </a:ln>
        </p:spPr>
      </p:sp>
      <p:sp>
        <p:nvSpPr>
          <p:cNvPr id="7" name="Text 5"/>
          <p:cNvSpPr/>
          <p:nvPr/>
        </p:nvSpPr>
        <p:spPr>
          <a:xfrm>
            <a:off x="457200" y="1261872"/>
            <a:ext cx="3749040" cy="256032"/>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IMPRECISE (Herald)</a:t>
            </a:r>
            <a:endParaRPr lang="en-US" sz="1000" dirty="0"/>
          </a:p>
        </p:txBody>
      </p:sp>
      <p:sp>
        <p:nvSpPr>
          <p:cNvPr id="8" name="Text 6"/>
          <p:cNvSpPr/>
          <p:nvPr/>
        </p:nvSpPr>
        <p:spPr>
          <a:xfrm>
            <a:off x="457200" y="1554480"/>
            <a:ext cx="3749040" cy="777240"/>
          </a:xfrm>
          <a:prstGeom prst="rect">
            <a:avLst/>
          </a:prstGeom>
          <a:noFill/>
          <a:ln/>
        </p:spPr>
        <p:txBody>
          <a:bodyPr wrap="square"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"Massachusetts is basically a colony."  "Puerto Rico is basically a state."  "The colonies were just states that hadn't been named yet."</a:t>
            </a:r>
            <a:endParaRPr lang="en-US" sz="1200" dirty="0"/>
          </a:p>
        </p:txBody>
      </p:sp>
      <p:sp>
        <p:nvSpPr>
          <p:cNvPr id="9" name="Shape 7"/>
          <p:cNvSpPr/>
          <p:nvPr/>
        </p:nvSpPr>
        <p:spPr>
          <a:xfrm>
            <a:off x="4754880" y="1188720"/>
            <a:ext cx="4114800" cy="1234440"/>
          </a:xfrm>
          <a:prstGeom prst="roundRect">
            <a:avLst>
              <a:gd name="adj" fmla="val 7407"/>
            </a:avLst>
          </a:prstGeom>
          <a:solidFill>
            <a:srgbClr val="34B76F">
              <a:alpha val="75000"/>
            </a:srgbClr>
          </a:solidFill>
          <a:ln w="19050">
            <a:solidFill>
              <a:srgbClr val="34B76F"/>
            </a:solidFill>
            <a:prstDash val="solid"/>
          </a:ln>
        </p:spPr>
      </p:sp>
      <p:sp>
        <p:nvSpPr>
          <p:cNvPr id="10" name="Text 8"/>
          <p:cNvSpPr/>
          <p:nvPr/>
        </p:nvSpPr>
        <p:spPr>
          <a:xfrm>
            <a:off x="4937760" y="1261872"/>
            <a:ext cx="3749040" cy="256032"/>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PRECISE (Gazette)</a:t>
            </a:r>
            <a:endParaRPr lang="en-US" sz="1000" dirty="0"/>
          </a:p>
        </p:txBody>
      </p:sp>
      <p:sp>
        <p:nvSpPr>
          <p:cNvPr id="11" name="Text 9"/>
          <p:cNvSpPr/>
          <p:nvPr/>
        </p:nvSpPr>
        <p:spPr>
          <a:xfrm>
            <a:off x="4937760" y="1554480"/>
            <a:ext cx="3749040" cy="777240"/>
          </a:xfrm>
          <a:prstGeom prst="rect">
            <a:avLst/>
          </a:prstGeom>
          <a:noFill/>
          <a:ln/>
        </p:spPr>
        <p:txBody>
          <a:bodyPr wrap="square"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"Massachusetts was a British colony until 1776, then became a state."  "Puerto Rico is a US territory whose residents are citizens but cannot vote for president."</a:t>
            </a:r>
            <a:endParaRPr lang="en-US" sz="1200" dirty="0"/>
          </a:p>
        </p:txBody>
      </p:sp>
      <p:sp>
        <p:nvSpPr>
          <p:cNvPr id="12" name="Shape 10"/>
          <p:cNvSpPr/>
          <p:nvPr/>
        </p:nvSpPr>
        <p:spPr>
          <a:xfrm>
            <a:off x="274320" y="2560320"/>
            <a:ext cx="4297680" cy="2331720"/>
          </a:xfrm>
          <a:prstGeom prst="roundRect">
            <a:avLst>
              <a:gd name="adj" fmla="val 4706"/>
            </a:avLst>
          </a:prstGeom>
          <a:solidFill>
            <a:srgbClr val="1A2D5A"/>
          </a:solidFill>
          <a:ln w="12700">
            <a:solidFill>
              <a:srgbClr val="2A4070"/>
            </a:solidFill>
            <a:prstDash val="solid"/>
          </a:ln>
        </p:spPr>
      </p:sp>
      <p:sp>
        <p:nvSpPr>
          <p:cNvPr id="13" name="Text 11"/>
          <p:cNvSpPr/>
          <p:nvPr/>
        </p:nvSpPr>
        <p:spPr>
          <a:xfrm>
            <a:off x="411480" y="2615184"/>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457200" y="2880360"/>
            <a:ext cx="3931920" cy="19202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a reader believe if they read 'Puerto Rico is basically a state'? Why is that wrong?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does the distinction between 'colony' and 'state' matter for understanding American independence?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an honest editor EVER simplify these terms? What would be lost?</a:t>
            </a:r>
            <a:endParaRPr lang="en-US" sz="1100" dirty="0"/>
          </a:p>
        </p:txBody>
      </p:sp>
      <p:sp>
        <p:nvSpPr>
          <p:cNvPr id="15" name="Shape 13"/>
          <p:cNvSpPr/>
          <p:nvPr/>
        </p:nvSpPr>
        <p:spPr>
          <a:xfrm>
            <a:off x="4754880" y="2560320"/>
            <a:ext cx="4114800" cy="2331720"/>
          </a:xfrm>
          <a:prstGeom prst="roundRect">
            <a:avLst>
              <a:gd name="adj" fmla="val 4706"/>
            </a:avLst>
          </a:prstGeom>
          <a:solidFill>
            <a:srgbClr val="FFF3DC"/>
          </a:solidFill>
          <a:ln w="19050">
            <a:solidFill>
              <a:srgbClr val="F5E6C8"/>
            </a:solidFill>
            <a:prstDash val="solid"/>
          </a:ln>
        </p:spPr>
      </p:sp>
      <p:sp>
        <p:nvSpPr>
          <p:cNvPr id="16" name="Text 14"/>
          <p:cNvSpPr/>
          <p:nvPr/>
        </p:nvSpPr>
        <p:spPr>
          <a:xfrm>
            <a:off x="4892040" y="261518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892040" y="2816352"/>
            <a:ext cx="3840480" cy="2011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"Using imprecise language misleads readers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difference between a state and a colony matters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honest editor would always use the correct term because..."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1A8A7D"/>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CLUE BOX 2  ·  COLONIES BECOME STATES</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Which Colonies Became Which States?</a:t>
            </a:r>
            <a:endParaRPr lang="en-US" sz="2400" dirty="0"/>
          </a:p>
        </p:txBody>
      </p:sp>
      <p:sp>
        <p:nvSpPr>
          <p:cNvPr id="6" name="Shape 4"/>
          <p:cNvSpPr/>
          <p:nvPr/>
        </p:nvSpPr>
        <p:spPr>
          <a:xfrm>
            <a:off x="274320" y="1170432"/>
            <a:ext cx="5303520" cy="3474720"/>
          </a:xfrm>
          <a:prstGeom prst="roundRect">
            <a:avLst>
              <a:gd name="adj" fmla="val 3158"/>
            </a:avLst>
          </a:prstGeom>
          <a:solidFill>
            <a:srgbClr val="E2E8F4"/>
          </a:solidFill>
          <a:ln w="19050">
            <a:solidFill>
              <a:srgbClr val="B0B8CC"/>
            </a:solidFill>
            <a:prstDash val="dash"/>
          </a:ln>
        </p:spPr>
      </p:sp>
      <p:sp>
        <p:nvSpPr>
          <p:cNvPr id="7" name="Text 5"/>
          <p:cNvSpPr/>
          <p:nvPr/>
        </p:nvSpPr>
        <p:spPr>
          <a:xfrm>
            <a:off x="274320" y="1170432"/>
            <a:ext cx="5303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444752"/>
            <a:ext cx="502920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showing the thirteen British colonies with their names labeled, alongside (or as overlay) the boundaries of the first thirteen US states, with capital cities marked by stars. Should show Virginia, Massachusetts, New York, Pennsylvania, Connecticut, Rhode Island, New Hampshire, Maryland, Delaware, New Jersey, North Carolina, South Carolina, Georgia. Library of Congress or National Archives.</a:t>
            </a:r>
            <a:endParaRPr lang="en-US" sz="1100" dirty="0"/>
          </a:p>
        </p:txBody>
      </p:sp>
      <p:sp>
        <p:nvSpPr>
          <p:cNvPr id="9" name="Shape 7"/>
          <p:cNvSpPr/>
          <p:nvPr/>
        </p:nvSpPr>
        <p:spPr>
          <a:xfrm>
            <a:off x="5760720" y="1170432"/>
            <a:ext cx="3108960" cy="1737360"/>
          </a:xfrm>
          <a:prstGeom prst="roundRect">
            <a:avLst>
              <a:gd name="adj" fmla="val 5263"/>
            </a:avLst>
          </a:prstGeom>
          <a:solidFill>
            <a:srgbClr val="FFFFFF"/>
          </a:solidFill>
          <a:ln w="19050">
            <a:solidFill>
              <a:srgbClr val="1A8A7D"/>
            </a:solidFill>
            <a:prstDash val="solid"/>
          </a:ln>
        </p:spPr>
      </p:sp>
      <p:sp>
        <p:nvSpPr>
          <p:cNvPr id="10" name="Text 8"/>
          <p:cNvSpPr/>
          <p:nvPr/>
        </p:nvSpPr>
        <p:spPr>
          <a:xfrm>
            <a:off x="5897880" y="1234440"/>
            <a:ext cx="283464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MAP DETECTIVE</a:t>
            </a:r>
            <a:endParaRPr lang="en-US" sz="900" dirty="0"/>
          </a:p>
        </p:txBody>
      </p:sp>
      <p:sp>
        <p:nvSpPr>
          <p:cNvPr id="11" name="Text 9"/>
          <p:cNvSpPr/>
          <p:nvPr/>
        </p:nvSpPr>
        <p:spPr>
          <a:xfrm>
            <a:off x="5897880" y="1490472"/>
            <a:ext cx="2834640" cy="132588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Name two colonies on this map.</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happened to their boundaries when they became states?</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Where are the capital cities?</a:t>
            </a:r>
            <a:endParaRPr lang="en-US" sz="1200" dirty="0"/>
          </a:p>
        </p:txBody>
      </p:sp>
      <p:sp>
        <p:nvSpPr>
          <p:cNvPr id="12" name="Shape 10"/>
          <p:cNvSpPr/>
          <p:nvPr/>
        </p:nvSpPr>
        <p:spPr>
          <a:xfrm>
            <a:off x="5760720" y="3017520"/>
            <a:ext cx="3108960" cy="1810512"/>
          </a:xfrm>
          <a:prstGeom prst="roundRect">
            <a:avLst>
              <a:gd name="adj" fmla="val 6061"/>
            </a:avLst>
          </a:prstGeom>
          <a:solidFill>
            <a:srgbClr val="FFF3DC"/>
          </a:solidFill>
          <a:ln w="19050">
            <a:solidFill>
              <a:srgbClr val="F5E6C8"/>
            </a:solidFill>
            <a:prstDash val="solid"/>
          </a:ln>
        </p:spPr>
      </p:sp>
      <p:sp>
        <p:nvSpPr>
          <p:cNvPr id="13" name="Text 11"/>
          <p:cNvSpPr/>
          <p:nvPr/>
        </p:nvSpPr>
        <p:spPr>
          <a:xfrm>
            <a:off x="5897880" y="307238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897880" y="3273552"/>
            <a:ext cx="2834640" cy="14904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find [colony name] on the map. Its boundary..."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"When it became a state, the capital was placed 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boundaries stayed similar/changed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spc="100" kern="0" dirty="0">
                <a:solidFill>
                  <a:srgbClr val="0E1C42"/>
                </a:solidFill>
                <a:latin typeface="Cambria" pitchFamily="34" charset="0"/>
                <a:ea typeface="Cambria" pitchFamily="34" charset="-122"/>
                <a:cs typeface="Cambria" pitchFamily="34" charset="-120"/>
              </a:rPr>
              <a:t>MAP ROOM REVEAL  ·  THREE PRECISE TERMS</a:t>
            </a:r>
            <a:endParaRPr lang="en-US" sz="1000" dirty="0"/>
          </a:p>
        </p:txBody>
      </p:sp>
      <p:sp>
        <p:nvSpPr>
          <p:cNvPr id="7" name="Text 4"/>
          <p:cNvSpPr/>
          <p:nvPr/>
        </p:nvSpPr>
        <p:spPr>
          <a:xfrm>
            <a:off x="457200" y="640080"/>
            <a:ext cx="8229600" cy="502920"/>
          </a:xfrm>
          <a:prstGeom prst="rect">
            <a:avLst/>
          </a:prstGeom>
          <a:noFill/>
          <a:ln/>
        </p:spPr>
        <p:txBody>
          <a:bodyPr wrap="square"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Each Word Carries a Legal History</a:t>
            </a:r>
            <a:endParaRPr lang="en-US" sz="2800" dirty="0"/>
          </a:p>
        </p:txBody>
      </p:sp>
      <p:sp>
        <p:nvSpPr>
          <p:cNvPr id="8" name="Text 5"/>
          <p:cNvSpPr/>
          <p:nvPr/>
        </p:nvSpPr>
        <p:spPr>
          <a:xfrm>
            <a:off x="457200" y="1188720"/>
            <a:ext cx="8229600" cy="347472"/>
          </a:xfrm>
          <a:prstGeom prst="rect">
            <a:avLst/>
          </a:prstGeom>
          <a:noFill/>
          <a:ln/>
        </p:spPr>
        <p:txBody>
          <a:bodyPr wrap="square" rtlCol="0" anchor="ctr"/>
          <a:lstStyle/>
          <a:p>
            <a:pPr algn="ctr" indent="0" marL="0">
              <a:buNone/>
            </a:pPr>
            <a:r>
              <a:rPr lang="en-US" sz="1500" i="1" dirty="0">
                <a:solidFill>
                  <a:srgbClr val="55C8E8"/>
                </a:solidFill>
                <a:latin typeface="Cambria" pitchFamily="34" charset="0"/>
                <a:ea typeface="Cambria" pitchFamily="34" charset="-122"/>
                <a:cs typeface="Cambria" pitchFamily="34" charset="-120"/>
              </a:rPr>
              <a:t>You discovered what the Herald's imprecision hides.</a:t>
            </a:r>
            <a:endParaRPr lang="en-US" sz="1500" dirty="0"/>
          </a:p>
        </p:txBody>
      </p:sp>
      <p:sp>
        <p:nvSpPr>
          <p:cNvPr id="9" name="Shape 6"/>
          <p:cNvSpPr/>
          <p:nvPr/>
        </p:nvSpPr>
        <p:spPr>
          <a:xfrm>
            <a:off x="274320" y="1691640"/>
            <a:ext cx="2788920" cy="2194560"/>
          </a:xfrm>
          <a:prstGeom prst="roundRect">
            <a:avLst>
              <a:gd name="adj" fmla="val 5000"/>
            </a:avLst>
          </a:prstGeom>
          <a:solidFill>
            <a:srgbClr val="34B76F">
              <a:alpha val="70000"/>
            </a:srgbClr>
          </a:solidFill>
          <a:ln w="25400">
            <a:solidFill>
              <a:srgbClr val="34B76F"/>
            </a:solidFill>
            <a:prstDash val="solid"/>
          </a:ln>
        </p:spPr>
      </p:sp>
      <p:sp>
        <p:nvSpPr>
          <p:cNvPr id="10" name="Text 7"/>
          <p:cNvSpPr/>
          <p:nvPr/>
        </p:nvSpPr>
        <p:spPr>
          <a:xfrm>
            <a:off x="411480" y="1755648"/>
            <a:ext cx="2514600" cy="3657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STATE</a:t>
            </a:r>
            <a:endParaRPr lang="en-US" sz="1800" dirty="0"/>
          </a:p>
        </p:txBody>
      </p:sp>
      <p:sp>
        <p:nvSpPr>
          <p:cNvPr id="11" name="Text 8"/>
          <p:cNvSpPr/>
          <p:nvPr/>
        </p:nvSpPr>
        <p:spPr>
          <a:xfrm>
            <a:off x="411480" y="2176272"/>
            <a:ext cx="2514600" cy="160020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Full member of the US. Elected senators, representatives, and has a capital. 50 today.</a:t>
            </a:r>
            <a:endParaRPr lang="en-US" sz="1200" dirty="0"/>
          </a:p>
        </p:txBody>
      </p:sp>
      <p:sp>
        <p:nvSpPr>
          <p:cNvPr id="12" name="Shape 9"/>
          <p:cNvSpPr/>
          <p:nvPr/>
        </p:nvSpPr>
        <p:spPr>
          <a:xfrm>
            <a:off x="3200400" y="1691640"/>
            <a:ext cx="2788920" cy="2194560"/>
          </a:xfrm>
          <a:prstGeom prst="roundRect">
            <a:avLst>
              <a:gd name="adj" fmla="val 5000"/>
            </a:avLst>
          </a:prstGeom>
          <a:solidFill>
            <a:srgbClr val="D4943A">
              <a:alpha val="70000"/>
            </a:srgbClr>
          </a:solidFill>
          <a:ln w="25400">
            <a:solidFill>
              <a:srgbClr val="D4943A"/>
            </a:solidFill>
            <a:prstDash val="solid"/>
          </a:ln>
        </p:spPr>
      </p:sp>
      <p:sp>
        <p:nvSpPr>
          <p:cNvPr id="13" name="Text 10"/>
          <p:cNvSpPr/>
          <p:nvPr/>
        </p:nvSpPr>
        <p:spPr>
          <a:xfrm>
            <a:off x="3337560" y="1755648"/>
            <a:ext cx="2514600" cy="3657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TERRITORY</a:t>
            </a:r>
            <a:endParaRPr lang="en-US" sz="1800" dirty="0"/>
          </a:p>
        </p:txBody>
      </p:sp>
      <p:sp>
        <p:nvSpPr>
          <p:cNvPr id="14" name="Text 11"/>
          <p:cNvSpPr/>
          <p:nvPr/>
        </p:nvSpPr>
        <p:spPr>
          <a:xfrm>
            <a:off x="3337560" y="2176272"/>
            <a:ext cx="2514600" cy="160020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Controlled by the US. Residents are citizens, but limited federal voting rights. No presidential vote.</a:t>
            </a:r>
            <a:endParaRPr lang="en-US" sz="1200" dirty="0"/>
          </a:p>
        </p:txBody>
      </p:sp>
      <p:sp>
        <p:nvSpPr>
          <p:cNvPr id="15" name="Shape 12"/>
          <p:cNvSpPr/>
          <p:nvPr/>
        </p:nvSpPr>
        <p:spPr>
          <a:xfrm>
            <a:off x="6126480" y="1691640"/>
            <a:ext cx="2788920" cy="2194560"/>
          </a:xfrm>
          <a:prstGeom prst="roundRect">
            <a:avLst>
              <a:gd name="adj" fmla="val 5000"/>
            </a:avLst>
          </a:prstGeom>
          <a:solidFill>
            <a:srgbClr val="55C8E8">
              <a:alpha val="70000"/>
            </a:srgbClr>
          </a:solidFill>
          <a:ln w="25400">
            <a:solidFill>
              <a:srgbClr val="55C8E8"/>
            </a:solidFill>
            <a:prstDash val="solid"/>
          </a:ln>
        </p:spPr>
      </p:sp>
      <p:sp>
        <p:nvSpPr>
          <p:cNvPr id="16" name="Text 13"/>
          <p:cNvSpPr/>
          <p:nvPr/>
        </p:nvSpPr>
        <p:spPr>
          <a:xfrm>
            <a:off x="6263640" y="1755648"/>
            <a:ext cx="2514600" cy="3657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COLONY</a:t>
            </a:r>
            <a:endParaRPr lang="en-US" sz="1800" dirty="0"/>
          </a:p>
        </p:txBody>
      </p:sp>
      <p:sp>
        <p:nvSpPr>
          <p:cNvPr id="17" name="Text 14"/>
          <p:cNvSpPr/>
          <p:nvPr/>
        </p:nvSpPr>
        <p:spPr>
          <a:xfrm>
            <a:off x="6263640" y="2176272"/>
            <a:ext cx="2514600" cy="160020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British territory before 1776. No self-governance. Declared independence and became the first 13 states.</a:t>
            </a:r>
            <a:endParaRPr lang="en-US" sz="1200" dirty="0"/>
          </a:p>
        </p:txBody>
      </p:sp>
      <p:sp>
        <p:nvSpPr>
          <p:cNvPr id="18" name="Shape 15"/>
          <p:cNvSpPr/>
          <p:nvPr/>
        </p:nvSpPr>
        <p:spPr>
          <a:xfrm>
            <a:off x="1097280" y="4041648"/>
            <a:ext cx="6949440" cy="438912"/>
          </a:xfrm>
          <a:prstGeom prst="roundRect">
            <a:avLst>
              <a:gd name="adj" fmla="val 20833"/>
            </a:avLst>
          </a:prstGeom>
          <a:solidFill>
            <a:srgbClr val="1A2D5A"/>
          </a:solidFill>
          <a:ln w="12700">
            <a:solidFill>
              <a:srgbClr val="55C8E8"/>
            </a:solidFill>
            <a:prstDash val="solid"/>
          </a:ln>
        </p:spPr>
      </p:sp>
      <p:sp>
        <p:nvSpPr>
          <p:cNvPr id="19" name="Text 16"/>
          <p:cNvSpPr/>
          <p:nvPr/>
        </p:nvSpPr>
        <p:spPr>
          <a:xfrm>
            <a:off x="1280160" y="4087368"/>
            <a:ext cx="6583680" cy="347472"/>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RETRIEVAL: Cover your screen. Name the three terms and one key distinction for each.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8B6FC0"/>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spc="150" kern="0" dirty="0">
                <a:solidFill>
                  <a:srgbClr val="FFFFFF"/>
                </a:solidFill>
                <a:latin typeface="Cambria" pitchFamily="34" charset="0"/>
                <a:ea typeface="Cambria" pitchFamily="34" charset="-122"/>
                <a:cs typeface="Cambria" pitchFamily="34" charset="-120"/>
              </a:rPr>
              <a:t>EDITOR'S LENS  ·  VIRTUE SPOTLIGHT</a:t>
            </a:r>
            <a:endParaRPr lang="en-US" sz="1000" dirty="0"/>
          </a:p>
        </p:txBody>
      </p:sp>
      <p:sp>
        <p:nvSpPr>
          <p:cNvPr id="7" name="Text 4"/>
          <p:cNvSpPr/>
          <p:nvPr/>
        </p:nvSpPr>
        <p:spPr>
          <a:xfrm>
            <a:off x="457200" y="640080"/>
            <a:ext cx="8229600" cy="64008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Honesty</a:t>
            </a:r>
            <a:endParaRPr lang="en-US" sz="4400" dirty="0"/>
          </a:p>
        </p:txBody>
      </p:sp>
      <p:sp>
        <p:nvSpPr>
          <p:cNvPr id="8" name="Shape 5"/>
          <p:cNvSpPr/>
          <p:nvPr/>
        </p:nvSpPr>
        <p:spPr>
          <a:xfrm>
            <a:off x="731520" y="1417320"/>
            <a:ext cx="7680960" cy="685800"/>
          </a:xfrm>
          <a:prstGeom prst="roundRect">
            <a:avLst>
              <a:gd name="adj" fmla="val 13333"/>
            </a:avLst>
          </a:prstGeom>
          <a:solidFill>
            <a:srgbClr val="1A2D5A"/>
          </a:solidFill>
          <a:ln w="19050">
            <a:solidFill>
              <a:srgbClr val="8B6FC0"/>
            </a:solidFill>
            <a:prstDash val="solid"/>
          </a:ln>
        </p:spPr>
      </p:sp>
      <p:sp>
        <p:nvSpPr>
          <p:cNvPr id="9" name="Text 6"/>
          <p:cNvSpPr/>
          <p:nvPr/>
        </p:nvSpPr>
        <p:spPr>
          <a:xfrm>
            <a:off x="914400" y="1481328"/>
            <a:ext cx="7315200" cy="548640"/>
          </a:xfrm>
          <a:prstGeom prst="rect">
            <a:avLst/>
          </a:prstGeom>
          <a:noFill/>
          <a:ln/>
        </p:spPr>
        <p:txBody>
          <a:bodyPr wrap="square" rtlCol="0" anchor="ctr"/>
          <a:lstStyle/>
          <a:p>
            <a:pPr algn="ctr" indent="0" marL="0">
              <a:buNone/>
            </a:pPr>
            <a:r>
              <a:rPr lang="en-US" sz="1400" i="1" dirty="0">
                <a:solidFill>
                  <a:srgbClr val="D6F2FB"/>
                </a:solidFill>
                <a:latin typeface="Cambria" pitchFamily="34" charset="0"/>
                <a:ea typeface="Cambria" pitchFamily="34" charset="-122"/>
                <a:cs typeface="Cambria" pitchFamily="34" charset="-120"/>
              </a:rPr>
              <a:t>An honest editor uses precise language — because calling a territory a state, or a colony a territory, misleads readers.</a:t>
            </a:r>
            <a:endParaRPr lang="en-US" sz="1400" dirty="0"/>
          </a:p>
        </p:txBody>
      </p:sp>
      <p:sp>
        <p:nvSpPr>
          <p:cNvPr id="10" name="Shape 7"/>
          <p:cNvSpPr/>
          <p:nvPr/>
        </p:nvSpPr>
        <p:spPr>
          <a:xfrm>
            <a:off x="274320" y="2286000"/>
            <a:ext cx="2743200" cy="2560320"/>
          </a:xfrm>
          <a:prstGeom prst="roundRect">
            <a:avLst>
              <a:gd name="adj" fmla="val 4286"/>
            </a:avLst>
          </a:prstGeom>
          <a:solidFill>
            <a:srgbClr val="E8636B">
              <a:alpha val="65000"/>
            </a:srgbClr>
          </a:solidFill>
          <a:ln w="19050">
            <a:solidFill>
              <a:srgbClr val="E8636B"/>
            </a:solidFill>
            <a:prstDash val="solid"/>
          </a:ln>
        </p:spPr>
      </p:sp>
      <p:sp>
        <p:nvSpPr>
          <p:cNvPr id="11" name="Text 8"/>
          <p:cNvSpPr/>
          <p:nvPr/>
        </p:nvSpPr>
        <p:spPr>
          <a:xfrm>
            <a:off x="41148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HERALD'S SHORTCUT</a:t>
            </a:r>
            <a:endParaRPr lang="en-US" sz="1000" dirty="0"/>
          </a:p>
        </p:txBody>
      </p:sp>
      <p:sp>
        <p:nvSpPr>
          <p:cNvPr id="12" name="Text 9"/>
          <p:cNvSpPr/>
          <p:nvPr/>
        </p:nvSpPr>
        <p:spPr>
          <a:xfrm>
            <a:off x="41148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Lumped three distinct political units into one category. 'All basically the same.' A shortcut that hides real legal differences.</a:t>
            </a:r>
            <a:endParaRPr lang="en-US" sz="1200" dirty="0"/>
          </a:p>
        </p:txBody>
      </p:sp>
      <p:sp>
        <p:nvSpPr>
          <p:cNvPr id="13" name="Shape 10"/>
          <p:cNvSpPr/>
          <p:nvPr/>
        </p:nvSpPr>
        <p:spPr>
          <a:xfrm>
            <a:off x="3200400" y="2286000"/>
            <a:ext cx="2743200" cy="2560320"/>
          </a:xfrm>
          <a:prstGeom prst="roundRect">
            <a:avLst>
              <a:gd name="adj" fmla="val 4286"/>
            </a:avLst>
          </a:prstGeom>
          <a:solidFill>
            <a:srgbClr val="34B76F">
              <a:alpha val="65000"/>
            </a:srgbClr>
          </a:solidFill>
          <a:ln w="19050">
            <a:solidFill>
              <a:srgbClr val="34B76F"/>
            </a:solidFill>
            <a:prstDash val="solid"/>
          </a:ln>
        </p:spPr>
      </p:sp>
      <p:sp>
        <p:nvSpPr>
          <p:cNvPr id="14" name="Text 11"/>
          <p:cNvSpPr/>
          <p:nvPr/>
        </p:nvSpPr>
        <p:spPr>
          <a:xfrm>
            <a:off x="333756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GAZETTE'S HONESTY</a:t>
            </a:r>
            <a:endParaRPr lang="en-US" sz="1000" dirty="0"/>
          </a:p>
        </p:txBody>
      </p:sp>
      <p:sp>
        <p:nvSpPr>
          <p:cNvPr id="15" name="Text 12"/>
          <p:cNvSpPr/>
          <p:nvPr/>
        </p:nvSpPr>
        <p:spPr>
          <a:xfrm>
            <a:off x="333756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Uses state, territory, and colony precisely — each word carries a specific legal history that shapes what readers understand.</a:t>
            </a:r>
            <a:endParaRPr lang="en-US" sz="1200" dirty="0"/>
          </a:p>
        </p:txBody>
      </p:sp>
      <p:sp>
        <p:nvSpPr>
          <p:cNvPr id="16" name="Shape 13"/>
          <p:cNvSpPr/>
          <p:nvPr/>
        </p:nvSpPr>
        <p:spPr>
          <a:xfrm>
            <a:off x="6126480" y="2286000"/>
            <a:ext cx="2743200" cy="2560320"/>
          </a:xfrm>
          <a:prstGeom prst="roundRect">
            <a:avLst>
              <a:gd name="adj" fmla="val 4286"/>
            </a:avLst>
          </a:prstGeom>
          <a:solidFill>
            <a:srgbClr val="D4943A">
              <a:alpha val="65000"/>
            </a:srgbClr>
          </a:solidFill>
          <a:ln w="19050">
            <a:solidFill>
              <a:srgbClr val="D4943A"/>
            </a:solidFill>
            <a:prstDash val="solid"/>
          </a:ln>
        </p:spPr>
      </p:sp>
      <p:sp>
        <p:nvSpPr>
          <p:cNvPr id="17" name="Text 14"/>
          <p:cNvSpPr/>
          <p:nvPr/>
        </p:nvSpPr>
        <p:spPr>
          <a:xfrm>
            <a:off x="626364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WHY IT MATTERS</a:t>
            </a:r>
            <a:endParaRPr lang="en-US" sz="1000" dirty="0"/>
          </a:p>
        </p:txBody>
      </p:sp>
      <p:sp>
        <p:nvSpPr>
          <p:cNvPr id="18" name="Text 15"/>
          <p:cNvSpPr/>
          <p:nvPr/>
        </p:nvSpPr>
        <p:spPr>
          <a:xfrm>
            <a:off x="626364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A reader who thinks Puerto Rico is 'basically a state' doesn't understand why its residents can't vote for president. Precision protects truth.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34B76F"/>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GUIDED PRACTICE  ·  I DO — TEACHER MODELS</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How to Write a Precise Political Unit Description</a:t>
            </a:r>
            <a:endParaRPr lang="en-US" sz="2200" dirty="0"/>
          </a:p>
        </p:txBody>
      </p:sp>
      <p:sp>
        <p:nvSpPr>
          <p:cNvPr id="6" name="Shape 4"/>
          <p:cNvSpPr/>
          <p:nvPr/>
        </p:nvSpPr>
        <p:spPr>
          <a:xfrm>
            <a:off x="274320" y="1188720"/>
            <a:ext cx="8595360" cy="594360"/>
          </a:xfrm>
          <a:prstGeom prst="roundRect">
            <a:avLst>
              <a:gd name="adj" fmla="val 15385"/>
            </a:avLst>
          </a:prstGeom>
          <a:solidFill>
            <a:srgbClr val="FFFFFF"/>
          </a:solidFill>
          <a:ln w="25400">
            <a:solidFill>
              <a:srgbClr val="34B76F"/>
            </a:solidFill>
            <a:prstDash val="solid"/>
          </a:ln>
        </p:spPr>
      </p:sp>
      <p:sp>
        <p:nvSpPr>
          <p:cNvPr id="7" name="Text 5"/>
          <p:cNvSpPr/>
          <p:nvPr/>
        </p:nvSpPr>
        <p:spPr>
          <a:xfrm>
            <a:off x="457200" y="1261872"/>
            <a:ext cx="8229600" cy="457200"/>
          </a:xfrm>
          <a:prstGeom prst="rect">
            <a:avLst/>
          </a:prstGeom>
          <a:noFill/>
          <a:ln/>
        </p:spPr>
        <p:txBody>
          <a:bodyPr wrap="square" rtlCol="0" anchor="ctr"/>
          <a:lstStyle/>
          <a:p>
            <a:pPr indent="0" marL="0">
              <a:buNone/>
            </a:pPr>
            <a:r>
              <a:rPr lang="en-US" sz="1300" i="1" dirty="0">
                <a:solidFill>
                  <a:srgbClr val="5A4A3A"/>
                </a:solidFill>
                <a:latin typeface="Calibri" pitchFamily="34" charset="0"/>
                <a:ea typeface="Calibri" pitchFamily="34" charset="-122"/>
                <a:cs typeface="Calibri" pitchFamily="34" charset="-120"/>
              </a:rPr>
              <a:t>HERALD DRAFT: "Massachusetts was one of the original states/colonies back in the 1600s and 1700s."</a:t>
            </a:r>
            <a:endParaRPr lang="en-US" sz="1300" dirty="0"/>
          </a:p>
        </p:txBody>
      </p:sp>
      <p:sp>
        <p:nvSpPr>
          <p:cNvPr id="8" name="Shape 6"/>
          <p:cNvSpPr/>
          <p:nvPr/>
        </p:nvSpPr>
        <p:spPr>
          <a:xfrm>
            <a:off x="274320" y="1920240"/>
            <a:ext cx="4114800" cy="1234440"/>
          </a:xfrm>
          <a:prstGeom prst="roundRect">
            <a:avLst>
              <a:gd name="adj" fmla="val 7407"/>
            </a:avLst>
          </a:prstGeom>
          <a:solidFill>
            <a:srgbClr val="FFFFFF"/>
          </a:solidFill>
          <a:ln w="12700">
            <a:solidFill>
              <a:srgbClr val="34B76F"/>
            </a:solidFill>
            <a:prstDash val="solid"/>
          </a:ln>
        </p:spPr>
      </p:sp>
      <p:sp>
        <p:nvSpPr>
          <p:cNvPr id="9" name="Text 7"/>
          <p:cNvSpPr/>
          <p:nvPr/>
        </p:nvSpPr>
        <p:spPr>
          <a:xfrm>
            <a:off x="411480" y="198424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1: Identify the time period</a:t>
            </a:r>
            <a:endParaRPr lang="en-US" sz="1000" dirty="0"/>
          </a:p>
        </p:txBody>
      </p:sp>
      <p:sp>
        <p:nvSpPr>
          <p:cNvPr id="10" name="Text 8"/>
          <p:cNvSpPr/>
          <p:nvPr/>
        </p:nvSpPr>
        <p:spPr>
          <a:xfrm>
            <a:off x="411480" y="2286000"/>
            <a:ext cx="3840480" cy="75895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 1600s-1700s = before American independence (1776). So Massachusetts was a COLONY then — not a state. States came after independence.</a:t>
            </a:r>
            <a:endParaRPr lang="en-US" sz="1100" dirty="0"/>
          </a:p>
        </p:txBody>
      </p:sp>
      <p:sp>
        <p:nvSpPr>
          <p:cNvPr id="11" name="Shape 9"/>
          <p:cNvSpPr/>
          <p:nvPr/>
        </p:nvSpPr>
        <p:spPr>
          <a:xfrm>
            <a:off x="274320" y="3291840"/>
            <a:ext cx="4114800" cy="1234440"/>
          </a:xfrm>
          <a:prstGeom prst="roundRect">
            <a:avLst>
              <a:gd name="adj" fmla="val 7407"/>
            </a:avLst>
          </a:prstGeom>
          <a:solidFill>
            <a:srgbClr val="FFFFFF"/>
          </a:solidFill>
          <a:ln w="12700">
            <a:solidFill>
              <a:srgbClr val="34B76F"/>
            </a:solidFill>
            <a:prstDash val="solid"/>
          </a:ln>
        </p:spPr>
      </p:sp>
      <p:sp>
        <p:nvSpPr>
          <p:cNvPr id="12" name="Text 10"/>
          <p:cNvSpPr/>
          <p:nvPr/>
        </p:nvSpPr>
        <p:spPr>
          <a:xfrm>
            <a:off x="411480" y="335584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2: Apply the right term</a:t>
            </a:r>
            <a:endParaRPr lang="en-US" sz="1000" dirty="0"/>
          </a:p>
        </p:txBody>
      </p:sp>
      <p:sp>
        <p:nvSpPr>
          <p:cNvPr id="13" name="Text 11"/>
          <p:cNvSpPr/>
          <p:nvPr/>
        </p:nvSpPr>
        <p:spPr>
          <a:xfrm>
            <a:off x="411480" y="3657600"/>
            <a:ext cx="3840480" cy="75895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'Massachusetts was a British colony from 1620 to 1776.' That's precise — it names the political unit AND the time period.</a:t>
            </a:r>
            <a:endParaRPr lang="en-US" sz="1100" dirty="0"/>
          </a:p>
        </p:txBody>
      </p:sp>
      <p:sp>
        <p:nvSpPr>
          <p:cNvPr id="14" name="Shape 12"/>
          <p:cNvSpPr/>
          <p:nvPr/>
        </p:nvSpPr>
        <p:spPr>
          <a:xfrm>
            <a:off x="4663440" y="1920240"/>
            <a:ext cx="4114800" cy="1234440"/>
          </a:xfrm>
          <a:prstGeom prst="roundRect">
            <a:avLst>
              <a:gd name="adj" fmla="val 7407"/>
            </a:avLst>
          </a:prstGeom>
          <a:solidFill>
            <a:srgbClr val="FFFFFF"/>
          </a:solidFill>
          <a:ln w="12700">
            <a:solidFill>
              <a:srgbClr val="34B76F"/>
            </a:solidFill>
            <a:prstDash val="solid"/>
          </a:ln>
        </p:spPr>
      </p:sp>
      <p:sp>
        <p:nvSpPr>
          <p:cNvPr id="15" name="Text 13"/>
          <p:cNvSpPr/>
          <p:nvPr/>
        </p:nvSpPr>
        <p:spPr>
          <a:xfrm>
            <a:off x="4800600" y="198424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3: Add the transition</a:t>
            </a:r>
            <a:endParaRPr lang="en-US" sz="1000" dirty="0"/>
          </a:p>
        </p:txBody>
      </p:sp>
      <p:sp>
        <p:nvSpPr>
          <p:cNvPr id="16" name="Text 14"/>
          <p:cNvSpPr/>
          <p:nvPr/>
        </p:nvSpPr>
        <p:spPr>
          <a:xfrm>
            <a:off x="4800600" y="2286000"/>
            <a:ext cx="3840480" cy="75895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Then: 'After declaring independence, Massachusetts became one of the original thirteen states of the United States in 1788.'</a:t>
            </a:r>
            <a:endParaRPr lang="en-US" sz="1100" dirty="0"/>
          </a:p>
        </p:txBody>
      </p:sp>
      <p:sp>
        <p:nvSpPr>
          <p:cNvPr id="17" name="Shape 15"/>
          <p:cNvSpPr/>
          <p:nvPr/>
        </p:nvSpPr>
        <p:spPr>
          <a:xfrm>
            <a:off x="4663440" y="3291840"/>
            <a:ext cx="4114800" cy="1234440"/>
          </a:xfrm>
          <a:prstGeom prst="roundRect">
            <a:avLst>
              <a:gd name="adj" fmla="val 7407"/>
            </a:avLst>
          </a:prstGeom>
          <a:solidFill>
            <a:srgbClr val="FFFFFF"/>
          </a:solidFill>
          <a:ln w="12700">
            <a:solidFill>
              <a:srgbClr val="34B76F"/>
            </a:solidFill>
            <a:prstDash val="solid"/>
          </a:ln>
        </p:spPr>
      </p:sp>
      <p:sp>
        <p:nvSpPr>
          <p:cNvPr id="18" name="Text 16"/>
          <p:cNvSpPr/>
          <p:nvPr/>
        </p:nvSpPr>
        <p:spPr>
          <a:xfrm>
            <a:off x="4800600" y="335584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4: Check for precision</a:t>
            </a:r>
            <a:endParaRPr lang="en-US" sz="1000" dirty="0"/>
          </a:p>
        </p:txBody>
      </p:sp>
      <p:sp>
        <p:nvSpPr>
          <p:cNvPr id="19" name="Text 17"/>
          <p:cNvSpPr/>
          <p:nvPr/>
        </p:nvSpPr>
        <p:spPr>
          <a:xfrm>
            <a:off x="4800600" y="3657600"/>
            <a:ext cx="3840480" cy="758952"/>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Does every term carry the right legal meaning? 'Colony' = British-controlled. 'State' = full US member with senators and a capital. Both are correct.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34B76F"/>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GUIDED PRACTICE  ·  WE DO — TRY TOGETHER</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Now You Try: Puerto Rico</a:t>
            </a:r>
            <a:endParaRPr lang="en-US" sz="2600" dirty="0"/>
          </a:p>
        </p:txBody>
      </p:sp>
      <p:sp>
        <p:nvSpPr>
          <p:cNvPr id="6" name="Shape 4"/>
          <p:cNvSpPr/>
          <p:nvPr/>
        </p:nvSpPr>
        <p:spPr>
          <a:xfrm>
            <a:off x="274320" y="1188720"/>
            <a:ext cx="8595360" cy="594360"/>
          </a:xfrm>
          <a:prstGeom prst="roundRect">
            <a:avLst>
              <a:gd name="adj" fmla="val 15385"/>
            </a:avLst>
          </a:prstGeom>
          <a:solidFill>
            <a:srgbClr val="1A2D5A"/>
          </a:solidFill>
          <a:ln/>
        </p:spPr>
      </p:sp>
      <p:sp>
        <p:nvSpPr>
          <p:cNvPr id="7" name="Text 5"/>
          <p:cNvSpPr/>
          <p:nvPr/>
        </p:nvSpPr>
        <p:spPr>
          <a:xfrm>
            <a:off x="457200" y="1261872"/>
            <a:ext cx="822960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HERALD DRAFT: "Puerto Rico is basically a US state — its residents are American citizens."</a:t>
            </a:r>
            <a:endParaRPr lang="en-US" sz="1400" dirty="0"/>
          </a:p>
        </p:txBody>
      </p:sp>
      <p:sp>
        <p:nvSpPr>
          <p:cNvPr id="8" name="Shape 6"/>
          <p:cNvSpPr/>
          <p:nvPr/>
        </p:nvSpPr>
        <p:spPr>
          <a:xfrm>
            <a:off x="274320" y="1920240"/>
            <a:ext cx="4480560" cy="2834640"/>
          </a:xfrm>
          <a:prstGeom prst="roundRect">
            <a:avLst>
              <a:gd name="adj" fmla="val 3871"/>
            </a:avLst>
          </a:prstGeom>
          <a:solidFill>
            <a:srgbClr val="1A2D5A"/>
          </a:solidFill>
          <a:ln w="12700">
            <a:solidFill>
              <a:srgbClr val="2A4070"/>
            </a:solidFill>
            <a:prstDash val="solid"/>
          </a:ln>
        </p:spPr>
      </p:sp>
      <p:sp>
        <p:nvSpPr>
          <p:cNvPr id="9" name="Text 7"/>
          <p:cNvSpPr/>
          <p:nvPr/>
        </p:nvSpPr>
        <p:spPr>
          <a:xfrm>
            <a:off x="411480" y="1975104"/>
            <a:ext cx="42062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2240280"/>
            <a:ext cx="4114800" cy="24231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1: What time period are we in? Is Puerto Rico new or historical?</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2: What IS Puerto Rico? State, territory, or colony? How do you know?</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3: What would the precise Gazette version say?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What's TRUE in the Herald's version — and what's misleading?</a:t>
            </a:r>
            <a:endParaRPr lang="en-US" sz="1100" dirty="0"/>
          </a:p>
        </p:txBody>
      </p:sp>
      <p:sp>
        <p:nvSpPr>
          <p:cNvPr id="11" name="Shape 9"/>
          <p:cNvSpPr/>
          <p:nvPr/>
        </p:nvSpPr>
        <p:spPr>
          <a:xfrm>
            <a:off x="4937760" y="1920240"/>
            <a:ext cx="3931920" cy="2834640"/>
          </a:xfrm>
          <a:prstGeom prst="roundRect">
            <a:avLst>
              <a:gd name="adj" fmla="val 3871"/>
            </a:avLst>
          </a:prstGeom>
          <a:solidFill>
            <a:srgbClr val="FFF3DC"/>
          </a:solidFill>
          <a:ln w="19050">
            <a:solidFill>
              <a:srgbClr val="F5E6C8"/>
            </a:solidFill>
            <a:prstDash val="solid"/>
          </a:ln>
        </p:spPr>
      </p:sp>
      <p:sp>
        <p:nvSpPr>
          <p:cNvPr id="12" name="Text 10"/>
          <p:cNvSpPr/>
          <p:nvPr/>
        </p:nvSpPr>
        <p:spPr>
          <a:xfrm>
            <a:off x="5074920" y="1975104"/>
            <a:ext cx="3657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74920" y="2176272"/>
            <a:ext cx="3657600" cy="2514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"Puerto Rico is a... not a state,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is partly right that... but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precise Gazette version: Puerto Rico is ___. Residents are ___ but cannot ___."</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E8636B"/>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ERROR ANALYSIS  ·  FIND THE MISTAKE</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Did This Junior Editor Get Wrong?</a:t>
            </a:r>
            <a:endParaRPr lang="en-US" sz="2400" dirty="0"/>
          </a:p>
        </p:txBody>
      </p:sp>
      <p:sp>
        <p:nvSpPr>
          <p:cNvPr id="6" name="Shape 4"/>
          <p:cNvSpPr/>
          <p:nvPr/>
        </p:nvSpPr>
        <p:spPr>
          <a:xfrm>
            <a:off x="274320" y="1188720"/>
            <a:ext cx="8595360" cy="1508760"/>
          </a:xfrm>
          <a:prstGeom prst="roundRect">
            <a:avLst>
              <a:gd name="adj" fmla="val 7273"/>
            </a:avLst>
          </a:prstGeom>
          <a:solidFill>
            <a:srgbClr val="FFFFFF"/>
          </a:solidFill>
          <a:ln w="25400">
            <a:solidFill>
              <a:srgbClr val="E8636B"/>
            </a:solidFill>
            <a:prstDash val="dash"/>
          </a:ln>
        </p:spPr>
      </p:sp>
      <p:sp>
        <p:nvSpPr>
          <p:cNvPr id="7" name="Text 5"/>
          <p:cNvSpPr/>
          <p:nvPr/>
        </p:nvSpPr>
        <p:spPr>
          <a:xfrm>
            <a:off x="457200" y="1261872"/>
            <a:ext cx="8229600" cy="256032"/>
          </a:xfrm>
          <a:prstGeom prst="rect">
            <a:avLst/>
          </a:prstGeom>
          <a:noFill/>
          <a:ln/>
        </p:spPr>
        <p:txBody>
          <a:bodyPr wrap="square" rtlCol="0" anchor="ctr"/>
          <a:lstStyle/>
          <a:p>
            <a:pPr indent="0" marL="0">
              <a:buNone/>
            </a:pPr>
            <a:r>
              <a:rPr lang="en-US" sz="1000" b="1" dirty="0">
                <a:solidFill>
                  <a:srgbClr val="E8636B"/>
                </a:solidFill>
                <a:latin typeface="Calibri" pitchFamily="34" charset="0"/>
                <a:ea typeface="Calibri" pitchFamily="34" charset="-122"/>
                <a:cs typeface="Calibri" pitchFamily="34" charset="-120"/>
              </a:rPr>
              <a:t>SAMPLE MAP NOTE (contains errors):</a:t>
            </a:r>
            <a:endParaRPr lang="en-US" sz="1000" dirty="0"/>
          </a:p>
        </p:txBody>
      </p:sp>
      <p:sp>
        <p:nvSpPr>
          <p:cNvPr id="8" name="Text 6"/>
          <p:cNvSpPr/>
          <p:nvPr/>
        </p:nvSpPr>
        <p:spPr>
          <a:xfrm>
            <a:off x="457200" y="1554480"/>
            <a:ext cx="8229600" cy="1005840"/>
          </a:xfrm>
          <a:prstGeom prst="rect">
            <a:avLst/>
          </a:prstGeom>
          <a:noFill/>
          <a:ln/>
        </p:spPr>
        <p:txBody>
          <a:bodyPr wrap="square"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"The Herald is mostly right. Virginia, Massachusetts, and Puerto Rico are all states today. The thirteen colonies were territories before they became states in 1776. Each state has a capital and two senators, which is how colonies worked too."</a:t>
            </a:r>
            <a:endParaRPr lang="en-US" sz="1300" dirty="0"/>
          </a:p>
        </p:txBody>
      </p:sp>
      <p:sp>
        <p:nvSpPr>
          <p:cNvPr id="9" name="Shape 7"/>
          <p:cNvSpPr/>
          <p:nvPr/>
        </p:nvSpPr>
        <p:spPr>
          <a:xfrm>
            <a:off x="274320" y="2834640"/>
            <a:ext cx="4297680" cy="2011680"/>
          </a:xfrm>
          <a:prstGeom prst="roundRect">
            <a:avLst>
              <a:gd name="adj" fmla="val 5455"/>
            </a:avLst>
          </a:prstGeom>
          <a:solidFill>
            <a:srgbClr val="1A2D5A"/>
          </a:solidFill>
          <a:ln w="12700">
            <a:solidFill>
              <a:srgbClr val="2A4070"/>
            </a:solidFill>
            <a:prstDash val="solid"/>
          </a:ln>
        </p:spPr>
      </p:sp>
      <p:sp>
        <p:nvSpPr>
          <p:cNvPr id="10" name="Text 8"/>
          <p:cNvSpPr/>
          <p:nvPr/>
        </p:nvSpPr>
        <p:spPr>
          <a:xfrm>
            <a:off x="411480" y="2889504"/>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57200" y="3154680"/>
            <a:ext cx="3931920" cy="16002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many errors can you find? What are they?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error is most misleading — the Puerto Rico error or the colony/territory error?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does saying 'colonies worked the same way' misrepresent history?</a:t>
            </a:r>
            <a:endParaRPr lang="en-US" sz="1100" dirty="0"/>
          </a:p>
        </p:txBody>
      </p:sp>
      <p:sp>
        <p:nvSpPr>
          <p:cNvPr id="12" name="Shape 10"/>
          <p:cNvSpPr/>
          <p:nvPr/>
        </p:nvSpPr>
        <p:spPr>
          <a:xfrm>
            <a:off x="4754880" y="2834640"/>
            <a:ext cx="4114800" cy="2011680"/>
          </a:xfrm>
          <a:prstGeom prst="roundRect">
            <a:avLst>
              <a:gd name="adj" fmla="val 5455"/>
            </a:avLst>
          </a:prstGeom>
          <a:solidFill>
            <a:srgbClr val="FFF3DC"/>
          </a:solidFill>
          <a:ln w="19050">
            <a:solidFill>
              <a:srgbClr val="F5E6C8"/>
            </a:solidFill>
            <a:prstDash val="solid"/>
          </a:ln>
        </p:spPr>
      </p:sp>
      <p:sp>
        <p:nvSpPr>
          <p:cNvPr id="13" name="Text 11"/>
          <p:cNvSpPr/>
          <p:nvPr/>
        </p:nvSpPr>
        <p:spPr>
          <a:xfrm>
            <a:off x="4892040" y="288950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892040" y="3090672"/>
            <a:ext cx="384048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found __ errors. The most misleading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"Puerto Rico is NOT a state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"Colonies did NOT work like states because..."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8B6FC0"/>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THE TRICKY ONE  ·  DEBATE THIS</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Should Puerto Rico Become a State — or Stay a Territory?</a:t>
            </a:r>
            <a:endParaRPr lang="en-US" sz="2000" dirty="0"/>
          </a:p>
        </p:txBody>
      </p:sp>
      <p:sp>
        <p:nvSpPr>
          <p:cNvPr id="6" name="Shape 4"/>
          <p:cNvSpPr/>
          <p:nvPr/>
        </p:nvSpPr>
        <p:spPr>
          <a:xfrm>
            <a:off x="274320" y="1188720"/>
            <a:ext cx="8595360" cy="914400"/>
          </a:xfrm>
          <a:prstGeom prst="roundRect">
            <a:avLst>
              <a:gd name="adj" fmla="val 10000"/>
            </a:avLst>
          </a:prstGeom>
          <a:solidFill>
            <a:srgbClr val="8B6FC0">
              <a:alpha val="80000"/>
            </a:srgbClr>
          </a:solidFill>
          <a:ln w="19050">
            <a:solidFill>
              <a:srgbClr val="8B6FC0"/>
            </a:solidFill>
            <a:prstDash val="solid"/>
          </a:ln>
        </p:spPr>
      </p:sp>
      <p:sp>
        <p:nvSpPr>
          <p:cNvPr id="7" name="Text 5"/>
          <p:cNvSpPr/>
          <p:nvPr/>
        </p:nvSpPr>
        <p:spPr>
          <a:xfrm>
            <a:off x="457200" y="1261872"/>
            <a:ext cx="8229600" cy="749808"/>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Consider: Puerto Rican residents are US citizens, pay federal taxes, and serve in the US military. They cannot vote for president or have voting members of Congress. Puerto Rico has held referendums on statehood, with many residents voting in favor. This is an ongoing debate in American politics and law.</a:t>
            </a:r>
            <a:endParaRPr lang="en-US" sz="1300" dirty="0"/>
          </a:p>
        </p:txBody>
      </p:sp>
      <p:sp>
        <p:nvSpPr>
          <p:cNvPr id="8" name="Shape 6"/>
          <p:cNvSpPr/>
          <p:nvPr/>
        </p:nvSpPr>
        <p:spPr>
          <a:xfrm>
            <a:off x="274320" y="2240280"/>
            <a:ext cx="4572000" cy="2606040"/>
          </a:xfrm>
          <a:prstGeom prst="roundRect">
            <a:avLst>
              <a:gd name="adj" fmla="val 4211"/>
            </a:avLst>
          </a:prstGeom>
          <a:solidFill>
            <a:srgbClr val="1A2D5A"/>
          </a:solidFill>
          <a:ln w="12700">
            <a:solidFill>
              <a:srgbClr val="2A4070"/>
            </a:solidFill>
            <a:prstDash val="solid"/>
          </a:ln>
        </p:spPr>
      </p:sp>
      <p:sp>
        <p:nvSpPr>
          <p:cNvPr id="9" name="Text 7"/>
          <p:cNvSpPr/>
          <p:nvPr/>
        </p:nvSpPr>
        <p:spPr>
          <a:xfrm>
            <a:off x="411480" y="2295144"/>
            <a:ext cx="42976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2560320"/>
            <a:ext cx="4206240" cy="21945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If residents are already citizens, is it fair to deny them full representation? What's the strongest argument for statehood?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arguments exist for keeping territory status? Who might benefit?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knowing the precise legal distinction between state and territory make this debate clearer?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Reasonable people disagree here — what would each side say?</a:t>
            </a:r>
            <a:endParaRPr lang="en-US" sz="1100" dirty="0"/>
          </a:p>
        </p:txBody>
      </p:sp>
      <p:sp>
        <p:nvSpPr>
          <p:cNvPr id="11" name="Shape 9"/>
          <p:cNvSpPr/>
          <p:nvPr/>
        </p:nvSpPr>
        <p:spPr>
          <a:xfrm>
            <a:off x="5029200" y="2240280"/>
            <a:ext cx="3840480" cy="2606040"/>
          </a:xfrm>
          <a:prstGeom prst="roundRect">
            <a:avLst>
              <a:gd name="adj" fmla="val 4211"/>
            </a:avLst>
          </a:prstGeom>
          <a:solidFill>
            <a:srgbClr val="FFF3DC"/>
          </a:solidFill>
          <a:ln w="19050">
            <a:solidFill>
              <a:srgbClr val="F5E6C8"/>
            </a:solidFill>
            <a:prstDash val="solid"/>
          </a:ln>
        </p:spPr>
      </p:sp>
      <p:sp>
        <p:nvSpPr>
          <p:cNvPr id="12" name="Text 10"/>
          <p:cNvSpPr/>
          <p:nvPr/>
        </p:nvSpPr>
        <p:spPr>
          <a:xfrm>
            <a:off x="5166360" y="229514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166360" y="2496312"/>
            <a:ext cx="3566160" cy="2286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strongest argument for statehood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strongest argument against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debate matters because the distinction between state and territory..."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182880" y="91440"/>
            <a:ext cx="8778240" cy="32004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GO TO PRESS  ·  VOL. 1, ISSUE 7  ·  GAZETTE MAP NOTE</a:t>
            </a:r>
            <a:endParaRPr lang="en-US" sz="1000" dirty="0"/>
          </a:p>
        </p:txBody>
      </p:sp>
      <p:sp>
        <p:nvSpPr>
          <p:cNvPr id="5" name="Text 3"/>
          <p:cNvSpPr/>
          <p:nvPr/>
        </p:nvSpPr>
        <p:spPr>
          <a:xfrm>
            <a:off x="274320" y="64008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Your Assignment: The Gazette Map Note</a:t>
            </a:r>
            <a:endParaRPr lang="en-US" sz="2400" dirty="0"/>
          </a:p>
        </p:txBody>
      </p:sp>
      <p:sp>
        <p:nvSpPr>
          <p:cNvPr id="6" name="Shape 4"/>
          <p:cNvSpPr/>
          <p:nvPr/>
        </p:nvSpPr>
        <p:spPr>
          <a:xfrm>
            <a:off x="274320" y="1188720"/>
            <a:ext cx="8595360" cy="2240280"/>
          </a:xfrm>
          <a:prstGeom prst="roundRect">
            <a:avLst>
              <a:gd name="adj" fmla="val 4898"/>
            </a:avLst>
          </a:prstGeom>
          <a:solidFill>
            <a:srgbClr val="FFFFFF"/>
          </a:solidFill>
          <a:ln w="19050">
            <a:solidFill>
              <a:srgbClr val="1A8A7D"/>
            </a:solidFill>
            <a:prstDash val="solid"/>
          </a:ln>
        </p:spPr>
      </p:sp>
      <p:sp>
        <p:nvSpPr>
          <p:cNvPr id="7" name="Text 5"/>
          <p:cNvSpPr/>
          <p:nvPr/>
        </p:nvSpPr>
        <p:spPr>
          <a:xfrm>
            <a:off x="457200" y="1261872"/>
            <a:ext cx="8229600" cy="256032"/>
          </a:xfrm>
          <a:prstGeom prst="rect">
            <a:avLst/>
          </a:prstGeom>
          <a:noFill/>
          <a:ln/>
        </p:spPr>
        <p:txBody>
          <a:bodyPr wrap="square"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EDITOR'S NOTEBOOK — Answer all three:</a:t>
            </a:r>
            <a:endParaRPr lang="en-US" sz="1000" dirty="0"/>
          </a:p>
        </p:txBody>
      </p:sp>
      <p:sp>
        <p:nvSpPr>
          <p:cNvPr id="8" name="Text 6"/>
          <p:cNvSpPr/>
          <p:nvPr/>
        </p:nvSpPr>
        <p:spPr>
          <a:xfrm>
            <a:off x="457200" y="1554480"/>
            <a:ext cx="8229600" cy="576072"/>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1. In your own words, explain the difference between a US state and a US territory. Give one concrete example of each.</a:t>
            </a:r>
            <a:endParaRPr lang="en-US" sz="1200" dirty="0"/>
          </a:p>
        </p:txBody>
      </p:sp>
      <p:sp>
        <p:nvSpPr>
          <p:cNvPr id="9" name="Text 7"/>
          <p:cNvSpPr/>
          <p:nvPr/>
        </p:nvSpPr>
        <p:spPr>
          <a:xfrm>
            <a:off x="457200" y="2194560"/>
            <a:ext cx="8229600" cy="576072"/>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2. Look at the map. Name two of the original thirteen colonies and explain what happened to their boundaries when they became states.</a:t>
            </a:r>
            <a:endParaRPr lang="en-US" sz="1200" dirty="0"/>
          </a:p>
        </p:txBody>
      </p:sp>
      <p:sp>
        <p:nvSpPr>
          <p:cNvPr id="10" name="Text 8"/>
          <p:cNvSpPr/>
          <p:nvPr/>
        </p:nvSpPr>
        <p:spPr>
          <a:xfrm>
            <a:off x="457200" y="2834640"/>
            <a:ext cx="8229600" cy="576072"/>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3. The Hasty Herald said "States, capitals, territories, and colonies can all be reported the same way." What's partly right about that? What's missing?</a:t>
            </a:r>
            <a:endParaRPr lang="en-US" sz="1200" dirty="0"/>
          </a:p>
        </p:txBody>
      </p:sp>
      <p:sp>
        <p:nvSpPr>
          <p:cNvPr id="11" name="Shape 9"/>
          <p:cNvSpPr/>
          <p:nvPr/>
        </p:nvSpPr>
        <p:spPr>
          <a:xfrm>
            <a:off x="274320" y="3547872"/>
            <a:ext cx="5029200" cy="1115568"/>
          </a:xfrm>
          <a:prstGeom prst="roundRect">
            <a:avLst>
              <a:gd name="adj" fmla="val 8197"/>
            </a:avLst>
          </a:prstGeom>
          <a:solidFill>
            <a:srgbClr val="1A2D5A"/>
          </a:solidFill>
          <a:ln w="19050">
            <a:solidFill>
              <a:srgbClr val="D4943A"/>
            </a:solidFill>
            <a:prstDash val="solid"/>
          </a:ln>
        </p:spPr>
      </p:sp>
      <p:sp>
        <p:nvSpPr>
          <p:cNvPr id="12" name="Text 10"/>
          <p:cNvSpPr/>
          <p:nvPr/>
        </p:nvSpPr>
        <p:spPr>
          <a:xfrm>
            <a:off x="457200" y="3621024"/>
            <a:ext cx="4663440" cy="22860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GAZETTE MAP NOTE:</a:t>
            </a:r>
            <a:endParaRPr lang="en-US" sz="900" dirty="0"/>
          </a:p>
        </p:txBody>
      </p:sp>
      <p:sp>
        <p:nvSpPr>
          <p:cNvPr id="13" name="Text 11"/>
          <p:cNvSpPr/>
          <p:nvPr/>
        </p:nvSpPr>
        <p:spPr>
          <a:xfrm>
            <a:off x="457200" y="3877056"/>
            <a:ext cx="4663440" cy="68580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(1) What Herald got partly right  ·  (2) Two sentences using map evidence for key distinctions  ·  (3) Precise corrected claim</a:t>
            </a:r>
            <a:endParaRPr lang="en-US" sz="1200" dirty="0"/>
          </a:p>
        </p:txBody>
      </p:sp>
      <p:sp>
        <p:nvSpPr>
          <p:cNvPr id="14" name="Shape 12"/>
          <p:cNvSpPr/>
          <p:nvPr/>
        </p:nvSpPr>
        <p:spPr>
          <a:xfrm>
            <a:off x="5486400" y="3547872"/>
            <a:ext cx="3383280" cy="1115568"/>
          </a:xfrm>
          <a:prstGeom prst="roundRect">
            <a:avLst>
              <a:gd name="adj" fmla="val 8197"/>
            </a:avLst>
          </a:prstGeom>
          <a:solidFill>
            <a:srgbClr val="D4943A">
              <a:alpha val="85000"/>
            </a:srgbClr>
          </a:solidFill>
          <a:ln w="19050">
            <a:solidFill>
              <a:srgbClr val="D4943A"/>
            </a:solidFill>
            <a:prstDash val="solid"/>
          </a:ln>
        </p:spPr>
      </p:sp>
      <p:sp>
        <p:nvSpPr>
          <p:cNvPr id="15" name="Text 13"/>
          <p:cNvSpPr/>
          <p:nvPr/>
        </p:nvSpPr>
        <p:spPr>
          <a:xfrm>
            <a:off x="5623560" y="3621024"/>
            <a:ext cx="3108960" cy="22860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ARCHIVE LINE:</a:t>
            </a:r>
            <a:endParaRPr lang="en-US" sz="900" dirty="0"/>
          </a:p>
        </p:txBody>
      </p:sp>
      <p:sp>
        <p:nvSpPr>
          <p:cNvPr id="16" name="Text 14"/>
          <p:cNvSpPr/>
          <p:nvPr/>
        </p:nvSpPr>
        <p:spPr>
          <a:xfrm>
            <a:off x="5623560" y="3877056"/>
            <a:ext cx="3108960" cy="685800"/>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One careful sentence: what should future citizens remember about the difference between states, territories, and colonies?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1A8A7D"/>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FACT-CHECK ROOM  ·  THREE QUICK CHECKS</a:t>
            </a:r>
            <a:endParaRPr lang="en-US" sz="1000" dirty="0"/>
          </a:p>
        </p:txBody>
      </p:sp>
      <p:sp>
        <p:nvSpPr>
          <p:cNvPr id="5" name="Text 3"/>
          <p:cNvSpPr/>
          <p:nvPr/>
        </p:nvSpPr>
        <p:spPr>
          <a:xfrm>
            <a:off x="274320" y="594360"/>
            <a:ext cx="8595360" cy="41148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Can You Answer These Before Publishing?</a:t>
            </a:r>
            <a:endParaRPr lang="en-US" sz="2400" dirty="0"/>
          </a:p>
        </p:txBody>
      </p:sp>
      <p:sp>
        <p:nvSpPr>
          <p:cNvPr id="6" name="Shape 4"/>
          <p:cNvSpPr/>
          <p:nvPr/>
        </p:nvSpPr>
        <p:spPr>
          <a:xfrm>
            <a:off x="274320" y="1143000"/>
            <a:ext cx="8595360" cy="1097280"/>
          </a:xfrm>
          <a:prstGeom prst="roundRect">
            <a:avLst>
              <a:gd name="adj" fmla="val 8333"/>
            </a:avLst>
          </a:prstGeom>
          <a:solidFill>
            <a:srgbClr val="FFFFFF"/>
          </a:solidFill>
          <a:ln w="12700">
            <a:solidFill>
              <a:srgbClr val="1A8A7D"/>
            </a:solidFill>
            <a:prstDash val="solid"/>
          </a:ln>
        </p:spPr>
      </p:sp>
      <p:sp>
        <p:nvSpPr>
          <p:cNvPr id="7" name="Text 5"/>
          <p:cNvSpPr/>
          <p:nvPr/>
        </p:nvSpPr>
        <p:spPr>
          <a:xfrm>
            <a:off x="457200" y="120700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Q1: What is the main difference between a US state and a US territory today?</a:t>
            </a:r>
            <a:endParaRPr lang="en-US" sz="1200" dirty="0"/>
          </a:p>
        </p:txBody>
      </p:sp>
      <p:sp>
        <p:nvSpPr>
          <p:cNvPr id="8" name="Text 6"/>
          <p:cNvSpPr/>
          <p:nvPr/>
        </p:nvSpPr>
        <p:spPr>
          <a:xfrm>
            <a:off x="457200" y="155448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States have full representation in Congress; territories have limited representation and residents cannot vote for president.</a:t>
            </a:r>
            <a:endParaRPr lang="en-US" sz="1200" dirty="0"/>
          </a:p>
        </p:txBody>
      </p:sp>
      <p:sp>
        <p:nvSpPr>
          <p:cNvPr id="9" name="Shape 7"/>
          <p:cNvSpPr/>
          <p:nvPr/>
        </p:nvSpPr>
        <p:spPr>
          <a:xfrm>
            <a:off x="274320" y="2377440"/>
            <a:ext cx="8595360" cy="1097280"/>
          </a:xfrm>
          <a:prstGeom prst="roundRect">
            <a:avLst>
              <a:gd name="adj" fmla="val 8333"/>
            </a:avLst>
          </a:prstGeom>
          <a:solidFill>
            <a:srgbClr val="FFFFFF"/>
          </a:solidFill>
          <a:ln w="12700">
            <a:solidFill>
              <a:srgbClr val="1A8A7D"/>
            </a:solidFill>
            <a:prstDash val="solid"/>
          </a:ln>
        </p:spPr>
      </p:sp>
      <p:sp>
        <p:nvSpPr>
          <p:cNvPr id="10" name="Text 8"/>
          <p:cNvSpPr/>
          <p:nvPr/>
        </p:nvSpPr>
        <p:spPr>
          <a:xfrm>
            <a:off x="457200" y="244144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Q2: Which of the following was one of the original thirteen colonies?</a:t>
            </a:r>
            <a:endParaRPr lang="en-US" sz="1200" dirty="0"/>
          </a:p>
        </p:txBody>
      </p:sp>
      <p:sp>
        <p:nvSpPr>
          <p:cNvPr id="11" name="Text 9"/>
          <p:cNvSpPr/>
          <p:nvPr/>
        </p:nvSpPr>
        <p:spPr>
          <a:xfrm>
            <a:off x="457200" y="278892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Massachusetts. (Florida became a US territory in 1821 and a state in 1845 — not an original colony.)</a:t>
            </a:r>
            <a:endParaRPr lang="en-US" sz="1200" dirty="0"/>
          </a:p>
        </p:txBody>
      </p:sp>
      <p:sp>
        <p:nvSpPr>
          <p:cNvPr id="12" name="Shape 10"/>
          <p:cNvSpPr/>
          <p:nvPr/>
        </p:nvSpPr>
        <p:spPr>
          <a:xfrm>
            <a:off x="274320" y="3611880"/>
            <a:ext cx="8595360" cy="1097280"/>
          </a:xfrm>
          <a:prstGeom prst="roundRect">
            <a:avLst>
              <a:gd name="adj" fmla="val 8333"/>
            </a:avLst>
          </a:prstGeom>
          <a:solidFill>
            <a:srgbClr val="FFFFFF"/>
          </a:solidFill>
          <a:ln w="12700">
            <a:solidFill>
              <a:srgbClr val="1A8A7D"/>
            </a:solidFill>
            <a:prstDash val="solid"/>
          </a:ln>
        </p:spPr>
      </p:sp>
      <p:sp>
        <p:nvSpPr>
          <p:cNvPr id="13" name="Text 11"/>
          <p:cNvSpPr/>
          <p:nvPr/>
        </p:nvSpPr>
        <p:spPr>
          <a:xfrm>
            <a:off x="457200" y="367588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Q3: An honest editor who accidentally calls a territory a state would:</a:t>
            </a:r>
            <a:endParaRPr lang="en-US" sz="1200" dirty="0"/>
          </a:p>
        </p:txBody>
      </p:sp>
      <p:sp>
        <p:nvSpPr>
          <p:cNvPr id="14" name="Text 12"/>
          <p:cNvSpPr/>
          <p:nvPr/>
        </p:nvSpPr>
        <p:spPr>
          <a:xfrm>
            <a:off x="457200" y="402336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Use the map to check the correct political status before publishing.</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THE REPUBLIC GAZETTE  ·  ISSUE 7 PUBLISHED</a:t>
            </a:r>
            <a:endParaRPr lang="en-US" sz="1100" dirty="0"/>
          </a:p>
        </p:txBody>
      </p:sp>
      <p:sp>
        <p:nvSpPr>
          <p:cNvPr id="7" name="Text 4"/>
          <p:cNvSpPr/>
          <p:nvPr/>
        </p:nvSpPr>
        <p:spPr>
          <a:xfrm>
            <a:off x="457200" y="640080"/>
            <a:ext cx="8229600" cy="548640"/>
          </a:xfrm>
          <a:prstGeom prst="rect">
            <a:avLst/>
          </a:prstGeom>
          <a:noFill/>
          <a:ln/>
        </p:spPr>
        <p:txBody>
          <a:bodyPr wrap="square"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Three Words. Three Histories.</a:t>
            </a:r>
            <a:endParaRPr lang="en-US" sz="3400" dirty="0"/>
          </a:p>
        </p:txBody>
      </p:sp>
      <p:sp>
        <p:nvSpPr>
          <p:cNvPr id="8" name="Text 5"/>
          <p:cNvSpPr/>
          <p:nvPr/>
        </p:nvSpPr>
        <p:spPr>
          <a:xfrm>
            <a:off x="457200" y="1261872"/>
            <a:ext cx="8229600" cy="411480"/>
          </a:xfrm>
          <a:prstGeom prst="rect">
            <a:avLst/>
          </a:prstGeom>
          <a:noFill/>
          <a:ln/>
        </p:spPr>
        <p:txBody>
          <a:bodyPr wrap="square"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You used the Map Room to draw three clear distinctions — and published a Map Note precise enough to stand up to a fact-check.</a:t>
            </a:r>
            <a:endParaRPr lang="en-US" sz="1400" dirty="0"/>
          </a:p>
        </p:txBody>
      </p:sp>
      <p:sp>
        <p:nvSpPr>
          <p:cNvPr id="9" name="Shape 6"/>
          <p:cNvSpPr/>
          <p:nvPr/>
        </p:nvSpPr>
        <p:spPr>
          <a:xfrm>
            <a:off x="1097280" y="1783080"/>
            <a:ext cx="6949440" cy="822960"/>
          </a:xfrm>
          <a:prstGeom prst="roundRect">
            <a:avLst>
              <a:gd name="adj" fmla="val 13333"/>
            </a:avLst>
          </a:prstGeom>
          <a:solidFill>
            <a:srgbClr val="1A2D5A"/>
          </a:solidFill>
          <a:ln w="19050">
            <a:solidFill>
              <a:srgbClr val="55C8E8"/>
            </a:solidFill>
            <a:prstDash val="solid"/>
          </a:ln>
        </p:spPr>
      </p:sp>
      <p:sp>
        <p:nvSpPr>
          <p:cNvPr id="10" name="Text 7"/>
          <p:cNvSpPr/>
          <p:nvPr/>
        </p:nvSpPr>
        <p:spPr>
          <a:xfrm>
            <a:off x="1280160" y="1847088"/>
            <a:ext cx="6583680" cy="694944"/>
          </a:xfrm>
          <a:prstGeom prst="rect">
            <a:avLst/>
          </a:prstGeom>
          <a:noFill/>
          <a:ln/>
        </p:spPr>
        <p:txBody>
          <a:bodyPr wrap="square" rtlCol="0" anchor="ctr"/>
          <a:lstStyle/>
          <a:p>
            <a:pPr algn="ctr" indent="0" marL="0">
              <a:buNone/>
            </a:pPr>
            <a:r>
              <a:rPr lang="en-US" sz="1400" i="1" dirty="0">
                <a:solidFill>
                  <a:srgbClr val="D6F2FB"/>
                </a:solidFill>
                <a:latin typeface="Cambria" pitchFamily="34" charset="0"/>
                <a:ea typeface="Cambria" pitchFamily="34" charset="-122"/>
                <a:cs typeface="Cambria" pitchFamily="34" charset="-120"/>
              </a:rPr>
              <a:t>"States, territories, and the original thirteen colonies are different kinds of political units — a careful historian uses each term correctly."</a:t>
            </a:r>
            <a:endParaRPr lang="en-US" sz="1400" dirty="0"/>
          </a:p>
        </p:txBody>
      </p:sp>
      <p:sp>
        <p:nvSpPr>
          <p:cNvPr id="11" name="Shape 8"/>
          <p:cNvSpPr/>
          <p:nvPr/>
        </p:nvSpPr>
        <p:spPr>
          <a:xfrm>
            <a:off x="457200" y="2743200"/>
            <a:ext cx="8229600" cy="2029968"/>
          </a:xfrm>
          <a:prstGeom prst="roundRect">
            <a:avLst>
              <a:gd name="adj" fmla="val 5405"/>
            </a:avLst>
          </a:prstGeom>
          <a:solidFill>
            <a:srgbClr val="E8636B">
              <a:alpha val="75000"/>
            </a:srgbClr>
          </a:solidFill>
          <a:ln w="25400">
            <a:solidFill>
              <a:srgbClr val="E8636B"/>
            </a:solidFill>
            <a:prstDash val="solid"/>
          </a:ln>
        </p:spPr>
      </p:sp>
      <p:sp>
        <p:nvSpPr>
          <p:cNvPr id="12" name="Text 9"/>
          <p:cNvSpPr/>
          <p:nvPr/>
        </p:nvSpPr>
        <p:spPr>
          <a:xfrm>
            <a:off x="640080" y="2816352"/>
            <a:ext cx="7863840" cy="274320"/>
          </a:xfrm>
          <a:prstGeom prst="rect">
            <a:avLst/>
          </a:prstGeom>
          <a:noFill/>
          <a:ln/>
        </p:spPr>
        <p:txBody>
          <a:bodyPr wrap="square"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IN THE NEXT ISSUE: 5.02.04</a:t>
            </a:r>
            <a:endParaRPr lang="en-US" sz="1000" dirty="0"/>
          </a:p>
        </p:txBody>
      </p:sp>
      <p:sp>
        <p:nvSpPr>
          <p:cNvPr id="13" name="Text 10"/>
          <p:cNvSpPr/>
          <p:nvPr/>
        </p:nvSpPr>
        <p:spPr>
          <a:xfrm>
            <a:off x="640080" y="3136392"/>
            <a:ext cx="7863840" cy="36576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Using Geography to Explain Historical Patterns</a:t>
            </a:r>
            <a:endParaRPr lang="en-US" sz="2000" dirty="0"/>
          </a:p>
        </p:txBody>
      </p:sp>
      <p:sp>
        <p:nvSpPr>
          <p:cNvPr id="14" name="Text 11"/>
          <p:cNvSpPr/>
          <p:nvPr/>
        </p:nvSpPr>
        <p:spPr>
          <a:xfrm>
            <a:off x="640080" y="3538728"/>
            <a:ext cx="7863840" cy="1005840"/>
          </a:xfrm>
          <a:prstGeom prst="rect">
            <a:avLst/>
          </a:prstGeom>
          <a:noFill/>
          <a:ln/>
        </p:spPr>
        <p:txBody>
          <a:bodyPr wrap="square" rtlCol="0" anchor="ctr"/>
          <a:lstStyle/>
          <a:p>
            <a:pPr indent="0" marL="0">
              <a:buNone/>
            </a:pPr>
            <a:r>
              <a:rPr lang="en-US" sz="1300" i="1" dirty="0">
                <a:solidFill>
                  <a:srgbClr val="D6F2FB"/>
                </a:solidFill>
                <a:latin typeface="Calibri" pitchFamily="34" charset="0"/>
                <a:ea typeface="Calibri" pitchFamily="34" charset="-122"/>
                <a:cs typeface="Calibri" pitchFamily="34" charset="-120"/>
              </a:rPr>
              <a:t>The Map Room faces its biggest question yet — and The Hasty Herald has already rushed to print the claim that historical patterns happen mostly by chance, not because of geography. Unit 2's final Map Note. Editors, sharpen your pencils.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2026-07-16T17:20:59Z</dcterms:created>
  <dcterms:modified xsi:type="dcterms:W3CDTF">2026-07-16T17:20:59Z</dcterms:modified>
</cp:coreProperties>
</file>