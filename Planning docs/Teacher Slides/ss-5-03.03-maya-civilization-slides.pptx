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Aerial or dramatic view of Maya pyramids at Tikal or Chichen Itza rising above jungle canopyWelcome students to Issue 11. Recap the Ancestral Pueblo correction from last issue. Introduce the Maya — a civilization in Mesoamerica known for pyramids, writing, mathematics, and astronomy. Note that The Hasty Herald claims the Maya should be remembered for only one achievement. The Gazette will investigate.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Hasty Herald has rushed a claim to print: 'The Maya should be remembered for only one achievement.' Our job is to investigate. Ask students: Does that sound right to you? What would you need to check before publishing that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Ms. Avery sends the dispatch. Recap last issue's Ancestral Pueblo correction. Today the team covers Maya Civilization. Ask: 'What do you think we need to investigate?' Preview the three learning goals.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Close-up of Maya carved stone hieroglyphs or a Maya scholar studying ancient texts — representing perseverance in learningVirtue connection: Perseverance. The Maya themselves showed perseverance — building cities over centuries, perfecting their writing and math systems over generations. Ask students to connect this virtue to their own work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Clue Box: Map of Mesoamerica. Give students 30 seconds to study the map before asking questions. Key geographic note: the Maya thrived in tropical rainforests — not deserts or open plains. Ask what that tells us about their farming, building, and trading 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source-5-03-03-maya-pyramid-ruins.jpg — Chichen Itza or Tikal pyramid. Key question: What does the size and design of this structure suggest about the people who built it? (This exact question appears in the Editor's Notebook on the lesson page.) Let students observe before answering.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Close-up stone detail of Maya pyramid steps or carved relief at Palenque, showing craftsmanshipReveal slide: Architecture achievement. Transition: So the pyramids alone give us multiple things to report on. But the Gazette doesn't stop here. The Maya had achievements that go far beyond what you can see in 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system discovery. Key point: the Maya had one of the FEW complete writing systems in the ancient Americas — this was rare and remarkable. Ask: Why would you need to write things down? What gets lost without writing? Connect to Notebook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Illustration or photograph of Maya numerical system symbols — dots and bars showing base-20 counting with the zero glyph (shell symbol) prominently featuredMathematics discovery: base-20 system and the concept of zero. Key wow factor: the Maya invented zero centuries before Europe. Ask students: What would we be unable to do without zero? Connect to the calendar — you need zero to count astronomical cycles precisely.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Calendars discovery. Key connection: calendars required ALL prior achievements working together — you need math, writing, and astronomy simultaneously. This is the synthesis moment: the Maya weren't 'one-achievement' — they had an interconnected system of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Wide panoramic view of Maya ruins at Tikal surrounded by jungle canopy at golden hour — conveying both the scale and the mystery of the civilizationWhy It Matters synthesis slide. Key message: the Maya achievements didn't exist in isolation — they reinforced each other. You need math to build a calendar; you need writing to record astronomical data; you need organized cities to support specialized scholars. This is what 'complex civilization' means.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Model the thinking for Notebook Q1. Think aloud: name an achievement, then explicitly connect it to what it reveals about the civilization. Show students that the question has TWO parts — name it AND explain what it tells us. Then transition to We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Q2 (writing/calendar). You Do: Q3 (Herald challenge). The Herald's claim is partly correct — the Maya ARE famous for impressive things. But 'only one' is the oversimplification. Good critical thinking finds what's true AND what's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Error Analysis: Two common mistakes. 1) Reducing Maya to one achievement (the Herald's error). 2) Confusing base-20 with base-10. Both errors come from oversimplifying — which is the Gazette's core lesson. An honest reporter checks the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The Republic Gazette newsroom — printing press or editor's desk covered in papers, notes, and maps — warm desk lamp lightAssignment slide. All three Notebook questions are shown with exact wording. The Front Page Brief structure: (1) claim, (2) evidence, (3) why it matters. The Archive Line is the final act — one careful sentence for future citizens. Remind students to counter the Herald with multiple achievements.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Celebrate Issue 11. Tease Issue 12 (5.03.04): Aztec Civilization. The Herald will claim the Aztec capital tells us everything about the whole civilization. Our team will investigate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Wide nighttime view of Maya temple with stars visible above, representing Maya astronomy and the enduring legacy of their civilizationClosing: Congratulate students on publishing Issue 11 about the Maya. Restate that the Maya were a multi-achievement civilization — architecture, writing, math, astronomy. These weren't separate — they reinforced each other. Tease the next lesson: the Aztec Civilization. About 1 minute, warm 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0" y="0"/>
            <a:ext cx="9144000" cy="640080"/>
          </a:xfrm>
          <a:prstGeom prst="rect">
            <a:avLst/>
          </a:prstGeom>
          <a:solidFill>
            <a:srgbClr val="D4943A"/>
          </a:solidFill>
          <a:ln/>
        </p:spPr>
      </p:sp>
      <p:sp>
        <p:nvSpPr>
          <p:cNvPr id="6" name="Text 3"/>
          <p:cNvSpPr/>
          <p:nvPr/>
        </p:nvSpPr>
        <p:spPr>
          <a:xfrm>
            <a:off x="274320" y="91440"/>
            <a:ext cx="5486400" cy="457200"/>
          </a:xfrm>
          <a:prstGeom prst="rect">
            <a:avLst/>
          </a:prstGeom>
          <a:noFill/>
          <a:ln/>
        </p:spPr>
        <p:txBody>
          <a:bodyPr wrap="square" lIns="0" tIns="0" rIns="0" bIns="0" rtlCol="0" anchor="ctr"/>
          <a:lstStyle/>
          <a:p>
            <a:pPr indent="0" marL="0">
              <a:buNone/>
            </a:pPr>
            <a:r>
              <a:rPr lang="en-US" sz="1300" b="1" spc="300" kern="0" dirty="0">
                <a:solidFill>
                  <a:srgbClr val="0E1C42"/>
                </a:solidFill>
                <a:latin typeface="Cambria" pitchFamily="34" charset="0"/>
                <a:ea typeface="Cambria" pitchFamily="34" charset="-122"/>
                <a:cs typeface="Cambria" pitchFamily="34" charset="-120"/>
              </a:rPr>
              <a:t>THE REPUBLIC GAZETTE</a:t>
            </a:r>
            <a:endParaRPr lang="en-US" sz="1300" dirty="0"/>
          </a:p>
        </p:txBody>
      </p:sp>
      <p:sp>
        <p:nvSpPr>
          <p:cNvPr id="7" name="Text 4"/>
          <p:cNvSpPr/>
          <p:nvPr/>
        </p:nvSpPr>
        <p:spPr>
          <a:xfrm>
            <a:off x="5669280" y="164592"/>
            <a:ext cx="3200400" cy="320040"/>
          </a:xfrm>
          <a:prstGeom prst="rect">
            <a:avLst/>
          </a:prstGeom>
          <a:noFill/>
          <a:ln/>
        </p:spPr>
        <p:txBody>
          <a:bodyPr wrap="square" lIns="0" tIns="0" rIns="0" bIns="0" rtlCol="0" anchor="ctr"/>
          <a:lstStyle/>
          <a:p>
            <a:pPr algn="r" indent="0" marL="0">
              <a:buNone/>
            </a:pPr>
            <a:r>
              <a:rPr lang="en-US" sz="900" dirty="0">
                <a:solidFill>
                  <a:srgbClr val="0E1C42"/>
                </a:solidFill>
                <a:latin typeface="Calibri" pitchFamily="34" charset="0"/>
                <a:ea typeface="Calibri" pitchFamily="34" charset="-122"/>
                <a:cs typeface="Calibri" pitchFamily="34" charset="-120"/>
              </a:rPr>
              <a:t>Vol. 1 · Issue 11 · Before Colonization Special Edition</a:t>
            </a:r>
            <a:endParaRPr lang="en-US" sz="900" dirty="0"/>
          </a:p>
        </p:txBody>
      </p:sp>
      <p:sp>
        <p:nvSpPr>
          <p:cNvPr id="8" name="Text 5"/>
          <p:cNvSpPr/>
          <p:nvPr/>
        </p:nvSpPr>
        <p:spPr>
          <a:xfrm>
            <a:off x="365760" y="777240"/>
            <a:ext cx="8412480" cy="228600"/>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LESSON 5.03.03  |  UNIT 3: EARLY AMERICAN CIVILIZATIONS</a:t>
            </a:r>
            <a:endParaRPr lang="en-US" sz="900" dirty="0"/>
          </a:p>
        </p:txBody>
      </p:sp>
      <p:sp>
        <p:nvSpPr>
          <p:cNvPr id="9" name="Text 6"/>
          <p:cNvSpPr/>
          <p:nvPr/>
        </p:nvSpPr>
        <p:spPr>
          <a:xfrm>
            <a:off x="365760" y="1097280"/>
            <a:ext cx="8412480" cy="100584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Maya Civilization</a:t>
            </a:r>
            <a:endParaRPr lang="en-US" sz="4600" dirty="0"/>
          </a:p>
        </p:txBody>
      </p:sp>
      <p:sp>
        <p:nvSpPr>
          <p:cNvPr id="10" name="Shape 7"/>
          <p:cNvSpPr/>
          <p:nvPr/>
        </p:nvSpPr>
        <p:spPr>
          <a:xfrm>
            <a:off x="365760" y="2194560"/>
            <a:ext cx="7132320" cy="640080"/>
          </a:xfrm>
          <a:prstGeom prst="roundRect">
            <a:avLst>
              <a:gd name="adj" fmla="val 14286"/>
            </a:avLst>
          </a:prstGeom>
          <a:solidFill>
            <a:srgbClr val="1A2D5A">
              <a:alpha val="85000"/>
            </a:srgbClr>
          </a:solidFill>
          <a:ln w="19050">
            <a:solidFill>
              <a:srgbClr val="55C8E8"/>
            </a:solidFill>
            <a:prstDash val="solid"/>
          </a:ln>
        </p:spPr>
      </p:sp>
      <p:sp>
        <p:nvSpPr>
          <p:cNvPr id="11" name="Text 8"/>
          <p:cNvSpPr/>
          <p:nvPr/>
        </p:nvSpPr>
        <p:spPr>
          <a:xfrm>
            <a:off x="548640" y="2240280"/>
            <a:ext cx="6766560" cy="548640"/>
          </a:xfrm>
          <a:prstGeom prst="rect">
            <a:avLst/>
          </a:prstGeom>
          <a:noFill/>
          <a:ln/>
        </p:spPr>
        <p:txBody>
          <a:bodyPr wrap="square" lIns="0" tIns="0" rIns="0" bIns="0" rtlCol="0" anchor="ctr"/>
          <a:lstStyle/>
          <a:p>
            <a:pPr indent="0" marL="0">
              <a:buNone/>
            </a:pPr>
            <a:r>
              <a:rPr lang="en-US" sz="1300" i="1" dirty="0">
                <a:solidFill>
                  <a:srgbClr val="D6F2FB"/>
                </a:solidFill>
                <a:latin typeface="Cambria" pitchFamily="34" charset="0"/>
                <a:ea typeface="Cambria" pitchFamily="34" charset="-122"/>
                <a:cs typeface="Cambria" pitchFamily="34" charset="-120"/>
              </a:rPr>
              <a:t>Guiding Question: Can the Maya really be remembered for just one achievement — or does the evidence show something bigger?</a:t>
            </a:r>
            <a:endParaRPr lang="en-US" sz="1300" dirty="0"/>
          </a:p>
        </p:txBody>
      </p:sp>
      <p:sp>
        <p:nvSpPr>
          <p:cNvPr id="12" name="Shape 9"/>
          <p:cNvSpPr/>
          <p:nvPr/>
        </p:nvSpPr>
        <p:spPr>
          <a:xfrm>
            <a:off x="365760" y="2971800"/>
            <a:ext cx="5943600" cy="502920"/>
          </a:xfrm>
          <a:prstGeom prst="roundRect">
            <a:avLst>
              <a:gd name="adj" fmla="val 18182"/>
            </a:avLst>
          </a:prstGeom>
          <a:solidFill>
            <a:srgbClr val="E8636B">
              <a:alpha val="80000"/>
            </a:srgbClr>
          </a:solidFill>
          <a:ln w="19050">
            <a:solidFill>
              <a:srgbClr val="E8636B"/>
            </a:solidFill>
            <a:prstDash val="solid"/>
          </a:ln>
        </p:spPr>
      </p:sp>
      <p:sp>
        <p:nvSpPr>
          <p:cNvPr id="13" name="Text 10"/>
          <p:cNvSpPr/>
          <p:nvPr/>
        </p:nvSpPr>
        <p:spPr>
          <a:xfrm>
            <a:off x="548640" y="3017520"/>
            <a:ext cx="5577840" cy="41148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HASTY HERALD CLAIM: "The Maya should be remembered for only one achievement."</a:t>
            </a:r>
            <a:endParaRPr lang="en-US" sz="1100" dirty="0"/>
          </a:p>
        </p:txBody>
      </p:sp>
      <p:sp>
        <p:nvSpPr>
          <p:cNvPr id="14" name="Text 11"/>
          <p:cNvSpPr/>
          <p:nvPr/>
        </p:nvSpPr>
        <p:spPr>
          <a:xfrm>
            <a:off x="365760" y="4526280"/>
            <a:ext cx="8412480" cy="274320"/>
          </a:xfrm>
          <a:prstGeom prst="rect">
            <a:avLst/>
          </a:prstGeom>
          <a:noFill/>
          <a:ln/>
        </p:spPr>
        <p:txBody>
          <a:bodyPr wrap="square" lIns="0" tIns="0" rIns="0" bIns="0" rtlCol="0" anchor="ctr"/>
          <a:lstStyle/>
          <a:p>
            <a:pPr indent="0" marL="0">
              <a:buNone/>
            </a:pPr>
            <a:r>
              <a:rPr lang="en-US" sz="900" dirty="0">
                <a:solidFill>
                  <a:srgbClr val="7A88A8"/>
                </a:solidFill>
                <a:latin typeface="Calibri" pitchFamily="34" charset="0"/>
                <a:ea typeface="Calibri" pitchFamily="34" charset="-122"/>
                <a:cs typeface="Calibri" pitchFamily="34" charset="-120"/>
              </a:rPr>
              <a:t>Virtue: Perseverance  |  Standards: SS.5.A.2.1 · SS.5.G.1.1 · SS.5.G.1.4  |  Grade 5 · Week 6 · Q1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594360"/>
          </a:xfrm>
          <a:prstGeom prst="rect">
            <a:avLst/>
          </a:prstGeom>
          <a:solidFill>
            <a:srgbClr val="E8636B"/>
          </a:solidFill>
          <a:ln/>
        </p:spPr>
      </p:sp>
      <p:sp>
        <p:nvSpPr>
          <p:cNvPr id="4" name="Text 2"/>
          <p:cNvSpPr/>
          <p:nvPr/>
        </p:nvSpPr>
        <p:spPr>
          <a:xfrm>
            <a:off x="274320" y="73152"/>
            <a:ext cx="4572000" cy="457200"/>
          </a:xfrm>
          <a:prstGeom prst="rect">
            <a:avLst/>
          </a:prstGeom>
          <a:noFill/>
          <a:ln/>
        </p:spPr>
        <p:txBody>
          <a:bodyPr wrap="square" lIns="0" tIns="0" rIns="0" bIns="0" rtlCol="0" anchor="ctr"/>
          <a:lstStyle/>
          <a:p>
            <a:pPr indent="0" marL="0">
              <a:buNone/>
            </a:pPr>
            <a:r>
              <a:rPr lang="en-US" sz="1800" b="1" spc="200" kern="0" dirty="0">
                <a:solidFill>
                  <a:srgbClr val="FFFFFF"/>
                </a:solidFill>
                <a:latin typeface="Cambria" pitchFamily="34" charset="0"/>
                <a:ea typeface="Cambria" pitchFamily="34" charset="-122"/>
                <a:cs typeface="Cambria" pitchFamily="34" charset="-120"/>
              </a:rPr>
              <a:t>THE HASTY HERALD</a:t>
            </a:r>
            <a:endParaRPr lang="en-US" sz="1800" dirty="0"/>
          </a:p>
        </p:txBody>
      </p:sp>
      <p:sp>
        <p:nvSpPr>
          <p:cNvPr id="5" name="Text 3"/>
          <p:cNvSpPr/>
          <p:nvPr/>
        </p:nvSpPr>
        <p:spPr>
          <a:xfrm>
            <a:off x="4754880" y="164592"/>
            <a:ext cx="4114800" cy="274320"/>
          </a:xfrm>
          <a:prstGeom prst="rect">
            <a:avLst/>
          </a:prstGeom>
          <a:noFill/>
          <a:ln/>
        </p:spPr>
        <p:txBody>
          <a:bodyPr wrap="square" lIns="0" tIns="0" rIns="0" bIns="0" rtlCol="0" anchor="ctr"/>
          <a:lstStyle/>
          <a:p>
            <a:pPr algn="r" indent="0" marL="0">
              <a:buNone/>
            </a:pPr>
            <a:r>
              <a:rPr lang="en-US" sz="1000" i="1" dirty="0">
                <a:solidFill>
                  <a:srgbClr val="FFD0D0"/>
                </a:solidFill>
                <a:latin typeface="Calibri" pitchFamily="34" charset="0"/>
                <a:ea typeface="Calibri" pitchFamily="34" charset="-122"/>
                <a:cs typeface="Calibri" pitchFamily="34" charset="-120"/>
              </a:rPr>
              <a:t>Today's News · Yesterday · Maybe</a:t>
            </a:r>
            <a:endParaRPr lang="en-US" sz="1000" dirty="0"/>
          </a:p>
        </p:txBody>
      </p:sp>
      <p:sp>
        <p:nvSpPr>
          <p:cNvPr id="6" name="Shape 4"/>
          <p:cNvSpPr/>
          <p:nvPr/>
        </p:nvSpPr>
        <p:spPr>
          <a:xfrm>
            <a:off x="274320" y="731520"/>
            <a:ext cx="5303520" cy="1920240"/>
          </a:xfrm>
          <a:prstGeom prst="roundRect">
            <a:avLst>
              <a:gd name="adj" fmla="val 4762"/>
            </a:avLst>
          </a:prstGeom>
          <a:solidFill>
            <a:srgbClr val="FFFFFF"/>
          </a:solidFill>
          <a:ln w="25400">
            <a:solidFill>
              <a:srgbClr val="E8636B"/>
            </a:solidFill>
            <a:prstDash val="solid"/>
          </a:ln>
        </p:spPr>
      </p:sp>
      <p:sp>
        <p:nvSpPr>
          <p:cNvPr id="7" name="Text 5"/>
          <p:cNvSpPr/>
          <p:nvPr/>
        </p:nvSpPr>
        <p:spPr>
          <a:xfrm>
            <a:off x="457200" y="804672"/>
            <a:ext cx="2011680" cy="256032"/>
          </a:xfrm>
          <a:prstGeom prst="rect">
            <a:avLst/>
          </a:prstGeom>
          <a:solidFill>
            <a:srgbClr val="E8636B"/>
          </a:solid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RUSHED TO PRINT!</a:t>
            </a:r>
            <a:endParaRPr lang="en-US" sz="800" dirty="0"/>
          </a:p>
        </p:txBody>
      </p:sp>
      <p:sp>
        <p:nvSpPr>
          <p:cNvPr id="8" name="Text 6"/>
          <p:cNvSpPr/>
          <p:nvPr/>
        </p:nvSpPr>
        <p:spPr>
          <a:xfrm>
            <a:off x="411480" y="1097280"/>
            <a:ext cx="5029200" cy="457200"/>
          </a:xfrm>
          <a:prstGeom prst="rect">
            <a:avLst/>
          </a:prstGeom>
          <a:noFill/>
          <a:ln/>
        </p:spPr>
        <p:txBody>
          <a:bodyPr wrap="square" lIns="0" tIns="0" rIns="0" bIns="0" rtlCol="0" anchor="ctr"/>
          <a:lstStyle/>
          <a:p>
            <a:pPr indent="0" marL="0">
              <a:buNone/>
            </a:pPr>
            <a:r>
              <a:rPr lang="en-US" sz="1800" b="1" dirty="0">
                <a:solidFill>
                  <a:srgbClr val="1A1A1A"/>
                </a:solidFill>
                <a:latin typeface="Cambria" pitchFamily="34" charset="0"/>
                <a:ea typeface="Cambria" pitchFamily="34" charset="-122"/>
                <a:cs typeface="Cambria" pitchFamily="34" charset="-120"/>
              </a:rPr>
              <a:t>Maya: Famous for One Thing!</a:t>
            </a:r>
            <a:endParaRPr lang="en-US" sz="1800" dirty="0"/>
          </a:p>
        </p:txBody>
      </p:sp>
      <p:sp>
        <p:nvSpPr>
          <p:cNvPr id="9" name="Text 7"/>
          <p:cNvSpPr/>
          <p:nvPr/>
        </p:nvSpPr>
        <p:spPr>
          <a:xfrm>
            <a:off x="502920" y="1572768"/>
            <a:ext cx="4846320" cy="502920"/>
          </a:xfrm>
          <a:prstGeom prst="rect">
            <a:avLst/>
          </a:prstGeom>
          <a:noFill/>
          <a:ln/>
        </p:spPr>
        <p:txBody>
          <a:bodyPr wrap="square" lIns="0" tIns="0" rIns="0" bIns="0" rtlCol="0" anchor="ctr"/>
          <a:lstStyle/>
          <a:p>
            <a:pPr indent="0" marL="0">
              <a:buNone/>
            </a:pPr>
            <a:r>
              <a:rPr lang="en-US" sz="1300" i="1" dirty="0">
                <a:solidFill>
                  <a:srgbClr val="C04040"/>
                </a:solidFill>
                <a:latin typeface="Cambria" pitchFamily="34" charset="0"/>
                <a:ea typeface="Cambria" pitchFamily="34" charset="-122"/>
                <a:cs typeface="Cambria" pitchFamily="34" charset="-120"/>
              </a:rPr>
              <a:t>"The Maya should be remembered for only one achievement."</a:t>
            </a:r>
            <a:endParaRPr lang="en-US" sz="1300" dirty="0"/>
          </a:p>
        </p:txBody>
      </p:sp>
      <p:sp>
        <p:nvSpPr>
          <p:cNvPr id="10" name="Text 8"/>
          <p:cNvSpPr/>
          <p:nvPr/>
        </p:nvSpPr>
        <p:spPr>
          <a:xfrm>
            <a:off x="502920" y="2084832"/>
            <a:ext cx="4846320" cy="228600"/>
          </a:xfrm>
          <a:prstGeom prst="rect">
            <a:avLst/>
          </a:prstGeom>
          <a:noFill/>
          <a:ln/>
        </p:spPr>
        <p:txBody>
          <a:bodyPr wrap="square" lIns="0" tIns="0" rIns="0" bIns="0" rtlCol="0" anchor="ctr"/>
          <a:lstStyle/>
          <a:p>
            <a:pPr indent="0" marL="0">
              <a:buNone/>
            </a:pPr>
            <a:r>
              <a:rPr lang="en-US" sz="900" i="1" dirty="0">
                <a:solidFill>
                  <a:srgbClr val="888888"/>
                </a:solidFill>
                <a:latin typeface="Calibri" pitchFamily="34" charset="0"/>
                <a:ea typeface="Calibri" pitchFamily="34" charset="-122"/>
                <a:cs typeface="Calibri" pitchFamily="34" charset="-120"/>
              </a:rPr>
              <a:t>— Filed by The Herald, minutes ago</a:t>
            </a:r>
            <a:endParaRPr lang="en-US" sz="900" dirty="0"/>
          </a:p>
        </p:txBody>
      </p:sp>
      <p:sp>
        <p:nvSpPr>
          <p:cNvPr id="11" name="Shape 9"/>
          <p:cNvSpPr/>
          <p:nvPr/>
        </p:nvSpPr>
        <p:spPr>
          <a:xfrm>
            <a:off x="5669280" y="731520"/>
            <a:ext cx="3200400" cy="1920240"/>
          </a:xfrm>
          <a:prstGeom prst="roundRect">
            <a:avLst>
              <a:gd name="adj" fmla="val 5714"/>
            </a:avLst>
          </a:prstGeom>
          <a:solidFill>
            <a:srgbClr val="1A2D5A"/>
          </a:solidFill>
          <a:ln w="12700">
            <a:solidFill>
              <a:srgbClr val="2A4070"/>
            </a:solidFill>
            <a:prstDash val="solid"/>
          </a:ln>
        </p:spPr>
      </p:sp>
      <p:sp>
        <p:nvSpPr>
          <p:cNvPr id="12" name="Text 10"/>
          <p:cNvSpPr/>
          <p:nvPr/>
        </p:nvSpPr>
        <p:spPr>
          <a:xfrm>
            <a:off x="5806440" y="786384"/>
            <a:ext cx="2926080" cy="201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3" name="Text 11"/>
          <p:cNvSpPr/>
          <p:nvPr/>
        </p:nvSpPr>
        <p:spPr>
          <a:xfrm>
            <a:off x="5852160" y="1051560"/>
            <a:ext cx="2834640" cy="1508760"/>
          </a:xfrm>
          <a:prstGeom prst="rect">
            <a:avLst/>
          </a:prstGeom>
          <a:noFill/>
          <a:ln/>
        </p:spPr>
        <p:txBody>
          <a:bodyPr wrap="square" lIns="0" tIns="0" rIns="0" bIns="0" rtlCol="0" anchor="t"/>
          <a:lstStyle/>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 do you already know about the Maya? What comes to mind?</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Is it possible for a civilization to be known for just ONE thing — or does that seem too simple?</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 evidence would you need to prove or disprove the Herald's claim?</a:t>
            </a:r>
            <a:endParaRPr lang="en-US" sz="1100" dirty="0"/>
          </a:p>
        </p:txBody>
      </p:sp>
      <p:sp>
        <p:nvSpPr>
          <p:cNvPr id="14" name="Shape 12"/>
          <p:cNvSpPr/>
          <p:nvPr/>
        </p:nvSpPr>
        <p:spPr>
          <a:xfrm>
            <a:off x="274320" y="2788920"/>
            <a:ext cx="5303520" cy="2057400"/>
          </a:xfrm>
          <a:prstGeom prst="roundRect">
            <a:avLst>
              <a:gd name="adj" fmla="val 5333"/>
            </a:avLst>
          </a:prstGeom>
          <a:solidFill>
            <a:srgbClr val="FFF3DC"/>
          </a:solidFill>
          <a:ln w="19050">
            <a:solidFill>
              <a:srgbClr val="F5E6C8"/>
            </a:solidFill>
            <a:prstDash val="solid"/>
          </a:ln>
        </p:spPr>
      </p:sp>
      <p:sp>
        <p:nvSpPr>
          <p:cNvPr id="15" name="Text 13"/>
          <p:cNvSpPr/>
          <p:nvPr/>
        </p:nvSpPr>
        <p:spPr>
          <a:xfrm>
            <a:off x="411480" y="2843784"/>
            <a:ext cx="502920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6" name="Text 14"/>
          <p:cNvSpPr/>
          <p:nvPr/>
        </p:nvSpPr>
        <p:spPr>
          <a:xfrm>
            <a:off x="411480" y="3044952"/>
            <a:ext cx="5029200" cy="17373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Herald claims the Maya are only known for... but I wonder if..."</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we need to look at... before we can say..."</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"One thing I already know about the Maya is..."</a:t>
            </a:r>
            <a:endParaRPr lang="en-US" sz="1200" dirty="0"/>
          </a:p>
        </p:txBody>
      </p:sp>
      <p:sp>
        <p:nvSpPr>
          <p:cNvPr id="17" name="Text 15"/>
          <p:cNvSpPr/>
          <p:nvPr/>
        </p:nvSpPr>
        <p:spPr>
          <a:xfrm>
            <a:off x="5669280" y="2788920"/>
            <a:ext cx="3200400" cy="457200"/>
          </a:xfrm>
          <a:prstGeom prst="rect">
            <a:avLst/>
          </a:prstGeom>
          <a:noFill/>
          <a:ln/>
        </p:spPr>
        <p:txBody>
          <a:bodyPr wrap="square" lIns="0" tIns="0" rIns="0" bIns="0" rtlCol="0" anchor="ctr"/>
          <a:lstStyle/>
          <a:p>
            <a:pPr indent="0" marL="0">
              <a:buNone/>
            </a:pPr>
            <a:r>
              <a:rPr lang="en-US" sz="1000" i="1" dirty="0">
                <a:solidFill>
                  <a:srgbClr val="0E1C42"/>
                </a:solidFill>
                <a:latin typeface="Calibri" pitchFamily="34" charset="0"/>
                <a:ea typeface="Calibri" pitchFamily="34" charset="-122"/>
                <a:cs typeface="Calibri" pitchFamily="34" charset="-120"/>
              </a:rPr>
              <a:t>Junior Editor's Job: Investigate the evidence. Is the Herald right — or is the full story bigger?</a:t>
            </a:r>
            <a:endParaRPr lang="en-US" sz="1000" dirty="0"/>
          </a:p>
        </p:txBody>
      </p:sp>
      <p:sp>
        <p:nvSpPr>
          <p:cNvPr id="18" name="Shape 16"/>
          <p:cNvSpPr/>
          <p:nvPr/>
        </p:nvSpPr>
        <p:spPr>
          <a:xfrm>
            <a:off x="5669280" y="3337560"/>
            <a:ext cx="3200400" cy="1417320"/>
          </a:xfrm>
          <a:prstGeom prst="roundRect">
            <a:avLst>
              <a:gd name="adj" fmla="val 6452"/>
            </a:avLst>
          </a:prstGeom>
          <a:solidFill>
            <a:srgbClr val="1A2D5A"/>
          </a:solidFill>
          <a:ln w="19050">
            <a:solidFill>
              <a:srgbClr val="D4943A"/>
            </a:solidFill>
            <a:prstDash val="solid"/>
          </a:ln>
        </p:spPr>
      </p:sp>
      <p:sp>
        <p:nvSpPr>
          <p:cNvPr id="19" name="Text 17"/>
          <p:cNvSpPr/>
          <p:nvPr/>
        </p:nvSpPr>
        <p:spPr>
          <a:xfrm>
            <a:off x="5806440" y="3410712"/>
            <a:ext cx="29260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YOUR ROLE TODAY</a:t>
            </a:r>
            <a:endParaRPr lang="en-US" sz="900" dirty="0"/>
          </a:p>
        </p:txBody>
      </p:sp>
      <p:sp>
        <p:nvSpPr>
          <p:cNvPr id="20" name="Text 18"/>
          <p:cNvSpPr/>
          <p:nvPr/>
        </p:nvSpPr>
        <p:spPr>
          <a:xfrm>
            <a:off x="5806440" y="3657600"/>
            <a:ext cx="2926080" cy="1051560"/>
          </a:xfrm>
          <a:prstGeom prst="rect">
            <a:avLst/>
          </a:prstGeom>
          <a:noFill/>
          <a:ln/>
        </p:spPr>
        <p:txBody>
          <a:bodyPr wrap="square" lIns="0" tIns="0" rIns="0" bIns="0" rtlCol="0" anchor="t"/>
          <a:lstStyle/>
          <a:p>
            <a:pPr indent="0" marL="0">
              <a:buNone/>
            </a:pPr>
            <a:r>
              <a:rPr lang="en-US" sz="1000" dirty="0">
                <a:solidFill>
                  <a:srgbClr val="D6F2FB"/>
                </a:solidFill>
                <a:latin typeface="Calibri" pitchFamily="34" charset="0"/>
                <a:ea typeface="Calibri" pitchFamily="34" charset="-122"/>
                <a:cs typeface="Calibri" pitchFamily="34" charset="-120"/>
              </a:rPr>
              <a:t>You are a Junior Editor on the Front Page Desk at The Republic Gazette. Ms. Avery has asked the team to gather the essential facts about Maya Civilization and publish a Front Page Brief that shows readers the full picture.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594360"/>
          </a:xfrm>
          <a:prstGeom prst="rect">
            <a:avLst/>
          </a:prstGeom>
          <a:solidFill>
            <a:srgbClr val="0E1C42"/>
          </a:solidFill>
          <a:ln/>
        </p:spPr>
      </p:sp>
      <p:sp>
        <p:nvSpPr>
          <p:cNvPr id="4" name="Text 2"/>
          <p:cNvSpPr/>
          <p:nvPr/>
        </p:nvSpPr>
        <p:spPr>
          <a:xfrm>
            <a:off x="274320" y="137160"/>
            <a:ext cx="8595360" cy="347472"/>
          </a:xfrm>
          <a:prstGeom prst="rect">
            <a:avLst/>
          </a:prstGeom>
          <a:noFill/>
          <a:ln/>
        </p:spPr>
        <p:txBody>
          <a:bodyPr wrap="square" lIns="0" tIns="0" rIns="0" bIns="0" rtlCol="0" anchor="ctr"/>
          <a:lstStyle/>
          <a:p>
            <a:pPr indent="0" marL="0">
              <a:buNone/>
            </a:pPr>
            <a:r>
              <a:rPr lang="en-US" sz="1300" b="1" spc="200" kern="0" dirty="0">
                <a:solidFill>
                  <a:srgbClr val="D4943A"/>
                </a:solidFill>
                <a:latin typeface="Cambria" pitchFamily="34" charset="0"/>
                <a:ea typeface="Cambria" pitchFamily="34" charset="-122"/>
                <a:cs typeface="Cambria" pitchFamily="34" charset="-120"/>
              </a:rPr>
              <a:t>DISPATCH FROM THE EDITOR'S DESK</a:t>
            </a:r>
            <a:endParaRPr lang="en-US" sz="1300" dirty="0"/>
          </a:p>
        </p:txBody>
      </p:sp>
      <p:sp>
        <p:nvSpPr>
          <p:cNvPr id="5" name="Shape 3"/>
          <p:cNvSpPr/>
          <p:nvPr/>
        </p:nvSpPr>
        <p:spPr>
          <a:xfrm>
            <a:off x="274320" y="731520"/>
            <a:ext cx="3657600" cy="3977640"/>
          </a:xfrm>
          <a:prstGeom prst="roundRect">
            <a:avLst>
              <a:gd name="adj" fmla="val 3750"/>
            </a:avLst>
          </a:prstGeom>
          <a:solidFill>
            <a:srgbClr val="FFFFFF"/>
          </a:solidFill>
          <a:ln w="25400">
            <a:solidFill>
              <a:srgbClr val="D4943A"/>
            </a:solidFill>
            <a:prstDash val="solid"/>
          </a:ln>
        </p:spPr>
      </p:sp>
      <p:sp>
        <p:nvSpPr>
          <p:cNvPr id="6" name="Shape 4"/>
          <p:cNvSpPr/>
          <p:nvPr/>
        </p:nvSpPr>
        <p:spPr>
          <a:xfrm>
            <a:off x="457200" y="868680"/>
            <a:ext cx="3291840" cy="1645920"/>
          </a:xfrm>
          <a:prstGeom prst="roundRect">
            <a:avLst>
              <a:gd name="adj" fmla="val 6667"/>
            </a:avLst>
          </a:prstGeom>
          <a:solidFill>
            <a:srgbClr val="E2E8F4"/>
          </a:solidFill>
          <a:ln w="19050">
            <a:solidFill>
              <a:srgbClr val="B0B8CC"/>
            </a:solidFill>
            <a:prstDash val="dash"/>
          </a:ln>
        </p:spPr>
      </p:sp>
      <p:sp>
        <p:nvSpPr>
          <p:cNvPr id="7" name="Text 5"/>
          <p:cNvSpPr/>
          <p:nvPr/>
        </p:nvSpPr>
        <p:spPr>
          <a:xfrm>
            <a:off x="457200" y="868680"/>
            <a:ext cx="329184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8" name="Text 6"/>
          <p:cNvSpPr/>
          <p:nvPr/>
        </p:nvSpPr>
        <p:spPr>
          <a:xfrm>
            <a:off x="594360" y="1143000"/>
            <a:ext cx="3017520" cy="12801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Ms. Avery, Editor-in-Chief — professional educator portrait, warm and encouraging</a:t>
            </a:r>
            <a:endParaRPr lang="en-US" sz="1100" dirty="0"/>
          </a:p>
        </p:txBody>
      </p:sp>
      <p:sp>
        <p:nvSpPr>
          <p:cNvPr id="9" name="Text 7"/>
          <p:cNvSpPr/>
          <p:nvPr/>
        </p:nvSpPr>
        <p:spPr>
          <a:xfrm>
            <a:off x="457200" y="2560320"/>
            <a:ext cx="3291840" cy="320040"/>
          </a:xfrm>
          <a:prstGeom prst="rect">
            <a:avLst/>
          </a:prstGeom>
          <a:noFill/>
          <a:ln/>
        </p:spPr>
        <p:txBody>
          <a:bodyPr wrap="square" lIns="0" tIns="0" rIns="0" bIns="0" rtlCol="0" anchor="ctr"/>
          <a:lstStyle/>
          <a:p>
            <a:pPr algn="ctr" indent="0" marL="0">
              <a:buNone/>
            </a:pPr>
            <a:r>
              <a:rPr lang="en-US" sz="1600" b="1" dirty="0">
                <a:solidFill>
                  <a:srgbClr val="0E1C42"/>
                </a:solidFill>
                <a:latin typeface="Cambria" pitchFamily="34" charset="0"/>
                <a:ea typeface="Cambria" pitchFamily="34" charset="-122"/>
                <a:cs typeface="Cambria" pitchFamily="34" charset="-120"/>
              </a:rPr>
              <a:t>Ms. Avery</a:t>
            </a:r>
            <a:endParaRPr lang="en-US" sz="1600" dirty="0"/>
          </a:p>
        </p:txBody>
      </p:sp>
      <p:sp>
        <p:nvSpPr>
          <p:cNvPr id="10" name="Text 8"/>
          <p:cNvSpPr/>
          <p:nvPr/>
        </p:nvSpPr>
        <p:spPr>
          <a:xfrm>
            <a:off x="457200" y="2880360"/>
            <a:ext cx="3291840" cy="228600"/>
          </a:xfrm>
          <a:prstGeom prst="rect">
            <a:avLst/>
          </a:prstGeom>
          <a:noFill/>
          <a:ln/>
        </p:spPr>
        <p:txBody>
          <a:bodyPr wrap="square" lIns="0" tIns="0" rIns="0" bIns="0" rtlCol="0" anchor="ctr"/>
          <a:lstStyle/>
          <a:p>
            <a:pPr algn="ctr" indent="0" marL="0">
              <a:buNone/>
            </a:pPr>
            <a:r>
              <a:rPr lang="en-US" sz="1000" i="1" dirty="0">
                <a:solidFill>
                  <a:srgbClr val="D4943A"/>
                </a:solidFill>
                <a:latin typeface="Calibri" pitchFamily="34" charset="0"/>
                <a:ea typeface="Calibri" pitchFamily="34" charset="-122"/>
                <a:cs typeface="Calibri" pitchFamily="34" charset="-120"/>
              </a:rPr>
              <a:t>Editor-in-Chief</a:t>
            </a:r>
            <a:endParaRPr lang="en-US" sz="1000" dirty="0"/>
          </a:p>
        </p:txBody>
      </p:sp>
      <p:sp>
        <p:nvSpPr>
          <p:cNvPr id="11" name="Text 9"/>
          <p:cNvSpPr/>
          <p:nvPr/>
        </p:nvSpPr>
        <p:spPr>
          <a:xfrm>
            <a:off x="502920" y="3154680"/>
            <a:ext cx="3200400" cy="502920"/>
          </a:xfrm>
          <a:prstGeom prst="rect">
            <a:avLst/>
          </a:prstGeom>
          <a:noFill/>
          <a:ln/>
        </p:spPr>
        <p:txBody>
          <a:bodyPr wrap="square" lIns="0" tIns="0" rIns="0" bIns="0" rtlCol="0" anchor="ctr"/>
          <a:lstStyle/>
          <a:p>
            <a:pPr algn="ctr" indent="0" marL="0">
              <a:buNone/>
            </a:pPr>
            <a:r>
              <a:rPr lang="en-US" sz="1000" i="1" dirty="0">
                <a:solidFill>
                  <a:srgbClr val="7A88A8"/>
                </a:solidFill>
                <a:latin typeface="Calibri" pitchFamily="34" charset="0"/>
                <a:ea typeface="Calibri" pitchFamily="34" charset="-122"/>
                <a:cs typeface="Calibri" pitchFamily="34" charset="-120"/>
              </a:rPr>
              <a:t>"Careful, encouraging — asks questions before answering them."</a:t>
            </a:r>
            <a:endParaRPr lang="en-US" sz="1000" dirty="0"/>
          </a:p>
        </p:txBody>
      </p:sp>
      <p:sp>
        <p:nvSpPr>
          <p:cNvPr id="12" name="Shape 10"/>
          <p:cNvSpPr/>
          <p:nvPr/>
        </p:nvSpPr>
        <p:spPr>
          <a:xfrm>
            <a:off x="457200" y="3703320"/>
            <a:ext cx="3291840" cy="777240"/>
          </a:xfrm>
          <a:prstGeom prst="roundRect">
            <a:avLst>
              <a:gd name="adj" fmla="val 9412"/>
            </a:avLst>
          </a:prstGeom>
          <a:solidFill>
            <a:srgbClr val="FFF3DC"/>
          </a:solidFill>
          <a:ln w="12700">
            <a:solidFill>
              <a:srgbClr val="D4943A"/>
            </a:solidFill>
            <a:prstDash val="solid"/>
          </a:ln>
        </p:spPr>
      </p:sp>
      <p:sp>
        <p:nvSpPr>
          <p:cNvPr id="13" name="Text 11"/>
          <p:cNvSpPr/>
          <p:nvPr/>
        </p:nvSpPr>
        <p:spPr>
          <a:xfrm>
            <a:off x="548640" y="3749040"/>
            <a:ext cx="3108960" cy="228600"/>
          </a:xfrm>
          <a:prstGeom prst="rect">
            <a:avLst/>
          </a:prstGeom>
          <a:noFill/>
          <a:ln/>
        </p:spPr>
        <p:txBody>
          <a:bodyPr wrap="square" lIns="0" tIns="0" rIns="0" bIns="0" rtlCol="0" anchor="ctr"/>
          <a:lstStyle/>
          <a:p>
            <a:pPr indent="0" marL="0">
              <a:buNone/>
            </a:pPr>
            <a:r>
              <a:rPr lang="en-US" sz="900" b="1" spc="100" kern="0" dirty="0">
                <a:solidFill>
                  <a:srgbClr val="D4943A"/>
                </a:solidFill>
                <a:latin typeface="Calibri" pitchFamily="34" charset="0"/>
                <a:ea typeface="Calibri" pitchFamily="34" charset="-122"/>
                <a:cs typeface="Calibri" pitchFamily="34" charset="-120"/>
              </a:rPr>
              <a:t>Perseverance</a:t>
            </a:r>
            <a:endParaRPr lang="en-US" sz="900" dirty="0"/>
          </a:p>
        </p:txBody>
      </p:sp>
      <p:sp>
        <p:nvSpPr>
          <p:cNvPr id="14" name="Text 12"/>
          <p:cNvSpPr/>
          <p:nvPr/>
        </p:nvSpPr>
        <p:spPr>
          <a:xfrm>
            <a:off x="548640" y="3977640"/>
            <a:ext cx="3108960" cy="457200"/>
          </a:xfrm>
          <a:prstGeom prst="rect">
            <a:avLst/>
          </a:prstGeom>
          <a:noFill/>
          <a:ln/>
        </p:spPr>
        <p:txBody>
          <a:bodyPr wrap="square" lIns="0" tIns="0" rIns="0" bIns="0" rtlCol="0" anchor="ctr"/>
          <a:lstStyle/>
          <a:p>
            <a:pPr indent="0" marL="0">
              <a:buNone/>
            </a:pPr>
            <a:r>
              <a:rPr lang="en-US" sz="1000" i="1" dirty="0">
                <a:solidFill>
                  <a:srgbClr val="5A4A3A"/>
                </a:solidFill>
                <a:latin typeface="Calibri" pitchFamily="34" charset="0"/>
                <a:ea typeface="Calibri" pitchFamily="34" charset="-122"/>
                <a:cs typeface="Calibri" pitchFamily="34" charset="-120"/>
              </a:rPr>
              <a:t>A persevering editor keeps investigating even when the story is complex.</a:t>
            </a:r>
            <a:endParaRPr lang="en-US" sz="1000" dirty="0"/>
          </a:p>
        </p:txBody>
      </p:sp>
      <p:sp>
        <p:nvSpPr>
          <p:cNvPr id="15" name="Shape 13"/>
          <p:cNvSpPr/>
          <p:nvPr/>
        </p:nvSpPr>
        <p:spPr>
          <a:xfrm>
            <a:off x="4114800" y="731520"/>
            <a:ext cx="4754880" cy="2194560"/>
          </a:xfrm>
          <a:prstGeom prst="roundRect">
            <a:avLst>
              <a:gd name="adj" fmla="val 5000"/>
            </a:avLst>
          </a:prstGeom>
          <a:solidFill>
            <a:srgbClr val="1A2D5A"/>
          </a:solidFill>
          <a:ln w="19050">
            <a:solidFill>
              <a:srgbClr val="55C8E8"/>
            </a:solidFill>
            <a:prstDash val="solid"/>
          </a:ln>
        </p:spPr>
      </p:sp>
      <p:sp>
        <p:nvSpPr>
          <p:cNvPr id="16" name="Text 14"/>
          <p:cNvSpPr/>
          <p:nvPr/>
        </p:nvSpPr>
        <p:spPr>
          <a:xfrm>
            <a:off x="4297680" y="822960"/>
            <a:ext cx="4389120" cy="228600"/>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DISPATCH 5.03.03</a:t>
            </a:r>
            <a:endParaRPr lang="en-US" sz="900" dirty="0"/>
          </a:p>
        </p:txBody>
      </p:sp>
      <p:sp>
        <p:nvSpPr>
          <p:cNvPr id="17" name="Text 15"/>
          <p:cNvSpPr/>
          <p:nvPr/>
        </p:nvSpPr>
        <p:spPr>
          <a:xfrm>
            <a:off x="4297680" y="1097280"/>
            <a:ext cx="4389120" cy="1691640"/>
          </a:xfrm>
          <a:prstGeom prst="rect">
            <a:avLst/>
          </a:prstGeom>
          <a:noFill/>
          <a:ln/>
        </p:spPr>
        <p:txBody>
          <a:bodyPr wrap="square" lIns="0" tIns="0" rIns="0" bIns="0" rtlCol="0" anchor="t"/>
          <a:lstStyle/>
          <a:p>
            <a:pPr indent="0" marL="0">
              <a:buNone/>
            </a:pPr>
            <a:r>
              <a:rPr lang="en-US" sz="1050" dirty="0">
                <a:solidFill>
                  <a:srgbClr val="D6F2FB"/>
                </a:solidFill>
                <a:latin typeface="Calibri" pitchFamily="34" charset="0"/>
                <a:ea typeface="Calibri" pitchFamily="34" charset="-122"/>
                <a:cs typeface="Calibri" pitchFamily="34" charset="-120"/>
              </a:rPr>
              <a:t>Last issue, the Gazette corrected the Herald's oversimplified claim about the Ancestral Pueblo. Now a new file arrives: 5.03.03 — Maya Civilization. This dispatch lands on the Front Page Desk.</a:t>
            </a:r>
            <a:endParaRPr lang="en-US" sz="1050" dirty="0"/>
          </a:p>
          <a:p>
            <a:pPr indent="0" marL="0">
              <a:buNone/>
            </a:pPr>
            <a:endParaRPr lang="en-US" sz="1050" dirty="0"/>
          </a:p>
          <a:p>
            <a:pPr indent="0" marL="0">
              <a:buNone/>
            </a:pPr>
            <a:r>
              <a:rPr lang="en-US" sz="1050" dirty="0">
                <a:solidFill>
                  <a:srgbClr val="D6F2FB"/>
                </a:solidFill>
                <a:latin typeface="Calibri" pitchFamily="34" charset="0"/>
                <a:ea typeface="Calibri" pitchFamily="34" charset="-122"/>
                <a:cs typeface="Calibri" pitchFamily="34" charset="-120"/>
              </a:rPr>
              <a:t>In the dense forests of present-day Mexico and Central America, the Maya built cities with towering stone pyramids, developed a written language, and created one of the most advanced calendar systems in the ancient world.</a:t>
            </a:r>
            <a:endParaRPr lang="en-US" sz="1050" dirty="0"/>
          </a:p>
          <a:p>
            <a:pPr indent="0" marL="0">
              <a:buNone/>
            </a:pPr>
            <a:endParaRPr lang="en-US" sz="1050" dirty="0"/>
          </a:p>
          <a:p>
            <a:pPr indent="0" marL="0">
              <a:buNone/>
            </a:pPr>
            <a:r>
              <a:rPr lang="en-US" sz="1050" dirty="0">
                <a:solidFill>
                  <a:srgbClr val="D6F2FB"/>
                </a:solidFill>
                <a:latin typeface="Calibri" pitchFamily="34" charset="0"/>
                <a:ea typeface="Calibri" pitchFamily="34" charset="-122"/>
                <a:cs typeface="Calibri" pitchFamily="34" charset="-120"/>
              </a:rPr>
              <a:t>The Gazette needs to get the full story right.</a:t>
            </a:r>
            <a:endParaRPr lang="en-US" sz="1050" dirty="0"/>
          </a:p>
        </p:txBody>
      </p:sp>
      <p:sp>
        <p:nvSpPr>
          <p:cNvPr id="18" name="Shape 16"/>
          <p:cNvSpPr/>
          <p:nvPr/>
        </p:nvSpPr>
        <p:spPr>
          <a:xfrm>
            <a:off x="4114800" y="3017520"/>
            <a:ext cx="4754880" cy="1691640"/>
          </a:xfrm>
          <a:prstGeom prst="roundRect">
            <a:avLst>
              <a:gd name="adj" fmla="val 6486"/>
            </a:avLst>
          </a:prstGeom>
          <a:solidFill>
            <a:srgbClr val="FFFFFF"/>
          </a:solidFill>
          <a:ln w="19050">
            <a:solidFill>
              <a:srgbClr val="1A8A7D"/>
            </a:solidFill>
            <a:prstDash val="solid"/>
          </a:ln>
        </p:spPr>
      </p:sp>
      <p:sp>
        <p:nvSpPr>
          <p:cNvPr id="19" name="Text 17"/>
          <p:cNvSpPr/>
          <p:nvPr/>
        </p:nvSpPr>
        <p:spPr>
          <a:xfrm>
            <a:off x="4297680" y="3108960"/>
            <a:ext cx="4389120" cy="228600"/>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TODAY'S BEAT</a:t>
            </a:r>
            <a:endParaRPr lang="en-US" sz="900" dirty="0"/>
          </a:p>
        </p:txBody>
      </p:sp>
      <p:sp>
        <p:nvSpPr>
          <p:cNvPr id="20" name="Text 18"/>
          <p:cNvSpPr/>
          <p:nvPr/>
        </p:nvSpPr>
        <p:spPr>
          <a:xfrm>
            <a:off x="4297680" y="3383280"/>
            <a:ext cx="4389120" cy="274320"/>
          </a:xfrm>
          <a:prstGeom prst="rect">
            <a:avLst/>
          </a:prstGeom>
          <a:noFill/>
          <a:ln/>
        </p:spPr>
        <p:txBody>
          <a:bodyPr wrap="square" lIns="0" tIns="0" rIns="0" bIns="0" rtlCol="0" anchor="ctr"/>
          <a:lstStyle/>
          <a:p>
            <a:r>
              <a:rPr lang="en-US" sz="1050" dirty="0">
                <a:solidFill>
                  <a:srgbClr val="0E1C42"/>
                </a:solidFill>
                <a:latin typeface="Calibri" pitchFamily="34" charset="0"/>
                <a:ea typeface="Calibri" pitchFamily="34" charset="-122"/>
                <a:cs typeface="Calibri" pitchFamily="34" charset="-120"/>
              </a:rPr>
              <a:t>Identify where the Maya lived and name at least two major achievements.</a:t>
            </a:r>
            <a:endParaRPr lang="en-US" sz="1050" dirty="0"/>
          </a:p>
        </p:txBody>
      </p:sp>
      <p:sp>
        <p:nvSpPr>
          <p:cNvPr id="21" name="Text 19"/>
          <p:cNvSpPr/>
          <p:nvPr/>
        </p:nvSpPr>
        <p:spPr>
          <a:xfrm>
            <a:off x="4297680" y="3703320"/>
            <a:ext cx="4389120" cy="274320"/>
          </a:xfrm>
          <a:prstGeom prst="rect">
            <a:avLst/>
          </a:prstGeom>
          <a:noFill/>
          <a:ln/>
        </p:spPr>
        <p:txBody>
          <a:bodyPr wrap="square" lIns="0" tIns="0" rIns="0" bIns="0" rtlCol="0" anchor="ctr"/>
          <a:lstStyle/>
          <a:p>
            <a:r>
              <a:rPr lang="en-US" sz="1050" dirty="0">
                <a:solidFill>
                  <a:srgbClr val="0E1C42"/>
                </a:solidFill>
                <a:latin typeface="Calibri" pitchFamily="34" charset="0"/>
                <a:ea typeface="Calibri" pitchFamily="34" charset="-122"/>
                <a:cs typeface="Calibri" pitchFamily="34" charset="-120"/>
              </a:rPr>
              <a:t>Explain what Maya pyramids, writing, and calendars tell us about their civilization.</a:t>
            </a:r>
            <a:endParaRPr lang="en-US" sz="1050" dirty="0"/>
          </a:p>
        </p:txBody>
      </p:sp>
      <p:sp>
        <p:nvSpPr>
          <p:cNvPr id="22" name="Text 20"/>
          <p:cNvSpPr/>
          <p:nvPr/>
        </p:nvSpPr>
        <p:spPr>
          <a:xfrm>
            <a:off x="4297680" y="4023360"/>
            <a:ext cx="4389120" cy="274320"/>
          </a:xfrm>
          <a:prstGeom prst="rect">
            <a:avLst/>
          </a:prstGeom>
          <a:noFill/>
          <a:ln/>
        </p:spPr>
        <p:txBody>
          <a:bodyPr wrap="square" lIns="0" tIns="0" rIns="0" bIns="0" rtlCol="0" anchor="ctr"/>
          <a:lstStyle/>
          <a:p>
            <a:r>
              <a:rPr lang="en-US" sz="1050" dirty="0">
                <a:solidFill>
                  <a:srgbClr val="0E1C42"/>
                </a:solidFill>
                <a:latin typeface="Calibri" pitchFamily="34" charset="0"/>
                <a:ea typeface="Calibri" pitchFamily="34" charset="-122"/>
                <a:cs typeface="Calibri" pitchFamily="34" charset="-120"/>
              </a:rPr>
              <a:t>Support a claim about the Maya with evidence from the lesson.</a:t>
            </a:r>
            <a:endParaRPr lang="en-US" sz="1050" dirty="0"/>
          </a:p>
        </p:txBody>
      </p:sp>
      <p:sp>
        <p:nvSpPr>
          <p:cNvPr id="23" name="Text 21"/>
          <p:cNvSpPr/>
          <p:nvPr/>
        </p:nvSpPr>
        <p:spPr>
          <a:xfrm>
            <a:off x="4297680" y="4370832"/>
            <a:ext cx="4389120" cy="256032"/>
          </a:xfrm>
          <a:prstGeom prst="rect">
            <a:avLst/>
          </a:prstGeom>
          <a:noFill/>
          <a:ln/>
        </p:spPr>
        <p:txBody>
          <a:bodyPr wrap="square" lIns="0" tIns="0" rIns="0" bIns="0" rtlCol="0" anchor="ctr"/>
          <a:lstStyle/>
          <a:p>
            <a:pPr indent="0" marL="0">
              <a:buNone/>
            </a:pPr>
            <a:r>
              <a:rPr lang="en-US" sz="900" i="1" dirty="0">
                <a:solidFill>
                  <a:srgbClr val="7A88A8"/>
                </a:solidFill>
                <a:latin typeface="Calibri" pitchFamily="34" charset="0"/>
                <a:ea typeface="Calibri" pitchFamily="34" charset="-122"/>
                <a:cs typeface="Calibri" pitchFamily="34" charset="-120"/>
              </a:rPr>
              <a:t>Front Page Desk  |  Vol. 1 · Issue 11</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0" y="0"/>
            <a:ext cx="9144000" cy="594360"/>
          </a:xfrm>
          <a:prstGeom prst="rect">
            <a:avLst/>
          </a:prstGeom>
          <a:solidFill>
            <a:srgbClr val="D4943A"/>
          </a:solidFill>
          <a:ln/>
        </p:spPr>
      </p:sp>
      <p:sp>
        <p:nvSpPr>
          <p:cNvPr id="6" name="Text 3"/>
          <p:cNvSpPr/>
          <p:nvPr/>
        </p:nvSpPr>
        <p:spPr>
          <a:xfrm>
            <a:off x="274320" y="137160"/>
            <a:ext cx="8595360" cy="347472"/>
          </a:xfrm>
          <a:prstGeom prst="rect">
            <a:avLst/>
          </a:prstGeom>
          <a:noFill/>
          <a:ln/>
        </p:spPr>
        <p:txBody>
          <a:bodyPr wrap="square" lIns="0" tIns="0" rIns="0" bIns="0" rtlCol="0" anchor="ctr"/>
          <a:lstStyle/>
          <a:p>
            <a:pPr indent="0" marL="0">
              <a:buNone/>
            </a:pPr>
            <a:r>
              <a:rPr lang="en-US" sz="1300" b="1" spc="300" kern="0" dirty="0">
                <a:solidFill>
                  <a:srgbClr val="0E1C42"/>
                </a:solidFill>
                <a:latin typeface="Cambria" pitchFamily="34" charset="0"/>
                <a:ea typeface="Cambria" pitchFamily="34" charset="-122"/>
                <a:cs typeface="Cambria" pitchFamily="34" charset="-120"/>
              </a:rPr>
              <a:t>VIRTUE LENS · ISSUE 11</a:t>
            </a:r>
            <a:endParaRPr lang="en-US" sz="1300" dirty="0"/>
          </a:p>
        </p:txBody>
      </p:sp>
      <p:sp>
        <p:nvSpPr>
          <p:cNvPr id="7" name="Text 4"/>
          <p:cNvSpPr/>
          <p:nvPr/>
        </p:nvSpPr>
        <p:spPr>
          <a:xfrm>
            <a:off x="457200" y="822960"/>
            <a:ext cx="8229600" cy="914400"/>
          </a:xfrm>
          <a:prstGeom prst="rect">
            <a:avLst/>
          </a:prstGeom>
          <a:noFill/>
          <a:ln/>
        </p:spPr>
        <p:txBody>
          <a:bodyPr wrap="square" lIns="0" tIns="0" rIns="0" bIns="0" rtlCol="0" anchor="ctr"/>
          <a:lstStyle/>
          <a:p>
            <a:pPr indent="0" marL="0">
              <a:buNone/>
            </a:pPr>
            <a:r>
              <a:rPr lang="en-US" sz="5200" b="1" dirty="0">
                <a:solidFill>
                  <a:srgbClr val="D4943A"/>
                </a:solidFill>
                <a:latin typeface="Cambria" pitchFamily="34" charset="0"/>
                <a:ea typeface="Cambria" pitchFamily="34" charset="-122"/>
                <a:cs typeface="Cambria" pitchFamily="34" charset="-120"/>
              </a:rPr>
              <a:t>Perseverance</a:t>
            </a:r>
            <a:endParaRPr lang="en-US" sz="5200" dirty="0"/>
          </a:p>
        </p:txBody>
      </p:sp>
      <p:sp>
        <p:nvSpPr>
          <p:cNvPr id="8" name="Shape 5"/>
          <p:cNvSpPr/>
          <p:nvPr/>
        </p:nvSpPr>
        <p:spPr>
          <a:xfrm>
            <a:off x="457200" y="1828800"/>
            <a:ext cx="8229600" cy="1188720"/>
          </a:xfrm>
          <a:prstGeom prst="roundRect">
            <a:avLst>
              <a:gd name="adj" fmla="val 9231"/>
            </a:avLst>
          </a:prstGeom>
          <a:solidFill>
            <a:srgbClr val="1A2D5A">
              <a:alpha val="80000"/>
            </a:srgbClr>
          </a:solidFill>
          <a:ln w="19050">
            <a:solidFill>
              <a:srgbClr val="D4943A"/>
            </a:solidFill>
            <a:prstDash val="solid"/>
          </a:ln>
        </p:spPr>
      </p:sp>
      <p:sp>
        <p:nvSpPr>
          <p:cNvPr id="9" name="Text 6"/>
          <p:cNvSpPr/>
          <p:nvPr/>
        </p:nvSpPr>
        <p:spPr>
          <a:xfrm>
            <a:off x="640080" y="1920240"/>
            <a:ext cx="7863840" cy="1005840"/>
          </a:xfrm>
          <a:prstGeom prst="rect">
            <a:avLst/>
          </a:prstGeom>
          <a:noFill/>
          <a:ln/>
        </p:spPr>
        <p:txBody>
          <a:bodyPr wrap="square" lIns="0" tIns="0" rIns="0" bIns="0" rtlCol="0" anchor="ctr"/>
          <a:lstStyle/>
          <a:p>
            <a:pPr indent="0" marL="0">
              <a:buNone/>
            </a:pPr>
            <a:r>
              <a:rPr lang="en-US" sz="1400" i="1" dirty="0">
                <a:solidFill>
                  <a:srgbClr val="FFFFFF"/>
                </a:solidFill>
                <a:latin typeface="Cambria" pitchFamily="34" charset="0"/>
                <a:ea typeface="Cambria" pitchFamily="34" charset="-122"/>
                <a:cs typeface="Cambria" pitchFamily="34" charset="-120"/>
              </a:rPr>
              <a:t>A persevering editor keeps investigating even when the story is complex. Today, perseverance means looking at the FULL RANGE of Maya achievements instead of stopping at the first impressive fact — because a civilization this advanced deserves a complete report.</a:t>
            </a:r>
            <a:endParaRPr lang="en-US" sz="1400" dirty="0"/>
          </a:p>
        </p:txBody>
      </p:sp>
      <p:sp>
        <p:nvSpPr>
          <p:cNvPr id="10" name="Text 7"/>
          <p:cNvSpPr/>
          <p:nvPr/>
        </p:nvSpPr>
        <p:spPr>
          <a:xfrm>
            <a:off x="457200" y="3200400"/>
            <a:ext cx="8229600" cy="457200"/>
          </a:xfrm>
          <a:prstGeom prst="rect">
            <a:avLst/>
          </a:prstGeom>
          <a:noFill/>
          <a:ln/>
        </p:spPr>
        <p:txBody>
          <a:bodyPr wrap="square" lIns="0" tIns="0" rIns="0" bIns="0" rtlCol="0" anchor="ctr"/>
          <a:lstStyle/>
          <a:p>
            <a:pPr algn="ctr" indent="0" marL="0">
              <a:buNone/>
            </a:pPr>
            <a:r>
              <a:rPr lang="en-US" sz="1300" i="1" dirty="0">
                <a:solidFill>
                  <a:srgbClr val="D4943A"/>
                </a:solidFill>
                <a:latin typeface="Cambria" pitchFamily="34" charset="0"/>
                <a:ea typeface="Cambria" pitchFamily="34" charset="-122"/>
                <a:cs typeface="Cambria" pitchFamily="34" charset="-120"/>
              </a:rPr>
              <a:t>At the Gazette, we don't stop at the headline. We dig until the evidence is complete.</a:t>
            </a:r>
            <a:endParaRPr lang="en-US" sz="1300" dirty="0"/>
          </a:p>
        </p:txBody>
      </p:sp>
      <p:sp>
        <p:nvSpPr>
          <p:cNvPr id="11" name="Shape 8"/>
          <p:cNvSpPr/>
          <p:nvPr/>
        </p:nvSpPr>
        <p:spPr>
          <a:xfrm>
            <a:off x="457200" y="3749040"/>
            <a:ext cx="8229600" cy="1005840"/>
          </a:xfrm>
          <a:prstGeom prst="roundRect">
            <a:avLst>
              <a:gd name="adj" fmla="val 10909"/>
            </a:avLst>
          </a:prstGeom>
          <a:solidFill>
            <a:srgbClr val="1A2D5A"/>
          </a:solidFill>
          <a:ln w="12700">
            <a:solidFill>
              <a:srgbClr val="2A4070"/>
            </a:solidFill>
            <a:prstDash val="solid"/>
          </a:ln>
        </p:spPr>
      </p:sp>
      <p:sp>
        <p:nvSpPr>
          <p:cNvPr id="12" name="Text 9"/>
          <p:cNvSpPr/>
          <p:nvPr/>
        </p:nvSpPr>
        <p:spPr>
          <a:xfrm>
            <a:off x="594360" y="3803904"/>
            <a:ext cx="7955280" cy="201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3" name="Text 10"/>
          <p:cNvSpPr/>
          <p:nvPr/>
        </p:nvSpPr>
        <p:spPr>
          <a:xfrm>
            <a:off x="640080" y="4069080"/>
            <a:ext cx="7863840" cy="594360"/>
          </a:xfrm>
          <a:prstGeom prst="rect">
            <a:avLst/>
          </a:prstGeom>
          <a:noFill/>
          <a:ln/>
        </p:spPr>
        <p:txBody>
          <a:bodyPr wrap="square" lIns="0" tIns="0" rIns="0" bIns="0" rtlCol="0" anchor="t"/>
          <a:lstStyle/>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Think of a time you kept going even when something was hard. What helped you persist?</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How does perseverance connect to being a good reporter — or a good student?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594360"/>
          </a:xfrm>
          <a:prstGeom prst="rect">
            <a:avLst/>
          </a:prstGeom>
          <a:solidFill>
            <a:srgbClr val="0E1C42"/>
          </a:solidFill>
          <a:ln/>
        </p:spPr>
      </p:sp>
      <p:sp>
        <p:nvSpPr>
          <p:cNvPr id="4" name="Text 2"/>
          <p:cNvSpPr/>
          <p:nvPr/>
        </p:nvSpPr>
        <p:spPr>
          <a:xfrm>
            <a:off x="274320" y="137160"/>
            <a:ext cx="8595360" cy="347472"/>
          </a:xfrm>
          <a:prstGeom prst="rect">
            <a:avLst/>
          </a:prstGeom>
          <a:noFill/>
          <a:ln/>
        </p:spPr>
        <p:txBody>
          <a:bodyPr wrap="square" lIns="0" tIns="0" rIns="0" bIns="0" rtlCol="0" anchor="ctr"/>
          <a:lstStyle/>
          <a:p>
            <a:pPr indent="0" marL="0">
              <a:buNone/>
            </a:pPr>
            <a:r>
              <a:rPr lang="en-US" sz="1300" b="1" spc="150" kern="0" dirty="0">
                <a:solidFill>
                  <a:srgbClr val="55C8E8"/>
                </a:solidFill>
                <a:latin typeface="Cambria" pitchFamily="34" charset="0"/>
                <a:ea typeface="Cambria" pitchFamily="34" charset="-122"/>
                <a:cs typeface="Cambria" pitchFamily="34" charset="-120"/>
              </a:rPr>
              <a:t>CLUE BOX: WHERE DID THE MAYA LIVE?</a:t>
            </a:r>
            <a:endParaRPr lang="en-US" sz="1300" dirty="0"/>
          </a:p>
        </p:txBody>
      </p:sp>
      <p:sp>
        <p:nvSpPr>
          <p:cNvPr id="5" name="Shape 3"/>
          <p:cNvSpPr/>
          <p:nvPr/>
        </p:nvSpPr>
        <p:spPr>
          <a:xfrm>
            <a:off x="274320" y="731520"/>
            <a:ext cx="3840480" cy="2926080"/>
          </a:xfrm>
          <a:prstGeom prst="roundRect">
            <a:avLst>
              <a:gd name="adj" fmla="val 3750"/>
            </a:avLst>
          </a:prstGeom>
          <a:solidFill>
            <a:srgbClr val="E2E8F4"/>
          </a:solidFill>
          <a:ln w="19050">
            <a:solidFill>
              <a:srgbClr val="B0B8CC"/>
            </a:solidFill>
            <a:prstDash val="dash"/>
          </a:ln>
        </p:spPr>
      </p:sp>
      <p:sp>
        <p:nvSpPr>
          <p:cNvPr id="6" name="Text 4"/>
          <p:cNvSpPr/>
          <p:nvPr/>
        </p:nvSpPr>
        <p:spPr>
          <a:xfrm>
            <a:off x="274320" y="731520"/>
            <a:ext cx="384048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411480" y="1005840"/>
            <a:ext cx="3566160" cy="25603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Map of Mesoamerica highlighting Maya region — southern Mexico, Guatemala, Belize, Honduras — with major cities marked: Tikal, Palenque, Chichen Itza, Copan</a:t>
            </a:r>
            <a:endParaRPr lang="en-US" sz="1100" dirty="0"/>
          </a:p>
        </p:txBody>
      </p:sp>
      <p:sp>
        <p:nvSpPr>
          <p:cNvPr id="8" name="Shape 6"/>
          <p:cNvSpPr/>
          <p:nvPr/>
        </p:nvSpPr>
        <p:spPr>
          <a:xfrm>
            <a:off x="4251960" y="731520"/>
            <a:ext cx="4572000" cy="1371600"/>
          </a:xfrm>
          <a:prstGeom prst="roundRect">
            <a:avLst>
              <a:gd name="adj" fmla="val 8000"/>
            </a:avLst>
          </a:prstGeom>
          <a:solidFill>
            <a:srgbClr val="FFFFFF"/>
          </a:solidFill>
          <a:ln w="19050">
            <a:solidFill>
              <a:srgbClr val="1A8A7D"/>
            </a:solidFill>
            <a:prstDash val="solid"/>
          </a:ln>
        </p:spPr>
      </p:sp>
      <p:sp>
        <p:nvSpPr>
          <p:cNvPr id="9" name="Text 7"/>
          <p:cNvSpPr/>
          <p:nvPr/>
        </p:nvSpPr>
        <p:spPr>
          <a:xfrm>
            <a:off x="4434840" y="822960"/>
            <a:ext cx="4206240" cy="201168"/>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MAP OBSERVATION</a:t>
            </a:r>
            <a:endParaRPr lang="en-US" sz="900" dirty="0"/>
          </a:p>
        </p:txBody>
      </p:sp>
      <p:sp>
        <p:nvSpPr>
          <p:cNvPr id="10" name="Text 8"/>
          <p:cNvSpPr/>
          <p:nvPr/>
        </p:nvSpPr>
        <p:spPr>
          <a:xfrm>
            <a:off x="4434840" y="1051560"/>
            <a:ext cx="4206240" cy="274320"/>
          </a:xfrm>
          <a:prstGeom prst="rect">
            <a:avLst/>
          </a:prstGeom>
          <a:noFill/>
          <a:ln/>
        </p:spPr>
        <p:txBody>
          <a:bodyPr wrap="square" lIns="0" tIns="0" rIns="0" bIns="0" rtlCol="0" anchor="ctr"/>
          <a:lstStyle/>
          <a:p>
            <a:pPr indent="0" marL="0">
              <a:buNone/>
            </a:pPr>
            <a:r>
              <a:rPr lang="en-US" sz="1100" b="1" dirty="0">
                <a:solidFill>
                  <a:srgbClr val="0E1C42"/>
                </a:solidFill>
                <a:latin typeface="Calibri" pitchFamily="34" charset="0"/>
                <a:ea typeface="Calibri" pitchFamily="34" charset="-122"/>
                <a:cs typeface="Calibri" pitchFamily="34" charset="-120"/>
              </a:rPr>
              <a:t>Region: </a:t>
            </a:r>
            <a:pPr indent="0" marL="0">
              <a:buNone/>
            </a:pPr>
            <a:r>
              <a:rPr lang="en-US" sz="1100" dirty="0">
                <a:solidFill>
                  <a:srgbClr val="0E1C42"/>
                </a:solidFill>
                <a:latin typeface="Calibri" pitchFamily="34" charset="0"/>
                <a:ea typeface="Calibri" pitchFamily="34" charset="-122"/>
                <a:cs typeface="Calibri" pitchFamily="34" charset="-120"/>
              </a:rPr>
              <a:t>Southern Mexico, Guatemala, Belize, Honduras</a:t>
            </a:r>
            <a:endParaRPr lang="en-US" sz="1100" dirty="0"/>
          </a:p>
        </p:txBody>
      </p:sp>
      <p:sp>
        <p:nvSpPr>
          <p:cNvPr id="11" name="Text 9"/>
          <p:cNvSpPr/>
          <p:nvPr/>
        </p:nvSpPr>
        <p:spPr>
          <a:xfrm>
            <a:off x="4434840" y="1353312"/>
            <a:ext cx="4206240" cy="274320"/>
          </a:xfrm>
          <a:prstGeom prst="rect">
            <a:avLst/>
          </a:prstGeom>
          <a:noFill/>
          <a:ln/>
        </p:spPr>
        <p:txBody>
          <a:bodyPr wrap="square" lIns="0" tIns="0" rIns="0" bIns="0" rtlCol="0" anchor="ctr"/>
          <a:lstStyle/>
          <a:p>
            <a:pPr indent="0" marL="0">
              <a:buNone/>
            </a:pPr>
            <a:r>
              <a:rPr lang="en-US" sz="1100" b="1" dirty="0">
                <a:solidFill>
                  <a:srgbClr val="0E1C42"/>
                </a:solidFill>
                <a:latin typeface="Calibri" pitchFamily="34" charset="0"/>
                <a:ea typeface="Calibri" pitchFamily="34" charset="-122"/>
                <a:cs typeface="Calibri" pitchFamily="34" charset="-120"/>
              </a:rPr>
              <a:t>Key cities: </a:t>
            </a:r>
            <a:pPr indent="0" marL="0">
              <a:buNone/>
            </a:pPr>
            <a:r>
              <a:rPr lang="en-US" sz="1100" dirty="0">
                <a:solidFill>
                  <a:srgbClr val="0E1C42"/>
                </a:solidFill>
                <a:latin typeface="Calibri" pitchFamily="34" charset="0"/>
                <a:ea typeface="Calibri" pitchFamily="34" charset="-122"/>
                <a:cs typeface="Calibri" pitchFamily="34" charset="-120"/>
              </a:rPr>
              <a:t>Tikal · Palenque · Chichen Itza · Copan</a:t>
            </a:r>
            <a:endParaRPr lang="en-US" sz="1100" dirty="0"/>
          </a:p>
        </p:txBody>
      </p:sp>
      <p:sp>
        <p:nvSpPr>
          <p:cNvPr id="12" name="Text 10"/>
          <p:cNvSpPr/>
          <p:nvPr/>
        </p:nvSpPr>
        <p:spPr>
          <a:xfrm>
            <a:off x="4434840" y="1664208"/>
            <a:ext cx="4206240" cy="274320"/>
          </a:xfrm>
          <a:prstGeom prst="rect">
            <a:avLst/>
          </a:prstGeom>
          <a:noFill/>
          <a:ln/>
        </p:spPr>
        <p:txBody>
          <a:bodyPr wrap="square" lIns="0" tIns="0" rIns="0" bIns="0" rtlCol="0" anchor="ctr"/>
          <a:lstStyle/>
          <a:p>
            <a:pPr indent="0" marL="0">
              <a:buNone/>
            </a:pPr>
            <a:r>
              <a:rPr lang="en-US" sz="1100" b="1" dirty="0">
                <a:solidFill>
                  <a:srgbClr val="0E1C42"/>
                </a:solidFill>
                <a:latin typeface="Calibri" pitchFamily="34" charset="0"/>
                <a:ea typeface="Calibri" pitchFamily="34" charset="-122"/>
                <a:cs typeface="Calibri" pitchFamily="34" charset="-120"/>
              </a:rPr>
              <a:t>Timeline: </a:t>
            </a:r>
            <a:pPr indent="0" marL="0">
              <a:buNone/>
            </a:pPr>
            <a:r>
              <a:rPr lang="en-US" sz="1100" dirty="0">
                <a:solidFill>
                  <a:srgbClr val="0E1C42"/>
                </a:solidFill>
                <a:latin typeface="Calibri" pitchFamily="34" charset="0"/>
                <a:ea typeface="Calibri" pitchFamily="34" charset="-122"/>
                <a:cs typeface="Calibri" pitchFamily="34" charset="-120"/>
              </a:rPr>
              <a:t>~2000 BCE to 1500 CE (Classic period peak)</a:t>
            </a:r>
            <a:endParaRPr lang="en-US" sz="1100" dirty="0"/>
          </a:p>
        </p:txBody>
      </p:sp>
      <p:sp>
        <p:nvSpPr>
          <p:cNvPr id="13" name="Shape 11"/>
          <p:cNvSpPr/>
          <p:nvPr/>
        </p:nvSpPr>
        <p:spPr>
          <a:xfrm>
            <a:off x="4251960" y="2212848"/>
            <a:ext cx="4572000" cy="1600200"/>
          </a:xfrm>
          <a:prstGeom prst="roundRect">
            <a:avLst>
              <a:gd name="adj" fmla="val 6857"/>
            </a:avLst>
          </a:prstGeom>
          <a:solidFill>
            <a:srgbClr val="1A2D5A"/>
          </a:solidFill>
          <a:ln w="12700">
            <a:solidFill>
              <a:srgbClr val="2A4070"/>
            </a:solidFill>
            <a:prstDash val="solid"/>
          </a:ln>
        </p:spPr>
      </p:sp>
      <p:sp>
        <p:nvSpPr>
          <p:cNvPr id="14" name="Text 12"/>
          <p:cNvSpPr/>
          <p:nvPr/>
        </p:nvSpPr>
        <p:spPr>
          <a:xfrm>
            <a:off x="4389120" y="2267712"/>
            <a:ext cx="4297680" cy="201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5" name="Text 13"/>
          <p:cNvSpPr/>
          <p:nvPr/>
        </p:nvSpPr>
        <p:spPr>
          <a:xfrm>
            <a:off x="4434840" y="2532888"/>
            <a:ext cx="4206240" cy="1188720"/>
          </a:xfrm>
          <a:prstGeom prst="rect">
            <a:avLst/>
          </a:prstGeom>
          <a:noFill/>
          <a:ln/>
        </p:spPr>
        <p:txBody>
          <a:bodyPr wrap="square" lIns="0" tIns="0" rIns="0" bIns="0" rtlCol="0" anchor="t"/>
          <a:lstStyle/>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Look at the map. What geographic features (rainforest, highlands, coast) do you see in Maya territory?</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Why might cities like Tikal develop deep in the rainforest? What challenges would that create?</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The Maya flourished for over 3,000 years. What does that tell us about their civilization?</a:t>
            </a:r>
            <a:endParaRPr lang="en-US" sz="1100" dirty="0"/>
          </a:p>
        </p:txBody>
      </p:sp>
      <p:sp>
        <p:nvSpPr>
          <p:cNvPr id="16" name="Shape 14"/>
          <p:cNvSpPr/>
          <p:nvPr/>
        </p:nvSpPr>
        <p:spPr>
          <a:xfrm>
            <a:off x="274320" y="3749040"/>
            <a:ext cx="8549640" cy="1097280"/>
          </a:xfrm>
          <a:prstGeom prst="roundRect">
            <a:avLst>
              <a:gd name="adj" fmla="val 10000"/>
            </a:avLst>
          </a:prstGeom>
          <a:solidFill>
            <a:srgbClr val="FFF3DC"/>
          </a:solidFill>
          <a:ln w="19050">
            <a:solidFill>
              <a:srgbClr val="F5E6C8"/>
            </a:solidFill>
            <a:prstDash val="solid"/>
          </a:ln>
        </p:spPr>
      </p:sp>
      <p:sp>
        <p:nvSpPr>
          <p:cNvPr id="17" name="Text 15"/>
          <p:cNvSpPr/>
          <p:nvPr/>
        </p:nvSpPr>
        <p:spPr>
          <a:xfrm>
            <a:off x="411480" y="3803904"/>
            <a:ext cx="827532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8" name="Text 16"/>
          <p:cNvSpPr/>
          <p:nvPr/>
        </p:nvSpPr>
        <p:spPr>
          <a:xfrm>
            <a:off x="411480" y="4005072"/>
            <a:ext cx="8275320" cy="7772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"Looking at this map, I notice that the Maya lived in..."</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geography of this region might have made it hard to...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 civilization that lasted 3,000 years must have been able to..."</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594360"/>
          </a:xfrm>
          <a:prstGeom prst="rect">
            <a:avLst/>
          </a:prstGeom>
          <a:solidFill>
            <a:srgbClr val="0E1C42"/>
          </a:solidFill>
          <a:ln/>
        </p:spPr>
      </p:sp>
      <p:sp>
        <p:nvSpPr>
          <p:cNvPr id="4" name="Text 2"/>
          <p:cNvSpPr/>
          <p:nvPr/>
        </p:nvSpPr>
        <p:spPr>
          <a:xfrm>
            <a:off x="274320" y="137160"/>
            <a:ext cx="8595360" cy="347472"/>
          </a:xfrm>
          <a:prstGeom prst="rect">
            <a:avLst/>
          </a:prstGeom>
          <a:noFill/>
          <a:ln/>
        </p:spPr>
        <p:txBody>
          <a:bodyPr wrap="square" lIns="0" tIns="0" rIns="0" bIns="0" rtlCol="0" anchor="ctr"/>
          <a:lstStyle/>
          <a:p>
            <a:pPr indent="0" marL="0">
              <a:buNone/>
            </a:pPr>
            <a:r>
              <a:rPr lang="en-US" sz="1300" b="1" spc="150" kern="0" dirty="0">
                <a:solidFill>
                  <a:srgbClr val="D4943A"/>
                </a:solidFill>
                <a:latin typeface="Cambria" pitchFamily="34" charset="0"/>
                <a:ea typeface="Cambria" pitchFamily="34" charset="-122"/>
                <a:cs typeface="Cambria" pitchFamily="34" charset="-120"/>
              </a:rPr>
              <a:t>CLUE BOX: ARCHITECTURE &amp; CITIES</a:t>
            </a:r>
            <a:endParaRPr lang="en-US" sz="1300" dirty="0"/>
          </a:p>
        </p:txBody>
      </p:sp>
      <p:sp>
        <p:nvSpPr>
          <p:cNvPr id="5" name="Shape 3"/>
          <p:cNvSpPr/>
          <p:nvPr/>
        </p:nvSpPr>
        <p:spPr>
          <a:xfrm>
            <a:off x="274320" y="731520"/>
            <a:ext cx="4572000" cy="2834640"/>
          </a:xfrm>
          <a:prstGeom prst="roundRect">
            <a:avLst>
              <a:gd name="adj" fmla="val 3871"/>
            </a:avLst>
          </a:prstGeom>
          <a:solidFill>
            <a:srgbClr val="E2E8F4"/>
          </a:solidFill>
          <a:ln w="19050">
            <a:solidFill>
              <a:srgbClr val="B0B8CC"/>
            </a:solidFill>
            <a:prstDash val="dash"/>
          </a:ln>
        </p:spPr>
      </p:sp>
      <p:sp>
        <p:nvSpPr>
          <p:cNvPr id="6" name="Text 4"/>
          <p:cNvSpPr/>
          <p:nvPr/>
        </p:nvSpPr>
        <p:spPr>
          <a:xfrm>
            <a:off x="274320" y="731520"/>
            <a:ext cx="45720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411480" y="1005840"/>
            <a:ext cx="4297680" cy="246888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Photograph of Maya ruins — the pyramid at Chichen Itza (El Castillo) or Tikal Temple I rising above jungle — dramatic scale showing height over 150 feet. Save as: source-5-03-03-maya-pyramid-ruins.jpg</a:t>
            </a:r>
            <a:endParaRPr lang="en-US" sz="1100" dirty="0"/>
          </a:p>
        </p:txBody>
      </p:sp>
      <p:sp>
        <p:nvSpPr>
          <p:cNvPr id="8" name="Shape 6"/>
          <p:cNvSpPr/>
          <p:nvPr/>
        </p:nvSpPr>
        <p:spPr>
          <a:xfrm>
            <a:off x="5029200" y="731520"/>
            <a:ext cx="3794760" cy="2834640"/>
          </a:xfrm>
          <a:prstGeom prst="roundRect">
            <a:avLst>
              <a:gd name="adj" fmla="val 3871"/>
            </a:avLst>
          </a:prstGeom>
          <a:solidFill>
            <a:srgbClr val="FFFFFF"/>
          </a:solidFill>
          <a:ln w="19050">
            <a:solidFill>
              <a:srgbClr val="D4943A"/>
            </a:solidFill>
            <a:prstDash val="solid"/>
          </a:ln>
        </p:spPr>
      </p:sp>
      <p:sp>
        <p:nvSpPr>
          <p:cNvPr id="9" name="Text 7"/>
          <p:cNvSpPr/>
          <p:nvPr/>
        </p:nvSpPr>
        <p:spPr>
          <a:xfrm>
            <a:off x="5212080" y="822960"/>
            <a:ext cx="3429000" cy="228600"/>
          </a:xfrm>
          <a:prstGeom prst="rect">
            <a:avLst/>
          </a:prstGeom>
          <a:noFill/>
          <a:ln/>
        </p:spPr>
        <p:txBody>
          <a:bodyPr wrap="square" lIns="0" tIns="0" rIns="0" bIns="0" rtlCol="0" anchor="ctr"/>
          <a:lstStyle/>
          <a:p>
            <a:pPr indent="0" marL="0">
              <a:buNone/>
            </a:pPr>
            <a:r>
              <a:rPr lang="en-US" sz="900" b="1" spc="100" kern="0" dirty="0">
                <a:solidFill>
                  <a:srgbClr val="D4943A"/>
                </a:solidFill>
                <a:latin typeface="Calibri" pitchFamily="34" charset="0"/>
                <a:ea typeface="Calibri" pitchFamily="34" charset="-122"/>
                <a:cs typeface="Calibri" pitchFamily="34" charset="-120"/>
              </a:rPr>
              <a:t>ARCHITECTURE EVIDENCE</a:t>
            </a:r>
            <a:endParaRPr lang="en-US" sz="900" dirty="0"/>
          </a:p>
        </p:txBody>
      </p:sp>
      <p:sp>
        <p:nvSpPr>
          <p:cNvPr id="10" name="Text 8"/>
          <p:cNvSpPr/>
          <p:nvPr/>
        </p:nvSpPr>
        <p:spPr>
          <a:xfrm>
            <a:off x="5212080" y="1097280"/>
            <a:ext cx="3429000" cy="201168"/>
          </a:xfrm>
          <a:prstGeom prst="rect">
            <a:avLst/>
          </a:prstGeom>
          <a:noFill/>
          <a:ln/>
        </p:spPr>
        <p:txBody>
          <a:bodyPr wrap="square" lIns="0" tIns="0" rIns="0" bIns="0" rtlCol="0" anchor="ctr"/>
          <a:lstStyle/>
          <a:p>
            <a:pPr indent="0" marL="0">
              <a:buNone/>
            </a:pPr>
            <a:r>
              <a:rPr lang="en-US" sz="1050" b="1" dirty="0">
                <a:solidFill>
                  <a:srgbClr val="0E1C42"/>
                </a:solidFill>
                <a:latin typeface="Calibri" pitchFamily="34" charset="0"/>
                <a:ea typeface="Calibri" pitchFamily="34" charset="-122"/>
                <a:cs typeface="Calibri" pitchFamily="34" charset="-120"/>
              </a:rPr>
              <a:t>Stepped stone pyramids</a:t>
            </a:r>
            <a:endParaRPr lang="en-US" sz="1050" dirty="0"/>
          </a:p>
        </p:txBody>
      </p:sp>
      <p:sp>
        <p:nvSpPr>
          <p:cNvPr id="11" name="Text 9"/>
          <p:cNvSpPr/>
          <p:nvPr/>
        </p:nvSpPr>
        <p:spPr>
          <a:xfrm>
            <a:off x="5212080" y="1307592"/>
            <a:ext cx="3429000" cy="201168"/>
          </a:xfrm>
          <a:prstGeom prst="rect">
            <a:avLst/>
          </a:prstGeom>
          <a:noFill/>
          <a:ln/>
        </p:spPr>
        <p:txBody>
          <a:bodyPr wrap="square" lIns="0" tIns="0" rIns="0" bIns="0" rtlCol="0" anchor="ctr"/>
          <a:lstStyle/>
          <a:p>
            <a:pPr indent="0" marL="0">
              <a:buNone/>
            </a:pPr>
            <a:r>
              <a:rPr lang="en-US" sz="950" i="1" dirty="0">
                <a:solidFill>
                  <a:srgbClr val="7A88A8"/>
                </a:solidFill>
                <a:latin typeface="Calibri" pitchFamily="34" charset="0"/>
                <a:ea typeface="Calibri" pitchFamily="34" charset="-122"/>
                <a:cs typeface="Calibri" pitchFamily="34" charset="-120"/>
              </a:rPr>
              <a:t>Some over 150 feet tall — rose above the forest canopy</a:t>
            </a:r>
            <a:endParaRPr lang="en-US" sz="950" dirty="0"/>
          </a:p>
        </p:txBody>
      </p:sp>
      <p:sp>
        <p:nvSpPr>
          <p:cNvPr id="12" name="Text 10"/>
          <p:cNvSpPr/>
          <p:nvPr/>
        </p:nvSpPr>
        <p:spPr>
          <a:xfrm>
            <a:off x="5212080" y="1527048"/>
            <a:ext cx="3429000" cy="201168"/>
          </a:xfrm>
          <a:prstGeom prst="rect">
            <a:avLst/>
          </a:prstGeom>
          <a:noFill/>
          <a:ln/>
        </p:spPr>
        <p:txBody>
          <a:bodyPr wrap="square" lIns="0" tIns="0" rIns="0" bIns="0" rtlCol="0" anchor="ctr"/>
          <a:lstStyle/>
          <a:p>
            <a:pPr indent="0" marL="0">
              <a:buNone/>
            </a:pPr>
            <a:r>
              <a:rPr lang="en-US" sz="1050" b="1" dirty="0">
                <a:solidFill>
                  <a:srgbClr val="0E1C42"/>
                </a:solidFill>
                <a:latin typeface="Calibri" pitchFamily="34" charset="0"/>
                <a:ea typeface="Calibri" pitchFamily="34" charset="-122"/>
                <a:cs typeface="Calibri" pitchFamily="34" charset="-120"/>
              </a:rPr>
              <a:t>Not just monuments</a:t>
            </a:r>
            <a:endParaRPr lang="en-US" sz="1050" dirty="0"/>
          </a:p>
        </p:txBody>
      </p:sp>
      <p:sp>
        <p:nvSpPr>
          <p:cNvPr id="13" name="Text 11"/>
          <p:cNvSpPr/>
          <p:nvPr/>
        </p:nvSpPr>
        <p:spPr>
          <a:xfrm>
            <a:off x="5212080" y="1737360"/>
            <a:ext cx="3429000" cy="201168"/>
          </a:xfrm>
          <a:prstGeom prst="rect">
            <a:avLst/>
          </a:prstGeom>
          <a:noFill/>
          <a:ln/>
        </p:spPr>
        <p:txBody>
          <a:bodyPr wrap="square" lIns="0" tIns="0" rIns="0" bIns="0" rtlCol="0" anchor="ctr"/>
          <a:lstStyle/>
          <a:p>
            <a:pPr indent="0" marL="0">
              <a:buNone/>
            </a:pPr>
            <a:r>
              <a:rPr lang="en-US" sz="950" i="1" dirty="0">
                <a:solidFill>
                  <a:srgbClr val="7A88A8"/>
                </a:solidFill>
                <a:latin typeface="Calibri" pitchFamily="34" charset="0"/>
                <a:ea typeface="Calibri" pitchFamily="34" charset="-122"/>
                <a:cs typeface="Calibri" pitchFamily="34" charset="-120"/>
              </a:rPr>
              <a:t>Used as temples, astronomical observatories, and government centers</a:t>
            </a:r>
            <a:endParaRPr lang="en-US" sz="950" dirty="0"/>
          </a:p>
        </p:txBody>
      </p:sp>
      <p:sp>
        <p:nvSpPr>
          <p:cNvPr id="14" name="Text 12"/>
          <p:cNvSpPr/>
          <p:nvPr/>
        </p:nvSpPr>
        <p:spPr>
          <a:xfrm>
            <a:off x="5212080" y="1956816"/>
            <a:ext cx="3429000" cy="201168"/>
          </a:xfrm>
          <a:prstGeom prst="rect">
            <a:avLst/>
          </a:prstGeom>
          <a:noFill/>
          <a:ln/>
        </p:spPr>
        <p:txBody>
          <a:bodyPr wrap="square" lIns="0" tIns="0" rIns="0" bIns="0" rtlCol="0" anchor="ctr"/>
          <a:lstStyle/>
          <a:p>
            <a:pPr indent="0" marL="0">
              <a:buNone/>
            </a:pPr>
            <a:r>
              <a:rPr lang="en-US" sz="1050" b="1" dirty="0">
                <a:solidFill>
                  <a:srgbClr val="0E1C42"/>
                </a:solidFill>
                <a:latin typeface="Calibri" pitchFamily="34" charset="0"/>
                <a:ea typeface="Calibri" pitchFamily="34" charset="-122"/>
                <a:cs typeface="Calibri" pitchFamily="34" charset="-120"/>
              </a:rPr>
              <a:t>Major cities</a:t>
            </a:r>
            <a:endParaRPr lang="en-US" sz="1050" dirty="0"/>
          </a:p>
        </p:txBody>
      </p:sp>
      <p:sp>
        <p:nvSpPr>
          <p:cNvPr id="15" name="Text 13"/>
          <p:cNvSpPr/>
          <p:nvPr/>
        </p:nvSpPr>
        <p:spPr>
          <a:xfrm>
            <a:off x="5212080" y="2167128"/>
            <a:ext cx="3429000" cy="201168"/>
          </a:xfrm>
          <a:prstGeom prst="rect">
            <a:avLst/>
          </a:prstGeom>
          <a:noFill/>
          <a:ln/>
        </p:spPr>
        <p:txBody>
          <a:bodyPr wrap="square" lIns="0" tIns="0" rIns="0" bIns="0" rtlCol="0" anchor="ctr"/>
          <a:lstStyle/>
          <a:p>
            <a:pPr indent="0" marL="0">
              <a:buNone/>
            </a:pPr>
            <a:r>
              <a:rPr lang="en-US" sz="950" i="1" dirty="0">
                <a:solidFill>
                  <a:srgbClr val="7A88A8"/>
                </a:solidFill>
                <a:latin typeface="Calibri" pitchFamily="34" charset="0"/>
                <a:ea typeface="Calibri" pitchFamily="34" charset="-122"/>
                <a:cs typeface="Calibri" pitchFamily="34" charset="-120"/>
              </a:rPr>
              <a:t>Tikal, Palenque, Chichen Itza home to tens of thousands of people</a:t>
            </a:r>
            <a:endParaRPr lang="en-US" sz="950" dirty="0"/>
          </a:p>
        </p:txBody>
      </p:sp>
      <p:sp>
        <p:nvSpPr>
          <p:cNvPr id="16" name="Text 14"/>
          <p:cNvSpPr/>
          <p:nvPr/>
        </p:nvSpPr>
        <p:spPr>
          <a:xfrm>
            <a:off x="5212080" y="2386584"/>
            <a:ext cx="3429000" cy="201168"/>
          </a:xfrm>
          <a:prstGeom prst="rect">
            <a:avLst/>
          </a:prstGeom>
          <a:noFill/>
          <a:ln/>
        </p:spPr>
        <p:txBody>
          <a:bodyPr wrap="square" lIns="0" tIns="0" rIns="0" bIns="0" rtlCol="0" anchor="ctr"/>
          <a:lstStyle/>
          <a:p>
            <a:pPr indent="0" marL="0">
              <a:buNone/>
            </a:pPr>
            <a:r>
              <a:rPr lang="en-US" sz="1050" b="1" dirty="0">
                <a:solidFill>
                  <a:srgbClr val="0E1C42"/>
                </a:solidFill>
                <a:latin typeface="Calibri" pitchFamily="34" charset="0"/>
                <a:ea typeface="Calibri" pitchFamily="34" charset="-122"/>
                <a:cs typeface="Calibri" pitchFamily="34" charset="-120"/>
              </a:rPr>
              <a:t>Ball courts &amp; plazas</a:t>
            </a:r>
            <a:endParaRPr lang="en-US" sz="1050" dirty="0"/>
          </a:p>
        </p:txBody>
      </p:sp>
      <p:sp>
        <p:nvSpPr>
          <p:cNvPr id="17" name="Text 15"/>
          <p:cNvSpPr/>
          <p:nvPr/>
        </p:nvSpPr>
        <p:spPr>
          <a:xfrm>
            <a:off x="5212080" y="2596896"/>
            <a:ext cx="3429000" cy="201168"/>
          </a:xfrm>
          <a:prstGeom prst="rect">
            <a:avLst/>
          </a:prstGeom>
          <a:noFill/>
          <a:ln/>
        </p:spPr>
        <p:txBody>
          <a:bodyPr wrap="square" lIns="0" tIns="0" rIns="0" bIns="0" rtlCol="0" anchor="ctr"/>
          <a:lstStyle/>
          <a:p>
            <a:pPr indent="0" marL="0">
              <a:buNone/>
            </a:pPr>
            <a:r>
              <a:rPr lang="en-US" sz="950" i="1" dirty="0">
                <a:solidFill>
                  <a:srgbClr val="7A88A8"/>
                </a:solidFill>
                <a:latin typeface="Calibri" pitchFamily="34" charset="0"/>
                <a:ea typeface="Calibri" pitchFamily="34" charset="-122"/>
                <a:cs typeface="Calibri" pitchFamily="34" charset="-120"/>
              </a:rPr>
              <a:t>Evidence of organized community life and cultural events</a:t>
            </a:r>
            <a:endParaRPr lang="en-US" sz="950" dirty="0"/>
          </a:p>
        </p:txBody>
      </p:sp>
      <p:sp>
        <p:nvSpPr>
          <p:cNvPr id="18" name="Shape 16"/>
          <p:cNvSpPr/>
          <p:nvPr/>
        </p:nvSpPr>
        <p:spPr>
          <a:xfrm>
            <a:off x="274320" y="3703320"/>
            <a:ext cx="5943600" cy="1188720"/>
          </a:xfrm>
          <a:prstGeom prst="roundRect">
            <a:avLst>
              <a:gd name="adj" fmla="val 9231"/>
            </a:avLst>
          </a:prstGeom>
          <a:solidFill>
            <a:srgbClr val="1A2D5A"/>
          </a:solidFill>
          <a:ln w="12700">
            <a:solidFill>
              <a:srgbClr val="2A4070"/>
            </a:solidFill>
            <a:prstDash val="solid"/>
          </a:ln>
        </p:spPr>
      </p:sp>
      <p:sp>
        <p:nvSpPr>
          <p:cNvPr id="19" name="Text 17"/>
          <p:cNvSpPr/>
          <p:nvPr/>
        </p:nvSpPr>
        <p:spPr>
          <a:xfrm>
            <a:off x="411480" y="3758184"/>
            <a:ext cx="5669280" cy="201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20" name="Text 18"/>
          <p:cNvSpPr/>
          <p:nvPr/>
        </p:nvSpPr>
        <p:spPr>
          <a:xfrm>
            <a:off x="457200" y="4023360"/>
            <a:ext cx="5577840" cy="777240"/>
          </a:xfrm>
          <a:prstGeom prst="rect">
            <a:avLst/>
          </a:prstGeom>
          <a:noFill/>
          <a:ln/>
        </p:spPr>
        <p:txBody>
          <a:bodyPr wrap="square" lIns="0" tIns="0" rIns="0" bIns="0" rtlCol="0" anchor="t"/>
          <a:lstStyle/>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 does the size and design of this structure suggest about the people who built it?</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If a pyramid was also an observatory — what does that tell us about the Maya beyond just building skills?</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Can you build a city this complex with only ONE achievement? Why or why not?</a:t>
            </a:r>
            <a:endParaRPr lang="en-US" sz="1100" dirty="0"/>
          </a:p>
        </p:txBody>
      </p:sp>
      <p:sp>
        <p:nvSpPr>
          <p:cNvPr id="21" name="Shape 19"/>
          <p:cNvSpPr/>
          <p:nvPr/>
        </p:nvSpPr>
        <p:spPr>
          <a:xfrm>
            <a:off x="6217920" y="3703320"/>
            <a:ext cx="2606040" cy="1188720"/>
          </a:xfrm>
          <a:prstGeom prst="roundRect">
            <a:avLst>
              <a:gd name="adj" fmla="val 9231"/>
            </a:avLst>
          </a:prstGeom>
          <a:solidFill>
            <a:srgbClr val="FFF3DC"/>
          </a:solidFill>
          <a:ln w="19050">
            <a:solidFill>
              <a:srgbClr val="F5E6C8"/>
            </a:solidFill>
            <a:prstDash val="solid"/>
          </a:ln>
        </p:spPr>
      </p:sp>
      <p:sp>
        <p:nvSpPr>
          <p:cNvPr id="22" name="Text 20"/>
          <p:cNvSpPr/>
          <p:nvPr/>
        </p:nvSpPr>
        <p:spPr>
          <a:xfrm>
            <a:off x="6355080" y="3758184"/>
            <a:ext cx="233172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23" name="Text 21"/>
          <p:cNvSpPr/>
          <p:nvPr/>
        </p:nvSpPr>
        <p:spPr>
          <a:xfrm>
            <a:off x="6355080" y="3959352"/>
            <a:ext cx="2331720" cy="8686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"This structure shows me that the Maya must have known how to..."</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"To build something this large, you would need to understand..."</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0" y="0"/>
            <a:ext cx="9144000" cy="594360"/>
          </a:xfrm>
          <a:prstGeom prst="rect">
            <a:avLst/>
          </a:prstGeom>
          <a:solidFill>
            <a:srgbClr val="D4943A">
              <a:alpha val="90000"/>
            </a:srgbClr>
          </a:solidFill>
          <a:ln/>
        </p:spPr>
      </p:sp>
      <p:sp>
        <p:nvSpPr>
          <p:cNvPr id="6" name="Text 3"/>
          <p:cNvSpPr/>
          <p:nvPr/>
        </p:nvSpPr>
        <p:spPr>
          <a:xfrm>
            <a:off x="274320" y="137160"/>
            <a:ext cx="8595360" cy="347472"/>
          </a:xfrm>
          <a:prstGeom prst="rect">
            <a:avLst/>
          </a:prstGeom>
          <a:noFill/>
          <a:ln/>
        </p:spPr>
        <p:txBody>
          <a:bodyPr wrap="square" lIns="0" tIns="0" rIns="0" bIns="0" rtlCol="0" anchor="ctr"/>
          <a:lstStyle/>
          <a:p>
            <a:pPr indent="0" marL="0">
              <a:buNone/>
            </a:pPr>
            <a:r>
              <a:rPr lang="en-US" sz="1300" b="1" spc="200" kern="0" dirty="0">
                <a:solidFill>
                  <a:srgbClr val="0E1C42"/>
                </a:solidFill>
                <a:latin typeface="Cambria" pitchFamily="34" charset="0"/>
                <a:ea typeface="Cambria" pitchFamily="34" charset="-122"/>
                <a:cs typeface="Cambria" pitchFamily="34" charset="-120"/>
              </a:rPr>
              <a:t>REVEAL: WHAT THE PYRAMIDS TELL US</a:t>
            </a:r>
            <a:endParaRPr lang="en-US" sz="1300" dirty="0"/>
          </a:p>
        </p:txBody>
      </p:sp>
      <p:sp>
        <p:nvSpPr>
          <p:cNvPr id="7" name="Shape 4"/>
          <p:cNvSpPr/>
          <p:nvPr/>
        </p:nvSpPr>
        <p:spPr>
          <a:xfrm>
            <a:off x="365760" y="777240"/>
            <a:ext cx="4023360" cy="3977640"/>
          </a:xfrm>
          <a:prstGeom prst="roundRect">
            <a:avLst>
              <a:gd name="adj" fmla="val 3448"/>
            </a:avLst>
          </a:prstGeom>
          <a:solidFill>
            <a:srgbClr val="1A2D5A">
              <a:alpha val="90000"/>
            </a:srgbClr>
          </a:solidFill>
          <a:ln w="19050">
            <a:solidFill>
              <a:srgbClr val="D4943A"/>
            </a:solidFill>
            <a:prstDash val="solid"/>
          </a:ln>
        </p:spPr>
      </p:sp>
      <p:sp>
        <p:nvSpPr>
          <p:cNvPr id="8" name="Text 5"/>
          <p:cNvSpPr/>
          <p:nvPr/>
        </p:nvSpPr>
        <p:spPr>
          <a:xfrm>
            <a:off x="548640" y="886968"/>
            <a:ext cx="3657600" cy="320040"/>
          </a:xfrm>
          <a:prstGeom prst="rect">
            <a:avLst/>
          </a:prstGeom>
          <a:noFill/>
          <a:ln/>
        </p:spPr>
        <p:txBody>
          <a:bodyPr wrap="square" lIns="0" tIns="0" rIns="0" bIns="0" rtlCol="0" anchor="ctr"/>
          <a:lstStyle/>
          <a:p>
            <a:pPr indent="0" marL="0">
              <a:buNone/>
            </a:pPr>
            <a:r>
              <a:rPr lang="en-US" sz="1400" b="1" dirty="0">
                <a:solidFill>
                  <a:srgbClr val="D4943A"/>
                </a:solidFill>
                <a:latin typeface="Cambria" pitchFamily="34" charset="0"/>
                <a:ea typeface="Cambria" pitchFamily="34" charset="-122"/>
                <a:cs typeface="Cambria" pitchFamily="34" charset="-120"/>
              </a:rPr>
              <a:t>The Evidence Says...</a:t>
            </a:r>
            <a:endParaRPr lang="en-US" sz="1400" dirty="0"/>
          </a:p>
        </p:txBody>
      </p:sp>
      <p:sp>
        <p:nvSpPr>
          <p:cNvPr id="9" name="Shape 6"/>
          <p:cNvSpPr/>
          <p:nvPr/>
        </p:nvSpPr>
        <p:spPr>
          <a:xfrm>
            <a:off x="548640" y="1261872"/>
            <a:ext cx="3474720" cy="621792"/>
          </a:xfrm>
          <a:prstGeom prst="roundRect">
            <a:avLst>
              <a:gd name="adj" fmla="val 11765"/>
            </a:avLst>
          </a:prstGeom>
          <a:solidFill>
            <a:srgbClr val="0E1C42">
              <a:alpha val="80000"/>
            </a:srgbClr>
          </a:solidFill>
          <a:ln w="12700">
            <a:solidFill>
              <a:srgbClr val="2A4070"/>
            </a:solidFill>
            <a:prstDash val="solid"/>
          </a:ln>
        </p:spPr>
      </p:sp>
      <p:sp>
        <p:nvSpPr>
          <p:cNvPr id="10" name="Text 7"/>
          <p:cNvSpPr/>
          <p:nvPr/>
        </p:nvSpPr>
        <p:spPr>
          <a:xfrm>
            <a:off x="685800" y="1307592"/>
            <a:ext cx="3200400" cy="219456"/>
          </a:xfrm>
          <a:prstGeom prst="rect">
            <a:avLst/>
          </a:prstGeom>
          <a:noFill/>
          <a:ln/>
        </p:spPr>
        <p:txBody>
          <a:bodyPr wrap="square" lIns="0" tIns="0" rIns="0" bIns="0" rtlCol="0" anchor="ctr"/>
          <a:lstStyle/>
          <a:p>
            <a:pPr indent="0" marL="0">
              <a:buNone/>
            </a:pPr>
            <a:r>
              <a:rPr lang="en-US" sz="1050" b="1" dirty="0">
                <a:solidFill>
                  <a:srgbClr val="55C8E8"/>
                </a:solidFill>
                <a:latin typeface="Calibri" pitchFamily="34" charset="0"/>
                <a:ea typeface="Calibri" pitchFamily="34" charset="-122"/>
                <a:cs typeface="Calibri" pitchFamily="34" charset="-120"/>
              </a:rPr>
              <a:t>Advanced engineering</a:t>
            </a:r>
            <a:endParaRPr lang="en-US" sz="1050" dirty="0"/>
          </a:p>
        </p:txBody>
      </p:sp>
      <p:sp>
        <p:nvSpPr>
          <p:cNvPr id="11" name="Text 8"/>
          <p:cNvSpPr/>
          <p:nvPr/>
        </p:nvSpPr>
        <p:spPr>
          <a:xfrm>
            <a:off x="685800" y="1536192"/>
            <a:ext cx="3200400" cy="274320"/>
          </a:xfrm>
          <a:prstGeom prst="rect">
            <a:avLst/>
          </a:prstGeom>
          <a:noFill/>
          <a:ln/>
        </p:spPr>
        <p:txBody>
          <a:bodyPr wrap="square" lIns="0" tIns="0" rIns="0" bIns="0" rtlCol="0" anchor="ctr"/>
          <a:lstStyle/>
          <a:p>
            <a:pPr indent="0" marL="0">
              <a:buNone/>
            </a:pPr>
            <a:r>
              <a:rPr lang="en-US" sz="1000" i="1" dirty="0">
                <a:solidFill>
                  <a:srgbClr val="D6F2FB"/>
                </a:solidFill>
                <a:latin typeface="Calibri" pitchFamily="34" charset="0"/>
                <a:ea typeface="Calibri" pitchFamily="34" charset="-122"/>
                <a:cs typeface="Calibri" pitchFamily="34" charset="-120"/>
              </a:rPr>
              <a:t>Pyramids over 150 ft required math, planning, and teamwork — not just labor.</a:t>
            </a:r>
            <a:endParaRPr lang="en-US" sz="1000" dirty="0"/>
          </a:p>
        </p:txBody>
      </p:sp>
      <p:sp>
        <p:nvSpPr>
          <p:cNvPr id="12" name="Shape 9"/>
          <p:cNvSpPr/>
          <p:nvPr/>
        </p:nvSpPr>
        <p:spPr>
          <a:xfrm>
            <a:off x="548640" y="1975104"/>
            <a:ext cx="3474720" cy="621792"/>
          </a:xfrm>
          <a:prstGeom prst="roundRect">
            <a:avLst>
              <a:gd name="adj" fmla="val 11765"/>
            </a:avLst>
          </a:prstGeom>
          <a:solidFill>
            <a:srgbClr val="0E1C42">
              <a:alpha val="80000"/>
            </a:srgbClr>
          </a:solidFill>
          <a:ln w="12700">
            <a:solidFill>
              <a:srgbClr val="2A4070"/>
            </a:solidFill>
            <a:prstDash val="solid"/>
          </a:ln>
        </p:spPr>
      </p:sp>
      <p:sp>
        <p:nvSpPr>
          <p:cNvPr id="13" name="Text 10"/>
          <p:cNvSpPr/>
          <p:nvPr/>
        </p:nvSpPr>
        <p:spPr>
          <a:xfrm>
            <a:off x="685800" y="2020824"/>
            <a:ext cx="3200400" cy="219456"/>
          </a:xfrm>
          <a:prstGeom prst="rect">
            <a:avLst/>
          </a:prstGeom>
          <a:noFill/>
          <a:ln/>
        </p:spPr>
        <p:txBody>
          <a:bodyPr wrap="square" lIns="0" tIns="0" rIns="0" bIns="0" rtlCol="0" anchor="ctr"/>
          <a:lstStyle/>
          <a:p>
            <a:pPr indent="0" marL="0">
              <a:buNone/>
            </a:pPr>
            <a:r>
              <a:rPr lang="en-US" sz="1050" b="1" dirty="0">
                <a:solidFill>
                  <a:srgbClr val="55C8E8"/>
                </a:solidFill>
                <a:latin typeface="Calibri" pitchFamily="34" charset="0"/>
                <a:ea typeface="Calibri" pitchFamily="34" charset="-122"/>
                <a:cs typeface="Calibri" pitchFamily="34" charset="-120"/>
              </a:rPr>
              <a:t>Multi-purpose design</a:t>
            </a:r>
            <a:endParaRPr lang="en-US" sz="1050" dirty="0"/>
          </a:p>
        </p:txBody>
      </p:sp>
      <p:sp>
        <p:nvSpPr>
          <p:cNvPr id="14" name="Text 11"/>
          <p:cNvSpPr/>
          <p:nvPr/>
        </p:nvSpPr>
        <p:spPr>
          <a:xfrm>
            <a:off x="685800" y="2249424"/>
            <a:ext cx="3200400" cy="274320"/>
          </a:xfrm>
          <a:prstGeom prst="rect">
            <a:avLst/>
          </a:prstGeom>
          <a:noFill/>
          <a:ln/>
        </p:spPr>
        <p:txBody>
          <a:bodyPr wrap="square" lIns="0" tIns="0" rIns="0" bIns="0" rtlCol="0" anchor="ctr"/>
          <a:lstStyle/>
          <a:p>
            <a:pPr indent="0" marL="0">
              <a:buNone/>
            </a:pPr>
            <a:r>
              <a:rPr lang="en-US" sz="1000" i="1" dirty="0">
                <a:solidFill>
                  <a:srgbClr val="D6F2FB"/>
                </a:solidFill>
                <a:latin typeface="Calibri" pitchFamily="34" charset="0"/>
                <a:ea typeface="Calibri" pitchFamily="34" charset="-122"/>
                <a:cs typeface="Calibri" pitchFamily="34" charset="-120"/>
              </a:rPr>
              <a:t>Temples + observatories + government centers = a society with specialized roles.</a:t>
            </a:r>
            <a:endParaRPr lang="en-US" sz="1000" dirty="0"/>
          </a:p>
        </p:txBody>
      </p:sp>
      <p:sp>
        <p:nvSpPr>
          <p:cNvPr id="15" name="Shape 12"/>
          <p:cNvSpPr/>
          <p:nvPr/>
        </p:nvSpPr>
        <p:spPr>
          <a:xfrm>
            <a:off x="548640" y="2688336"/>
            <a:ext cx="3474720" cy="621792"/>
          </a:xfrm>
          <a:prstGeom prst="roundRect">
            <a:avLst>
              <a:gd name="adj" fmla="val 11765"/>
            </a:avLst>
          </a:prstGeom>
          <a:solidFill>
            <a:srgbClr val="0E1C42">
              <a:alpha val="80000"/>
            </a:srgbClr>
          </a:solidFill>
          <a:ln w="12700">
            <a:solidFill>
              <a:srgbClr val="2A4070"/>
            </a:solidFill>
            <a:prstDash val="solid"/>
          </a:ln>
        </p:spPr>
      </p:sp>
      <p:sp>
        <p:nvSpPr>
          <p:cNvPr id="16" name="Text 13"/>
          <p:cNvSpPr/>
          <p:nvPr/>
        </p:nvSpPr>
        <p:spPr>
          <a:xfrm>
            <a:off x="685800" y="2734056"/>
            <a:ext cx="3200400" cy="219456"/>
          </a:xfrm>
          <a:prstGeom prst="rect">
            <a:avLst/>
          </a:prstGeom>
          <a:noFill/>
          <a:ln/>
        </p:spPr>
        <p:txBody>
          <a:bodyPr wrap="square" lIns="0" tIns="0" rIns="0" bIns="0" rtlCol="0" anchor="ctr"/>
          <a:lstStyle/>
          <a:p>
            <a:pPr indent="0" marL="0">
              <a:buNone/>
            </a:pPr>
            <a:r>
              <a:rPr lang="en-US" sz="1050" b="1" dirty="0">
                <a:solidFill>
                  <a:srgbClr val="55C8E8"/>
                </a:solidFill>
                <a:latin typeface="Calibri" pitchFamily="34" charset="0"/>
                <a:ea typeface="Calibri" pitchFamily="34" charset="-122"/>
                <a:cs typeface="Calibri" pitchFamily="34" charset="-120"/>
              </a:rPr>
              <a:t>Urban civilization</a:t>
            </a:r>
            <a:endParaRPr lang="en-US" sz="1050" dirty="0"/>
          </a:p>
        </p:txBody>
      </p:sp>
      <p:sp>
        <p:nvSpPr>
          <p:cNvPr id="17" name="Text 14"/>
          <p:cNvSpPr/>
          <p:nvPr/>
        </p:nvSpPr>
        <p:spPr>
          <a:xfrm>
            <a:off x="685800" y="2962656"/>
            <a:ext cx="3200400" cy="274320"/>
          </a:xfrm>
          <a:prstGeom prst="rect">
            <a:avLst/>
          </a:prstGeom>
          <a:noFill/>
          <a:ln/>
        </p:spPr>
        <p:txBody>
          <a:bodyPr wrap="square" lIns="0" tIns="0" rIns="0" bIns="0" rtlCol="0" anchor="ctr"/>
          <a:lstStyle/>
          <a:p>
            <a:pPr indent="0" marL="0">
              <a:buNone/>
            </a:pPr>
            <a:r>
              <a:rPr lang="en-US" sz="1000" i="1" dirty="0">
                <a:solidFill>
                  <a:srgbClr val="D6F2FB"/>
                </a:solidFill>
                <a:latin typeface="Calibri" pitchFamily="34" charset="0"/>
                <a:ea typeface="Calibri" pitchFamily="34" charset="-122"/>
                <a:cs typeface="Calibri" pitchFamily="34" charset="-120"/>
              </a:rPr>
              <a:t>Tens of thousands of people lived in Maya cities — organized, not scattered.</a:t>
            </a:r>
            <a:endParaRPr lang="en-US" sz="1000" dirty="0"/>
          </a:p>
        </p:txBody>
      </p:sp>
      <p:sp>
        <p:nvSpPr>
          <p:cNvPr id="18" name="Shape 15"/>
          <p:cNvSpPr/>
          <p:nvPr/>
        </p:nvSpPr>
        <p:spPr>
          <a:xfrm>
            <a:off x="548640" y="3401568"/>
            <a:ext cx="3474720" cy="621792"/>
          </a:xfrm>
          <a:prstGeom prst="roundRect">
            <a:avLst>
              <a:gd name="adj" fmla="val 11765"/>
            </a:avLst>
          </a:prstGeom>
          <a:solidFill>
            <a:srgbClr val="0E1C42">
              <a:alpha val="80000"/>
            </a:srgbClr>
          </a:solidFill>
          <a:ln w="12700">
            <a:solidFill>
              <a:srgbClr val="2A4070"/>
            </a:solidFill>
            <a:prstDash val="solid"/>
          </a:ln>
        </p:spPr>
      </p:sp>
      <p:sp>
        <p:nvSpPr>
          <p:cNvPr id="19" name="Text 16"/>
          <p:cNvSpPr/>
          <p:nvPr/>
        </p:nvSpPr>
        <p:spPr>
          <a:xfrm>
            <a:off x="685800" y="3447288"/>
            <a:ext cx="3200400" cy="219456"/>
          </a:xfrm>
          <a:prstGeom prst="rect">
            <a:avLst/>
          </a:prstGeom>
          <a:noFill/>
          <a:ln/>
        </p:spPr>
        <p:txBody>
          <a:bodyPr wrap="square" lIns="0" tIns="0" rIns="0" bIns="0" rtlCol="0" anchor="ctr"/>
          <a:lstStyle/>
          <a:p>
            <a:pPr indent="0" marL="0">
              <a:buNone/>
            </a:pPr>
            <a:r>
              <a:rPr lang="en-US" sz="1050" b="1" dirty="0">
                <a:solidFill>
                  <a:srgbClr val="55C8E8"/>
                </a:solidFill>
                <a:latin typeface="Calibri" pitchFamily="34" charset="0"/>
                <a:ea typeface="Calibri" pitchFamily="34" charset="-122"/>
                <a:cs typeface="Calibri" pitchFamily="34" charset="-120"/>
              </a:rPr>
              <a:t>Long-term vision</a:t>
            </a:r>
            <a:endParaRPr lang="en-US" sz="1050" dirty="0"/>
          </a:p>
        </p:txBody>
      </p:sp>
      <p:sp>
        <p:nvSpPr>
          <p:cNvPr id="20" name="Text 17"/>
          <p:cNvSpPr/>
          <p:nvPr/>
        </p:nvSpPr>
        <p:spPr>
          <a:xfrm>
            <a:off x="685800" y="3675888"/>
            <a:ext cx="3200400" cy="274320"/>
          </a:xfrm>
          <a:prstGeom prst="rect">
            <a:avLst/>
          </a:prstGeom>
          <a:noFill/>
          <a:ln/>
        </p:spPr>
        <p:txBody>
          <a:bodyPr wrap="square" lIns="0" tIns="0" rIns="0" bIns="0" rtlCol="0" anchor="ctr"/>
          <a:lstStyle/>
          <a:p>
            <a:pPr indent="0" marL="0">
              <a:buNone/>
            </a:pPr>
            <a:r>
              <a:rPr lang="en-US" sz="1000" i="1" dirty="0">
                <a:solidFill>
                  <a:srgbClr val="D6F2FB"/>
                </a:solidFill>
                <a:latin typeface="Calibri" pitchFamily="34" charset="0"/>
                <a:ea typeface="Calibri" pitchFamily="34" charset="-122"/>
                <a:cs typeface="Calibri" pitchFamily="34" charset="-120"/>
              </a:rPr>
              <a:t>Building across centuries required stable leadership and shared knowledge.</a:t>
            </a:r>
            <a:endParaRPr lang="en-US" sz="1000" dirty="0"/>
          </a:p>
        </p:txBody>
      </p:sp>
      <p:sp>
        <p:nvSpPr>
          <p:cNvPr id="21" name="Shape 18"/>
          <p:cNvSpPr/>
          <p:nvPr/>
        </p:nvSpPr>
        <p:spPr>
          <a:xfrm>
            <a:off x="4572000" y="777240"/>
            <a:ext cx="4251960" cy="2286000"/>
          </a:xfrm>
          <a:prstGeom prst="roundRect">
            <a:avLst>
              <a:gd name="adj" fmla="val 6000"/>
            </a:avLst>
          </a:prstGeom>
          <a:solidFill>
            <a:srgbClr val="D4943A">
              <a:alpha val="85000"/>
            </a:srgbClr>
          </a:solidFill>
          <a:ln w="19050">
            <a:solidFill>
              <a:srgbClr val="D4943A"/>
            </a:solidFill>
            <a:prstDash val="solid"/>
          </a:ln>
        </p:spPr>
      </p:sp>
      <p:sp>
        <p:nvSpPr>
          <p:cNvPr id="22" name="Text 19"/>
          <p:cNvSpPr/>
          <p:nvPr/>
        </p:nvSpPr>
        <p:spPr>
          <a:xfrm>
            <a:off x="4754880" y="886968"/>
            <a:ext cx="3886200" cy="32004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The Big Idea</a:t>
            </a:r>
            <a:endParaRPr lang="en-US" sz="1600" dirty="0"/>
          </a:p>
        </p:txBody>
      </p:sp>
      <p:sp>
        <p:nvSpPr>
          <p:cNvPr id="23" name="Text 20"/>
          <p:cNvSpPr/>
          <p:nvPr/>
        </p:nvSpPr>
        <p:spPr>
          <a:xfrm>
            <a:off x="4754880" y="1261872"/>
            <a:ext cx="3886200" cy="1554480"/>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A society that built cities with pyramids, observatories, palaces, and ball courts was NOT a one-achievement civilization. The pyramids alone point to engineering, astronomy, government, religion, and art — all working together.</a:t>
            </a:r>
            <a:endParaRPr lang="en-US" sz="1200" dirty="0"/>
          </a:p>
        </p:txBody>
      </p:sp>
      <p:sp>
        <p:nvSpPr>
          <p:cNvPr id="24" name="Shape 21"/>
          <p:cNvSpPr/>
          <p:nvPr/>
        </p:nvSpPr>
        <p:spPr>
          <a:xfrm>
            <a:off x="4572000" y="3200400"/>
            <a:ext cx="4251960" cy="1554480"/>
          </a:xfrm>
          <a:prstGeom prst="roundRect">
            <a:avLst>
              <a:gd name="adj" fmla="val 7059"/>
            </a:avLst>
          </a:prstGeom>
          <a:solidFill>
            <a:srgbClr val="0E1C42">
              <a:alpha val="75000"/>
            </a:srgbClr>
          </a:solidFill>
          <a:ln w="12700">
            <a:solidFill>
              <a:srgbClr val="55C8E8"/>
            </a:solidFill>
            <a:prstDash val="solid"/>
          </a:ln>
        </p:spPr>
      </p:sp>
      <p:sp>
        <p:nvSpPr>
          <p:cNvPr id="25" name="Text 22"/>
          <p:cNvSpPr/>
          <p:nvPr/>
        </p:nvSpPr>
        <p:spPr>
          <a:xfrm>
            <a:off x="4754880" y="3291840"/>
            <a:ext cx="3886200" cy="228600"/>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GAZETTE vs. HERALD</a:t>
            </a:r>
            <a:endParaRPr lang="en-US" sz="900" dirty="0"/>
          </a:p>
        </p:txBody>
      </p:sp>
      <p:sp>
        <p:nvSpPr>
          <p:cNvPr id="26" name="Text 23"/>
          <p:cNvSpPr/>
          <p:nvPr/>
        </p:nvSpPr>
        <p:spPr>
          <a:xfrm>
            <a:off x="4754880" y="3566160"/>
            <a:ext cx="3886200" cy="256032"/>
          </a:xfrm>
          <a:prstGeom prst="rect">
            <a:avLst/>
          </a:prstGeom>
          <a:noFill/>
          <a:ln/>
        </p:spPr>
        <p:txBody>
          <a:bodyPr wrap="square" lIns="0" tIns="0" rIns="0" bIns="0" rtlCol="0" anchor="ctr"/>
          <a:lstStyle/>
          <a:p>
            <a:pPr indent="0" marL="0">
              <a:buNone/>
            </a:pPr>
            <a:r>
              <a:rPr lang="en-US" sz="1050" i="1" dirty="0">
                <a:solidFill>
                  <a:srgbClr val="E8636B"/>
                </a:solidFill>
                <a:latin typeface="Calibri" pitchFamily="34" charset="0"/>
                <a:ea typeface="Calibri" pitchFamily="34" charset="-122"/>
                <a:cs typeface="Calibri" pitchFamily="34" charset="-120"/>
              </a:rPr>
              <a:t>Herald says: "Famous for one thing."</a:t>
            </a:r>
            <a:endParaRPr lang="en-US" sz="1050" dirty="0"/>
          </a:p>
        </p:txBody>
      </p:sp>
      <p:sp>
        <p:nvSpPr>
          <p:cNvPr id="27" name="Text 24"/>
          <p:cNvSpPr/>
          <p:nvPr/>
        </p:nvSpPr>
        <p:spPr>
          <a:xfrm>
            <a:off x="4754880" y="3858768"/>
            <a:ext cx="3886200" cy="320040"/>
          </a:xfrm>
          <a:prstGeom prst="rect">
            <a:avLst/>
          </a:prstGeom>
          <a:noFill/>
          <a:ln/>
        </p:spPr>
        <p:txBody>
          <a:bodyPr wrap="square" lIns="0" tIns="0" rIns="0" bIns="0" rtlCol="0" anchor="ctr"/>
          <a:lstStyle/>
          <a:p>
            <a:pPr indent="0" marL="0">
              <a:buNone/>
            </a:pPr>
            <a:r>
              <a:rPr lang="en-US" sz="1050" b="1" dirty="0">
                <a:solidFill>
                  <a:srgbClr val="34B76F"/>
                </a:solidFill>
                <a:latin typeface="Calibri" pitchFamily="34" charset="0"/>
                <a:ea typeface="Calibri" pitchFamily="34" charset="-122"/>
                <a:cs typeface="Calibri" pitchFamily="34" charset="-120"/>
              </a:rPr>
              <a:t>Gazette finds: Architecture alone points to MULTIPLE achievements.</a:t>
            </a:r>
            <a:endParaRPr lang="en-US" sz="1050" dirty="0"/>
          </a:p>
        </p:txBody>
      </p:sp>
      <p:sp>
        <p:nvSpPr>
          <p:cNvPr id="28" name="Text 25"/>
          <p:cNvSpPr/>
          <p:nvPr/>
        </p:nvSpPr>
        <p:spPr>
          <a:xfrm>
            <a:off x="4754880" y="4224528"/>
            <a:ext cx="3886200" cy="256032"/>
          </a:xfrm>
          <a:prstGeom prst="rect">
            <a:avLst/>
          </a:prstGeom>
          <a:noFill/>
          <a:ln/>
        </p:spPr>
        <p:txBody>
          <a:bodyPr wrap="square" lIns="0" tIns="0" rIns="0" bIns="0" rtlCol="0" anchor="ctr"/>
          <a:lstStyle/>
          <a:p>
            <a:pPr indent="0" marL="0">
              <a:buNone/>
            </a:pPr>
            <a:r>
              <a:rPr lang="en-US" sz="1000" i="1" dirty="0">
                <a:solidFill>
                  <a:srgbClr val="D4943A"/>
                </a:solidFill>
                <a:latin typeface="Calibri" pitchFamily="34" charset="0"/>
                <a:ea typeface="Calibri" pitchFamily="34" charset="-122"/>
                <a:cs typeface="Calibri" pitchFamily="34" charset="-120"/>
              </a:rPr>
              <a:t>But we're not done investigating...</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594360"/>
          </a:xfrm>
          <a:prstGeom prst="rect">
            <a:avLst/>
          </a:prstGeom>
          <a:solidFill>
            <a:srgbClr val="1A8A7D"/>
          </a:solidFill>
          <a:ln/>
        </p:spPr>
      </p:sp>
      <p:sp>
        <p:nvSpPr>
          <p:cNvPr id="4" name="Text 2"/>
          <p:cNvSpPr/>
          <p:nvPr/>
        </p:nvSpPr>
        <p:spPr>
          <a:xfrm>
            <a:off x="274320" y="137160"/>
            <a:ext cx="8595360" cy="347472"/>
          </a:xfrm>
          <a:prstGeom prst="rect">
            <a:avLst/>
          </a:prstGeom>
          <a:noFill/>
          <a:ln/>
        </p:spPr>
        <p:txBody>
          <a:bodyPr wrap="square" lIns="0" tIns="0" rIns="0" bIns="0" rtlCol="0" anchor="ctr"/>
          <a:lstStyle/>
          <a:p>
            <a:pPr indent="0" marL="0">
              <a:buNone/>
            </a:pPr>
            <a:r>
              <a:rPr lang="en-US" sz="1300" b="1" spc="150" kern="0" dirty="0">
                <a:solidFill>
                  <a:srgbClr val="FFFFFF"/>
                </a:solidFill>
                <a:latin typeface="Cambria" pitchFamily="34" charset="0"/>
                <a:ea typeface="Cambria" pitchFamily="34" charset="-122"/>
                <a:cs typeface="Cambria" pitchFamily="34" charset="-120"/>
              </a:rPr>
              <a:t>CLUE BOX: WRITING SYSTEM</a:t>
            </a:r>
            <a:endParaRPr lang="en-US" sz="1300" dirty="0"/>
          </a:p>
        </p:txBody>
      </p:sp>
      <p:sp>
        <p:nvSpPr>
          <p:cNvPr id="5" name="Shape 3"/>
          <p:cNvSpPr/>
          <p:nvPr/>
        </p:nvSpPr>
        <p:spPr>
          <a:xfrm>
            <a:off x="274320" y="731520"/>
            <a:ext cx="3200400" cy="2651760"/>
          </a:xfrm>
          <a:prstGeom prst="roundRect">
            <a:avLst>
              <a:gd name="adj" fmla="val 4138"/>
            </a:avLst>
          </a:prstGeom>
          <a:solidFill>
            <a:srgbClr val="E2E8F4"/>
          </a:solidFill>
          <a:ln w="19050">
            <a:solidFill>
              <a:srgbClr val="B0B8CC"/>
            </a:solidFill>
            <a:prstDash val="dash"/>
          </a:ln>
        </p:spPr>
      </p:sp>
      <p:sp>
        <p:nvSpPr>
          <p:cNvPr id="6" name="Text 4"/>
          <p:cNvSpPr/>
          <p:nvPr/>
        </p:nvSpPr>
        <p:spPr>
          <a:xfrm>
            <a:off x="274320" y="731520"/>
            <a:ext cx="32004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411480" y="1005840"/>
            <a:ext cx="2926080" cy="22860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Close-up photograph of Maya hieroglyphs carved into stone — a stela or temple wall showing the complexity of the glyph system</a:t>
            </a:r>
            <a:endParaRPr lang="en-US" sz="1100" dirty="0"/>
          </a:p>
        </p:txBody>
      </p:sp>
      <p:sp>
        <p:nvSpPr>
          <p:cNvPr id="8" name="Shape 6"/>
          <p:cNvSpPr/>
          <p:nvPr/>
        </p:nvSpPr>
        <p:spPr>
          <a:xfrm>
            <a:off x="3611880" y="731520"/>
            <a:ext cx="5212080" cy="2651760"/>
          </a:xfrm>
          <a:prstGeom prst="roundRect">
            <a:avLst>
              <a:gd name="adj" fmla="val 4138"/>
            </a:avLst>
          </a:prstGeom>
          <a:solidFill>
            <a:srgbClr val="FFFFFF"/>
          </a:solidFill>
          <a:ln w="19050">
            <a:solidFill>
              <a:srgbClr val="1A8A7D"/>
            </a:solidFill>
            <a:prstDash val="solid"/>
          </a:ln>
        </p:spPr>
      </p:sp>
      <p:sp>
        <p:nvSpPr>
          <p:cNvPr id="9" name="Text 7"/>
          <p:cNvSpPr/>
          <p:nvPr/>
        </p:nvSpPr>
        <p:spPr>
          <a:xfrm>
            <a:off x="3794760" y="822960"/>
            <a:ext cx="4846320" cy="228600"/>
          </a:xfrm>
          <a:prstGeom prst="rect">
            <a:avLst/>
          </a:prstGeom>
          <a:noFill/>
          <a:ln/>
        </p:spPr>
        <p:txBody>
          <a:bodyPr wrap="square" lIns="0" tIns="0" rIns="0" bIns="0" rtlCol="0" anchor="ctr"/>
          <a:lstStyle/>
          <a:p>
            <a:pPr indent="0" marL="0">
              <a:buNone/>
            </a:pPr>
            <a:r>
              <a:rPr lang="en-US" sz="900" b="1" spc="100" kern="0" dirty="0">
                <a:solidFill>
                  <a:srgbClr val="1A8A7D"/>
                </a:solidFill>
                <a:latin typeface="Calibri" pitchFamily="34" charset="0"/>
                <a:ea typeface="Calibri" pitchFamily="34" charset="-122"/>
                <a:cs typeface="Calibri" pitchFamily="34" charset="-120"/>
              </a:rPr>
              <a:t>WRITING SYSTEM EVIDENCE</a:t>
            </a:r>
            <a:endParaRPr lang="en-US" sz="900" dirty="0"/>
          </a:p>
        </p:txBody>
      </p:sp>
      <p:sp>
        <p:nvSpPr>
          <p:cNvPr id="10" name="Text 8"/>
          <p:cNvSpPr/>
          <p:nvPr/>
        </p:nvSpPr>
        <p:spPr>
          <a:xfrm>
            <a:off x="3794760" y="1115568"/>
            <a:ext cx="4846320" cy="219456"/>
          </a:xfrm>
          <a:prstGeom prst="rect">
            <a:avLst/>
          </a:prstGeom>
          <a:noFill/>
          <a:ln/>
        </p:spPr>
        <p:txBody>
          <a:bodyPr wrap="square" lIns="0" tIns="0" rIns="0" bIns="0" rtlCol="0" anchor="ctr"/>
          <a:lstStyle/>
          <a:p>
            <a:pPr indent="0" marL="0">
              <a:buNone/>
            </a:pPr>
            <a:r>
              <a:rPr lang="en-US" sz="1100" b="1" dirty="0">
                <a:solidFill>
                  <a:srgbClr val="0E1C42"/>
                </a:solidFill>
                <a:latin typeface="Calibri" pitchFamily="34" charset="0"/>
                <a:ea typeface="Calibri" pitchFamily="34" charset="-122"/>
                <a:cs typeface="Calibri" pitchFamily="34" charset="-120"/>
              </a:rPr>
              <a:t>Hieroglyphic writing</a:t>
            </a:r>
            <a:endParaRPr lang="en-US" sz="1100" dirty="0"/>
          </a:p>
        </p:txBody>
      </p:sp>
      <p:sp>
        <p:nvSpPr>
          <p:cNvPr id="11" name="Text 9"/>
          <p:cNvSpPr/>
          <p:nvPr/>
        </p:nvSpPr>
        <p:spPr>
          <a:xfrm>
            <a:off x="3794760" y="1353312"/>
            <a:ext cx="4846320" cy="219456"/>
          </a:xfrm>
          <a:prstGeom prst="rect">
            <a:avLst/>
          </a:prstGeom>
          <a:noFill/>
          <a:ln/>
        </p:spPr>
        <p:txBody>
          <a:bodyPr wrap="square" lIns="0" tIns="0" rIns="0" bIns="0" rtlCol="0" anchor="ctr"/>
          <a:lstStyle/>
          <a:p>
            <a:pPr indent="0" marL="0">
              <a:buNone/>
            </a:pPr>
            <a:r>
              <a:rPr lang="en-US" sz="1000" i="1" dirty="0">
                <a:solidFill>
                  <a:srgbClr val="7A88A8"/>
                </a:solidFill>
                <a:latin typeface="Calibri" pitchFamily="34" charset="0"/>
                <a:ea typeface="Calibri" pitchFamily="34" charset="-122"/>
                <a:cs typeface="Calibri" pitchFamily="34" charset="-120"/>
              </a:rPr>
              <a:t>One of the few complete writing systems in the ancient Americas</a:t>
            </a:r>
            <a:endParaRPr lang="en-US" sz="1000" dirty="0"/>
          </a:p>
        </p:txBody>
      </p:sp>
      <p:sp>
        <p:nvSpPr>
          <p:cNvPr id="12" name="Text 10"/>
          <p:cNvSpPr/>
          <p:nvPr/>
        </p:nvSpPr>
        <p:spPr>
          <a:xfrm>
            <a:off x="3794760" y="1609344"/>
            <a:ext cx="4846320" cy="219456"/>
          </a:xfrm>
          <a:prstGeom prst="rect">
            <a:avLst/>
          </a:prstGeom>
          <a:noFill/>
          <a:ln/>
        </p:spPr>
        <p:txBody>
          <a:bodyPr wrap="square" lIns="0" tIns="0" rIns="0" bIns="0" rtlCol="0" anchor="ctr"/>
          <a:lstStyle/>
          <a:p>
            <a:pPr indent="0" marL="0">
              <a:buNone/>
            </a:pPr>
            <a:r>
              <a:rPr lang="en-US" sz="1100" b="1" dirty="0">
                <a:solidFill>
                  <a:srgbClr val="0E1C42"/>
                </a:solidFill>
                <a:latin typeface="Calibri" pitchFamily="34" charset="0"/>
                <a:ea typeface="Calibri" pitchFamily="34" charset="-122"/>
                <a:cs typeface="Calibri" pitchFamily="34" charset="-120"/>
              </a:rPr>
              <a:t>Materials</a:t>
            </a:r>
            <a:endParaRPr lang="en-US" sz="1100" dirty="0"/>
          </a:p>
        </p:txBody>
      </p:sp>
      <p:sp>
        <p:nvSpPr>
          <p:cNvPr id="13" name="Text 11"/>
          <p:cNvSpPr/>
          <p:nvPr/>
        </p:nvSpPr>
        <p:spPr>
          <a:xfrm>
            <a:off x="3794760" y="1847088"/>
            <a:ext cx="4846320" cy="219456"/>
          </a:xfrm>
          <a:prstGeom prst="rect">
            <a:avLst/>
          </a:prstGeom>
          <a:noFill/>
          <a:ln/>
        </p:spPr>
        <p:txBody>
          <a:bodyPr wrap="square" lIns="0" tIns="0" rIns="0" bIns="0" rtlCol="0" anchor="ctr"/>
          <a:lstStyle/>
          <a:p>
            <a:pPr indent="0" marL="0">
              <a:buNone/>
            </a:pPr>
            <a:r>
              <a:rPr lang="en-US" sz="1000" i="1" dirty="0">
                <a:solidFill>
                  <a:srgbClr val="7A88A8"/>
                </a:solidFill>
                <a:latin typeface="Calibri" pitchFamily="34" charset="0"/>
                <a:ea typeface="Calibri" pitchFamily="34" charset="-122"/>
                <a:cs typeface="Calibri" pitchFamily="34" charset="-120"/>
              </a:rPr>
              <a:t>Carved into stone, painted on pottery, written in bark-paper books (codices)</a:t>
            </a:r>
            <a:endParaRPr lang="en-US" sz="1000" dirty="0"/>
          </a:p>
        </p:txBody>
      </p:sp>
      <p:sp>
        <p:nvSpPr>
          <p:cNvPr id="14" name="Text 12"/>
          <p:cNvSpPr/>
          <p:nvPr/>
        </p:nvSpPr>
        <p:spPr>
          <a:xfrm>
            <a:off x="3794760" y="2103120"/>
            <a:ext cx="4846320" cy="219456"/>
          </a:xfrm>
          <a:prstGeom prst="rect">
            <a:avLst/>
          </a:prstGeom>
          <a:noFill/>
          <a:ln/>
        </p:spPr>
        <p:txBody>
          <a:bodyPr wrap="square" lIns="0" tIns="0" rIns="0" bIns="0" rtlCol="0" anchor="ctr"/>
          <a:lstStyle/>
          <a:p>
            <a:pPr indent="0" marL="0">
              <a:buNone/>
            </a:pPr>
            <a:r>
              <a:rPr lang="en-US" sz="1100" b="1" dirty="0">
                <a:solidFill>
                  <a:srgbClr val="0E1C42"/>
                </a:solidFill>
                <a:latin typeface="Calibri" pitchFamily="34" charset="0"/>
                <a:ea typeface="Calibri" pitchFamily="34" charset="-122"/>
                <a:cs typeface="Calibri" pitchFamily="34" charset="-120"/>
              </a:rPr>
              <a:t>What they recorded</a:t>
            </a:r>
            <a:endParaRPr lang="en-US" sz="1100" dirty="0"/>
          </a:p>
        </p:txBody>
      </p:sp>
      <p:sp>
        <p:nvSpPr>
          <p:cNvPr id="15" name="Text 13"/>
          <p:cNvSpPr/>
          <p:nvPr/>
        </p:nvSpPr>
        <p:spPr>
          <a:xfrm>
            <a:off x="3794760" y="2340864"/>
            <a:ext cx="4846320" cy="219456"/>
          </a:xfrm>
          <a:prstGeom prst="rect">
            <a:avLst/>
          </a:prstGeom>
          <a:noFill/>
          <a:ln/>
        </p:spPr>
        <p:txBody>
          <a:bodyPr wrap="square" lIns="0" tIns="0" rIns="0" bIns="0" rtlCol="0" anchor="ctr"/>
          <a:lstStyle/>
          <a:p>
            <a:pPr indent="0" marL="0">
              <a:buNone/>
            </a:pPr>
            <a:r>
              <a:rPr lang="en-US" sz="1000" i="1" dirty="0">
                <a:solidFill>
                  <a:srgbClr val="7A88A8"/>
                </a:solidFill>
                <a:latin typeface="Calibri" pitchFamily="34" charset="0"/>
                <a:ea typeface="Calibri" pitchFamily="34" charset="-122"/>
                <a:cs typeface="Calibri" pitchFamily="34" charset="-120"/>
              </a:rPr>
              <a:t>History, astronomy, religion, trade, royal events</a:t>
            </a:r>
            <a:endParaRPr lang="en-US" sz="1000" dirty="0"/>
          </a:p>
        </p:txBody>
      </p:sp>
      <p:sp>
        <p:nvSpPr>
          <p:cNvPr id="16" name="Text 14"/>
          <p:cNvSpPr/>
          <p:nvPr/>
        </p:nvSpPr>
        <p:spPr>
          <a:xfrm>
            <a:off x="3794760" y="2596896"/>
            <a:ext cx="4846320" cy="219456"/>
          </a:xfrm>
          <a:prstGeom prst="rect">
            <a:avLst/>
          </a:prstGeom>
          <a:noFill/>
          <a:ln/>
        </p:spPr>
        <p:txBody>
          <a:bodyPr wrap="square" lIns="0" tIns="0" rIns="0" bIns="0" rtlCol="0" anchor="ctr"/>
          <a:lstStyle/>
          <a:p>
            <a:pPr indent="0" marL="0">
              <a:buNone/>
            </a:pPr>
            <a:r>
              <a:rPr lang="en-US" sz="1100" b="1" dirty="0">
                <a:solidFill>
                  <a:srgbClr val="0E1C42"/>
                </a:solidFill>
                <a:latin typeface="Calibri" pitchFamily="34" charset="0"/>
                <a:ea typeface="Calibri" pitchFamily="34" charset="-122"/>
                <a:cs typeface="Calibri" pitchFamily="34" charset="-120"/>
              </a:rPr>
              <a:t>Significance</a:t>
            </a:r>
            <a:endParaRPr lang="en-US" sz="1100" dirty="0"/>
          </a:p>
        </p:txBody>
      </p:sp>
      <p:sp>
        <p:nvSpPr>
          <p:cNvPr id="17" name="Text 15"/>
          <p:cNvSpPr/>
          <p:nvPr/>
        </p:nvSpPr>
        <p:spPr>
          <a:xfrm>
            <a:off x="3794760" y="2834640"/>
            <a:ext cx="4846320" cy="219456"/>
          </a:xfrm>
          <a:prstGeom prst="rect">
            <a:avLst/>
          </a:prstGeom>
          <a:noFill/>
          <a:ln/>
        </p:spPr>
        <p:txBody>
          <a:bodyPr wrap="square" lIns="0" tIns="0" rIns="0" bIns="0" rtlCol="0" anchor="ctr"/>
          <a:lstStyle/>
          <a:p>
            <a:pPr indent="0" marL="0">
              <a:buNone/>
            </a:pPr>
            <a:r>
              <a:rPr lang="en-US" sz="1000" i="1" dirty="0">
                <a:solidFill>
                  <a:srgbClr val="7A88A8"/>
                </a:solidFill>
                <a:latin typeface="Calibri" pitchFamily="34" charset="0"/>
                <a:ea typeface="Calibri" pitchFamily="34" charset="-122"/>
                <a:cs typeface="Calibri" pitchFamily="34" charset="-120"/>
              </a:rPr>
              <a:t>Allowed the Maya to pass knowledge across generations — a civilization with memory</a:t>
            </a:r>
            <a:endParaRPr lang="en-US" sz="1000" dirty="0"/>
          </a:p>
        </p:txBody>
      </p:sp>
      <p:sp>
        <p:nvSpPr>
          <p:cNvPr id="18" name="Shape 16"/>
          <p:cNvSpPr/>
          <p:nvPr/>
        </p:nvSpPr>
        <p:spPr>
          <a:xfrm>
            <a:off x="274320" y="3493008"/>
            <a:ext cx="5029200" cy="1417320"/>
          </a:xfrm>
          <a:prstGeom prst="roundRect">
            <a:avLst>
              <a:gd name="adj" fmla="val 7742"/>
            </a:avLst>
          </a:prstGeom>
          <a:solidFill>
            <a:srgbClr val="1A2D5A"/>
          </a:solidFill>
          <a:ln w="12700">
            <a:solidFill>
              <a:srgbClr val="2A4070"/>
            </a:solidFill>
            <a:prstDash val="solid"/>
          </a:ln>
        </p:spPr>
      </p:sp>
      <p:sp>
        <p:nvSpPr>
          <p:cNvPr id="19" name="Text 17"/>
          <p:cNvSpPr/>
          <p:nvPr/>
        </p:nvSpPr>
        <p:spPr>
          <a:xfrm>
            <a:off x="411480" y="3547872"/>
            <a:ext cx="4754880" cy="201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20" name="Text 18"/>
          <p:cNvSpPr/>
          <p:nvPr/>
        </p:nvSpPr>
        <p:spPr>
          <a:xfrm>
            <a:off x="457200" y="3813048"/>
            <a:ext cx="4663440" cy="1005840"/>
          </a:xfrm>
          <a:prstGeom prst="rect">
            <a:avLst/>
          </a:prstGeom>
          <a:noFill/>
          <a:ln/>
        </p:spPr>
        <p:txBody>
          <a:bodyPr wrap="square" lIns="0" tIns="0" rIns="0" bIns="0" rtlCol="0" anchor="t"/>
          <a:lstStyle/>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Why would a civilization NEED a writing system? What problems does writing solve?</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The Maya carved their writing into stone AND wrote in books. What does using both tell us?</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If the Maya had a complete writing system, what does that tell us about their society's complexity?</a:t>
            </a:r>
            <a:endParaRPr lang="en-US" sz="1100" dirty="0"/>
          </a:p>
        </p:txBody>
      </p:sp>
      <p:sp>
        <p:nvSpPr>
          <p:cNvPr id="21" name="Shape 19"/>
          <p:cNvSpPr/>
          <p:nvPr/>
        </p:nvSpPr>
        <p:spPr>
          <a:xfrm>
            <a:off x="5394960" y="3493008"/>
            <a:ext cx="3429000" cy="1417320"/>
          </a:xfrm>
          <a:prstGeom prst="roundRect">
            <a:avLst>
              <a:gd name="adj" fmla="val 7742"/>
            </a:avLst>
          </a:prstGeom>
          <a:solidFill>
            <a:srgbClr val="FFF3DC"/>
          </a:solidFill>
          <a:ln w="19050">
            <a:solidFill>
              <a:srgbClr val="F5E6C8"/>
            </a:solidFill>
            <a:prstDash val="solid"/>
          </a:ln>
        </p:spPr>
      </p:sp>
      <p:sp>
        <p:nvSpPr>
          <p:cNvPr id="22" name="Text 20"/>
          <p:cNvSpPr/>
          <p:nvPr/>
        </p:nvSpPr>
        <p:spPr>
          <a:xfrm>
            <a:off x="5532120" y="3547872"/>
            <a:ext cx="31546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23" name="Text 21"/>
          <p:cNvSpPr/>
          <p:nvPr/>
        </p:nvSpPr>
        <p:spPr>
          <a:xfrm>
            <a:off x="5532120" y="3749040"/>
            <a:ext cx="3154680" cy="10972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Maya needed a writing system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 civilization that can write things down is able to..."</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0" y="0"/>
            <a:ext cx="9144000" cy="594360"/>
          </a:xfrm>
          <a:prstGeom prst="rect">
            <a:avLst/>
          </a:prstGeom>
          <a:solidFill>
            <a:srgbClr val="8B6FC0">
              <a:alpha val="90000"/>
            </a:srgbClr>
          </a:solidFill>
          <a:ln/>
        </p:spPr>
      </p:sp>
      <p:sp>
        <p:nvSpPr>
          <p:cNvPr id="6" name="Text 3"/>
          <p:cNvSpPr/>
          <p:nvPr/>
        </p:nvSpPr>
        <p:spPr>
          <a:xfrm>
            <a:off x="274320" y="137160"/>
            <a:ext cx="8595360" cy="347472"/>
          </a:xfrm>
          <a:prstGeom prst="rect">
            <a:avLst/>
          </a:prstGeom>
          <a:noFill/>
          <a:ln/>
        </p:spPr>
        <p:txBody>
          <a:bodyPr wrap="square" lIns="0" tIns="0" rIns="0" bIns="0" rtlCol="0" anchor="ctr"/>
          <a:lstStyle/>
          <a:p>
            <a:pPr indent="0" marL="0">
              <a:buNone/>
            </a:pPr>
            <a:r>
              <a:rPr lang="en-US" sz="1300" b="1" spc="150" kern="0" dirty="0">
                <a:solidFill>
                  <a:srgbClr val="FFFFFF"/>
                </a:solidFill>
                <a:latin typeface="Cambria" pitchFamily="34" charset="0"/>
                <a:ea typeface="Cambria" pitchFamily="34" charset="-122"/>
                <a:cs typeface="Cambria" pitchFamily="34" charset="-120"/>
              </a:rPr>
              <a:t>DISCOVER: MATHEMATICS &amp; THE CONCEPT OF ZERO</a:t>
            </a:r>
            <a:endParaRPr lang="en-US" sz="1300" dirty="0"/>
          </a:p>
        </p:txBody>
      </p:sp>
      <p:sp>
        <p:nvSpPr>
          <p:cNvPr id="7" name="Shape 4"/>
          <p:cNvSpPr/>
          <p:nvPr/>
        </p:nvSpPr>
        <p:spPr>
          <a:xfrm>
            <a:off x="365760" y="777240"/>
            <a:ext cx="3931920" cy="3977640"/>
          </a:xfrm>
          <a:prstGeom prst="roundRect">
            <a:avLst>
              <a:gd name="adj" fmla="val 3488"/>
            </a:avLst>
          </a:prstGeom>
          <a:solidFill>
            <a:srgbClr val="1A2D5A">
              <a:alpha val="85000"/>
            </a:srgbClr>
          </a:solidFill>
          <a:ln w="19050">
            <a:solidFill>
              <a:srgbClr val="8B6FC0"/>
            </a:solidFill>
            <a:prstDash val="solid"/>
          </a:ln>
        </p:spPr>
      </p:sp>
      <p:sp>
        <p:nvSpPr>
          <p:cNvPr id="8" name="Text 5"/>
          <p:cNvSpPr/>
          <p:nvPr/>
        </p:nvSpPr>
        <p:spPr>
          <a:xfrm>
            <a:off x="548640" y="886968"/>
            <a:ext cx="3566160" cy="320040"/>
          </a:xfrm>
          <a:prstGeom prst="rect">
            <a:avLst/>
          </a:prstGeom>
          <a:noFill/>
          <a:ln/>
        </p:spPr>
        <p:txBody>
          <a:bodyPr wrap="square" lIns="0" tIns="0" rIns="0" bIns="0" rtlCol="0" anchor="ctr"/>
          <a:lstStyle/>
          <a:p>
            <a:pPr indent="0" marL="0">
              <a:buNone/>
            </a:pPr>
            <a:r>
              <a:rPr lang="en-US" sz="1400" b="1" dirty="0">
                <a:solidFill>
                  <a:srgbClr val="8B6FC0"/>
                </a:solidFill>
                <a:latin typeface="Cambria" pitchFamily="34" charset="0"/>
                <a:ea typeface="Cambria" pitchFamily="34" charset="-122"/>
                <a:cs typeface="Cambria" pitchFamily="34" charset="-120"/>
              </a:rPr>
              <a:t>The Number System</a:t>
            </a:r>
            <a:endParaRPr lang="en-US" sz="1400" dirty="0"/>
          </a:p>
        </p:txBody>
      </p:sp>
      <p:sp>
        <p:nvSpPr>
          <p:cNvPr id="9" name="Text 6"/>
          <p:cNvSpPr/>
          <p:nvPr/>
        </p:nvSpPr>
        <p:spPr>
          <a:xfrm>
            <a:off x="548640" y="1261872"/>
            <a:ext cx="3566160" cy="274320"/>
          </a:xfrm>
          <a:prstGeom prst="rect">
            <a:avLst/>
          </a:prstGeom>
          <a:noFill/>
          <a:ln/>
        </p:spPr>
        <p:txBody>
          <a:bodyPr wrap="square" lIns="0" tIns="0" rIns="0" bIns="0" rtlCol="0" anchor="ctr"/>
          <a:lstStyle/>
          <a:p>
            <a:pPr indent="0" marL="0">
              <a:buNone/>
            </a:pPr>
            <a:r>
              <a:rPr lang="en-US" sz="1300" b="1" dirty="0">
                <a:solidFill>
                  <a:srgbClr val="D4943A"/>
                </a:solidFill>
                <a:latin typeface="Cambria" pitchFamily="34" charset="0"/>
                <a:ea typeface="Cambria" pitchFamily="34" charset="-122"/>
                <a:cs typeface="Cambria" pitchFamily="34" charset="-120"/>
              </a:rPr>
              <a:t>Base-20 (vigesimal) system</a:t>
            </a:r>
            <a:endParaRPr lang="en-US" sz="1300" dirty="0"/>
          </a:p>
        </p:txBody>
      </p:sp>
      <p:sp>
        <p:nvSpPr>
          <p:cNvPr id="10" name="Text 7"/>
          <p:cNvSpPr/>
          <p:nvPr/>
        </p:nvSpPr>
        <p:spPr>
          <a:xfrm>
            <a:off x="548640" y="1572768"/>
            <a:ext cx="3566160" cy="822960"/>
          </a:xfrm>
          <a:prstGeom prst="rect">
            <a:avLst/>
          </a:prstGeom>
          <a:noFill/>
          <a:ln/>
        </p:spPr>
        <p:txBody>
          <a:bodyPr wrap="square" lIns="0" tIns="0" rIns="0" bIns="0" rtlCol="0" anchor="t"/>
          <a:lstStyle/>
          <a:p>
            <a:pPr indent="0" marL="0">
              <a:buNone/>
            </a:pPr>
            <a:r>
              <a:rPr lang="en-US" sz="1050" dirty="0">
                <a:solidFill>
                  <a:srgbClr val="D6F2FB"/>
                </a:solidFill>
                <a:latin typeface="Calibri" pitchFamily="34" charset="0"/>
                <a:ea typeface="Calibri" pitchFamily="34" charset="-122"/>
                <a:cs typeface="Calibri" pitchFamily="34" charset="-120"/>
              </a:rPr>
              <a:t>Instead of our base-10 system (counting in groups of 10), the Maya counted in groups of 20. They used only three symbols: a dot (1), a bar (5), and a shell shape for zero.</a:t>
            </a:r>
            <a:endParaRPr lang="en-US" sz="1050" dirty="0"/>
          </a:p>
        </p:txBody>
      </p:sp>
      <p:sp>
        <p:nvSpPr>
          <p:cNvPr id="11" name="Shape 8"/>
          <p:cNvSpPr/>
          <p:nvPr/>
        </p:nvSpPr>
        <p:spPr>
          <a:xfrm>
            <a:off x="548640" y="2487168"/>
            <a:ext cx="3566160" cy="777240"/>
          </a:xfrm>
          <a:prstGeom prst="roundRect">
            <a:avLst>
              <a:gd name="adj" fmla="val 11765"/>
            </a:avLst>
          </a:prstGeom>
          <a:solidFill>
            <a:srgbClr val="D4943A">
              <a:alpha val="80000"/>
            </a:srgbClr>
          </a:solidFill>
          <a:ln w="12700">
            <a:solidFill>
              <a:srgbClr val="D4943A"/>
            </a:solidFill>
            <a:prstDash val="solid"/>
          </a:ln>
        </p:spPr>
      </p:sp>
      <p:sp>
        <p:nvSpPr>
          <p:cNvPr id="12" name="Text 9"/>
          <p:cNvSpPr/>
          <p:nvPr/>
        </p:nvSpPr>
        <p:spPr>
          <a:xfrm>
            <a:off x="685800" y="2560320"/>
            <a:ext cx="3291840" cy="256032"/>
          </a:xfrm>
          <a:prstGeom prst="rect">
            <a:avLst/>
          </a:prstGeom>
          <a:noFill/>
          <a:ln/>
        </p:spPr>
        <p:txBody>
          <a:bodyPr wrap="square" lIns="0" tIns="0" rIns="0" bIns="0" rtlCol="0" anchor="ctr"/>
          <a:lstStyle/>
          <a:p>
            <a:pPr indent="0" marL="0">
              <a:buNone/>
            </a:pPr>
            <a:r>
              <a:rPr lang="en-US" sz="1100" b="1" spc="100" kern="0" dirty="0">
                <a:solidFill>
                  <a:srgbClr val="FFFFFF"/>
                </a:solidFill>
                <a:latin typeface="Calibri" pitchFamily="34" charset="0"/>
                <a:ea typeface="Calibri" pitchFamily="34" charset="-122"/>
                <a:cs typeface="Calibri" pitchFamily="34" charset="-120"/>
              </a:rPr>
              <a:t>THEY INVENTED ZERO</a:t>
            </a:r>
            <a:endParaRPr lang="en-US" sz="1100" dirty="0"/>
          </a:p>
        </p:txBody>
      </p:sp>
      <p:sp>
        <p:nvSpPr>
          <p:cNvPr id="13" name="Text 10"/>
          <p:cNvSpPr/>
          <p:nvPr/>
        </p:nvSpPr>
        <p:spPr>
          <a:xfrm>
            <a:off x="685800" y="2834640"/>
            <a:ext cx="3291840" cy="393192"/>
          </a:xfrm>
          <a:prstGeom prst="rect">
            <a:avLst/>
          </a:prstGeom>
          <a:noFill/>
          <a:ln/>
        </p:spPr>
        <p:txBody>
          <a:bodyPr wrap="square" lIns="0" tIns="0" rIns="0" bIns="0" rtlCol="0" anchor="ctr"/>
          <a:lstStyle/>
          <a:p>
            <a:pPr indent="0" marL="0">
              <a:buNone/>
            </a:pPr>
            <a:r>
              <a:rPr lang="en-US" sz="1000" dirty="0">
                <a:solidFill>
                  <a:srgbClr val="FFF3DC"/>
                </a:solidFill>
                <a:latin typeface="Calibri" pitchFamily="34" charset="0"/>
                <a:ea typeface="Calibri" pitchFamily="34" charset="-122"/>
                <a:cs typeface="Calibri" pitchFamily="34" charset="-120"/>
              </a:rPr>
              <a:t>The Maya were among the FIRST people in the world to use a symbol for zero — centuries before it appeared in Europe.</a:t>
            </a:r>
            <a:endParaRPr lang="en-US" sz="1000" dirty="0"/>
          </a:p>
        </p:txBody>
      </p:sp>
      <p:sp>
        <p:nvSpPr>
          <p:cNvPr id="14" name="Text 11"/>
          <p:cNvSpPr/>
          <p:nvPr/>
        </p:nvSpPr>
        <p:spPr>
          <a:xfrm>
            <a:off x="548640" y="3364992"/>
            <a:ext cx="3566160" cy="822960"/>
          </a:xfrm>
          <a:prstGeom prst="rect">
            <a:avLst/>
          </a:prstGeom>
          <a:noFill/>
          <a:ln/>
        </p:spPr>
        <p:txBody>
          <a:bodyPr wrap="square" lIns="0" tIns="0" rIns="0" bIns="0" rtlCol="0" anchor="t"/>
          <a:lstStyle/>
          <a:p>
            <a:pPr indent="0" marL="0">
              <a:buNone/>
            </a:pPr>
            <a:r>
              <a:rPr lang="en-US" sz="1000" i="1" dirty="0">
                <a:solidFill>
                  <a:srgbClr val="D6F2FB"/>
                </a:solidFill>
                <a:latin typeface="Calibri" pitchFamily="34" charset="0"/>
                <a:ea typeface="Calibri" pitchFamily="34" charset="-122"/>
                <a:cs typeface="Calibri" pitchFamily="34" charset="-120"/>
              </a:rPr>
              <a:t>Why zero matters: Without zero, you cannot do large calculations, build precise calendars, or track astronomical cycles. Zero is the foundation of modern mathematics.</a:t>
            </a:r>
            <a:endParaRPr lang="en-US" sz="1000" dirty="0"/>
          </a:p>
        </p:txBody>
      </p:sp>
      <p:sp>
        <p:nvSpPr>
          <p:cNvPr id="15" name="Text 12"/>
          <p:cNvSpPr/>
          <p:nvPr/>
        </p:nvSpPr>
        <p:spPr>
          <a:xfrm>
            <a:off x="548640" y="4206240"/>
            <a:ext cx="3566160" cy="411480"/>
          </a:xfrm>
          <a:prstGeom prst="rect">
            <a:avLst/>
          </a:prstGeom>
          <a:noFill/>
          <a:ln/>
        </p:spPr>
        <p:txBody>
          <a:bodyPr wrap="square" lIns="0" tIns="0" rIns="0" bIns="0" rtlCol="0" anchor="ctr"/>
          <a:lstStyle/>
          <a:p>
            <a:pPr indent="0" marL="0">
              <a:buNone/>
            </a:pPr>
            <a:r>
              <a:rPr lang="en-US" sz="950" i="1" dirty="0">
                <a:solidFill>
                  <a:srgbClr val="8B6FC0"/>
                </a:solidFill>
                <a:latin typeface="Cambria" pitchFamily="34" charset="0"/>
                <a:ea typeface="Cambria" pitchFamily="34" charset="-122"/>
                <a:cs typeface="Cambria" pitchFamily="34" charset="-120"/>
              </a:rPr>
              <a:t>"Among the first people in the world to use a symbol for zero."</a:t>
            </a:r>
            <a:endParaRPr lang="en-US" sz="950" dirty="0"/>
          </a:p>
        </p:txBody>
      </p:sp>
      <p:sp>
        <p:nvSpPr>
          <p:cNvPr id="16" name="Shape 13"/>
          <p:cNvSpPr/>
          <p:nvPr/>
        </p:nvSpPr>
        <p:spPr>
          <a:xfrm>
            <a:off x="4434840" y="777240"/>
            <a:ext cx="4389120" cy="1600200"/>
          </a:xfrm>
          <a:prstGeom prst="roundRect">
            <a:avLst>
              <a:gd name="adj" fmla="val 6857"/>
            </a:avLst>
          </a:prstGeom>
          <a:solidFill>
            <a:srgbClr val="1A2D5A"/>
          </a:solidFill>
          <a:ln w="12700">
            <a:solidFill>
              <a:srgbClr val="2A4070"/>
            </a:solidFill>
            <a:prstDash val="solid"/>
          </a:ln>
        </p:spPr>
      </p:sp>
      <p:sp>
        <p:nvSpPr>
          <p:cNvPr id="17" name="Text 14"/>
          <p:cNvSpPr/>
          <p:nvPr/>
        </p:nvSpPr>
        <p:spPr>
          <a:xfrm>
            <a:off x="4572000" y="832104"/>
            <a:ext cx="4114800" cy="201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8" name="Text 15"/>
          <p:cNvSpPr/>
          <p:nvPr/>
        </p:nvSpPr>
        <p:spPr>
          <a:xfrm>
            <a:off x="4617720" y="1097280"/>
            <a:ext cx="4023360" cy="1188720"/>
          </a:xfrm>
          <a:prstGeom prst="rect">
            <a:avLst/>
          </a:prstGeom>
          <a:noFill/>
          <a:ln/>
        </p:spPr>
        <p:txBody>
          <a:bodyPr wrap="square" lIns="0" tIns="0" rIns="0" bIns="0" rtlCol="0" anchor="t"/>
          <a:lstStyle/>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Try to imagine math WITHOUT zero. What would be impossible to calculate?</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Why would the Maya NEED zero? What were they trying to track?</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The Maya invented zero centuries before Europe. What does that tell us about their level of knowledge?</a:t>
            </a:r>
            <a:endParaRPr lang="en-US" sz="1100" dirty="0"/>
          </a:p>
        </p:txBody>
      </p:sp>
      <p:sp>
        <p:nvSpPr>
          <p:cNvPr id="19" name="Shape 16"/>
          <p:cNvSpPr/>
          <p:nvPr/>
        </p:nvSpPr>
        <p:spPr>
          <a:xfrm>
            <a:off x="4434840" y="2487168"/>
            <a:ext cx="4389120" cy="1508760"/>
          </a:xfrm>
          <a:prstGeom prst="roundRect">
            <a:avLst>
              <a:gd name="adj" fmla="val 7273"/>
            </a:avLst>
          </a:prstGeom>
          <a:solidFill>
            <a:srgbClr val="FFF3DC"/>
          </a:solidFill>
          <a:ln w="19050">
            <a:solidFill>
              <a:srgbClr val="F5E6C8"/>
            </a:solidFill>
            <a:prstDash val="solid"/>
          </a:ln>
        </p:spPr>
      </p:sp>
      <p:sp>
        <p:nvSpPr>
          <p:cNvPr id="20" name="Text 17"/>
          <p:cNvSpPr/>
          <p:nvPr/>
        </p:nvSpPr>
        <p:spPr>
          <a:xfrm>
            <a:off x="4572000" y="2542032"/>
            <a:ext cx="411480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21" name="Text 18"/>
          <p:cNvSpPr/>
          <p:nvPr/>
        </p:nvSpPr>
        <p:spPr>
          <a:xfrm>
            <a:off x="4572000" y="2743200"/>
            <a:ext cx="4114800" cy="118872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"Without zero, you couldn't..."</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fact that the Maya invented zero before Europe shows that..."</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"Math and astronomy are connected because..."</a:t>
            </a:r>
            <a:endParaRPr lang="en-US" sz="1200" dirty="0"/>
          </a:p>
        </p:txBody>
      </p:sp>
      <p:sp>
        <p:nvSpPr>
          <p:cNvPr id="22" name="Shape 19"/>
          <p:cNvSpPr/>
          <p:nvPr/>
        </p:nvSpPr>
        <p:spPr>
          <a:xfrm>
            <a:off x="4434840" y="4114800"/>
            <a:ext cx="4389120" cy="777240"/>
          </a:xfrm>
          <a:prstGeom prst="roundRect">
            <a:avLst>
              <a:gd name="adj" fmla="val 11765"/>
            </a:avLst>
          </a:prstGeom>
          <a:solidFill>
            <a:srgbClr val="1A2D5A">
              <a:alpha val="90000"/>
            </a:srgbClr>
          </a:solidFill>
          <a:ln w="19050">
            <a:solidFill>
              <a:srgbClr val="D4943A"/>
            </a:solidFill>
            <a:prstDash val="solid"/>
          </a:ln>
        </p:spPr>
      </p:sp>
      <p:sp>
        <p:nvSpPr>
          <p:cNvPr id="23" name="Text 20"/>
          <p:cNvSpPr/>
          <p:nvPr/>
        </p:nvSpPr>
        <p:spPr>
          <a:xfrm>
            <a:off x="4617720" y="4187952"/>
            <a:ext cx="4023360" cy="640080"/>
          </a:xfrm>
          <a:prstGeom prst="rect">
            <a:avLst/>
          </a:prstGeom>
          <a:noFill/>
          <a:ln/>
        </p:spPr>
        <p:txBody>
          <a:bodyPr wrap="square" lIns="0" tIns="0" rIns="0" bIns="0" rtlCol="0" anchor="ctr"/>
          <a:lstStyle/>
          <a:p>
            <a:pPr indent="0" marL="0">
              <a:buNone/>
            </a:pPr>
            <a:r>
              <a:rPr lang="en-US" sz="1050" i="1" dirty="0">
                <a:solidFill>
                  <a:srgbClr val="D4943A"/>
                </a:solidFill>
                <a:latin typeface="Calibri" pitchFamily="34" charset="0"/>
                <a:ea typeface="Calibri" pitchFamily="34" charset="-122"/>
                <a:cs typeface="Calibri" pitchFamily="34" charset="-120"/>
              </a:rPr>
              <a:t>Gazette Update: That's TWO major achievements now — Architecture + Mathematics. The Herald's 'one thing' claim is already in trouble.</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594360"/>
          </a:xfrm>
          <a:prstGeom prst="rect">
            <a:avLst/>
          </a:prstGeom>
          <a:solidFill>
            <a:srgbClr val="0E1C42"/>
          </a:solidFill>
          <a:ln/>
        </p:spPr>
      </p:sp>
      <p:sp>
        <p:nvSpPr>
          <p:cNvPr id="4" name="Text 2"/>
          <p:cNvSpPr/>
          <p:nvPr/>
        </p:nvSpPr>
        <p:spPr>
          <a:xfrm>
            <a:off x="274320" y="137160"/>
            <a:ext cx="8595360" cy="347472"/>
          </a:xfrm>
          <a:prstGeom prst="rect">
            <a:avLst/>
          </a:prstGeom>
          <a:noFill/>
          <a:ln/>
        </p:spPr>
        <p:txBody>
          <a:bodyPr wrap="square" lIns="0" tIns="0" rIns="0" bIns="0" rtlCol="0" anchor="ctr"/>
          <a:lstStyle/>
          <a:p>
            <a:pPr indent="0" marL="0">
              <a:buNone/>
            </a:pPr>
            <a:r>
              <a:rPr lang="en-US" sz="1300" b="1" spc="150" kern="0" dirty="0">
                <a:solidFill>
                  <a:srgbClr val="55C8E8"/>
                </a:solidFill>
                <a:latin typeface="Cambria" pitchFamily="34" charset="0"/>
                <a:ea typeface="Cambria" pitchFamily="34" charset="-122"/>
                <a:cs typeface="Cambria" pitchFamily="34" charset="-120"/>
              </a:rPr>
              <a:t>CLUE BOX: ASTRONOMICAL CALENDARS</a:t>
            </a:r>
            <a:endParaRPr lang="en-US" sz="1300" dirty="0"/>
          </a:p>
        </p:txBody>
      </p:sp>
      <p:sp>
        <p:nvSpPr>
          <p:cNvPr id="5" name="Shape 3"/>
          <p:cNvSpPr/>
          <p:nvPr/>
        </p:nvSpPr>
        <p:spPr>
          <a:xfrm>
            <a:off x="274320" y="731520"/>
            <a:ext cx="3657600" cy="2880360"/>
          </a:xfrm>
          <a:prstGeom prst="roundRect">
            <a:avLst>
              <a:gd name="adj" fmla="val 3810"/>
            </a:avLst>
          </a:prstGeom>
          <a:solidFill>
            <a:srgbClr val="E2E8F4"/>
          </a:solidFill>
          <a:ln w="19050">
            <a:solidFill>
              <a:srgbClr val="B0B8CC"/>
            </a:solidFill>
            <a:prstDash val="dash"/>
          </a:ln>
        </p:spPr>
      </p:sp>
      <p:sp>
        <p:nvSpPr>
          <p:cNvPr id="6" name="Text 4"/>
          <p:cNvSpPr/>
          <p:nvPr/>
        </p:nvSpPr>
        <p:spPr>
          <a:xfrm>
            <a:off x="274320" y="731520"/>
            <a:ext cx="36576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411480" y="1005840"/>
            <a:ext cx="3383280" cy="25146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Illustration of the Maya calendar system (the circular calendar stone) or a diagram showing Maya astronomical observations — sun, moon, Venus tracking</a:t>
            </a:r>
            <a:endParaRPr lang="en-US" sz="1100" dirty="0"/>
          </a:p>
        </p:txBody>
      </p:sp>
      <p:sp>
        <p:nvSpPr>
          <p:cNvPr id="8" name="Shape 6"/>
          <p:cNvSpPr/>
          <p:nvPr/>
        </p:nvSpPr>
        <p:spPr>
          <a:xfrm>
            <a:off x="4069080" y="731520"/>
            <a:ext cx="4754880" cy="2880360"/>
          </a:xfrm>
          <a:prstGeom prst="roundRect">
            <a:avLst>
              <a:gd name="adj" fmla="val 3810"/>
            </a:avLst>
          </a:prstGeom>
          <a:solidFill>
            <a:srgbClr val="FFFFFF"/>
          </a:solidFill>
          <a:ln w="19050">
            <a:solidFill>
              <a:srgbClr val="55C8E8"/>
            </a:solidFill>
            <a:prstDash val="solid"/>
          </a:ln>
        </p:spPr>
      </p:sp>
      <p:sp>
        <p:nvSpPr>
          <p:cNvPr id="9" name="Text 7"/>
          <p:cNvSpPr/>
          <p:nvPr/>
        </p:nvSpPr>
        <p:spPr>
          <a:xfrm>
            <a:off x="4251960" y="822960"/>
            <a:ext cx="4389120" cy="228600"/>
          </a:xfrm>
          <a:prstGeom prst="rect">
            <a:avLst/>
          </a:prstGeom>
          <a:noFill/>
          <a:ln/>
        </p:spPr>
        <p:txBody>
          <a:bodyPr wrap="square" lIns="0" tIns="0" rIns="0" bIns="0" rtlCol="0" anchor="ctr"/>
          <a:lstStyle/>
          <a:p>
            <a:pPr indent="0" marL="0">
              <a:buNone/>
            </a:pPr>
            <a:r>
              <a:rPr lang="en-US" sz="900" b="1" spc="100" kern="0" dirty="0">
                <a:solidFill>
                  <a:srgbClr val="55C8E8"/>
                </a:solidFill>
                <a:latin typeface="Calibri" pitchFamily="34" charset="0"/>
                <a:ea typeface="Calibri" pitchFamily="34" charset="-122"/>
                <a:cs typeface="Calibri" pitchFamily="34" charset="-120"/>
              </a:rPr>
              <a:t>ASTRONOMICAL ACHIEVEMENTS</a:t>
            </a:r>
            <a:endParaRPr lang="en-US" sz="900" dirty="0"/>
          </a:p>
        </p:txBody>
      </p:sp>
      <p:sp>
        <p:nvSpPr>
          <p:cNvPr id="10" name="Text 8"/>
          <p:cNvSpPr/>
          <p:nvPr/>
        </p:nvSpPr>
        <p:spPr>
          <a:xfrm>
            <a:off x="4251960" y="1115568"/>
            <a:ext cx="4389120" cy="219456"/>
          </a:xfrm>
          <a:prstGeom prst="rect">
            <a:avLst/>
          </a:prstGeom>
          <a:noFill/>
          <a:ln/>
        </p:spPr>
        <p:txBody>
          <a:bodyPr wrap="square" lIns="0" tIns="0" rIns="0" bIns="0" rtlCol="0" anchor="ctr"/>
          <a:lstStyle/>
          <a:p>
            <a:pPr indent="0" marL="0">
              <a:buNone/>
            </a:pPr>
            <a:r>
              <a:rPr lang="en-US" sz="1100" b="1" dirty="0">
                <a:solidFill>
                  <a:srgbClr val="0E1C42"/>
                </a:solidFill>
                <a:latin typeface="Calibri" pitchFamily="34" charset="0"/>
                <a:ea typeface="Calibri" pitchFamily="34" charset="-122"/>
                <a:cs typeface="Calibri" pitchFamily="34" charset="-120"/>
              </a:rPr>
              <a:t>Precision tracking</a:t>
            </a:r>
            <a:endParaRPr lang="en-US" sz="1100" dirty="0"/>
          </a:p>
        </p:txBody>
      </p:sp>
      <p:sp>
        <p:nvSpPr>
          <p:cNvPr id="11" name="Text 9"/>
          <p:cNvSpPr/>
          <p:nvPr/>
        </p:nvSpPr>
        <p:spPr>
          <a:xfrm>
            <a:off x="4251960" y="1353312"/>
            <a:ext cx="4389120" cy="219456"/>
          </a:xfrm>
          <a:prstGeom prst="rect">
            <a:avLst/>
          </a:prstGeom>
          <a:noFill/>
          <a:ln/>
        </p:spPr>
        <p:txBody>
          <a:bodyPr wrap="square" lIns="0" tIns="0" rIns="0" bIns="0" rtlCol="0" anchor="ctr"/>
          <a:lstStyle/>
          <a:p>
            <a:pPr indent="0" marL="0">
              <a:buNone/>
            </a:pPr>
            <a:r>
              <a:rPr lang="en-US" sz="1000" i="1" dirty="0">
                <a:solidFill>
                  <a:srgbClr val="7A88A8"/>
                </a:solidFill>
                <a:latin typeface="Calibri" pitchFamily="34" charset="0"/>
                <a:ea typeface="Calibri" pitchFamily="34" charset="-122"/>
                <a:cs typeface="Calibri" pitchFamily="34" charset="-120"/>
              </a:rPr>
              <a:t>Tracked the sun, moon, Venus, and other stars with remarkable accuracy</a:t>
            </a:r>
            <a:endParaRPr lang="en-US" sz="1000" dirty="0"/>
          </a:p>
        </p:txBody>
      </p:sp>
      <p:sp>
        <p:nvSpPr>
          <p:cNvPr id="12" name="Text 10"/>
          <p:cNvSpPr/>
          <p:nvPr/>
        </p:nvSpPr>
        <p:spPr>
          <a:xfrm>
            <a:off x="4251960" y="1609344"/>
            <a:ext cx="4389120" cy="219456"/>
          </a:xfrm>
          <a:prstGeom prst="rect">
            <a:avLst/>
          </a:prstGeom>
          <a:noFill/>
          <a:ln/>
        </p:spPr>
        <p:txBody>
          <a:bodyPr wrap="square" lIns="0" tIns="0" rIns="0" bIns="0" rtlCol="0" anchor="ctr"/>
          <a:lstStyle/>
          <a:p>
            <a:pPr indent="0" marL="0">
              <a:buNone/>
            </a:pPr>
            <a:r>
              <a:rPr lang="en-US" sz="1100" b="1" dirty="0">
                <a:solidFill>
                  <a:srgbClr val="0E1C42"/>
                </a:solidFill>
                <a:latin typeface="Calibri" pitchFamily="34" charset="0"/>
                <a:ea typeface="Calibri" pitchFamily="34" charset="-122"/>
                <a:cs typeface="Calibri" pitchFamily="34" charset="-120"/>
              </a:rPr>
              <a:t>Eclipse prediction</a:t>
            </a:r>
            <a:endParaRPr lang="en-US" sz="1100" dirty="0"/>
          </a:p>
        </p:txBody>
      </p:sp>
      <p:sp>
        <p:nvSpPr>
          <p:cNvPr id="13" name="Text 11"/>
          <p:cNvSpPr/>
          <p:nvPr/>
        </p:nvSpPr>
        <p:spPr>
          <a:xfrm>
            <a:off x="4251960" y="1847088"/>
            <a:ext cx="4389120" cy="219456"/>
          </a:xfrm>
          <a:prstGeom prst="rect">
            <a:avLst/>
          </a:prstGeom>
          <a:noFill/>
          <a:ln/>
        </p:spPr>
        <p:txBody>
          <a:bodyPr wrap="square" lIns="0" tIns="0" rIns="0" bIns="0" rtlCol="0" anchor="ctr"/>
          <a:lstStyle/>
          <a:p>
            <a:pPr indent="0" marL="0">
              <a:buNone/>
            </a:pPr>
            <a:r>
              <a:rPr lang="en-US" sz="1000" i="1" dirty="0">
                <a:solidFill>
                  <a:srgbClr val="7A88A8"/>
                </a:solidFill>
                <a:latin typeface="Calibri" pitchFamily="34" charset="0"/>
                <a:ea typeface="Calibri" pitchFamily="34" charset="-122"/>
                <a:cs typeface="Calibri" pitchFamily="34" charset="-120"/>
              </a:rPr>
              <a:t>Their calendars could predict solar and lunar eclipses</a:t>
            </a:r>
            <a:endParaRPr lang="en-US" sz="1000" dirty="0"/>
          </a:p>
        </p:txBody>
      </p:sp>
      <p:sp>
        <p:nvSpPr>
          <p:cNvPr id="14" name="Text 12"/>
          <p:cNvSpPr/>
          <p:nvPr/>
        </p:nvSpPr>
        <p:spPr>
          <a:xfrm>
            <a:off x="4251960" y="2103120"/>
            <a:ext cx="4389120" cy="219456"/>
          </a:xfrm>
          <a:prstGeom prst="rect">
            <a:avLst/>
          </a:prstGeom>
          <a:noFill/>
          <a:ln/>
        </p:spPr>
        <p:txBody>
          <a:bodyPr wrap="square" lIns="0" tIns="0" rIns="0" bIns="0" rtlCol="0" anchor="ctr"/>
          <a:lstStyle/>
          <a:p>
            <a:pPr indent="0" marL="0">
              <a:buNone/>
            </a:pPr>
            <a:r>
              <a:rPr lang="en-US" sz="1100" b="1" dirty="0">
                <a:solidFill>
                  <a:srgbClr val="0E1C42"/>
                </a:solidFill>
                <a:latin typeface="Calibri" pitchFamily="34" charset="0"/>
                <a:ea typeface="Calibri" pitchFamily="34" charset="-122"/>
                <a:cs typeface="Calibri" pitchFamily="34" charset="-120"/>
              </a:rPr>
              <a:t>Multiple calendars</a:t>
            </a:r>
            <a:endParaRPr lang="en-US" sz="1100" dirty="0"/>
          </a:p>
        </p:txBody>
      </p:sp>
      <p:sp>
        <p:nvSpPr>
          <p:cNvPr id="15" name="Text 13"/>
          <p:cNvSpPr/>
          <p:nvPr/>
        </p:nvSpPr>
        <p:spPr>
          <a:xfrm>
            <a:off x="4251960" y="2340864"/>
            <a:ext cx="4389120" cy="219456"/>
          </a:xfrm>
          <a:prstGeom prst="rect">
            <a:avLst/>
          </a:prstGeom>
          <a:noFill/>
          <a:ln/>
        </p:spPr>
        <p:txBody>
          <a:bodyPr wrap="square" lIns="0" tIns="0" rIns="0" bIns="0" rtlCol="0" anchor="ctr"/>
          <a:lstStyle/>
          <a:p>
            <a:pPr indent="0" marL="0">
              <a:buNone/>
            </a:pPr>
            <a:r>
              <a:rPr lang="en-US" sz="1000" i="1" dirty="0">
                <a:solidFill>
                  <a:srgbClr val="7A88A8"/>
                </a:solidFill>
                <a:latin typeface="Calibri" pitchFamily="34" charset="0"/>
                <a:ea typeface="Calibri" pitchFamily="34" charset="-122"/>
                <a:cs typeface="Calibri" pitchFamily="34" charset="-120"/>
              </a:rPr>
              <a:t>Used different calendar systems — one for agriculture, one for ceremony</a:t>
            </a:r>
            <a:endParaRPr lang="en-US" sz="1000" dirty="0"/>
          </a:p>
        </p:txBody>
      </p:sp>
      <p:sp>
        <p:nvSpPr>
          <p:cNvPr id="16" name="Text 14"/>
          <p:cNvSpPr/>
          <p:nvPr/>
        </p:nvSpPr>
        <p:spPr>
          <a:xfrm>
            <a:off x="4251960" y="2596896"/>
            <a:ext cx="4389120" cy="219456"/>
          </a:xfrm>
          <a:prstGeom prst="rect">
            <a:avLst/>
          </a:prstGeom>
          <a:noFill/>
          <a:ln/>
        </p:spPr>
        <p:txBody>
          <a:bodyPr wrap="square" lIns="0" tIns="0" rIns="0" bIns="0" rtlCol="0" anchor="ctr"/>
          <a:lstStyle/>
          <a:p>
            <a:pPr indent="0" marL="0">
              <a:buNone/>
            </a:pPr>
            <a:r>
              <a:rPr lang="en-US" sz="1100" b="1" dirty="0">
                <a:solidFill>
                  <a:srgbClr val="0E1C42"/>
                </a:solidFill>
                <a:latin typeface="Calibri" pitchFamily="34" charset="0"/>
                <a:ea typeface="Calibri" pitchFamily="34" charset="-122"/>
                <a:cs typeface="Calibri" pitchFamily="34" charset="-120"/>
              </a:rPr>
              <a:t>Combined knowledge</a:t>
            </a:r>
            <a:endParaRPr lang="en-US" sz="1100" dirty="0"/>
          </a:p>
        </p:txBody>
      </p:sp>
      <p:sp>
        <p:nvSpPr>
          <p:cNvPr id="17" name="Text 15"/>
          <p:cNvSpPr/>
          <p:nvPr/>
        </p:nvSpPr>
        <p:spPr>
          <a:xfrm>
            <a:off x="4251960" y="2834640"/>
            <a:ext cx="4389120" cy="219456"/>
          </a:xfrm>
          <a:prstGeom prst="rect">
            <a:avLst/>
          </a:prstGeom>
          <a:noFill/>
          <a:ln/>
        </p:spPr>
        <p:txBody>
          <a:bodyPr wrap="square" lIns="0" tIns="0" rIns="0" bIns="0" rtlCol="0" anchor="ctr"/>
          <a:lstStyle/>
          <a:p>
            <a:pPr indent="0" marL="0">
              <a:buNone/>
            </a:pPr>
            <a:r>
              <a:rPr lang="en-US" sz="1000" i="1" dirty="0">
                <a:solidFill>
                  <a:srgbClr val="7A88A8"/>
                </a:solidFill>
                <a:latin typeface="Calibri" pitchFamily="34" charset="0"/>
                <a:ea typeface="Calibri" pitchFamily="34" charset="-122"/>
                <a:cs typeface="Calibri" pitchFamily="34" charset="-120"/>
              </a:rPr>
              <a:t>Required math + writing + astronomy all working together</a:t>
            </a:r>
            <a:endParaRPr lang="en-US" sz="1000" dirty="0"/>
          </a:p>
        </p:txBody>
      </p:sp>
      <p:sp>
        <p:nvSpPr>
          <p:cNvPr id="18" name="Shape 16"/>
          <p:cNvSpPr/>
          <p:nvPr/>
        </p:nvSpPr>
        <p:spPr>
          <a:xfrm>
            <a:off x="274320" y="3721608"/>
            <a:ext cx="5212080" cy="1234440"/>
          </a:xfrm>
          <a:prstGeom prst="roundRect">
            <a:avLst>
              <a:gd name="adj" fmla="val 8889"/>
            </a:avLst>
          </a:prstGeom>
          <a:solidFill>
            <a:srgbClr val="1A2D5A"/>
          </a:solidFill>
          <a:ln w="12700">
            <a:solidFill>
              <a:srgbClr val="2A4070"/>
            </a:solidFill>
            <a:prstDash val="solid"/>
          </a:ln>
        </p:spPr>
      </p:sp>
      <p:sp>
        <p:nvSpPr>
          <p:cNvPr id="19" name="Text 17"/>
          <p:cNvSpPr/>
          <p:nvPr/>
        </p:nvSpPr>
        <p:spPr>
          <a:xfrm>
            <a:off x="411480" y="3776472"/>
            <a:ext cx="4937760" cy="201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20" name="Text 18"/>
          <p:cNvSpPr/>
          <p:nvPr/>
        </p:nvSpPr>
        <p:spPr>
          <a:xfrm>
            <a:off x="457200" y="4041648"/>
            <a:ext cx="4846320" cy="822960"/>
          </a:xfrm>
          <a:prstGeom prst="rect">
            <a:avLst/>
          </a:prstGeom>
          <a:noFill/>
          <a:ln/>
        </p:spPr>
        <p:txBody>
          <a:bodyPr wrap="square" lIns="0" tIns="0" rIns="0" bIns="0" rtlCol="0" anchor="t"/>
          <a:lstStyle/>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Why would farmers NEED an accurate calendar? What decisions would it help them make?</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Predicting eclipses requires knowing the sky precisely. What kind of long-term work does that take?</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Architecture + Writing + Math + Calendars — what kind of civilization does this add up to?</a:t>
            </a:r>
            <a:endParaRPr lang="en-US" sz="1100" dirty="0"/>
          </a:p>
        </p:txBody>
      </p:sp>
      <p:sp>
        <p:nvSpPr>
          <p:cNvPr id="21" name="Shape 19"/>
          <p:cNvSpPr/>
          <p:nvPr/>
        </p:nvSpPr>
        <p:spPr>
          <a:xfrm>
            <a:off x="5577840" y="3721608"/>
            <a:ext cx="3246120" cy="1234440"/>
          </a:xfrm>
          <a:prstGeom prst="roundRect">
            <a:avLst>
              <a:gd name="adj" fmla="val 8889"/>
            </a:avLst>
          </a:prstGeom>
          <a:solidFill>
            <a:srgbClr val="FFF3DC"/>
          </a:solidFill>
          <a:ln w="19050">
            <a:solidFill>
              <a:srgbClr val="F5E6C8"/>
            </a:solidFill>
            <a:prstDash val="solid"/>
          </a:ln>
        </p:spPr>
      </p:sp>
      <p:sp>
        <p:nvSpPr>
          <p:cNvPr id="22" name="Text 20"/>
          <p:cNvSpPr/>
          <p:nvPr/>
        </p:nvSpPr>
        <p:spPr>
          <a:xfrm>
            <a:off x="5715000" y="3776472"/>
            <a:ext cx="297180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23" name="Text 21"/>
          <p:cNvSpPr/>
          <p:nvPr/>
        </p:nvSpPr>
        <p:spPr>
          <a:xfrm>
            <a:off x="5715000" y="3977640"/>
            <a:ext cx="2971800" cy="9144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"An accurate calendar would help farmers know when to..."</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"Being able to predict eclipses means the Maya must have been studying the sky for..."</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"When I add all these achievements together, I think the Maya were..."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0" y="0"/>
            <a:ext cx="9144000" cy="594360"/>
          </a:xfrm>
          <a:prstGeom prst="rect">
            <a:avLst/>
          </a:prstGeom>
          <a:solidFill>
            <a:srgbClr val="1A8A7D">
              <a:alpha val="90000"/>
            </a:srgbClr>
          </a:solidFill>
          <a:ln/>
        </p:spPr>
      </p:sp>
      <p:sp>
        <p:nvSpPr>
          <p:cNvPr id="6" name="Text 3"/>
          <p:cNvSpPr/>
          <p:nvPr/>
        </p:nvSpPr>
        <p:spPr>
          <a:xfrm>
            <a:off x="274320" y="137160"/>
            <a:ext cx="8595360" cy="347472"/>
          </a:xfrm>
          <a:prstGeom prst="rect">
            <a:avLst/>
          </a:prstGeom>
          <a:noFill/>
          <a:ln/>
        </p:spPr>
        <p:txBody>
          <a:bodyPr wrap="square" lIns="0" tIns="0" rIns="0" bIns="0" rtlCol="0" anchor="ctr"/>
          <a:lstStyle/>
          <a:p>
            <a:pPr indent="0" marL="0">
              <a:buNone/>
            </a:pPr>
            <a:r>
              <a:rPr lang="en-US" sz="1300" b="1" spc="200" kern="0" dirty="0">
                <a:solidFill>
                  <a:srgbClr val="FFFFFF"/>
                </a:solidFill>
                <a:latin typeface="Cambria" pitchFamily="34" charset="0"/>
                <a:ea typeface="Cambria" pitchFamily="34" charset="-122"/>
                <a:cs typeface="Cambria" pitchFamily="34" charset="-120"/>
              </a:rPr>
              <a:t>WHY IT MATTERS: THE FULL STORY</a:t>
            </a:r>
            <a:endParaRPr lang="en-US" sz="1300" dirty="0"/>
          </a:p>
        </p:txBody>
      </p:sp>
      <p:sp>
        <p:nvSpPr>
          <p:cNvPr id="7" name="Shape 4"/>
          <p:cNvSpPr/>
          <p:nvPr/>
        </p:nvSpPr>
        <p:spPr>
          <a:xfrm>
            <a:off x="365760" y="777240"/>
            <a:ext cx="8412480" cy="685800"/>
          </a:xfrm>
          <a:prstGeom prst="roundRect">
            <a:avLst>
              <a:gd name="adj" fmla="val 16000"/>
            </a:avLst>
          </a:prstGeom>
          <a:solidFill>
            <a:srgbClr val="0E1C42">
              <a:alpha val="85000"/>
            </a:srgbClr>
          </a:solidFill>
          <a:ln w="19050">
            <a:solidFill>
              <a:srgbClr val="D4943A"/>
            </a:solidFill>
            <a:prstDash val="solid"/>
          </a:ln>
        </p:spPr>
      </p:sp>
      <p:sp>
        <p:nvSpPr>
          <p:cNvPr id="8" name="Text 5"/>
          <p:cNvSpPr/>
          <p:nvPr/>
        </p:nvSpPr>
        <p:spPr>
          <a:xfrm>
            <a:off x="548640" y="886968"/>
            <a:ext cx="8046720" cy="502920"/>
          </a:xfrm>
          <a:prstGeom prst="rect">
            <a:avLst/>
          </a:prstGeom>
          <a:noFill/>
          <a:ln/>
        </p:spPr>
        <p:txBody>
          <a:bodyPr wrap="square" lIns="0" tIns="0" rIns="0" bIns="0" rtlCol="0" anchor="ctr"/>
          <a:lstStyle/>
          <a:p>
            <a:pPr indent="0" marL="0">
              <a:buNone/>
            </a:pPr>
            <a:r>
              <a:rPr lang="en-US" sz="1500" b="1" i="1" dirty="0">
                <a:solidFill>
                  <a:srgbClr val="D4943A"/>
                </a:solidFill>
                <a:latin typeface="Cambria" pitchFamily="34" charset="0"/>
                <a:ea typeface="Cambria" pitchFamily="34" charset="-122"/>
                <a:cs typeface="Cambria" pitchFamily="34" charset="-120"/>
              </a:rPr>
              <a:t>The Maya were farmers, artists, traders, and scholars — not a one-achievement civilization.</a:t>
            </a:r>
            <a:endParaRPr lang="en-US" sz="1500" dirty="0"/>
          </a:p>
        </p:txBody>
      </p:sp>
      <p:sp>
        <p:nvSpPr>
          <p:cNvPr id="9" name="Shape 6"/>
          <p:cNvSpPr/>
          <p:nvPr/>
        </p:nvSpPr>
        <p:spPr>
          <a:xfrm>
            <a:off x="365760" y="1600200"/>
            <a:ext cx="1965960" cy="1691640"/>
          </a:xfrm>
          <a:prstGeom prst="roundRect">
            <a:avLst>
              <a:gd name="adj" fmla="val 6486"/>
            </a:avLst>
          </a:prstGeom>
          <a:solidFill>
            <a:srgbClr val="1A2D5A">
              <a:alpha val="90000"/>
            </a:srgbClr>
          </a:solidFill>
          <a:ln w="25400">
            <a:solidFill>
              <a:srgbClr val="D4943A"/>
            </a:solidFill>
            <a:prstDash val="solid"/>
          </a:ln>
        </p:spPr>
      </p:sp>
      <p:sp>
        <p:nvSpPr>
          <p:cNvPr id="10" name="Text 7"/>
          <p:cNvSpPr/>
          <p:nvPr/>
        </p:nvSpPr>
        <p:spPr>
          <a:xfrm>
            <a:off x="502920" y="1719072"/>
            <a:ext cx="1691640" cy="292608"/>
          </a:xfrm>
          <a:prstGeom prst="rect">
            <a:avLst/>
          </a:prstGeom>
          <a:noFill/>
          <a:ln/>
        </p:spPr>
        <p:txBody>
          <a:bodyPr wrap="square" lIns="0" tIns="0" rIns="0" bIns="0" rtlCol="0" anchor="ctr"/>
          <a:lstStyle/>
          <a:p>
            <a:pPr algn="ctr" indent="0" marL="0">
              <a:buNone/>
            </a:pPr>
            <a:r>
              <a:rPr lang="en-US" sz="1300" b="1" dirty="0">
                <a:solidFill>
                  <a:srgbClr val="D4943A"/>
                </a:solidFill>
                <a:latin typeface="Cambria" pitchFamily="34" charset="0"/>
                <a:ea typeface="Cambria" pitchFamily="34" charset="-122"/>
                <a:cs typeface="Cambria" pitchFamily="34" charset="-120"/>
              </a:rPr>
              <a:t>Architecture</a:t>
            </a:r>
            <a:endParaRPr lang="en-US" sz="1300" dirty="0"/>
          </a:p>
        </p:txBody>
      </p:sp>
      <p:sp>
        <p:nvSpPr>
          <p:cNvPr id="11" name="Text 8"/>
          <p:cNvSpPr/>
          <p:nvPr/>
        </p:nvSpPr>
        <p:spPr>
          <a:xfrm>
            <a:off x="502920" y="2057400"/>
            <a:ext cx="1691640" cy="502920"/>
          </a:xfrm>
          <a:prstGeom prst="rect">
            <a:avLst/>
          </a:prstGeom>
          <a:noFill/>
          <a:ln/>
        </p:spPr>
        <p:txBody>
          <a:bodyPr wrap="square" lIns="0" tIns="0" rIns="0" bIns="0" rtlCol="0" anchor="ctr"/>
          <a:lstStyle/>
          <a:p>
            <a:pPr algn="ctr" indent="0" marL="0">
              <a:buNone/>
            </a:pPr>
            <a:r>
              <a:rPr lang="en-US" sz="1000" i="1" dirty="0">
                <a:solidFill>
                  <a:srgbClr val="D6F2FB"/>
                </a:solidFill>
                <a:latin typeface="Calibri" pitchFamily="34" charset="0"/>
                <a:ea typeface="Calibri" pitchFamily="34" charset="-122"/>
                <a:cs typeface="Calibri" pitchFamily="34" charset="-120"/>
              </a:rPr>
              <a:t>Pyramids, cities, observatories</a:t>
            </a:r>
            <a:endParaRPr lang="en-US" sz="1000" dirty="0"/>
          </a:p>
        </p:txBody>
      </p:sp>
      <p:sp>
        <p:nvSpPr>
          <p:cNvPr id="12" name="Text 9"/>
          <p:cNvSpPr/>
          <p:nvPr/>
        </p:nvSpPr>
        <p:spPr>
          <a:xfrm>
            <a:off x="502920" y="2651760"/>
            <a:ext cx="1691640" cy="502920"/>
          </a:xfrm>
          <a:prstGeom prst="rect">
            <a:avLst/>
          </a:prstGeom>
          <a:noFill/>
          <a:ln/>
        </p:spPr>
        <p:txBody>
          <a:bodyPr wrap="square" lIns="0" tIns="0" rIns="0" bIns="0" rtlCol="0" anchor="ctr"/>
          <a:lstStyle/>
          <a:p>
            <a:pPr algn="ctr" indent="0" marL="0">
              <a:buNone/>
            </a:pPr>
            <a:r>
              <a:rPr lang="en-US" sz="900" spc="100" kern="0" dirty="0">
                <a:solidFill>
                  <a:srgbClr val="D4943A"/>
                </a:solidFill>
                <a:latin typeface="Calibri" pitchFamily="34" charset="0"/>
                <a:ea typeface="Calibri" pitchFamily="34" charset="-122"/>
                <a:cs typeface="Calibri" pitchFamily="34" charset="-120"/>
              </a:rPr>
              <a:t>Achievement</a:t>
            </a:r>
            <a:endParaRPr lang="en-US" sz="900" dirty="0"/>
          </a:p>
        </p:txBody>
      </p:sp>
      <p:sp>
        <p:nvSpPr>
          <p:cNvPr id="13" name="Shape 10"/>
          <p:cNvSpPr/>
          <p:nvPr/>
        </p:nvSpPr>
        <p:spPr>
          <a:xfrm>
            <a:off x="2487168" y="1600200"/>
            <a:ext cx="1965960" cy="1691640"/>
          </a:xfrm>
          <a:prstGeom prst="roundRect">
            <a:avLst>
              <a:gd name="adj" fmla="val 6486"/>
            </a:avLst>
          </a:prstGeom>
          <a:solidFill>
            <a:srgbClr val="1A2D5A">
              <a:alpha val="90000"/>
            </a:srgbClr>
          </a:solidFill>
          <a:ln w="25400">
            <a:solidFill>
              <a:srgbClr val="1A8A7D"/>
            </a:solidFill>
            <a:prstDash val="solid"/>
          </a:ln>
        </p:spPr>
      </p:sp>
      <p:sp>
        <p:nvSpPr>
          <p:cNvPr id="14" name="Text 11"/>
          <p:cNvSpPr/>
          <p:nvPr/>
        </p:nvSpPr>
        <p:spPr>
          <a:xfrm>
            <a:off x="2624328" y="1719072"/>
            <a:ext cx="1691640" cy="292608"/>
          </a:xfrm>
          <a:prstGeom prst="rect">
            <a:avLst/>
          </a:prstGeom>
          <a:noFill/>
          <a:ln/>
        </p:spPr>
        <p:txBody>
          <a:bodyPr wrap="square" lIns="0" tIns="0" rIns="0" bIns="0" rtlCol="0" anchor="ctr"/>
          <a:lstStyle/>
          <a:p>
            <a:pPr algn="ctr" indent="0" marL="0">
              <a:buNone/>
            </a:pPr>
            <a:r>
              <a:rPr lang="en-US" sz="1300" b="1" dirty="0">
                <a:solidFill>
                  <a:srgbClr val="1A8A7D"/>
                </a:solidFill>
                <a:latin typeface="Cambria" pitchFamily="34" charset="0"/>
                <a:ea typeface="Cambria" pitchFamily="34" charset="-122"/>
                <a:cs typeface="Cambria" pitchFamily="34" charset="-120"/>
              </a:rPr>
              <a:t>Writing</a:t>
            </a:r>
            <a:endParaRPr lang="en-US" sz="1300" dirty="0"/>
          </a:p>
        </p:txBody>
      </p:sp>
      <p:sp>
        <p:nvSpPr>
          <p:cNvPr id="15" name="Text 12"/>
          <p:cNvSpPr/>
          <p:nvPr/>
        </p:nvSpPr>
        <p:spPr>
          <a:xfrm>
            <a:off x="2624328" y="2057400"/>
            <a:ext cx="1691640" cy="502920"/>
          </a:xfrm>
          <a:prstGeom prst="rect">
            <a:avLst/>
          </a:prstGeom>
          <a:noFill/>
          <a:ln/>
        </p:spPr>
        <p:txBody>
          <a:bodyPr wrap="square" lIns="0" tIns="0" rIns="0" bIns="0" rtlCol="0" anchor="ctr"/>
          <a:lstStyle/>
          <a:p>
            <a:pPr algn="ctr" indent="0" marL="0">
              <a:buNone/>
            </a:pPr>
            <a:r>
              <a:rPr lang="en-US" sz="1000" i="1" dirty="0">
                <a:solidFill>
                  <a:srgbClr val="D6F2FB"/>
                </a:solidFill>
                <a:latin typeface="Calibri" pitchFamily="34" charset="0"/>
                <a:ea typeface="Calibri" pitchFamily="34" charset="-122"/>
                <a:cs typeface="Calibri" pitchFamily="34" charset="-120"/>
              </a:rPr>
              <a:t>Hieroglyphs, codices, stone carvings</a:t>
            </a:r>
            <a:endParaRPr lang="en-US" sz="1000" dirty="0"/>
          </a:p>
        </p:txBody>
      </p:sp>
      <p:sp>
        <p:nvSpPr>
          <p:cNvPr id="16" name="Text 13"/>
          <p:cNvSpPr/>
          <p:nvPr/>
        </p:nvSpPr>
        <p:spPr>
          <a:xfrm>
            <a:off x="2624328" y="2651760"/>
            <a:ext cx="1691640" cy="502920"/>
          </a:xfrm>
          <a:prstGeom prst="rect">
            <a:avLst/>
          </a:prstGeom>
          <a:noFill/>
          <a:ln/>
        </p:spPr>
        <p:txBody>
          <a:bodyPr wrap="square" lIns="0" tIns="0" rIns="0" bIns="0" rtlCol="0" anchor="ctr"/>
          <a:lstStyle/>
          <a:p>
            <a:pPr algn="ctr" indent="0" marL="0">
              <a:buNone/>
            </a:pPr>
            <a:r>
              <a:rPr lang="en-US" sz="900" spc="100" kern="0" dirty="0">
                <a:solidFill>
                  <a:srgbClr val="1A8A7D"/>
                </a:solidFill>
                <a:latin typeface="Calibri" pitchFamily="34" charset="0"/>
                <a:ea typeface="Calibri" pitchFamily="34" charset="-122"/>
                <a:cs typeface="Calibri" pitchFamily="34" charset="-120"/>
              </a:rPr>
              <a:t>Achievement</a:t>
            </a:r>
            <a:endParaRPr lang="en-US" sz="900" dirty="0"/>
          </a:p>
        </p:txBody>
      </p:sp>
      <p:sp>
        <p:nvSpPr>
          <p:cNvPr id="17" name="Shape 14"/>
          <p:cNvSpPr/>
          <p:nvPr/>
        </p:nvSpPr>
        <p:spPr>
          <a:xfrm>
            <a:off x="4608576" y="1600200"/>
            <a:ext cx="1965960" cy="1691640"/>
          </a:xfrm>
          <a:prstGeom prst="roundRect">
            <a:avLst>
              <a:gd name="adj" fmla="val 6486"/>
            </a:avLst>
          </a:prstGeom>
          <a:solidFill>
            <a:srgbClr val="1A2D5A">
              <a:alpha val="90000"/>
            </a:srgbClr>
          </a:solidFill>
          <a:ln w="25400">
            <a:solidFill>
              <a:srgbClr val="8B6FC0"/>
            </a:solidFill>
            <a:prstDash val="solid"/>
          </a:ln>
        </p:spPr>
      </p:sp>
      <p:sp>
        <p:nvSpPr>
          <p:cNvPr id="18" name="Text 15"/>
          <p:cNvSpPr/>
          <p:nvPr/>
        </p:nvSpPr>
        <p:spPr>
          <a:xfrm>
            <a:off x="4745736" y="1719072"/>
            <a:ext cx="1691640" cy="292608"/>
          </a:xfrm>
          <a:prstGeom prst="rect">
            <a:avLst/>
          </a:prstGeom>
          <a:noFill/>
          <a:ln/>
        </p:spPr>
        <p:txBody>
          <a:bodyPr wrap="square" lIns="0" tIns="0" rIns="0" bIns="0" rtlCol="0" anchor="ctr"/>
          <a:lstStyle/>
          <a:p>
            <a:pPr algn="ctr" indent="0" marL="0">
              <a:buNone/>
            </a:pPr>
            <a:r>
              <a:rPr lang="en-US" sz="1300" b="1" dirty="0">
                <a:solidFill>
                  <a:srgbClr val="8B6FC0"/>
                </a:solidFill>
                <a:latin typeface="Cambria" pitchFamily="34" charset="0"/>
                <a:ea typeface="Cambria" pitchFamily="34" charset="-122"/>
                <a:cs typeface="Cambria" pitchFamily="34" charset="-120"/>
              </a:rPr>
              <a:t>Mathematics</a:t>
            </a:r>
            <a:endParaRPr lang="en-US" sz="1300" dirty="0"/>
          </a:p>
        </p:txBody>
      </p:sp>
      <p:sp>
        <p:nvSpPr>
          <p:cNvPr id="19" name="Text 16"/>
          <p:cNvSpPr/>
          <p:nvPr/>
        </p:nvSpPr>
        <p:spPr>
          <a:xfrm>
            <a:off x="4745736" y="2057400"/>
            <a:ext cx="1691640" cy="502920"/>
          </a:xfrm>
          <a:prstGeom prst="rect">
            <a:avLst/>
          </a:prstGeom>
          <a:noFill/>
          <a:ln/>
        </p:spPr>
        <p:txBody>
          <a:bodyPr wrap="square" lIns="0" tIns="0" rIns="0" bIns="0" rtlCol="0" anchor="ctr"/>
          <a:lstStyle/>
          <a:p>
            <a:pPr algn="ctr" indent="0" marL="0">
              <a:buNone/>
            </a:pPr>
            <a:r>
              <a:rPr lang="en-US" sz="1000" i="1" dirty="0">
                <a:solidFill>
                  <a:srgbClr val="D6F2FB"/>
                </a:solidFill>
                <a:latin typeface="Calibri" pitchFamily="34" charset="0"/>
                <a:ea typeface="Calibri" pitchFamily="34" charset="-122"/>
                <a:cs typeface="Calibri" pitchFamily="34" charset="-120"/>
              </a:rPr>
              <a:t>Base-20 system, concept of zero</a:t>
            </a:r>
            <a:endParaRPr lang="en-US" sz="1000" dirty="0"/>
          </a:p>
        </p:txBody>
      </p:sp>
      <p:sp>
        <p:nvSpPr>
          <p:cNvPr id="20" name="Text 17"/>
          <p:cNvSpPr/>
          <p:nvPr/>
        </p:nvSpPr>
        <p:spPr>
          <a:xfrm>
            <a:off x="4745736" y="2651760"/>
            <a:ext cx="1691640" cy="502920"/>
          </a:xfrm>
          <a:prstGeom prst="rect">
            <a:avLst/>
          </a:prstGeom>
          <a:noFill/>
          <a:ln/>
        </p:spPr>
        <p:txBody>
          <a:bodyPr wrap="square" lIns="0" tIns="0" rIns="0" bIns="0" rtlCol="0" anchor="ctr"/>
          <a:lstStyle/>
          <a:p>
            <a:pPr algn="ctr" indent="0" marL="0">
              <a:buNone/>
            </a:pPr>
            <a:r>
              <a:rPr lang="en-US" sz="900" spc="100" kern="0" dirty="0">
                <a:solidFill>
                  <a:srgbClr val="8B6FC0"/>
                </a:solidFill>
                <a:latin typeface="Calibri" pitchFamily="34" charset="0"/>
                <a:ea typeface="Calibri" pitchFamily="34" charset="-122"/>
                <a:cs typeface="Calibri" pitchFamily="34" charset="-120"/>
              </a:rPr>
              <a:t>Achievement</a:t>
            </a:r>
            <a:endParaRPr lang="en-US" sz="900" dirty="0"/>
          </a:p>
        </p:txBody>
      </p:sp>
      <p:sp>
        <p:nvSpPr>
          <p:cNvPr id="21" name="Shape 18"/>
          <p:cNvSpPr/>
          <p:nvPr/>
        </p:nvSpPr>
        <p:spPr>
          <a:xfrm>
            <a:off x="6729984" y="1600200"/>
            <a:ext cx="1965960" cy="1691640"/>
          </a:xfrm>
          <a:prstGeom prst="roundRect">
            <a:avLst>
              <a:gd name="adj" fmla="val 6486"/>
            </a:avLst>
          </a:prstGeom>
          <a:solidFill>
            <a:srgbClr val="1A2D5A">
              <a:alpha val="90000"/>
            </a:srgbClr>
          </a:solidFill>
          <a:ln w="25400">
            <a:solidFill>
              <a:srgbClr val="55C8E8"/>
            </a:solidFill>
            <a:prstDash val="solid"/>
          </a:ln>
        </p:spPr>
      </p:sp>
      <p:sp>
        <p:nvSpPr>
          <p:cNvPr id="22" name="Text 19"/>
          <p:cNvSpPr/>
          <p:nvPr/>
        </p:nvSpPr>
        <p:spPr>
          <a:xfrm>
            <a:off x="6867144" y="1719072"/>
            <a:ext cx="1691640" cy="292608"/>
          </a:xfrm>
          <a:prstGeom prst="rect">
            <a:avLst/>
          </a:prstGeom>
          <a:noFill/>
          <a:ln/>
        </p:spPr>
        <p:txBody>
          <a:bodyPr wrap="square" lIns="0" tIns="0" rIns="0" bIns="0" rtlCol="0" anchor="ctr"/>
          <a:lstStyle/>
          <a:p>
            <a:pPr algn="ctr" indent="0" marL="0">
              <a:buNone/>
            </a:pPr>
            <a:r>
              <a:rPr lang="en-US" sz="1300" b="1" dirty="0">
                <a:solidFill>
                  <a:srgbClr val="55C8E8"/>
                </a:solidFill>
                <a:latin typeface="Cambria" pitchFamily="34" charset="0"/>
                <a:ea typeface="Cambria" pitchFamily="34" charset="-122"/>
                <a:cs typeface="Cambria" pitchFamily="34" charset="-120"/>
              </a:rPr>
              <a:t>Astronomy</a:t>
            </a:r>
            <a:endParaRPr lang="en-US" sz="1300" dirty="0"/>
          </a:p>
        </p:txBody>
      </p:sp>
      <p:sp>
        <p:nvSpPr>
          <p:cNvPr id="23" name="Text 20"/>
          <p:cNvSpPr/>
          <p:nvPr/>
        </p:nvSpPr>
        <p:spPr>
          <a:xfrm>
            <a:off x="6867144" y="2057400"/>
            <a:ext cx="1691640" cy="502920"/>
          </a:xfrm>
          <a:prstGeom prst="rect">
            <a:avLst/>
          </a:prstGeom>
          <a:noFill/>
          <a:ln/>
        </p:spPr>
        <p:txBody>
          <a:bodyPr wrap="square" lIns="0" tIns="0" rIns="0" bIns="0" rtlCol="0" anchor="ctr"/>
          <a:lstStyle/>
          <a:p>
            <a:pPr algn="ctr" indent="0" marL="0">
              <a:buNone/>
            </a:pPr>
            <a:r>
              <a:rPr lang="en-US" sz="1000" i="1" dirty="0">
                <a:solidFill>
                  <a:srgbClr val="D6F2FB"/>
                </a:solidFill>
                <a:latin typeface="Calibri" pitchFamily="34" charset="0"/>
                <a:ea typeface="Calibri" pitchFamily="34" charset="-122"/>
                <a:cs typeface="Calibri" pitchFamily="34" charset="-120"/>
              </a:rPr>
              <a:t>Calendars, eclipse prediction, star tracking</a:t>
            </a:r>
            <a:endParaRPr lang="en-US" sz="1000" dirty="0"/>
          </a:p>
        </p:txBody>
      </p:sp>
      <p:sp>
        <p:nvSpPr>
          <p:cNvPr id="24" name="Text 21"/>
          <p:cNvSpPr/>
          <p:nvPr/>
        </p:nvSpPr>
        <p:spPr>
          <a:xfrm>
            <a:off x="6867144" y="2651760"/>
            <a:ext cx="1691640" cy="502920"/>
          </a:xfrm>
          <a:prstGeom prst="rect">
            <a:avLst/>
          </a:prstGeom>
          <a:noFill/>
          <a:ln/>
        </p:spPr>
        <p:txBody>
          <a:bodyPr wrap="square" lIns="0" tIns="0" rIns="0" bIns="0" rtlCol="0" anchor="ctr"/>
          <a:lstStyle/>
          <a:p>
            <a:pPr algn="ctr" indent="0" marL="0">
              <a:buNone/>
            </a:pPr>
            <a:r>
              <a:rPr lang="en-US" sz="900" spc="100" kern="0" dirty="0">
                <a:solidFill>
                  <a:srgbClr val="55C8E8"/>
                </a:solidFill>
                <a:latin typeface="Calibri" pitchFamily="34" charset="0"/>
                <a:ea typeface="Calibri" pitchFamily="34" charset="-122"/>
                <a:cs typeface="Calibri" pitchFamily="34" charset="-120"/>
              </a:rPr>
              <a:t>Achievement</a:t>
            </a:r>
            <a:endParaRPr lang="en-US" sz="900" dirty="0"/>
          </a:p>
        </p:txBody>
      </p:sp>
      <p:sp>
        <p:nvSpPr>
          <p:cNvPr id="25" name="Shape 22"/>
          <p:cNvSpPr/>
          <p:nvPr/>
        </p:nvSpPr>
        <p:spPr>
          <a:xfrm>
            <a:off x="365760" y="3429000"/>
            <a:ext cx="8412480" cy="1417320"/>
          </a:xfrm>
          <a:prstGeom prst="roundRect">
            <a:avLst>
              <a:gd name="adj" fmla="val 7742"/>
            </a:avLst>
          </a:prstGeom>
          <a:solidFill>
            <a:srgbClr val="1A2D5A">
              <a:alpha val="90000"/>
            </a:srgbClr>
          </a:solidFill>
          <a:ln w="12700">
            <a:solidFill>
              <a:srgbClr val="55C8E8"/>
            </a:solidFill>
            <a:prstDash val="solid"/>
          </a:ln>
        </p:spPr>
      </p:sp>
      <p:sp>
        <p:nvSpPr>
          <p:cNvPr id="26" name="Text 23"/>
          <p:cNvSpPr/>
          <p:nvPr/>
        </p:nvSpPr>
        <p:spPr>
          <a:xfrm>
            <a:off x="548640" y="3520440"/>
            <a:ext cx="8046720" cy="274320"/>
          </a:xfrm>
          <a:prstGeom prst="rect">
            <a:avLst/>
          </a:prstGeom>
          <a:noFill/>
          <a:ln/>
        </p:spPr>
        <p:txBody>
          <a:bodyPr wrap="square" lIns="0" tIns="0" rIns="0" bIns="0" rtlCol="0" anchor="ctr"/>
          <a:lstStyle/>
          <a:p>
            <a:pPr indent="0" marL="0">
              <a:buNone/>
            </a:pPr>
            <a:r>
              <a:rPr lang="en-US" sz="1200" b="1" dirty="0">
                <a:solidFill>
                  <a:srgbClr val="55C8E8"/>
                </a:solidFill>
                <a:latin typeface="Cambria" pitchFamily="34" charset="0"/>
                <a:ea typeface="Cambria" pitchFamily="34" charset="-122"/>
                <a:cs typeface="Cambria" pitchFamily="34" charset="-120"/>
              </a:rPr>
              <a:t>The Gazette's Conclusion</a:t>
            </a:r>
            <a:endParaRPr lang="en-US" sz="1200" dirty="0"/>
          </a:p>
        </p:txBody>
      </p:sp>
      <p:sp>
        <p:nvSpPr>
          <p:cNvPr id="27" name="Text 24"/>
          <p:cNvSpPr/>
          <p:nvPr/>
        </p:nvSpPr>
        <p:spPr>
          <a:xfrm>
            <a:off x="548640" y="3822192"/>
            <a:ext cx="8046720" cy="914400"/>
          </a:xfrm>
          <a:prstGeom prst="rect">
            <a:avLst/>
          </a:prstGeom>
          <a:noFill/>
          <a:ln/>
        </p:spPr>
        <p:txBody>
          <a:bodyPr wrap="square" lIns="0" tIns="0" rIns="0" bIns="0" rtlCol="0" anchor="t"/>
          <a:lstStyle/>
          <a:p>
            <a:pPr indent="0" marL="0">
              <a:buNone/>
            </a:pPr>
            <a:r>
              <a:rPr lang="en-US" sz="1050" dirty="0">
                <a:solidFill>
                  <a:srgbClr val="D6F2FB"/>
                </a:solidFill>
                <a:latin typeface="Calibri" pitchFamily="34" charset="0"/>
                <a:ea typeface="Calibri" pitchFamily="34" charset="-122"/>
                <a:cs typeface="Calibri" pitchFamily="34" charset="-120"/>
              </a:rPr>
              <a:t>The Herald wanted to reduce the Maya to a single achievement. But the evidence — pyramids, writing, mathematics, astronomy, agriculture, trade — paints a picture of a civilization with many accomplishments working together. The achievements weren't separate: they reinforced each other. That is the story the Gazette will tell.</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594360"/>
          </a:xfrm>
          <a:prstGeom prst="rect">
            <a:avLst/>
          </a:prstGeom>
          <a:solidFill>
            <a:srgbClr val="0E1C42"/>
          </a:solidFill>
          <a:ln/>
        </p:spPr>
      </p:sp>
      <p:sp>
        <p:nvSpPr>
          <p:cNvPr id="4" name="Text 2"/>
          <p:cNvSpPr/>
          <p:nvPr/>
        </p:nvSpPr>
        <p:spPr>
          <a:xfrm>
            <a:off x="274320" y="137160"/>
            <a:ext cx="8595360" cy="347472"/>
          </a:xfrm>
          <a:prstGeom prst="rect">
            <a:avLst/>
          </a:prstGeom>
          <a:noFill/>
          <a:ln/>
        </p:spPr>
        <p:txBody>
          <a:bodyPr wrap="square" lIns="0" tIns="0" rIns="0" bIns="0" rtlCol="0" anchor="ctr"/>
          <a:lstStyle/>
          <a:p>
            <a:pPr indent="0" marL="0">
              <a:buNone/>
            </a:pPr>
            <a:r>
              <a:rPr lang="en-US" sz="1300" b="1" spc="100" kern="0" dirty="0">
                <a:solidFill>
                  <a:srgbClr val="D4943A"/>
                </a:solidFill>
                <a:latin typeface="Cambria" pitchFamily="34" charset="0"/>
                <a:ea typeface="Cambria" pitchFamily="34" charset="-122"/>
                <a:cs typeface="Cambria" pitchFamily="34" charset="-120"/>
              </a:rPr>
              <a:t>GUIDED PRACTICE: I DO — Watch How I Investigate</a:t>
            </a:r>
            <a:endParaRPr lang="en-US" sz="1300" dirty="0"/>
          </a:p>
        </p:txBody>
      </p:sp>
      <p:sp>
        <p:nvSpPr>
          <p:cNvPr id="5" name="Shape 3"/>
          <p:cNvSpPr/>
          <p:nvPr/>
        </p:nvSpPr>
        <p:spPr>
          <a:xfrm>
            <a:off x="274320" y="731520"/>
            <a:ext cx="8595360" cy="914400"/>
          </a:xfrm>
          <a:prstGeom prst="roundRect">
            <a:avLst>
              <a:gd name="adj" fmla="val 10000"/>
            </a:avLst>
          </a:prstGeom>
          <a:solidFill>
            <a:srgbClr val="1A2D5A"/>
          </a:solidFill>
          <a:ln w="19050">
            <a:solidFill>
              <a:srgbClr val="55C8E8"/>
            </a:solidFill>
            <a:prstDash val="solid"/>
          </a:ln>
        </p:spPr>
      </p:sp>
      <p:sp>
        <p:nvSpPr>
          <p:cNvPr id="6" name="Text 4"/>
          <p:cNvSpPr/>
          <p:nvPr/>
        </p:nvSpPr>
        <p:spPr>
          <a:xfrm>
            <a:off x="457200" y="804672"/>
            <a:ext cx="8229600" cy="274320"/>
          </a:xfrm>
          <a:prstGeom prst="rect">
            <a:avLst/>
          </a:prstGeom>
          <a:noFill/>
          <a:ln/>
        </p:spPr>
        <p:txBody>
          <a:bodyPr wrap="square" lIns="0" tIns="0" rIns="0" bIns="0" rtlCol="0" anchor="ctr"/>
          <a:lstStyle/>
          <a:p>
            <a:pPr indent="0" marL="0">
              <a:buNone/>
            </a:pPr>
            <a:r>
              <a:rPr lang="en-US" sz="1000" b="1" spc="100" kern="0" dirty="0">
                <a:solidFill>
                  <a:srgbClr val="55C8E8"/>
                </a:solidFill>
                <a:latin typeface="Calibri" pitchFamily="34" charset="0"/>
                <a:ea typeface="Calibri" pitchFamily="34" charset="-122"/>
                <a:cs typeface="Calibri" pitchFamily="34" charset="-120"/>
              </a:rPr>
              <a:t>Editor's Notebook — Question 1:</a:t>
            </a:r>
            <a:endParaRPr lang="en-US" sz="1000" dirty="0"/>
          </a:p>
        </p:txBody>
      </p:sp>
      <p:sp>
        <p:nvSpPr>
          <p:cNvPr id="7" name="Text 5"/>
          <p:cNvSpPr/>
          <p:nvPr/>
        </p:nvSpPr>
        <p:spPr>
          <a:xfrm>
            <a:off x="457200" y="1097280"/>
            <a:ext cx="8229600" cy="411480"/>
          </a:xfrm>
          <a:prstGeom prst="rect">
            <a:avLst/>
          </a:prstGeom>
          <a:noFill/>
          <a:ln/>
        </p:spPr>
        <p:txBody>
          <a:bodyPr wrap="square" lIns="0" tIns="0" rIns="0" bIns="0" rtlCol="0" anchor="ctr"/>
          <a:lstStyle/>
          <a:p>
            <a:pPr indent="0" marL="0">
              <a:buNone/>
            </a:pPr>
            <a:r>
              <a:rPr lang="en-US" sz="1200" i="1" dirty="0">
                <a:solidFill>
                  <a:srgbClr val="D6F2FB"/>
                </a:solidFill>
                <a:latin typeface="Cambria" pitchFamily="34" charset="0"/>
                <a:ea typeface="Cambria" pitchFamily="34" charset="-122"/>
                <a:cs typeface="Cambria" pitchFamily="34" charset="-120"/>
              </a:rPr>
              <a:t>"Name at least two achievements of the Maya. What does each one tell us about their civilization?"</a:t>
            </a:r>
            <a:endParaRPr lang="en-US" sz="1200" dirty="0"/>
          </a:p>
        </p:txBody>
      </p:sp>
      <p:sp>
        <p:nvSpPr>
          <p:cNvPr id="8" name="Text 6"/>
          <p:cNvSpPr/>
          <p:nvPr/>
        </p:nvSpPr>
        <p:spPr>
          <a:xfrm>
            <a:off x="274320" y="1783080"/>
            <a:ext cx="8595360" cy="274320"/>
          </a:xfrm>
          <a:prstGeom prst="rect">
            <a:avLst/>
          </a:prstGeom>
          <a:noFill/>
          <a:ln/>
        </p:spPr>
        <p:txBody>
          <a:bodyPr wrap="square" lIns="0" tIns="0" rIns="0" bIns="0" rtlCol="0" anchor="ctr"/>
          <a:lstStyle/>
          <a:p>
            <a:pPr indent="0" marL="0">
              <a:buNone/>
            </a:pPr>
            <a:r>
              <a:rPr lang="en-US" sz="1100" b="1" dirty="0">
                <a:solidFill>
                  <a:srgbClr val="D4943A"/>
                </a:solidFill>
                <a:latin typeface="Calibri" pitchFamily="34" charset="0"/>
                <a:ea typeface="Calibri" pitchFamily="34" charset="-122"/>
                <a:cs typeface="Calibri" pitchFamily="34" charset="-120"/>
              </a:rPr>
              <a:t>Ms. Avery thinks aloud:</a:t>
            </a:r>
            <a:endParaRPr lang="en-US" sz="1100" dirty="0"/>
          </a:p>
        </p:txBody>
      </p:sp>
      <p:sp>
        <p:nvSpPr>
          <p:cNvPr id="9" name="Shape 7"/>
          <p:cNvSpPr/>
          <p:nvPr/>
        </p:nvSpPr>
        <p:spPr>
          <a:xfrm>
            <a:off x="274320" y="2121408"/>
            <a:ext cx="8595360" cy="566928"/>
          </a:xfrm>
          <a:prstGeom prst="roundRect">
            <a:avLst>
              <a:gd name="adj" fmla="val 12903"/>
            </a:avLst>
          </a:prstGeom>
          <a:solidFill>
            <a:srgbClr val="FFFFFF"/>
          </a:solidFill>
          <a:ln w="12700">
            <a:solidFill>
              <a:srgbClr val="D4943A"/>
            </a:solidFill>
            <a:prstDash val="solid"/>
          </a:ln>
        </p:spPr>
      </p:sp>
      <p:sp>
        <p:nvSpPr>
          <p:cNvPr id="10" name="Text 8"/>
          <p:cNvSpPr/>
          <p:nvPr/>
        </p:nvSpPr>
        <p:spPr>
          <a:xfrm>
            <a:off x="502920" y="2176272"/>
            <a:ext cx="2011680" cy="457200"/>
          </a:xfrm>
          <a:prstGeom prst="rect">
            <a:avLst/>
          </a:prstGeom>
          <a:noFill/>
          <a:ln/>
        </p:spPr>
        <p:txBody>
          <a:bodyPr wrap="square" lIns="0" tIns="0" rIns="0" bIns="0" rtlCol="0" anchor="ctr"/>
          <a:lstStyle/>
          <a:p>
            <a:pPr indent="0" marL="0">
              <a:buNone/>
            </a:pPr>
            <a:r>
              <a:rPr lang="en-US" sz="1000" b="1" dirty="0">
                <a:solidFill>
                  <a:srgbClr val="D4943A"/>
                </a:solidFill>
                <a:latin typeface="Calibri" pitchFamily="34" charset="0"/>
                <a:ea typeface="Calibri" pitchFamily="34" charset="-122"/>
                <a:cs typeface="Calibri" pitchFamily="34" charset="-120"/>
              </a:rPr>
              <a:t>Step 1: Name an achievement</a:t>
            </a:r>
            <a:endParaRPr lang="en-US" sz="1000" dirty="0"/>
          </a:p>
        </p:txBody>
      </p:sp>
      <p:sp>
        <p:nvSpPr>
          <p:cNvPr id="11" name="Text 9"/>
          <p:cNvSpPr/>
          <p:nvPr/>
        </p:nvSpPr>
        <p:spPr>
          <a:xfrm>
            <a:off x="2606040" y="2176272"/>
            <a:ext cx="6126480" cy="457200"/>
          </a:xfrm>
          <a:prstGeom prst="rect">
            <a:avLst/>
          </a:prstGeom>
          <a:noFill/>
          <a:ln/>
        </p:spPr>
        <p:txBody>
          <a:bodyPr wrap="square" lIns="0" tIns="0" rIns="0" bIns="0" rtlCol="0" anchor="ctr"/>
          <a:lstStyle/>
          <a:p>
            <a:pPr indent="0" marL="0">
              <a:buNone/>
            </a:pPr>
            <a:r>
              <a:rPr lang="en-US" sz="1050" dirty="0">
                <a:solidFill>
                  <a:srgbClr val="0E1C42"/>
                </a:solidFill>
                <a:latin typeface="Calibri" pitchFamily="34" charset="0"/>
                <a:ea typeface="Calibri" pitchFamily="34" charset="-122"/>
                <a:cs typeface="Calibri" pitchFamily="34" charset="-120"/>
              </a:rPr>
              <a:t>I'll start with what's most visible in our evidence — the pyramids. That's my first achievement: architecture.</a:t>
            </a:r>
            <a:endParaRPr lang="en-US" sz="1050" dirty="0"/>
          </a:p>
        </p:txBody>
      </p:sp>
      <p:sp>
        <p:nvSpPr>
          <p:cNvPr id="12" name="Shape 10"/>
          <p:cNvSpPr/>
          <p:nvPr/>
        </p:nvSpPr>
        <p:spPr>
          <a:xfrm>
            <a:off x="274320" y="2779776"/>
            <a:ext cx="8595360" cy="566928"/>
          </a:xfrm>
          <a:prstGeom prst="roundRect">
            <a:avLst>
              <a:gd name="adj" fmla="val 12903"/>
            </a:avLst>
          </a:prstGeom>
          <a:solidFill>
            <a:srgbClr val="FFFFFF"/>
          </a:solidFill>
          <a:ln w="12700">
            <a:solidFill>
              <a:srgbClr val="D4943A"/>
            </a:solidFill>
            <a:prstDash val="solid"/>
          </a:ln>
        </p:spPr>
      </p:sp>
      <p:sp>
        <p:nvSpPr>
          <p:cNvPr id="13" name="Text 11"/>
          <p:cNvSpPr/>
          <p:nvPr/>
        </p:nvSpPr>
        <p:spPr>
          <a:xfrm>
            <a:off x="502920" y="2834640"/>
            <a:ext cx="2011680" cy="457200"/>
          </a:xfrm>
          <a:prstGeom prst="rect">
            <a:avLst/>
          </a:prstGeom>
          <a:noFill/>
          <a:ln/>
        </p:spPr>
        <p:txBody>
          <a:bodyPr wrap="square" lIns="0" tIns="0" rIns="0" bIns="0" rtlCol="0" anchor="ctr"/>
          <a:lstStyle/>
          <a:p>
            <a:pPr indent="0" marL="0">
              <a:buNone/>
            </a:pPr>
            <a:r>
              <a:rPr lang="en-US" sz="1000" b="1" dirty="0">
                <a:solidFill>
                  <a:srgbClr val="D4943A"/>
                </a:solidFill>
                <a:latin typeface="Calibri" pitchFamily="34" charset="0"/>
                <a:ea typeface="Calibri" pitchFamily="34" charset="-122"/>
                <a:cs typeface="Calibri" pitchFamily="34" charset="-120"/>
              </a:rPr>
              <a:t>Step 2: What does it tell us?</a:t>
            </a:r>
            <a:endParaRPr lang="en-US" sz="1000" dirty="0"/>
          </a:p>
        </p:txBody>
      </p:sp>
      <p:sp>
        <p:nvSpPr>
          <p:cNvPr id="14" name="Text 12"/>
          <p:cNvSpPr/>
          <p:nvPr/>
        </p:nvSpPr>
        <p:spPr>
          <a:xfrm>
            <a:off x="2606040" y="2834640"/>
            <a:ext cx="6126480" cy="457200"/>
          </a:xfrm>
          <a:prstGeom prst="rect">
            <a:avLst/>
          </a:prstGeom>
          <a:noFill/>
          <a:ln/>
        </p:spPr>
        <p:txBody>
          <a:bodyPr wrap="square" lIns="0" tIns="0" rIns="0" bIns="0" rtlCol="0" anchor="ctr"/>
          <a:lstStyle/>
          <a:p>
            <a:pPr indent="0" marL="0">
              <a:buNone/>
            </a:pPr>
            <a:r>
              <a:rPr lang="en-US" sz="1050" dirty="0">
                <a:solidFill>
                  <a:srgbClr val="0E1C42"/>
                </a:solidFill>
                <a:latin typeface="Calibri" pitchFamily="34" charset="0"/>
                <a:ea typeface="Calibri" pitchFamily="34" charset="-122"/>
                <a:cs typeface="Calibri" pitchFamily="34" charset="-120"/>
              </a:rPr>
              <a:t>The pyramids tell me the Maya had advanced engineering, organized labor, and used buildings for multiple purposes (religion, government, astronomy).</a:t>
            </a:r>
            <a:endParaRPr lang="en-US" sz="1050" dirty="0"/>
          </a:p>
        </p:txBody>
      </p:sp>
      <p:sp>
        <p:nvSpPr>
          <p:cNvPr id="15" name="Shape 13"/>
          <p:cNvSpPr/>
          <p:nvPr/>
        </p:nvSpPr>
        <p:spPr>
          <a:xfrm>
            <a:off x="274320" y="3438144"/>
            <a:ext cx="8595360" cy="566928"/>
          </a:xfrm>
          <a:prstGeom prst="roundRect">
            <a:avLst>
              <a:gd name="adj" fmla="val 12903"/>
            </a:avLst>
          </a:prstGeom>
          <a:solidFill>
            <a:srgbClr val="FFFFFF"/>
          </a:solidFill>
          <a:ln w="12700">
            <a:solidFill>
              <a:srgbClr val="D4943A"/>
            </a:solidFill>
            <a:prstDash val="solid"/>
          </a:ln>
        </p:spPr>
      </p:sp>
      <p:sp>
        <p:nvSpPr>
          <p:cNvPr id="16" name="Text 14"/>
          <p:cNvSpPr/>
          <p:nvPr/>
        </p:nvSpPr>
        <p:spPr>
          <a:xfrm>
            <a:off x="502920" y="3493008"/>
            <a:ext cx="2011680" cy="457200"/>
          </a:xfrm>
          <a:prstGeom prst="rect">
            <a:avLst/>
          </a:prstGeom>
          <a:noFill/>
          <a:ln/>
        </p:spPr>
        <p:txBody>
          <a:bodyPr wrap="square" lIns="0" tIns="0" rIns="0" bIns="0" rtlCol="0" anchor="ctr"/>
          <a:lstStyle/>
          <a:p>
            <a:pPr indent="0" marL="0">
              <a:buNone/>
            </a:pPr>
            <a:r>
              <a:rPr lang="en-US" sz="1000" b="1" dirty="0">
                <a:solidFill>
                  <a:srgbClr val="D4943A"/>
                </a:solidFill>
                <a:latin typeface="Calibri" pitchFamily="34" charset="0"/>
                <a:ea typeface="Calibri" pitchFamily="34" charset="-122"/>
                <a:cs typeface="Calibri" pitchFamily="34" charset="-120"/>
              </a:rPr>
              <a:t>Step 3: Add a second achievement</a:t>
            </a:r>
            <a:endParaRPr lang="en-US" sz="1000" dirty="0"/>
          </a:p>
        </p:txBody>
      </p:sp>
      <p:sp>
        <p:nvSpPr>
          <p:cNvPr id="17" name="Text 15"/>
          <p:cNvSpPr/>
          <p:nvPr/>
        </p:nvSpPr>
        <p:spPr>
          <a:xfrm>
            <a:off x="2606040" y="3493008"/>
            <a:ext cx="6126480" cy="457200"/>
          </a:xfrm>
          <a:prstGeom prst="rect">
            <a:avLst/>
          </a:prstGeom>
          <a:noFill/>
          <a:ln/>
        </p:spPr>
        <p:txBody>
          <a:bodyPr wrap="square" lIns="0" tIns="0" rIns="0" bIns="0" rtlCol="0" anchor="ctr"/>
          <a:lstStyle/>
          <a:p>
            <a:pPr indent="0" marL="0">
              <a:buNone/>
            </a:pPr>
            <a:r>
              <a:rPr lang="en-US" sz="1050" dirty="0">
                <a:solidFill>
                  <a:srgbClr val="0E1C42"/>
                </a:solidFill>
                <a:latin typeface="Calibri" pitchFamily="34" charset="0"/>
                <a:ea typeface="Calibri" pitchFamily="34" charset="-122"/>
                <a:cs typeface="Calibri" pitchFamily="34" charset="-120"/>
              </a:rPr>
              <a:t>Now I'll add their writing system — hieroglyphs carved in stone and written in codices.</a:t>
            </a:r>
            <a:endParaRPr lang="en-US" sz="1050" dirty="0"/>
          </a:p>
        </p:txBody>
      </p:sp>
      <p:sp>
        <p:nvSpPr>
          <p:cNvPr id="18" name="Shape 16"/>
          <p:cNvSpPr/>
          <p:nvPr/>
        </p:nvSpPr>
        <p:spPr>
          <a:xfrm>
            <a:off x="274320" y="4096512"/>
            <a:ext cx="8595360" cy="566928"/>
          </a:xfrm>
          <a:prstGeom prst="roundRect">
            <a:avLst>
              <a:gd name="adj" fmla="val 12903"/>
            </a:avLst>
          </a:prstGeom>
          <a:solidFill>
            <a:srgbClr val="FFFFFF"/>
          </a:solidFill>
          <a:ln w="12700">
            <a:solidFill>
              <a:srgbClr val="D4943A"/>
            </a:solidFill>
            <a:prstDash val="solid"/>
          </a:ln>
        </p:spPr>
      </p:sp>
      <p:sp>
        <p:nvSpPr>
          <p:cNvPr id="19" name="Text 17"/>
          <p:cNvSpPr/>
          <p:nvPr/>
        </p:nvSpPr>
        <p:spPr>
          <a:xfrm>
            <a:off x="502920" y="4151376"/>
            <a:ext cx="2011680" cy="457200"/>
          </a:xfrm>
          <a:prstGeom prst="rect">
            <a:avLst/>
          </a:prstGeom>
          <a:noFill/>
          <a:ln/>
        </p:spPr>
        <p:txBody>
          <a:bodyPr wrap="square" lIns="0" tIns="0" rIns="0" bIns="0" rtlCol="0" anchor="ctr"/>
          <a:lstStyle/>
          <a:p>
            <a:pPr indent="0" marL="0">
              <a:buNone/>
            </a:pPr>
            <a:r>
              <a:rPr lang="en-US" sz="1000" b="1" dirty="0">
                <a:solidFill>
                  <a:srgbClr val="D4943A"/>
                </a:solidFill>
                <a:latin typeface="Calibri" pitchFamily="34" charset="0"/>
                <a:ea typeface="Calibri" pitchFamily="34" charset="-122"/>
                <a:cs typeface="Calibri" pitchFamily="34" charset="-120"/>
              </a:rPr>
              <a:t>Step 4: What does IT tell us?</a:t>
            </a:r>
            <a:endParaRPr lang="en-US" sz="1000" dirty="0"/>
          </a:p>
        </p:txBody>
      </p:sp>
      <p:sp>
        <p:nvSpPr>
          <p:cNvPr id="20" name="Text 18"/>
          <p:cNvSpPr/>
          <p:nvPr/>
        </p:nvSpPr>
        <p:spPr>
          <a:xfrm>
            <a:off x="2606040" y="4151376"/>
            <a:ext cx="6126480" cy="457200"/>
          </a:xfrm>
          <a:prstGeom prst="rect">
            <a:avLst/>
          </a:prstGeom>
          <a:noFill/>
          <a:ln/>
        </p:spPr>
        <p:txBody>
          <a:bodyPr wrap="square" lIns="0" tIns="0" rIns="0" bIns="0" rtlCol="0" anchor="ctr"/>
          <a:lstStyle/>
          <a:p>
            <a:pPr indent="0" marL="0">
              <a:buNone/>
            </a:pPr>
            <a:r>
              <a:rPr lang="en-US" sz="1050" dirty="0">
                <a:solidFill>
                  <a:srgbClr val="0E1C42"/>
                </a:solidFill>
                <a:latin typeface="Calibri" pitchFamily="34" charset="0"/>
                <a:ea typeface="Calibri" pitchFamily="34" charset="-122"/>
                <a:cs typeface="Calibri" pitchFamily="34" charset="-120"/>
              </a:rPr>
              <a:t>Writing tells me they had complex knowledge worth recording, a need to communicate across time and distance, and specialized scholars.</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594360"/>
          </a:xfrm>
          <a:prstGeom prst="rect">
            <a:avLst/>
          </a:prstGeom>
          <a:solidFill>
            <a:srgbClr val="1A8A7D"/>
          </a:solidFill>
          <a:ln/>
        </p:spPr>
      </p:sp>
      <p:sp>
        <p:nvSpPr>
          <p:cNvPr id="4" name="Text 2"/>
          <p:cNvSpPr/>
          <p:nvPr/>
        </p:nvSpPr>
        <p:spPr>
          <a:xfrm>
            <a:off x="274320" y="137160"/>
            <a:ext cx="8595360" cy="347472"/>
          </a:xfrm>
          <a:prstGeom prst="rect">
            <a:avLst/>
          </a:prstGeom>
          <a:noFill/>
          <a:ln/>
        </p:spPr>
        <p:txBody>
          <a:bodyPr wrap="square" lIns="0" tIns="0" rIns="0" bIns="0" rtlCol="0" anchor="ctr"/>
          <a:lstStyle/>
          <a:p>
            <a:pPr indent="0" marL="0">
              <a:buNone/>
            </a:pPr>
            <a:r>
              <a:rPr lang="en-US" sz="1300" b="1" spc="150" kern="0" dirty="0">
                <a:solidFill>
                  <a:srgbClr val="FFFFFF"/>
                </a:solidFill>
                <a:latin typeface="Cambria" pitchFamily="34" charset="0"/>
                <a:ea typeface="Cambria" pitchFamily="34" charset="-122"/>
                <a:cs typeface="Cambria" pitchFamily="34" charset="-120"/>
              </a:rPr>
              <a:t>GUIDED PRACTICE: WE DO + YOU DO</a:t>
            </a:r>
            <a:endParaRPr lang="en-US" sz="1300" dirty="0"/>
          </a:p>
        </p:txBody>
      </p:sp>
      <p:sp>
        <p:nvSpPr>
          <p:cNvPr id="5" name="Shape 3"/>
          <p:cNvSpPr/>
          <p:nvPr/>
        </p:nvSpPr>
        <p:spPr>
          <a:xfrm>
            <a:off x="274320" y="731520"/>
            <a:ext cx="4160520" cy="4114800"/>
          </a:xfrm>
          <a:prstGeom prst="roundRect">
            <a:avLst>
              <a:gd name="adj" fmla="val 2667"/>
            </a:avLst>
          </a:prstGeom>
          <a:solidFill>
            <a:srgbClr val="FFFFFF"/>
          </a:solidFill>
          <a:ln w="19050">
            <a:solidFill>
              <a:srgbClr val="1A8A7D"/>
            </a:solidFill>
            <a:prstDash val="solid"/>
          </a:ln>
        </p:spPr>
      </p:sp>
      <p:sp>
        <p:nvSpPr>
          <p:cNvPr id="6" name="Text 4"/>
          <p:cNvSpPr/>
          <p:nvPr/>
        </p:nvSpPr>
        <p:spPr>
          <a:xfrm>
            <a:off x="457200" y="822960"/>
            <a:ext cx="3794760" cy="274320"/>
          </a:xfrm>
          <a:prstGeom prst="rect">
            <a:avLst/>
          </a:prstGeom>
          <a:noFill/>
          <a:ln/>
        </p:spPr>
        <p:txBody>
          <a:bodyPr wrap="square" lIns="0" tIns="0" rIns="0" bIns="0" rtlCol="0" anchor="ctr"/>
          <a:lstStyle/>
          <a:p>
            <a:pPr indent="0" marL="0">
              <a:buNone/>
            </a:pPr>
            <a:r>
              <a:rPr lang="en-US" sz="1100" b="1" spc="100" kern="0" dirty="0">
                <a:solidFill>
                  <a:srgbClr val="1A8A7D"/>
                </a:solidFill>
                <a:latin typeface="Calibri" pitchFamily="34" charset="0"/>
                <a:ea typeface="Calibri" pitchFamily="34" charset="-122"/>
                <a:cs typeface="Calibri" pitchFamily="34" charset="-120"/>
              </a:rPr>
              <a:t>WE DO — Together</a:t>
            </a:r>
            <a:endParaRPr lang="en-US" sz="1100" dirty="0"/>
          </a:p>
        </p:txBody>
      </p:sp>
      <p:sp>
        <p:nvSpPr>
          <p:cNvPr id="7" name="Shape 5"/>
          <p:cNvSpPr/>
          <p:nvPr/>
        </p:nvSpPr>
        <p:spPr>
          <a:xfrm>
            <a:off x="411480" y="1152144"/>
            <a:ext cx="3886200" cy="457200"/>
          </a:xfrm>
          <a:prstGeom prst="roundRect">
            <a:avLst>
              <a:gd name="adj" fmla="val 16000"/>
            </a:avLst>
          </a:prstGeom>
          <a:solidFill>
            <a:srgbClr val="1A2D5A"/>
          </a:solidFill>
          <a:ln w="12700">
            <a:solidFill>
              <a:srgbClr val="2A4070"/>
            </a:solidFill>
            <a:prstDash val="solid"/>
          </a:ln>
        </p:spPr>
      </p:sp>
      <p:sp>
        <p:nvSpPr>
          <p:cNvPr id="8" name="Text 6"/>
          <p:cNvSpPr/>
          <p:nvPr/>
        </p:nvSpPr>
        <p:spPr>
          <a:xfrm>
            <a:off x="548640" y="1207008"/>
            <a:ext cx="3611880" cy="365760"/>
          </a:xfrm>
          <a:prstGeom prst="rect">
            <a:avLst/>
          </a:prstGeom>
          <a:noFill/>
          <a:ln/>
        </p:spPr>
        <p:txBody>
          <a:bodyPr wrap="square" lIns="0" tIns="0" rIns="0" bIns="0" rtlCol="0" anchor="ctr"/>
          <a:lstStyle/>
          <a:p>
            <a:pPr indent="0" marL="0">
              <a:buNone/>
            </a:pPr>
            <a:r>
              <a:rPr lang="en-US" sz="950" i="1" dirty="0">
                <a:solidFill>
                  <a:srgbClr val="D6F2FB"/>
                </a:solidFill>
                <a:latin typeface="Calibri" pitchFamily="34" charset="0"/>
                <a:ea typeface="Calibri" pitchFamily="34" charset="-122"/>
                <a:cs typeface="Calibri" pitchFamily="34" charset="-120"/>
              </a:rPr>
              <a:t>"Why do you think the Maya needed a writing system and a calendar? What problems did those tools help them solve?"</a:t>
            </a:r>
            <a:endParaRPr lang="en-US" sz="950" dirty="0"/>
          </a:p>
        </p:txBody>
      </p:sp>
      <p:sp>
        <p:nvSpPr>
          <p:cNvPr id="9" name="Text 7"/>
          <p:cNvSpPr/>
          <p:nvPr/>
        </p:nvSpPr>
        <p:spPr>
          <a:xfrm>
            <a:off x="457200" y="1691640"/>
            <a:ext cx="3794760" cy="228600"/>
          </a:xfrm>
          <a:prstGeom prst="rect">
            <a:avLst/>
          </a:prstGeom>
          <a:noFill/>
          <a:ln/>
        </p:spPr>
        <p:txBody>
          <a:bodyPr wrap="square" lIns="0" tIns="0" rIns="0" bIns="0" rtlCol="0" anchor="ctr"/>
          <a:lstStyle/>
          <a:p>
            <a:pPr indent="0" marL="0">
              <a:buNone/>
            </a:pPr>
            <a:r>
              <a:rPr lang="en-US" sz="1000" b="1" dirty="0">
                <a:solidFill>
                  <a:srgbClr val="0E1C42"/>
                </a:solidFill>
                <a:latin typeface="Calibri" pitchFamily="34" charset="0"/>
                <a:ea typeface="Calibri" pitchFamily="34" charset="-122"/>
                <a:cs typeface="Calibri" pitchFamily="34" charset="-120"/>
              </a:rPr>
              <a:t>Let's build an answer together:</a:t>
            </a:r>
            <a:endParaRPr lang="en-US" sz="1000" dirty="0"/>
          </a:p>
        </p:txBody>
      </p:sp>
      <p:sp>
        <p:nvSpPr>
          <p:cNvPr id="10" name="Shape 8"/>
          <p:cNvSpPr/>
          <p:nvPr/>
        </p:nvSpPr>
        <p:spPr>
          <a:xfrm>
            <a:off x="411480" y="1993392"/>
            <a:ext cx="3886200" cy="658368"/>
          </a:xfrm>
          <a:prstGeom prst="roundRect">
            <a:avLst>
              <a:gd name="adj" fmla="val 11111"/>
            </a:avLst>
          </a:prstGeom>
          <a:solidFill>
            <a:srgbClr val="F0F2F8"/>
          </a:solidFill>
          <a:ln w="12700">
            <a:solidFill>
              <a:srgbClr val="1A8A7D"/>
            </a:solidFill>
            <a:prstDash val="solid"/>
          </a:ln>
        </p:spPr>
      </p:sp>
      <p:sp>
        <p:nvSpPr>
          <p:cNvPr id="11" name="Text 9"/>
          <p:cNvSpPr/>
          <p:nvPr/>
        </p:nvSpPr>
        <p:spPr>
          <a:xfrm>
            <a:off x="548640" y="2057400"/>
            <a:ext cx="3611880" cy="530352"/>
          </a:xfrm>
          <a:prstGeom prst="rect">
            <a:avLst/>
          </a:prstGeom>
          <a:noFill/>
          <a:ln/>
        </p:spPr>
        <p:txBody>
          <a:bodyPr wrap="square" lIns="0" tIns="0" rIns="0" bIns="0" rtlCol="0" anchor="ctr"/>
          <a:lstStyle/>
          <a:p>
            <a:pPr indent="0" marL="0">
              <a:buNone/>
            </a:pPr>
            <a:r>
              <a:rPr lang="en-US" sz="1000" dirty="0">
                <a:solidFill>
                  <a:srgbClr val="0E1C42"/>
                </a:solidFill>
                <a:latin typeface="Calibri" pitchFamily="34" charset="0"/>
                <a:ea typeface="Calibri" pitchFamily="34" charset="-122"/>
                <a:cs typeface="Calibri" pitchFamily="34" charset="-120"/>
              </a:rPr>
              <a:t>A writing system lets you record events, laws, and knowledge so it isn't lost. The Maya needed to preserve information across generations.</a:t>
            </a:r>
            <a:endParaRPr lang="en-US" sz="1000" dirty="0"/>
          </a:p>
        </p:txBody>
      </p:sp>
      <p:sp>
        <p:nvSpPr>
          <p:cNvPr id="12" name="Shape 10"/>
          <p:cNvSpPr/>
          <p:nvPr/>
        </p:nvSpPr>
        <p:spPr>
          <a:xfrm>
            <a:off x="411480" y="2743200"/>
            <a:ext cx="3886200" cy="658368"/>
          </a:xfrm>
          <a:prstGeom prst="roundRect">
            <a:avLst>
              <a:gd name="adj" fmla="val 11111"/>
            </a:avLst>
          </a:prstGeom>
          <a:solidFill>
            <a:srgbClr val="F0F2F8"/>
          </a:solidFill>
          <a:ln w="12700">
            <a:solidFill>
              <a:srgbClr val="1A8A7D"/>
            </a:solidFill>
            <a:prstDash val="solid"/>
          </a:ln>
        </p:spPr>
      </p:sp>
      <p:sp>
        <p:nvSpPr>
          <p:cNvPr id="13" name="Text 11"/>
          <p:cNvSpPr/>
          <p:nvPr/>
        </p:nvSpPr>
        <p:spPr>
          <a:xfrm>
            <a:off x="548640" y="2807208"/>
            <a:ext cx="3611880" cy="530352"/>
          </a:xfrm>
          <a:prstGeom prst="rect">
            <a:avLst/>
          </a:prstGeom>
          <a:noFill/>
          <a:ln/>
        </p:spPr>
        <p:txBody>
          <a:bodyPr wrap="square" lIns="0" tIns="0" rIns="0" bIns="0" rtlCol="0" anchor="ctr"/>
          <a:lstStyle/>
          <a:p>
            <a:pPr indent="0" marL="0">
              <a:buNone/>
            </a:pPr>
            <a:r>
              <a:rPr lang="en-US" sz="1000" dirty="0">
                <a:solidFill>
                  <a:srgbClr val="0E1C42"/>
                </a:solidFill>
                <a:latin typeface="Calibri" pitchFamily="34" charset="0"/>
                <a:ea typeface="Calibri" pitchFamily="34" charset="-122"/>
                <a:cs typeface="Calibri" pitchFamily="34" charset="-120"/>
              </a:rPr>
              <a:t>A calendar helps farmers know WHEN to plant and harvest. In a tropical region with distinct wet/dry seasons, timing is survival.</a:t>
            </a:r>
            <a:endParaRPr lang="en-US" sz="1000" dirty="0"/>
          </a:p>
        </p:txBody>
      </p:sp>
      <p:sp>
        <p:nvSpPr>
          <p:cNvPr id="14" name="Shape 12"/>
          <p:cNvSpPr/>
          <p:nvPr/>
        </p:nvSpPr>
        <p:spPr>
          <a:xfrm>
            <a:off x="411480" y="3493008"/>
            <a:ext cx="3886200" cy="658368"/>
          </a:xfrm>
          <a:prstGeom prst="roundRect">
            <a:avLst>
              <a:gd name="adj" fmla="val 11111"/>
            </a:avLst>
          </a:prstGeom>
          <a:solidFill>
            <a:srgbClr val="F0F2F8"/>
          </a:solidFill>
          <a:ln w="12700">
            <a:solidFill>
              <a:srgbClr val="1A8A7D"/>
            </a:solidFill>
            <a:prstDash val="solid"/>
          </a:ln>
        </p:spPr>
      </p:sp>
      <p:sp>
        <p:nvSpPr>
          <p:cNvPr id="15" name="Text 13"/>
          <p:cNvSpPr/>
          <p:nvPr/>
        </p:nvSpPr>
        <p:spPr>
          <a:xfrm>
            <a:off x="548640" y="3557016"/>
            <a:ext cx="3611880" cy="530352"/>
          </a:xfrm>
          <a:prstGeom prst="rect">
            <a:avLst/>
          </a:prstGeom>
          <a:noFill/>
          <a:ln/>
        </p:spPr>
        <p:txBody>
          <a:bodyPr wrap="square" lIns="0" tIns="0" rIns="0" bIns="0" rtlCol="0" anchor="ctr"/>
          <a:lstStyle/>
          <a:p>
            <a:pPr indent="0" marL="0">
              <a:buNone/>
            </a:pPr>
            <a:r>
              <a:rPr lang="en-US" sz="1000" dirty="0">
                <a:solidFill>
                  <a:srgbClr val="0E1C42"/>
                </a:solidFill>
                <a:latin typeface="Calibri" pitchFamily="34" charset="0"/>
                <a:ea typeface="Calibri" pitchFamily="34" charset="-122"/>
                <a:cs typeface="Calibri" pitchFamily="34" charset="-120"/>
              </a:rPr>
              <a:t>Together: writing + calendar = a civilization that plans for the future, not just today.</a:t>
            </a:r>
            <a:endParaRPr lang="en-US" sz="1000" dirty="0"/>
          </a:p>
        </p:txBody>
      </p:sp>
      <p:sp>
        <p:nvSpPr>
          <p:cNvPr id="16" name="Shape 14"/>
          <p:cNvSpPr/>
          <p:nvPr/>
        </p:nvSpPr>
        <p:spPr>
          <a:xfrm>
            <a:off x="411480" y="4251960"/>
            <a:ext cx="3886200" cy="502920"/>
          </a:xfrm>
          <a:prstGeom prst="roundRect">
            <a:avLst>
              <a:gd name="adj" fmla="val 21818"/>
            </a:avLst>
          </a:prstGeom>
          <a:solidFill>
            <a:srgbClr val="FFF3DC"/>
          </a:solidFill>
          <a:ln w="19050">
            <a:solidFill>
              <a:srgbClr val="F5E6C8"/>
            </a:solidFill>
            <a:prstDash val="solid"/>
          </a:ln>
        </p:spPr>
      </p:sp>
      <p:sp>
        <p:nvSpPr>
          <p:cNvPr id="17" name="Text 15"/>
          <p:cNvSpPr/>
          <p:nvPr/>
        </p:nvSpPr>
        <p:spPr>
          <a:xfrm>
            <a:off x="548640" y="4306824"/>
            <a:ext cx="36118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8" name="Text 16"/>
          <p:cNvSpPr/>
          <p:nvPr/>
        </p:nvSpPr>
        <p:spPr>
          <a:xfrm>
            <a:off x="548640" y="4507992"/>
            <a:ext cx="3611880" cy="1828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"Writing helps a civilization...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 calendar solves the problem of..."</a:t>
            </a:r>
            <a:endParaRPr lang="en-US" sz="1200" dirty="0"/>
          </a:p>
        </p:txBody>
      </p:sp>
      <p:sp>
        <p:nvSpPr>
          <p:cNvPr id="19" name="Shape 17"/>
          <p:cNvSpPr/>
          <p:nvPr/>
        </p:nvSpPr>
        <p:spPr>
          <a:xfrm>
            <a:off x="4663440" y="731520"/>
            <a:ext cx="4160520" cy="4114800"/>
          </a:xfrm>
          <a:prstGeom prst="roundRect">
            <a:avLst>
              <a:gd name="adj" fmla="val 2667"/>
            </a:avLst>
          </a:prstGeom>
          <a:solidFill>
            <a:srgbClr val="FFFFFF"/>
          </a:solidFill>
          <a:ln w="19050">
            <a:solidFill>
              <a:srgbClr val="D4943A"/>
            </a:solidFill>
            <a:prstDash val="solid"/>
          </a:ln>
        </p:spPr>
      </p:sp>
      <p:sp>
        <p:nvSpPr>
          <p:cNvPr id="20" name="Text 18"/>
          <p:cNvSpPr/>
          <p:nvPr/>
        </p:nvSpPr>
        <p:spPr>
          <a:xfrm>
            <a:off x="4846320" y="822960"/>
            <a:ext cx="3794760" cy="274320"/>
          </a:xfrm>
          <a:prstGeom prst="rect">
            <a:avLst/>
          </a:prstGeom>
          <a:noFill/>
          <a:ln/>
        </p:spPr>
        <p:txBody>
          <a:bodyPr wrap="square" lIns="0" tIns="0" rIns="0" bIns="0" rtlCol="0" anchor="ctr"/>
          <a:lstStyle/>
          <a:p>
            <a:pPr indent="0" marL="0">
              <a:buNone/>
            </a:pPr>
            <a:r>
              <a:rPr lang="en-US" sz="1100" b="1" spc="100" kern="0" dirty="0">
                <a:solidFill>
                  <a:srgbClr val="D4943A"/>
                </a:solidFill>
                <a:latin typeface="Calibri" pitchFamily="34" charset="0"/>
                <a:ea typeface="Calibri" pitchFamily="34" charset="-122"/>
                <a:cs typeface="Calibri" pitchFamily="34" charset="-120"/>
              </a:rPr>
              <a:t>YOU DO — Your Turn</a:t>
            </a:r>
            <a:endParaRPr lang="en-US" sz="1100" dirty="0"/>
          </a:p>
        </p:txBody>
      </p:sp>
      <p:sp>
        <p:nvSpPr>
          <p:cNvPr id="21" name="Shape 19"/>
          <p:cNvSpPr/>
          <p:nvPr/>
        </p:nvSpPr>
        <p:spPr>
          <a:xfrm>
            <a:off x="4800600" y="1152144"/>
            <a:ext cx="3886200" cy="502920"/>
          </a:xfrm>
          <a:prstGeom prst="roundRect">
            <a:avLst>
              <a:gd name="adj" fmla="val 14545"/>
            </a:avLst>
          </a:prstGeom>
          <a:solidFill>
            <a:srgbClr val="1A2D5A"/>
          </a:solidFill>
          <a:ln w="12700">
            <a:solidFill>
              <a:srgbClr val="2A4070"/>
            </a:solidFill>
            <a:prstDash val="solid"/>
          </a:ln>
        </p:spPr>
      </p:sp>
      <p:sp>
        <p:nvSpPr>
          <p:cNvPr id="22" name="Text 20"/>
          <p:cNvSpPr/>
          <p:nvPr/>
        </p:nvSpPr>
        <p:spPr>
          <a:xfrm>
            <a:off x="4937760" y="1188720"/>
            <a:ext cx="3611880" cy="429768"/>
          </a:xfrm>
          <a:prstGeom prst="rect">
            <a:avLst/>
          </a:prstGeom>
          <a:noFill/>
          <a:ln/>
        </p:spPr>
        <p:txBody>
          <a:bodyPr wrap="square" lIns="0" tIns="0" rIns="0" bIns="0" rtlCol="0" anchor="ctr"/>
          <a:lstStyle/>
          <a:p>
            <a:pPr indent="0" marL="0">
              <a:buNone/>
            </a:pPr>
            <a:r>
              <a:rPr lang="en-US" sz="950" i="1" dirty="0">
                <a:solidFill>
                  <a:srgbClr val="D6F2FB"/>
                </a:solidFill>
                <a:latin typeface="Calibri" pitchFamily="34" charset="0"/>
                <a:ea typeface="Calibri" pitchFamily="34" charset="-122"/>
                <a:cs typeface="Calibri" pitchFamily="34" charset="-120"/>
              </a:rPr>
              <a:t>"The Hasty Herald said 'the Maya should be remembered for only one achievement.' What's partly right about that? What's missing?"</a:t>
            </a:r>
            <a:endParaRPr lang="en-US" sz="950" dirty="0"/>
          </a:p>
        </p:txBody>
      </p:sp>
      <p:sp>
        <p:nvSpPr>
          <p:cNvPr id="23" name="Text 21"/>
          <p:cNvSpPr/>
          <p:nvPr/>
        </p:nvSpPr>
        <p:spPr>
          <a:xfrm>
            <a:off x="4846320" y="1737360"/>
            <a:ext cx="3794760" cy="228600"/>
          </a:xfrm>
          <a:prstGeom prst="rect">
            <a:avLst/>
          </a:prstGeom>
          <a:noFill/>
          <a:ln/>
        </p:spPr>
        <p:txBody>
          <a:bodyPr wrap="square" lIns="0" tIns="0" rIns="0" bIns="0" rtlCol="0" anchor="ctr"/>
          <a:lstStyle/>
          <a:p>
            <a:pPr indent="0" marL="0">
              <a:buNone/>
            </a:pPr>
            <a:r>
              <a:rPr lang="en-US" sz="1000" b="1" dirty="0">
                <a:solidFill>
                  <a:srgbClr val="0E1C42"/>
                </a:solidFill>
                <a:latin typeface="Calibri" pitchFamily="34" charset="0"/>
                <a:ea typeface="Calibri" pitchFamily="34" charset="-122"/>
                <a:cs typeface="Calibri" pitchFamily="34" charset="-120"/>
              </a:rPr>
              <a:t>Think-Pair-Share:</a:t>
            </a:r>
            <a:endParaRPr lang="en-US" sz="1000" dirty="0"/>
          </a:p>
        </p:txBody>
      </p:sp>
      <p:sp>
        <p:nvSpPr>
          <p:cNvPr id="24" name="Text 22"/>
          <p:cNvSpPr/>
          <p:nvPr/>
        </p:nvSpPr>
        <p:spPr>
          <a:xfrm>
            <a:off x="4846320" y="2029968"/>
            <a:ext cx="3794760" cy="640080"/>
          </a:xfrm>
          <a:prstGeom prst="rect">
            <a:avLst/>
          </a:prstGeom>
          <a:noFill/>
          <a:ln/>
        </p:spPr>
        <p:txBody>
          <a:bodyPr wrap="square" lIns="0" tIns="0" rIns="0" bIns="0" rtlCol="0" anchor="t"/>
          <a:lstStyle/>
          <a:p>
            <a:pPr indent="0" marL="0">
              <a:buNone/>
            </a:pPr>
            <a:r>
              <a:rPr lang="en-US" sz="1050" dirty="0">
                <a:solidFill>
                  <a:srgbClr val="0E1C42"/>
                </a:solidFill>
                <a:latin typeface="Calibri" pitchFamily="34" charset="0"/>
                <a:ea typeface="Calibri" pitchFamily="34" charset="-122"/>
                <a:cs typeface="Calibri" pitchFamily="34" charset="-120"/>
              </a:rPr>
              <a:t>What's PARTLY right? (The Maya DO have impressive achievements worth highlighting — the Herald isn't lying, just oversimplifying.)</a:t>
            </a:r>
            <a:endParaRPr lang="en-US" sz="1050" dirty="0"/>
          </a:p>
        </p:txBody>
      </p:sp>
      <p:sp>
        <p:nvSpPr>
          <p:cNvPr id="25" name="Text 23"/>
          <p:cNvSpPr/>
          <p:nvPr/>
        </p:nvSpPr>
        <p:spPr>
          <a:xfrm>
            <a:off x="4846320" y="2743200"/>
            <a:ext cx="3794760" cy="640080"/>
          </a:xfrm>
          <a:prstGeom prst="rect">
            <a:avLst/>
          </a:prstGeom>
          <a:noFill/>
          <a:ln/>
        </p:spPr>
        <p:txBody>
          <a:bodyPr wrap="square" lIns="0" tIns="0" rIns="0" bIns="0" rtlCol="0" anchor="t"/>
          <a:lstStyle/>
          <a:p>
            <a:pPr indent="0" marL="0">
              <a:buNone/>
            </a:pPr>
            <a:r>
              <a:rPr lang="en-US" sz="1050" dirty="0">
                <a:solidFill>
                  <a:srgbClr val="0E1C42"/>
                </a:solidFill>
                <a:latin typeface="Calibri" pitchFamily="34" charset="0"/>
                <a:ea typeface="Calibri" pitchFamily="34" charset="-122"/>
                <a:cs typeface="Calibri" pitchFamily="34" charset="-120"/>
              </a:rPr>
              <a:t>What's MISSING? (The Herald ignores writing, math, calendars, trade, agriculture — a whole civilization reduced to one headline.)</a:t>
            </a:r>
            <a:endParaRPr lang="en-US" sz="1050" dirty="0"/>
          </a:p>
        </p:txBody>
      </p:sp>
      <p:sp>
        <p:nvSpPr>
          <p:cNvPr id="26" name="Shape 24"/>
          <p:cNvSpPr/>
          <p:nvPr/>
        </p:nvSpPr>
        <p:spPr>
          <a:xfrm>
            <a:off x="4800600" y="3474720"/>
            <a:ext cx="3886200" cy="502920"/>
          </a:xfrm>
          <a:prstGeom prst="roundRect">
            <a:avLst>
              <a:gd name="adj" fmla="val 14545"/>
            </a:avLst>
          </a:prstGeom>
          <a:solidFill>
            <a:srgbClr val="FFF3DC"/>
          </a:solidFill>
          <a:ln w="12700">
            <a:solidFill>
              <a:srgbClr val="D4943A"/>
            </a:solidFill>
            <a:prstDash val="solid"/>
          </a:ln>
        </p:spPr>
      </p:sp>
      <p:sp>
        <p:nvSpPr>
          <p:cNvPr id="27" name="Text 25"/>
          <p:cNvSpPr/>
          <p:nvPr/>
        </p:nvSpPr>
        <p:spPr>
          <a:xfrm>
            <a:off x="4937760" y="3566160"/>
            <a:ext cx="3611880" cy="347472"/>
          </a:xfrm>
          <a:prstGeom prst="rect">
            <a:avLst/>
          </a:prstGeom>
          <a:noFill/>
          <a:ln/>
        </p:spPr>
        <p:txBody>
          <a:bodyPr wrap="square" lIns="0" tIns="0" rIns="0" bIns="0" rtlCol="0" anchor="ctr"/>
          <a:lstStyle/>
          <a:p>
            <a:pPr indent="0" marL="0">
              <a:buNone/>
            </a:pPr>
            <a:r>
              <a:rPr lang="en-US" sz="1000" i="1" dirty="0">
                <a:solidFill>
                  <a:srgbClr val="5A4A3A"/>
                </a:solidFill>
                <a:latin typeface="Calibri" pitchFamily="34" charset="0"/>
                <a:ea typeface="Calibri" pitchFamily="34" charset="-122"/>
                <a:cs typeface="Calibri" pitchFamily="34" charset="-120"/>
              </a:rPr>
              <a:t>Write your answer in your Editor's Notebook before moving on.</a:t>
            </a:r>
            <a:endParaRPr lang="en-US" sz="1000" dirty="0"/>
          </a:p>
        </p:txBody>
      </p:sp>
      <p:sp>
        <p:nvSpPr>
          <p:cNvPr id="28" name="Shape 26"/>
          <p:cNvSpPr/>
          <p:nvPr/>
        </p:nvSpPr>
        <p:spPr>
          <a:xfrm>
            <a:off x="4800600" y="4041648"/>
            <a:ext cx="3886200" cy="685800"/>
          </a:xfrm>
          <a:prstGeom prst="roundRect">
            <a:avLst>
              <a:gd name="adj" fmla="val 16000"/>
            </a:avLst>
          </a:prstGeom>
          <a:solidFill>
            <a:srgbClr val="FFF3DC"/>
          </a:solidFill>
          <a:ln w="19050">
            <a:solidFill>
              <a:srgbClr val="F5E6C8"/>
            </a:solidFill>
            <a:prstDash val="solid"/>
          </a:ln>
        </p:spPr>
      </p:sp>
      <p:sp>
        <p:nvSpPr>
          <p:cNvPr id="29" name="Text 27"/>
          <p:cNvSpPr/>
          <p:nvPr/>
        </p:nvSpPr>
        <p:spPr>
          <a:xfrm>
            <a:off x="4937760" y="4096512"/>
            <a:ext cx="36118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30" name="Text 28"/>
          <p:cNvSpPr/>
          <p:nvPr/>
        </p:nvSpPr>
        <p:spPr>
          <a:xfrm>
            <a:off x="4937760" y="4297680"/>
            <a:ext cx="3611880" cy="3657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Herald is partly right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"But what's missing from their story is..."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 complete report would also include..."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594360"/>
          </a:xfrm>
          <a:prstGeom prst="rect">
            <a:avLst/>
          </a:prstGeom>
          <a:solidFill>
            <a:srgbClr val="E8636B"/>
          </a:solidFill>
          <a:ln/>
        </p:spPr>
      </p:sp>
      <p:sp>
        <p:nvSpPr>
          <p:cNvPr id="4" name="Text 2"/>
          <p:cNvSpPr/>
          <p:nvPr/>
        </p:nvSpPr>
        <p:spPr>
          <a:xfrm>
            <a:off x="274320" y="137160"/>
            <a:ext cx="8595360" cy="347472"/>
          </a:xfrm>
          <a:prstGeom prst="rect">
            <a:avLst/>
          </a:prstGeom>
          <a:noFill/>
          <a:ln/>
        </p:spPr>
        <p:txBody>
          <a:bodyPr wrap="square" lIns="0" tIns="0" rIns="0" bIns="0" rtlCol="0" anchor="ctr"/>
          <a:lstStyle/>
          <a:p>
            <a:pPr indent="0" marL="0">
              <a:buNone/>
            </a:pPr>
            <a:r>
              <a:rPr lang="en-US" sz="1300" b="1" spc="200" kern="0" dirty="0">
                <a:solidFill>
                  <a:srgbClr val="FFFFFF"/>
                </a:solidFill>
                <a:latin typeface="Cambria" pitchFamily="34" charset="0"/>
                <a:ea typeface="Cambria" pitchFamily="34" charset="-122"/>
                <a:cs typeface="Cambria" pitchFamily="34" charset="-120"/>
              </a:rPr>
              <a:t>ERROR ANALYSIS: TRICKY ONE</a:t>
            </a:r>
            <a:endParaRPr lang="en-US" sz="1300" dirty="0"/>
          </a:p>
        </p:txBody>
      </p:sp>
      <p:sp>
        <p:nvSpPr>
          <p:cNvPr id="5" name="Shape 3"/>
          <p:cNvSpPr/>
          <p:nvPr/>
        </p:nvSpPr>
        <p:spPr>
          <a:xfrm>
            <a:off x="274320" y="731520"/>
            <a:ext cx="8595360" cy="594360"/>
          </a:xfrm>
          <a:prstGeom prst="roundRect">
            <a:avLst>
              <a:gd name="adj" fmla="val 15385"/>
            </a:avLst>
          </a:prstGeom>
          <a:solidFill>
            <a:srgbClr val="1A2D5A"/>
          </a:solidFill>
          <a:ln w="19050">
            <a:solidFill>
              <a:srgbClr val="E8636B"/>
            </a:solidFill>
            <a:prstDash val="solid"/>
          </a:ln>
        </p:spPr>
      </p:sp>
      <p:sp>
        <p:nvSpPr>
          <p:cNvPr id="6" name="Text 4"/>
          <p:cNvSpPr/>
          <p:nvPr/>
        </p:nvSpPr>
        <p:spPr>
          <a:xfrm>
            <a:off x="457200" y="822960"/>
            <a:ext cx="8229600" cy="201168"/>
          </a:xfrm>
          <a:prstGeom prst="rect">
            <a:avLst/>
          </a:prstGeom>
          <a:noFill/>
          <a:ln/>
        </p:spPr>
        <p:txBody>
          <a:bodyPr wrap="square" lIns="0" tIns="0" rIns="0" bIns="0" rtlCol="0" anchor="ctr"/>
          <a:lstStyle/>
          <a:p>
            <a:pPr indent="0" marL="0">
              <a:buNone/>
            </a:pPr>
            <a:r>
              <a:rPr lang="en-US" sz="1000" b="1" spc="100" kern="0" dirty="0">
                <a:solidFill>
                  <a:srgbClr val="E8636B"/>
                </a:solidFill>
                <a:latin typeface="Calibri" pitchFamily="34" charset="0"/>
                <a:ea typeface="Calibri" pitchFamily="34" charset="-122"/>
                <a:cs typeface="Calibri" pitchFamily="34" charset="-120"/>
              </a:rPr>
              <a:t>Fact-Check Room Review — Before the Gazette Goes to Press</a:t>
            </a:r>
            <a:endParaRPr lang="en-US" sz="1000" dirty="0"/>
          </a:p>
        </p:txBody>
      </p:sp>
      <p:sp>
        <p:nvSpPr>
          <p:cNvPr id="7" name="Text 5"/>
          <p:cNvSpPr/>
          <p:nvPr/>
        </p:nvSpPr>
        <p:spPr>
          <a:xfrm>
            <a:off x="457200" y="1033272"/>
            <a:ext cx="8229600" cy="228600"/>
          </a:xfrm>
          <a:prstGeom prst="rect">
            <a:avLst/>
          </a:prstGeom>
          <a:noFill/>
          <a:ln/>
        </p:spPr>
        <p:txBody>
          <a:bodyPr wrap="square" lIns="0" tIns="0" rIns="0" bIns="0" rtlCol="0" anchor="ctr"/>
          <a:lstStyle/>
          <a:p>
            <a:pPr indent="0" marL="0">
              <a:buNone/>
            </a:pPr>
            <a:r>
              <a:rPr lang="en-US" sz="1000" i="1" dirty="0">
                <a:solidFill>
                  <a:srgbClr val="D6F2FB"/>
                </a:solidFill>
                <a:latin typeface="Calibri" pitchFamily="34" charset="0"/>
                <a:ea typeface="Calibri" pitchFamily="34" charset="-122"/>
                <a:cs typeface="Calibri" pitchFamily="34" charset="-120"/>
              </a:rPr>
              <a:t>An honest paper publishes only what holds up. Check each claim carefully.</a:t>
            </a:r>
            <a:endParaRPr lang="en-US" sz="1000" dirty="0"/>
          </a:p>
        </p:txBody>
      </p:sp>
      <p:sp>
        <p:nvSpPr>
          <p:cNvPr id="8" name="Shape 6"/>
          <p:cNvSpPr/>
          <p:nvPr/>
        </p:nvSpPr>
        <p:spPr>
          <a:xfrm>
            <a:off x="274320" y="1463040"/>
            <a:ext cx="8595360" cy="1572768"/>
          </a:xfrm>
          <a:prstGeom prst="roundRect">
            <a:avLst>
              <a:gd name="adj" fmla="val 6977"/>
            </a:avLst>
          </a:prstGeom>
          <a:solidFill>
            <a:srgbClr val="FFFFFF"/>
          </a:solidFill>
          <a:ln w="12700">
            <a:solidFill>
              <a:srgbClr val="E8636B"/>
            </a:solidFill>
            <a:prstDash val="solid"/>
          </a:ln>
        </p:spPr>
      </p:sp>
      <p:sp>
        <p:nvSpPr>
          <p:cNvPr id="9" name="Text 7"/>
          <p:cNvSpPr/>
          <p:nvPr/>
        </p:nvSpPr>
        <p:spPr>
          <a:xfrm>
            <a:off x="457200" y="1536192"/>
            <a:ext cx="8229600" cy="475488"/>
          </a:xfrm>
          <a:prstGeom prst="rect">
            <a:avLst/>
          </a:prstGeom>
          <a:noFill/>
          <a:ln/>
        </p:spPr>
        <p:txBody>
          <a:bodyPr wrap="square" lIns="0" tIns="0" rIns="0" bIns="0" rtlCol="0" anchor="t"/>
          <a:lstStyle/>
          <a:p>
            <a:pPr indent="0" marL="0">
              <a:buNone/>
            </a:pPr>
            <a:r>
              <a:rPr lang="en-US" sz="1050" b="1" dirty="0">
                <a:solidFill>
                  <a:srgbClr val="0E1C42"/>
                </a:solidFill>
                <a:latin typeface="Calibri" pitchFamily="34" charset="0"/>
                <a:ea typeface="Calibri" pitchFamily="34" charset="-122"/>
                <a:cs typeface="Calibri" pitchFamily="34" charset="-120"/>
              </a:rPr>
              <a:t>TRICKY ONE: A student writes: "The Maya are only famous for their pyramids and nothing else — everything else came later." What's wrong with this?</a:t>
            </a:r>
            <a:endParaRPr lang="en-US" sz="1050" dirty="0"/>
          </a:p>
        </p:txBody>
      </p:sp>
      <p:sp>
        <p:nvSpPr>
          <p:cNvPr id="10" name="Shape 8"/>
          <p:cNvSpPr/>
          <p:nvPr/>
        </p:nvSpPr>
        <p:spPr>
          <a:xfrm>
            <a:off x="411480" y="2057400"/>
            <a:ext cx="4114800" cy="822960"/>
          </a:xfrm>
          <a:prstGeom prst="roundRect">
            <a:avLst>
              <a:gd name="adj" fmla="val 8889"/>
            </a:avLst>
          </a:prstGeom>
          <a:solidFill>
            <a:srgbClr val="FFE8E8"/>
          </a:solidFill>
          <a:ln w="12700">
            <a:solidFill>
              <a:srgbClr val="E8636B"/>
            </a:solidFill>
            <a:prstDash val="solid"/>
          </a:ln>
        </p:spPr>
      </p:sp>
      <p:sp>
        <p:nvSpPr>
          <p:cNvPr id="11" name="Text 9"/>
          <p:cNvSpPr/>
          <p:nvPr/>
        </p:nvSpPr>
        <p:spPr>
          <a:xfrm>
            <a:off x="548640" y="2103120"/>
            <a:ext cx="3840480" cy="731520"/>
          </a:xfrm>
          <a:prstGeom prst="rect">
            <a:avLst/>
          </a:prstGeom>
          <a:noFill/>
          <a:ln/>
        </p:spPr>
        <p:txBody>
          <a:bodyPr wrap="square" lIns="0" tIns="0" rIns="0" bIns="0" rtlCol="0" anchor="t"/>
          <a:lstStyle/>
          <a:p>
            <a:pPr indent="0" marL="0">
              <a:buNone/>
            </a:pPr>
            <a:r>
              <a:rPr lang="en-US" sz="950" dirty="0">
                <a:solidFill>
                  <a:srgbClr val="C04040"/>
                </a:solidFill>
                <a:latin typeface="Calibri" pitchFamily="34" charset="0"/>
                <a:ea typeface="Calibri" pitchFamily="34" charset="-122"/>
                <a:cs typeface="Calibri" pitchFamily="34" charset="-120"/>
              </a:rPr>
              <a:t>ERROR: It reduces the Maya to ONE achievement AND invents a false timeline (writing, math, and astronomy developed ALONGSIDE architecture, not after).</a:t>
            </a:r>
            <a:endParaRPr lang="en-US" sz="950" dirty="0"/>
          </a:p>
        </p:txBody>
      </p:sp>
      <p:sp>
        <p:nvSpPr>
          <p:cNvPr id="12" name="Shape 10"/>
          <p:cNvSpPr/>
          <p:nvPr/>
        </p:nvSpPr>
        <p:spPr>
          <a:xfrm>
            <a:off x="4663440" y="2057400"/>
            <a:ext cx="4114800" cy="822960"/>
          </a:xfrm>
          <a:prstGeom prst="roundRect">
            <a:avLst>
              <a:gd name="adj" fmla="val 8889"/>
            </a:avLst>
          </a:prstGeom>
          <a:solidFill>
            <a:srgbClr val="E8F8EE"/>
          </a:solidFill>
          <a:ln w="12700">
            <a:solidFill>
              <a:srgbClr val="34B76F"/>
            </a:solidFill>
            <a:prstDash val="solid"/>
          </a:ln>
        </p:spPr>
      </p:sp>
      <p:sp>
        <p:nvSpPr>
          <p:cNvPr id="13" name="Text 11"/>
          <p:cNvSpPr/>
          <p:nvPr/>
        </p:nvSpPr>
        <p:spPr>
          <a:xfrm>
            <a:off x="4800600" y="2103120"/>
            <a:ext cx="3840480" cy="731520"/>
          </a:xfrm>
          <a:prstGeom prst="rect">
            <a:avLst/>
          </a:prstGeom>
          <a:noFill/>
          <a:ln/>
        </p:spPr>
        <p:txBody>
          <a:bodyPr wrap="square" lIns="0" tIns="0" rIns="0" bIns="0" rtlCol="0" anchor="t"/>
          <a:lstStyle/>
          <a:p>
            <a:pPr indent="0" marL="0">
              <a:buNone/>
            </a:pPr>
            <a:r>
              <a:rPr lang="en-US" sz="950" dirty="0">
                <a:solidFill>
                  <a:srgbClr val="1A6A3A"/>
                </a:solidFill>
                <a:latin typeface="Calibri" pitchFamily="34" charset="0"/>
                <a:ea typeface="Calibri" pitchFamily="34" charset="-122"/>
                <a:cs typeface="Calibri" pitchFamily="34" charset="-120"/>
              </a:rPr>
              <a:t>CORRECTED: The Maya developed architecture, writing, mathematics, and astronomical calendars as an interconnected system during the same period.</a:t>
            </a:r>
            <a:endParaRPr lang="en-US" sz="950" dirty="0"/>
          </a:p>
        </p:txBody>
      </p:sp>
      <p:sp>
        <p:nvSpPr>
          <p:cNvPr id="14" name="Shape 12"/>
          <p:cNvSpPr/>
          <p:nvPr/>
        </p:nvSpPr>
        <p:spPr>
          <a:xfrm>
            <a:off x="274320" y="3154680"/>
            <a:ext cx="8595360" cy="1572768"/>
          </a:xfrm>
          <a:prstGeom prst="roundRect">
            <a:avLst>
              <a:gd name="adj" fmla="val 6977"/>
            </a:avLst>
          </a:prstGeom>
          <a:solidFill>
            <a:srgbClr val="FFFFFF"/>
          </a:solidFill>
          <a:ln w="12700">
            <a:solidFill>
              <a:srgbClr val="E8636B"/>
            </a:solidFill>
            <a:prstDash val="solid"/>
          </a:ln>
        </p:spPr>
      </p:sp>
      <p:sp>
        <p:nvSpPr>
          <p:cNvPr id="15" name="Text 13"/>
          <p:cNvSpPr/>
          <p:nvPr/>
        </p:nvSpPr>
        <p:spPr>
          <a:xfrm>
            <a:off x="457200" y="3227832"/>
            <a:ext cx="8229600" cy="475488"/>
          </a:xfrm>
          <a:prstGeom prst="rect">
            <a:avLst/>
          </a:prstGeom>
          <a:noFill/>
          <a:ln/>
        </p:spPr>
        <p:txBody>
          <a:bodyPr wrap="square" lIns="0" tIns="0" rIns="0" bIns="0" rtlCol="0" anchor="t"/>
          <a:lstStyle/>
          <a:p>
            <a:pPr indent="0" marL="0">
              <a:buNone/>
            </a:pPr>
            <a:r>
              <a:rPr lang="en-US" sz="1050" b="1" dirty="0">
                <a:solidFill>
                  <a:srgbClr val="0E1C42"/>
                </a:solidFill>
                <a:latin typeface="Calibri" pitchFamily="34" charset="0"/>
                <a:ea typeface="Calibri" pitchFamily="34" charset="-122"/>
                <a:cs typeface="Calibri" pitchFamily="34" charset="-120"/>
              </a:rPr>
              <a:t>ERROR TO CATCH: "The Maya number system was based on 10, just like ours, except they added a symbol for zero."</a:t>
            </a:r>
            <a:endParaRPr lang="en-US" sz="1050" dirty="0"/>
          </a:p>
        </p:txBody>
      </p:sp>
      <p:sp>
        <p:nvSpPr>
          <p:cNvPr id="16" name="Shape 14"/>
          <p:cNvSpPr/>
          <p:nvPr/>
        </p:nvSpPr>
        <p:spPr>
          <a:xfrm>
            <a:off x="411480" y="3749040"/>
            <a:ext cx="4114800" cy="822960"/>
          </a:xfrm>
          <a:prstGeom prst="roundRect">
            <a:avLst>
              <a:gd name="adj" fmla="val 8889"/>
            </a:avLst>
          </a:prstGeom>
          <a:solidFill>
            <a:srgbClr val="FFE8E8"/>
          </a:solidFill>
          <a:ln w="12700">
            <a:solidFill>
              <a:srgbClr val="E8636B"/>
            </a:solidFill>
            <a:prstDash val="solid"/>
          </a:ln>
        </p:spPr>
      </p:sp>
      <p:sp>
        <p:nvSpPr>
          <p:cNvPr id="17" name="Text 15"/>
          <p:cNvSpPr/>
          <p:nvPr/>
        </p:nvSpPr>
        <p:spPr>
          <a:xfrm>
            <a:off x="548640" y="3794760"/>
            <a:ext cx="3840480" cy="731520"/>
          </a:xfrm>
          <a:prstGeom prst="rect">
            <a:avLst/>
          </a:prstGeom>
          <a:noFill/>
          <a:ln/>
        </p:spPr>
        <p:txBody>
          <a:bodyPr wrap="square" lIns="0" tIns="0" rIns="0" bIns="0" rtlCol="0" anchor="t"/>
          <a:lstStyle/>
          <a:p>
            <a:pPr indent="0" marL="0">
              <a:buNone/>
            </a:pPr>
            <a:r>
              <a:rPr lang="en-US" sz="950" dirty="0">
                <a:solidFill>
                  <a:srgbClr val="C04040"/>
                </a:solidFill>
                <a:latin typeface="Calibri" pitchFamily="34" charset="0"/>
                <a:ea typeface="Calibri" pitchFamily="34" charset="-122"/>
                <a:cs typeface="Calibri" pitchFamily="34" charset="-120"/>
              </a:rPr>
              <a:t>ERROR: The Maya system was base-20 (vigesimal), not base-10. The base-20 part is the key distinction — it's what made their math so different.</a:t>
            </a:r>
            <a:endParaRPr lang="en-US" sz="950" dirty="0"/>
          </a:p>
        </p:txBody>
      </p:sp>
      <p:sp>
        <p:nvSpPr>
          <p:cNvPr id="18" name="Shape 16"/>
          <p:cNvSpPr/>
          <p:nvPr/>
        </p:nvSpPr>
        <p:spPr>
          <a:xfrm>
            <a:off x="4663440" y="3749040"/>
            <a:ext cx="4114800" cy="822960"/>
          </a:xfrm>
          <a:prstGeom prst="roundRect">
            <a:avLst>
              <a:gd name="adj" fmla="val 8889"/>
            </a:avLst>
          </a:prstGeom>
          <a:solidFill>
            <a:srgbClr val="E8F8EE"/>
          </a:solidFill>
          <a:ln w="12700">
            <a:solidFill>
              <a:srgbClr val="34B76F"/>
            </a:solidFill>
            <a:prstDash val="solid"/>
          </a:ln>
        </p:spPr>
      </p:sp>
      <p:sp>
        <p:nvSpPr>
          <p:cNvPr id="19" name="Text 17"/>
          <p:cNvSpPr/>
          <p:nvPr/>
        </p:nvSpPr>
        <p:spPr>
          <a:xfrm>
            <a:off x="4800600" y="3794760"/>
            <a:ext cx="3840480" cy="731520"/>
          </a:xfrm>
          <a:prstGeom prst="rect">
            <a:avLst/>
          </a:prstGeom>
          <a:noFill/>
          <a:ln/>
        </p:spPr>
        <p:txBody>
          <a:bodyPr wrap="square" lIns="0" tIns="0" rIns="0" bIns="0" rtlCol="0" anchor="t"/>
          <a:lstStyle/>
          <a:p>
            <a:pPr indent="0" marL="0">
              <a:buNone/>
            </a:pPr>
            <a:r>
              <a:rPr lang="en-US" sz="950" dirty="0">
                <a:solidFill>
                  <a:srgbClr val="1A6A3A"/>
                </a:solidFill>
                <a:latin typeface="Calibri" pitchFamily="34" charset="0"/>
                <a:ea typeface="Calibri" pitchFamily="34" charset="-122"/>
                <a:cs typeface="Calibri" pitchFamily="34" charset="-120"/>
              </a:rPr>
              <a:t>CORRECTED: The Maya number system was base-20 and included a symbol for zero — making it quite different from our base-10 system.</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0" y="0"/>
            <a:ext cx="9144000" cy="594360"/>
          </a:xfrm>
          <a:prstGeom prst="rect">
            <a:avLst/>
          </a:prstGeom>
          <a:solidFill>
            <a:srgbClr val="D4943A"/>
          </a:solidFill>
          <a:ln/>
        </p:spPr>
      </p:sp>
      <p:sp>
        <p:nvSpPr>
          <p:cNvPr id="6" name="Text 3"/>
          <p:cNvSpPr/>
          <p:nvPr/>
        </p:nvSpPr>
        <p:spPr>
          <a:xfrm>
            <a:off x="274320" y="137160"/>
            <a:ext cx="8595360" cy="347472"/>
          </a:xfrm>
          <a:prstGeom prst="rect">
            <a:avLst/>
          </a:prstGeom>
          <a:noFill/>
          <a:ln/>
        </p:spPr>
        <p:txBody>
          <a:bodyPr wrap="square" lIns="0" tIns="0" rIns="0" bIns="0" rtlCol="0" anchor="ctr"/>
          <a:lstStyle/>
          <a:p>
            <a:pPr indent="0" marL="0">
              <a:buNone/>
            </a:pPr>
            <a:r>
              <a:rPr lang="en-US" sz="1300" b="1" spc="300" kern="0" dirty="0">
                <a:solidFill>
                  <a:srgbClr val="0E1C42"/>
                </a:solidFill>
                <a:latin typeface="Cambria" pitchFamily="34" charset="0"/>
                <a:ea typeface="Cambria" pitchFamily="34" charset="-122"/>
                <a:cs typeface="Cambria" pitchFamily="34" charset="-120"/>
              </a:rPr>
              <a:t>GO TO PRESS — FRONT PAGE BRIEF</a:t>
            </a:r>
            <a:endParaRPr lang="en-US" sz="1300" dirty="0"/>
          </a:p>
        </p:txBody>
      </p:sp>
      <p:sp>
        <p:nvSpPr>
          <p:cNvPr id="7" name="Shape 4"/>
          <p:cNvSpPr/>
          <p:nvPr/>
        </p:nvSpPr>
        <p:spPr>
          <a:xfrm>
            <a:off x="365760" y="749808"/>
            <a:ext cx="8412480" cy="502920"/>
          </a:xfrm>
          <a:prstGeom prst="roundRect">
            <a:avLst>
              <a:gd name="adj" fmla="val 18182"/>
            </a:avLst>
          </a:prstGeom>
          <a:solidFill>
            <a:srgbClr val="1A2D5A">
              <a:alpha val="85000"/>
            </a:srgbClr>
          </a:solidFill>
          <a:ln w="19050">
            <a:solidFill>
              <a:srgbClr val="D4943A"/>
            </a:solidFill>
            <a:prstDash val="solid"/>
          </a:ln>
        </p:spPr>
      </p:sp>
      <p:sp>
        <p:nvSpPr>
          <p:cNvPr id="8" name="Text 5"/>
          <p:cNvSpPr/>
          <p:nvPr/>
        </p:nvSpPr>
        <p:spPr>
          <a:xfrm>
            <a:off x="548640" y="850392"/>
            <a:ext cx="8046720" cy="320040"/>
          </a:xfrm>
          <a:prstGeom prst="rect">
            <a:avLst/>
          </a:prstGeom>
          <a:noFill/>
          <a:ln/>
        </p:spPr>
        <p:txBody>
          <a:bodyPr wrap="square" lIns="0" tIns="0" rIns="0" bIns="0" rtlCol="0" anchor="ctr"/>
          <a:lstStyle/>
          <a:p>
            <a:pPr algn="ctr" indent="0" marL="0">
              <a:buNone/>
            </a:pPr>
            <a:r>
              <a:rPr lang="en-US" sz="1000" dirty="0">
                <a:solidFill>
                  <a:srgbClr val="D4943A"/>
                </a:solidFill>
                <a:latin typeface="Cambria" pitchFamily="34" charset="0"/>
                <a:ea typeface="Cambria" pitchFamily="34" charset="-122"/>
                <a:cs typeface="Cambria" pitchFamily="34" charset="-120"/>
              </a:rPr>
              <a:t>Vol. 1 · Issue 11  |  The Republic Gazette  |  Honest Reporting · Evidence First  |  Front Page Brief</a:t>
            </a:r>
            <a:endParaRPr lang="en-US" sz="1000" dirty="0"/>
          </a:p>
        </p:txBody>
      </p:sp>
      <p:sp>
        <p:nvSpPr>
          <p:cNvPr id="9" name="Shape 6"/>
          <p:cNvSpPr/>
          <p:nvPr/>
        </p:nvSpPr>
        <p:spPr>
          <a:xfrm>
            <a:off x="365760" y="1389888"/>
            <a:ext cx="5943600" cy="713232"/>
          </a:xfrm>
          <a:prstGeom prst="roundRect">
            <a:avLst>
              <a:gd name="adj" fmla="val 12821"/>
            </a:avLst>
          </a:prstGeom>
          <a:solidFill>
            <a:srgbClr val="0E1C42">
              <a:alpha val="85000"/>
            </a:srgbClr>
          </a:solidFill>
          <a:ln w="19050">
            <a:solidFill>
              <a:srgbClr val="55C8E8"/>
            </a:solidFill>
            <a:prstDash val="solid"/>
          </a:ln>
        </p:spPr>
      </p:sp>
      <p:sp>
        <p:nvSpPr>
          <p:cNvPr id="10" name="Text 7"/>
          <p:cNvSpPr/>
          <p:nvPr/>
        </p:nvSpPr>
        <p:spPr>
          <a:xfrm>
            <a:off x="521208" y="1463040"/>
            <a:ext cx="411480" cy="566928"/>
          </a:xfrm>
          <a:prstGeom prst="rect">
            <a:avLst/>
          </a:prstGeom>
          <a:noFill/>
          <a:ln/>
        </p:spPr>
        <p:txBody>
          <a:bodyPr wrap="square" lIns="0" tIns="0" rIns="0" bIns="0" rtlCol="0" anchor="ctr"/>
          <a:lstStyle/>
          <a:p>
            <a:pPr algn="ctr" indent="0" marL="0">
              <a:buNone/>
            </a:pPr>
            <a:r>
              <a:rPr lang="en-US" sz="1300" b="1" dirty="0">
                <a:solidFill>
                  <a:srgbClr val="55C8E8"/>
                </a:solidFill>
                <a:latin typeface="Cambria" pitchFamily="34" charset="0"/>
                <a:ea typeface="Cambria" pitchFamily="34" charset="-122"/>
                <a:cs typeface="Cambria" pitchFamily="34" charset="-120"/>
              </a:rPr>
              <a:t>Q1</a:t>
            </a:r>
            <a:endParaRPr lang="en-US" sz="1300" dirty="0"/>
          </a:p>
        </p:txBody>
      </p:sp>
      <p:sp>
        <p:nvSpPr>
          <p:cNvPr id="11" name="Text 8"/>
          <p:cNvSpPr/>
          <p:nvPr/>
        </p:nvSpPr>
        <p:spPr>
          <a:xfrm>
            <a:off x="1005840" y="1463040"/>
            <a:ext cx="5166360" cy="566928"/>
          </a:xfrm>
          <a:prstGeom prst="rect">
            <a:avLst/>
          </a:prstGeom>
          <a:noFill/>
          <a:ln/>
        </p:spPr>
        <p:txBody>
          <a:bodyPr wrap="square" lIns="0" tIns="0" rIns="0" bIns="0" rtlCol="0" anchor="ctr"/>
          <a:lstStyle/>
          <a:p>
            <a:pPr indent="0" marL="0">
              <a:buNone/>
            </a:pPr>
            <a:r>
              <a:rPr lang="en-US" sz="1050" i="1" dirty="0">
                <a:solidFill>
                  <a:srgbClr val="D6F2FB"/>
                </a:solidFill>
                <a:latin typeface="Calibri" pitchFamily="34" charset="0"/>
                <a:ea typeface="Calibri" pitchFamily="34" charset="-122"/>
                <a:cs typeface="Calibri" pitchFamily="34" charset="-120"/>
              </a:rPr>
              <a:t>Name at least two achievements of the Maya. What does each one tell us about their civilization?</a:t>
            </a:r>
            <a:endParaRPr lang="en-US" sz="1050" dirty="0"/>
          </a:p>
        </p:txBody>
      </p:sp>
      <p:sp>
        <p:nvSpPr>
          <p:cNvPr id="12" name="Shape 9"/>
          <p:cNvSpPr/>
          <p:nvPr/>
        </p:nvSpPr>
        <p:spPr>
          <a:xfrm>
            <a:off x="365760" y="2194560"/>
            <a:ext cx="5943600" cy="713232"/>
          </a:xfrm>
          <a:prstGeom prst="roundRect">
            <a:avLst>
              <a:gd name="adj" fmla="val 12821"/>
            </a:avLst>
          </a:prstGeom>
          <a:solidFill>
            <a:srgbClr val="0E1C42">
              <a:alpha val="85000"/>
            </a:srgbClr>
          </a:solidFill>
          <a:ln w="19050">
            <a:solidFill>
              <a:srgbClr val="34B76F"/>
            </a:solidFill>
            <a:prstDash val="solid"/>
          </a:ln>
        </p:spPr>
      </p:sp>
      <p:sp>
        <p:nvSpPr>
          <p:cNvPr id="13" name="Text 10"/>
          <p:cNvSpPr/>
          <p:nvPr/>
        </p:nvSpPr>
        <p:spPr>
          <a:xfrm>
            <a:off x="521208" y="2267712"/>
            <a:ext cx="411480" cy="566928"/>
          </a:xfrm>
          <a:prstGeom prst="rect">
            <a:avLst/>
          </a:prstGeom>
          <a:noFill/>
          <a:ln/>
        </p:spPr>
        <p:txBody>
          <a:bodyPr wrap="square" lIns="0" tIns="0" rIns="0" bIns="0" rtlCol="0" anchor="ctr"/>
          <a:lstStyle/>
          <a:p>
            <a:pPr algn="ctr" indent="0" marL="0">
              <a:buNone/>
            </a:pPr>
            <a:r>
              <a:rPr lang="en-US" sz="1300" b="1" dirty="0">
                <a:solidFill>
                  <a:srgbClr val="34B76F"/>
                </a:solidFill>
                <a:latin typeface="Cambria" pitchFamily="34" charset="0"/>
                <a:ea typeface="Cambria" pitchFamily="34" charset="-122"/>
                <a:cs typeface="Cambria" pitchFamily="34" charset="-120"/>
              </a:rPr>
              <a:t>Q2</a:t>
            </a:r>
            <a:endParaRPr lang="en-US" sz="1300" dirty="0"/>
          </a:p>
        </p:txBody>
      </p:sp>
      <p:sp>
        <p:nvSpPr>
          <p:cNvPr id="14" name="Text 11"/>
          <p:cNvSpPr/>
          <p:nvPr/>
        </p:nvSpPr>
        <p:spPr>
          <a:xfrm>
            <a:off x="1005840" y="2267712"/>
            <a:ext cx="5166360" cy="566928"/>
          </a:xfrm>
          <a:prstGeom prst="rect">
            <a:avLst/>
          </a:prstGeom>
          <a:noFill/>
          <a:ln/>
        </p:spPr>
        <p:txBody>
          <a:bodyPr wrap="square" lIns="0" tIns="0" rIns="0" bIns="0" rtlCol="0" anchor="ctr"/>
          <a:lstStyle/>
          <a:p>
            <a:pPr indent="0" marL="0">
              <a:buNone/>
            </a:pPr>
            <a:r>
              <a:rPr lang="en-US" sz="1050" i="1" dirty="0">
                <a:solidFill>
                  <a:srgbClr val="D6F2FB"/>
                </a:solidFill>
                <a:latin typeface="Calibri" pitchFamily="34" charset="0"/>
                <a:ea typeface="Calibri" pitchFamily="34" charset="-122"/>
                <a:cs typeface="Calibri" pitchFamily="34" charset="-120"/>
              </a:rPr>
              <a:t>Why do you think the Maya needed a writing system and a calendar? What problems did those tools help them solve?</a:t>
            </a:r>
            <a:endParaRPr lang="en-US" sz="1050" dirty="0"/>
          </a:p>
        </p:txBody>
      </p:sp>
      <p:sp>
        <p:nvSpPr>
          <p:cNvPr id="15" name="Shape 12"/>
          <p:cNvSpPr/>
          <p:nvPr/>
        </p:nvSpPr>
        <p:spPr>
          <a:xfrm>
            <a:off x="365760" y="2999232"/>
            <a:ext cx="5943600" cy="713232"/>
          </a:xfrm>
          <a:prstGeom prst="roundRect">
            <a:avLst>
              <a:gd name="adj" fmla="val 12821"/>
            </a:avLst>
          </a:prstGeom>
          <a:solidFill>
            <a:srgbClr val="0E1C42">
              <a:alpha val="85000"/>
            </a:srgbClr>
          </a:solidFill>
          <a:ln w="19050">
            <a:solidFill>
              <a:srgbClr val="8B6FC0"/>
            </a:solidFill>
            <a:prstDash val="solid"/>
          </a:ln>
        </p:spPr>
      </p:sp>
      <p:sp>
        <p:nvSpPr>
          <p:cNvPr id="16" name="Text 13"/>
          <p:cNvSpPr/>
          <p:nvPr/>
        </p:nvSpPr>
        <p:spPr>
          <a:xfrm>
            <a:off x="521208" y="3072384"/>
            <a:ext cx="411480" cy="566928"/>
          </a:xfrm>
          <a:prstGeom prst="rect">
            <a:avLst/>
          </a:prstGeom>
          <a:noFill/>
          <a:ln/>
        </p:spPr>
        <p:txBody>
          <a:bodyPr wrap="square" lIns="0" tIns="0" rIns="0" bIns="0" rtlCol="0" anchor="ctr"/>
          <a:lstStyle/>
          <a:p>
            <a:pPr algn="ctr" indent="0" marL="0">
              <a:buNone/>
            </a:pPr>
            <a:r>
              <a:rPr lang="en-US" sz="1300" b="1" dirty="0">
                <a:solidFill>
                  <a:srgbClr val="8B6FC0"/>
                </a:solidFill>
                <a:latin typeface="Cambria" pitchFamily="34" charset="0"/>
                <a:ea typeface="Cambria" pitchFamily="34" charset="-122"/>
                <a:cs typeface="Cambria" pitchFamily="34" charset="-120"/>
              </a:rPr>
              <a:t>Q3</a:t>
            </a:r>
            <a:endParaRPr lang="en-US" sz="1300" dirty="0"/>
          </a:p>
        </p:txBody>
      </p:sp>
      <p:sp>
        <p:nvSpPr>
          <p:cNvPr id="17" name="Text 14"/>
          <p:cNvSpPr/>
          <p:nvPr/>
        </p:nvSpPr>
        <p:spPr>
          <a:xfrm>
            <a:off x="1005840" y="3072384"/>
            <a:ext cx="5166360" cy="566928"/>
          </a:xfrm>
          <a:prstGeom prst="rect">
            <a:avLst/>
          </a:prstGeom>
          <a:noFill/>
          <a:ln/>
        </p:spPr>
        <p:txBody>
          <a:bodyPr wrap="square" lIns="0" tIns="0" rIns="0" bIns="0" rtlCol="0" anchor="ctr"/>
          <a:lstStyle/>
          <a:p>
            <a:pPr indent="0" marL="0">
              <a:buNone/>
            </a:pPr>
            <a:r>
              <a:rPr lang="en-US" sz="1050" i="1" dirty="0">
                <a:solidFill>
                  <a:srgbClr val="D6F2FB"/>
                </a:solidFill>
                <a:latin typeface="Calibri" pitchFamily="34" charset="0"/>
                <a:ea typeface="Calibri" pitchFamily="34" charset="-122"/>
                <a:cs typeface="Calibri" pitchFamily="34" charset="-120"/>
              </a:rPr>
              <a:t>The Hasty Herald said "the Maya should be remembered for only one achievement." What's partly right about that? What's missing?</a:t>
            </a:r>
            <a:endParaRPr lang="en-US" sz="1050" dirty="0"/>
          </a:p>
        </p:txBody>
      </p:sp>
      <p:sp>
        <p:nvSpPr>
          <p:cNvPr id="18" name="Shape 15"/>
          <p:cNvSpPr/>
          <p:nvPr/>
        </p:nvSpPr>
        <p:spPr>
          <a:xfrm>
            <a:off x="6446520" y="1389888"/>
            <a:ext cx="2377440" cy="1938528"/>
          </a:xfrm>
          <a:prstGeom prst="roundRect">
            <a:avLst>
              <a:gd name="adj" fmla="val 4717"/>
            </a:avLst>
          </a:prstGeom>
          <a:solidFill>
            <a:srgbClr val="FFF3DC"/>
          </a:solidFill>
          <a:ln w="19050">
            <a:solidFill>
              <a:srgbClr val="D4943A"/>
            </a:solidFill>
            <a:prstDash val="solid"/>
          </a:ln>
        </p:spPr>
      </p:sp>
      <p:sp>
        <p:nvSpPr>
          <p:cNvPr id="19" name="Text 16"/>
          <p:cNvSpPr/>
          <p:nvPr/>
        </p:nvSpPr>
        <p:spPr>
          <a:xfrm>
            <a:off x="6583680" y="1481328"/>
            <a:ext cx="2103120" cy="228600"/>
          </a:xfrm>
          <a:prstGeom prst="rect">
            <a:avLst/>
          </a:prstGeom>
          <a:noFill/>
          <a:ln/>
        </p:spPr>
        <p:txBody>
          <a:bodyPr wrap="square" lIns="0" tIns="0" rIns="0" bIns="0" rtlCol="0" anchor="ctr"/>
          <a:lstStyle/>
          <a:p>
            <a:pPr indent="0" marL="0">
              <a:buNone/>
            </a:pPr>
            <a:r>
              <a:rPr lang="en-US" sz="900" b="1" spc="100" kern="0" dirty="0">
                <a:solidFill>
                  <a:srgbClr val="D4943A"/>
                </a:solidFill>
                <a:latin typeface="Calibri" pitchFamily="34" charset="0"/>
                <a:ea typeface="Calibri" pitchFamily="34" charset="-122"/>
                <a:cs typeface="Calibri" pitchFamily="34" charset="-120"/>
              </a:rPr>
              <a:t>FRONT PAGE BRIEF</a:t>
            </a:r>
            <a:endParaRPr lang="en-US" sz="900" dirty="0"/>
          </a:p>
        </p:txBody>
      </p:sp>
      <p:sp>
        <p:nvSpPr>
          <p:cNvPr id="20" name="Text 17"/>
          <p:cNvSpPr/>
          <p:nvPr/>
        </p:nvSpPr>
        <p:spPr>
          <a:xfrm>
            <a:off x="6583680" y="1737360"/>
            <a:ext cx="2103120" cy="320040"/>
          </a:xfrm>
          <a:prstGeom prst="rect">
            <a:avLst/>
          </a:prstGeom>
          <a:noFill/>
          <a:ln/>
        </p:spPr>
        <p:txBody>
          <a:bodyPr wrap="square" lIns="0" tIns="0" rIns="0" bIns="0" rtlCol="0" anchor="ctr"/>
          <a:lstStyle/>
          <a:p>
            <a:pPr indent="0" marL="0">
              <a:buNone/>
            </a:pPr>
            <a:r>
              <a:rPr lang="en-US" sz="950" dirty="0">
                <a:solidFill>
                  <a:srgbClr val="5A4A3A"/>
                </a:solidFill>
                <a:latin typeface="Calibri" pitchFamily="34" charset="0"/>
                <a:ea typeface="Calibri" pitchFamily="34" charset="-122"/>
                <a:cs typeface="Calibri" pitchFamily="34" charset="-120"/>
              </a:rPr>
              <a:t>(1) A clear claim about the Maya civilization.</a:t>
            </a:r>
            <a:endParaRPr lang="en-US" sz="950" dirty="0"/>
          </a:p>
        </p:txBody>
      </p:sp>
      <p:sp>
        <p:nvSpPr>
          <p:cNvPr id="21" name="Text 18"/>
          <p:cNvSpPr/>
          <p:nvPr/>
        </p:nvSpPr>
        <p:spPr>
          <a:xfrm>
            <a:off x="6583680" y="2084832"/>
            <a:ext cx="2103120" cy="320040"/>
          </a:xfrm>
          <a:prstGeom prst="rect">
            <a:avLst/>
          </a:prstGeom>
          <a:noFill/>
          <a:ln/>
        </p:spPr>
        <p:txBody>
          <a:bodyPr wrap="square" lIns="0" tIns="0" rIns="0" bIns="0" rtlCol="0" anchor="ctr"/>
          <a:lstStyle/>
          <a:p>
            <a:pPr indent="0" marL="0">
              <a:buNone/>
            </a:pPr>
            <a:r>
              <a:rPr lang="en-US" sz="950" dirty="0">
                <a:solidFill>
                  <a:srgbClr val="5A4A3A"/>
                </a:solidFill>
                <a:latin typeface="Calibri" pitchFamily="34" charset="0"/>
                <a:ea typeface="Calibri" pitchFamily="34" charset="-122"/>
                <a:cs typeface="Calibri" pitchFamily="34" charset="-120"/>
              </a:rPr>
              <a:t>(2) One piece of evidence from the photo or lesson.</a:t>
            </a:r>
            <a:endParaRPr lang="en-US" sz="950" dirty="0"/>
          </a:p>
        </p:txBody>
      </p:sp>
      <p:sp>
        <p:nvSpPr>
          <p:cNvPr id="22" name="Text 19"/>
          <p:cNvSpPr/>
          <p:nvPr/>
        </p:nvSpPr>
        <p:spPr>
          <a:xfrm>
            <a:off x="6583680" y="2432304"/>
            <a:ext cx="2103120" cy="320040"/>
          </a:xfrm>
          <a:prstGeom prst="rect">
            <a:avLst/>
          </a:prstGeom>
          <a:noFill/>
          <a:ln/>
        </p:spPr>
        <p:txBody>
          <a:bodyPr wrap="square" lIns="0" tIns="0" rIns="0" bIns="0" rtlCol="0" anchor="ctr"/>
          <a:lstStyle/>
          <a:p>
            <a:pPr indent="0" marL="0">
              <a:buNone/>
            </a:pPr>
            <a:r>
              <a:rPr lang="en-US" sz="950" dirty="0">
                <a:solidFill>
                  <a:srgbClr val="5A4A3A"/>
                </a:solidFill>
                <a:latin typeface="Calibri" pitchFamily="34" charset="0"/>
                <a:ea typeface="Calibri" pitchFamily="34" charset="-122"/>
                <a:cs typeface="Calibri" pitchFamily="34" charset="-120"/>
              </a:rPr>
              <a:t>(3) Why this matters — what should readers understand?</a:t>
            </a:r>
            <a:endParaRPr lang="en-US" sz="950" dirty="0"/>
          </a:p>
        </p:txBody>
      </p:sp>
      <p:sp>
        <p:nvSpPr>
          <p:cNvPr id="23" name="Text 20"/>
          <p:cNvSpPr/>
          <p:nvPr/>
        </p:nvSpPr>
        <p:spPr>
          <a:xfrm>
            <a:off x="6583680" y="2816352"/>
            <a:ext cx="2103120" cy="347472"/>
          </a:xfrm>
          <a:prstGeom prst="rect">
            <a:avLst/>
          </a:prstGeom>
          <a:noFill/>
          <a:ln/>
        </p:spPr>
        <p:txBody>
          <a:bodyPr wrap="square" lIns="0" tIns="0" rIns="0" bIns="0" rtlCol="0" anchor="ctr"/>
          <a:lstStyle/>
          <a:p>
            <a:pPr indent="0" marL="0">
              <a:buNone/>
            </a:pPr>
            <a:r>
              <a:rPr lang="en-US" sz="900" i="1" dirty="0">
                <a:solidFill>
                  <a:srgbClr val="D4943A"/>
                </a:solidFill>
                <a:latin typeface="Calibri" pitchFamily="34" charset="0"/>
                <a:ea typeface="Calibri" pitchFamily="34" charset="-122"/>
                <a:cs typeface="Calibri" pitchFamily="34" charset="-120"/>
              </a:rPr>
              <a:t>Counter the Herald with MORE than one achievement.</a:t>
            </a:r>
            <a:endParaRPr lang="en-US" sz="900" dirty="0"/>
          </a:p>
        </p:txBody>
      </p:sp>
      <p:sp>
        <p:nvSpPr>
          <p:cNvPr id="24" name="Shape 21"/>
          <p:cNvSpPr/>
          <p:nvPr/>
        </p:nvSpPr>
        <p:spPr>
          <a:xfrm>
            <a:off x="365760" y="3822192"/>
            <a:ext cx="5943600" cy="777240"/>
          </a:xfrm>
          <a:prstGeom prst="roundRect">
            <a:avLst>
              <a:gd name="adj" fmla="val 11765"/>
            </a:avLst>
          </a:prstGeom>
          <a:solidFill>
            <a:srgbClr val="D4943A">
              <a:alpha val="80000"/>
            </a:srgbClr>
          </a:solidFill>
          <a:ln w="19050">
            <a:solidFill>
              <a:srgbClr val="D4943A"/>
            </a:solidFill>
            <a:prstDash val="solid"/>
          </a:ln>
        </p:spPr>
      </p:sp>
      <p:sp>
        <p:nvSpPr>
          <p:cNvPr id="25" name="Text 22"/>
          <p:cNvSpPr/>
          <p:nvPr/>
        </p:nvSpPr>
        <p:spPr>
          <a:xfrm>
            <a:off x="548640" y="3904488"/>
            <a:ext cx="1371600" cy="256032"/>
          </a:xfrm>
          <a:prstGeom prst="rect">
            <a:avLst/>
          </a:prstGeom>
          <a:noFill/>
          <a:ln/>
        </p:spPr>
        <p:txBody>
          <a:bodyPr wrap="square" lIns="0" tIns="0" rIns="0" bIns="0" rtlCol="0" anchor="ctr"/>
          <a:lstStyle/>
          <a:p>
            <a:pPr indent="0" marL="0">
              <a:buNone/>
            </a:pPr>
            <a:r>
              <a:rPr lang="en-US" sz="900" b="1" spc="100" kern="0" dirty="0">
                <a:solidFill>
                  <a:srgbClr val="0E1C42"/>
                </a:solidFill>
                <a:latin typeface="Calibri" pitchFamily="34" charset="0"/>
                <a:ea typeface="Calibri" pitchFamily="34" charset="-122"/>
                <a:cs typeface="Calibri" pitchFamily="34" charset="-120"/>
              </a:rPr>
              <a:t>ARCHIVE LINE:</a:t>
            </a:r>
            <a:endParaRPr lang="en-US" sz="900" dirty="0"/>
          </a:p>
        </p:txBody>
      </p:sp>
      <p:sp>
        <p:nvSpPr>
          <p:cNvPr id="26" name="Text 23"/>
          <p:cNvSpPr/>
          <p:nvPr/>
        </p:nvSpPr>
        <p:spPr>
          <a:xfrm>
            <a:off x="548640" y="4160520"/>
            <a:ext cx="5577840" cy="384048"/>
          </a:xfrm>
          <a:prstGeom prst="rect">
            <a:avLst/>
          </a:prstGeom>
          <a:noFill/>
          <a:ln/>
        </p:spPr>
        <p:txBody>
          <a:bodyPr wrap="square" lIns="0" tIns="0" rIns="0" bIns="0" rtlCol="0" anchor="ctr"/>
          <a:lstStyle/>
          <a:p>
            <a:pPr indent="0" marL="0">
              <a:buNone/>
            </a:pPr>
            <a:r>
              <a:rPr lang="en-US" sz="1050" i="1" dirty="0">
                <a:solidFill>
                  <a:srgbClr val="0E1C42"/>
                </a:solidFill>
                <a:latin typeface="Cambria" pitchFamily="34" charset="0"/>
                <a:ea typeface="Cambria" pitchFamily="34" charset="-122"/>
                <a:cs typeface="Cambria" pitchFamily="34" charset="-120"/>
              </a:rPr>
              <a:t>"In one careful sentence, write what future citizens should remember about Maya civilization."</a:t>
            </a:r>
            <a:endParaRPr lang="en-US" sz="1050" dirty="0"/>
          </a:p>
        </p:txBody>
      </p:sp>
      <p:sp>
        <p:nvSpPr>
          <p:cNvPr id="27" name="Shape 24"/>
          <p:cNvSpPr/>
          <p:nvPr/>
        </p:nvSpPr>
        <p:spPr>
          <a:xfrm>
            <a:off x="6446520" y="3429000"/>
            <a:ext cx="2377440" cy="1417320"/>
          </a:xfrm>
          <a:prstGeom prst="roundRect">
            <a:avLst>
              <a:gd name="adj" fmla="val 6452"/>
            </a:avLst>
          </a:prstGeom>
          <a:solidFill>
            <a:srgbClr val="1A2D5A">
              <a:alpha val="90000"/>
            </a:srgbClr>
          </a:solidFill>
          <a:ln w="19050">
            <a:solidFill>
              <a:srgbClr val="34B76F"/>
            </a:solidFill>
            <a:prstDash val="solid"/>
          </a:ln>
        </p:spPr>
      </p:sp>
      <p:sp>
        <p:nvSpPr>
          <p:cNvPr id="28" name="Text 25"/>
          <p:cNvSpPr/>
          <p:nvPr/>
        </p:nvSpPr>
        <p:spPr>
          <a:xfrm>
            <a:off x="6583680" y="3520440"/>
            <a:ext cx="2103120" cy="228600"/>
          </a:xfrm>
          <a:prstGeom prst="rect">
            <a:avLst/>
          </a:prstGeom>
          <a:noFill/>
          <a:ln/>
        </p:spPr>
        <p:txBody>
          <a:bodyPr wrap="square" lIns="0" tIns="0" rIns="0" bIns="0" rtlCol="0" anchor="ctr"/>
          <a:lstStyle/>
          <a:p>
            <a:pPr indent="0" marL="0">
              <a:buNone/>
            </a:pPr>
            <a:r>
              <a:rPr lang="en-US" sz="800" b="1" spc="100" kern="0" dirty="0">
                <a:solidFill>
                  <a:srgbClr val="34B76F"/>
                </a:solidFill>
                <a:latin typeface="Calibri" pitchFamily="34" charset="0"/>
                <a:ea typeface="Calibri" pitchFamily="34" charset="-122"/>
                <a:cs typeface="Calibri" pitchFamily="34" charset="-120"/>
              </a:rPr>
              <a:t>BEFORE YOU SUBMIT</a:t>
            </a:r>
            <a:endParaRPr lang="en-US" sz="800" dirty="0"/>
          </a:p>
        </p:txBody>
      </p:sp>
      <p:sp>
        <p:nvSpPr>
          <p:cNvPr id="29" name="Text 26"/>
          <p:cNvSpPr/>
          <p:nvPr/>
        </p:nvSpPr>
        <p:spPr>
          <a:xfrm>
            <a:off x="6583680" y="3794760"/>
            <a:ext cx="2103120" cy="155448"/>
          </a:xfrm>
          <a:prstGeom prst="rect">
            <a:avLst/>
          </a:prstGeom>
          <a:noFill/>
          <a:ln/>
        </p:spPr>
        <p:txBody>
          <a:bodyPr wrap="square" lIns="0" tIns="0" rIns="0" bIns="0" rtlCol="0" anchor="ctr"/>
          <a:lstStyle/>
          <a:p>
            <a:pPr indent="0" marL="0">
              <a:buNone/>
            </a:pPr>
            <a:r>
              <a:rPr lang="en-US" sz="850" dirty="0">
                <a:solidFill>
                  <a:srgbClr val="D6F2FB"/>
                </a:solidFill>
                <a:latin typeface="Calibri" pitchFamily="34" charset="0"/>
                <a:ea typeface="Calibri" pitchFamily="34" charset="-122"/>
                <a:cs typeface="Calibri" pitchFamily="34" charset="-120"/>
              </a:rPr>
              <a:t>[ ]  Answered all 3 Notebook questions</a:t>
            </a:r>
            <a:endParaRPr lang="en-US" sz="850" dirty="0"/>
          </a:p>
        </p:txBody>
      </p:sp>
      <p:sp>
        <p:nvSpPr>
          <p:cNvPr id="30" name="Text 27"/>
          <p:cNvSpPr/>
          <p:nvPr/>
        </p:nvSpPr>
        <p:spPr>
          <a:xfrm>
            <a:off x="6583680" y="3950208"/>
            <a:ext cx="2103120" cy="155448"/>
          </a:xfrm>
          <a:prstGeom prst="rect">
            <a:avLst/>
          </a:prstGeom>
          <a:noFill/>
          <a:ln/>
        </p:spPr>
        <p:txBody>
          <a:bodyPr wrap="square" lIns="0" tIns="0" rIns="0" bIns="0" rtlCol="0" anchor="ctr"/>
          <a:lstStyle/>
          <a:p>
            <a:pPr indent="0" marL="0">
              <a:buNone/>
            </a:pPr>
            <a:r>
              <a:rPr lang="en-US" sz="850" dirty="0">
                <a:solidFill>
                  <a:srgbClr val="D6F2FB"/>
                </a:solidFill>
                <a:latin typeface="Calibri" pitchFamily="34" charset="0"/>
                <a:ea typeface="Calibri" pitchFamily="34" charset="-122"/>
                <a:cs typeface="Calibri" pitchFamily="34" charset="-120"/>
              </a:rPr>
              <a:t>[ ]  Completed the Fact-Check</a:t>
            </a:r>
            <a:endParaRPr lang="en-US" sz="850" dirty="0"/>
          </a:p>
        </p:txBody>
      </p:sp>
      <p:sp>
        <p:nvSpPr>
          <p:cNvPr id="31" name="Text 28"/>
          <p:cNvSpPr/>
          <p:nvPr/>
        </p:nvSpPr>
        <p:spPr>
          <a:xfrm>
            <a:off x="6583680" y="4105656"/>
            <a:ext cx="2103120" cy="155448"/>
          </a:xfrm>
          <a:prstGeom prst="rect">
            <a:avLst/>
          </a:prstGeom>
          <a:noFill/>
          <a:ln/>
        </p:spPr>
        <p:txBody>
          <a:bodyPr wrap="square" lIns="0" tIns="0" rIns="0" bIns="0" rtlCol="0" anchor="ctr"/>
          <a:lstStyle/>
          <a:p>
            <a:pPr indent="0" marL="0">
              <a:buNone/>
            </a:pPr>
            <a:r>
              <a:rPr lang="en-US" sz="850" dirty="0">
                <a:solidFill>
                  <a:srgbClr val="D6F2FB"/>
                </a:solidFill>
                <a:latin typeface="Calibri" pitchFamily="34" charset="0"/>
                <a:ea typeface="Calibri" pitchFamily="34" charset="-122"/>
                <a:cs typeface="Calibri" pitchFamily="34" charset="-120"/>
              </a:rPr>
              <a:t>[ ]  Wrote a headline + front page brief</a:t>
            </a:r>
            <a:endParaRPr lang="en-US" sz="850" dirty="0"/>
          </a:p>
        </p:txBody>
      </p:sp>
      <p:sp>
        <p:nvSpPr>
          <p:cNvPr id="32" name="Text 29"/>
          <p:cNvSpPr/>
          <p:nvPr/>
        </p:nvSpPr>
        <p:spPr>
          <a:xfrm>
            <a:off x="6583680" y="4261104"/>
            <a:ext cx="2103120" cy="155448"/>
          </a:xfrm>
          <a:prstGeom prst="rect">
            <a:avLst/>
          </a:prstGeom>
          <a:noFill/>
          <a:ln/>
        </p:spPr>
        <p:txBody>
          <a:bodyPr wrap="square" lIns="0" tIns="0" rIns="0" bIns="0" rtlCol="0" anchor="ctr"/>
          <a:lstStyle/>
          <a:p>
            <a:pPr indent="0" marL="0">
              <a:buNone/>
            </a:pPr>
            <a:r>
              <a:rPr lang="en-US" sz="850" dirty="0">
                <a:solidFill>
                  <a:srgbClr val="D6F2FB"/>
                </a:solidFill>
                <a:latin typeface="Calibri" pitchFamily="34" charset="0"/>
                <a:ea typeface="Calibri" pitchFamily="34" charset="-122"/>
                <a:cs typeface="Calibri" pitchFamily="34" charset="-120"/>
              </a:rPr>
              <a:t>[ ]  Added your byline</a:t>
            </a:r>
            <a:endParaRPr lang="en-US" sz="850" dirty="0"/>
          </a:p>
        </p:txBody>
      </p:sp>
      <p:sp>
        <p:nvSpPr>
          <p:cNvPr id="33" name="Text 30"/>
          <p:cNvSpPr/>
          <p:nvPr/>
        </p:nvSpPr>
        <p:spPr>
          <a:xfrm>
            <a:off x="6583680" y="4416552"/>
            <a:ext cx="2103120" cy="155448"/>
          </a:xfrm>
          <a:prstGeom prst="rect">
            <a:avLst/>
          </a:prstGeom>
          <a:noFill/>
          <a:ln/>
        </p:spPr>
        <p:txBody>
          <a:bodyPr wrap="square" lIns="0" tIns="0" rIns="0" bIns="0" rtlCol="0" anchor="ctr"/>
          <a:lstStyle/>
          <a:p>
            <a:pPr indent="0" marL="0">
              <a:buNone/>
            </a:pPr>
            <a:r>
              <a:rPr lang="en-US" sz="850" dirty="0">
                <a:solidFill>
                  <a:srgbClr val="D6F2FB"/>
                </a:solidFill>
                <a:latin typeface="Calibri" pitchFamily="34" charset="0"/>
                <a:ea typeface="Calibri" pitchFamily="34" charset="-122"/>
                <a:cs typeface="Calibri" pitchFamily="34" charset="-120"/>
              </a:rPr>
              <a:t>[ ]  Wrote one Archive Line sentence</a:t>
            </a:r>
            <a:endParaRPr lang="en-US" sz="850" dirty="0"/>
          </a:p>
        </p:txBody>
      </p:sp>
      <p:sp>
        <p:nvSpPr>
          <p:cNvPr id="34" name="Text 31"/>
          <p:cNvSpPr/>
          <p:nvPr/>
        </p:nvSpPr>
        <p:spPr>
          <a:xfrm>
            <a:off x="6583680" y="4572000"/>
            <a:ext cx="2103120" cy="155448"/>
          </a:xfrm>
          <a:prstGeom prst="rect">
            <a:avLst/>
          </a:prstGeom>
          <a:noFill/>
          <a:ln/>
        </p:spPr>
        <p:txBody>
          <a:bodyPr wrap="square" lIns="0" tIns="0" rIns="0" bIns="0" rtlCol="0" anchor="ctr"/>
          <a:lstStyle/>
          <a:p>
            <a:pPr indent="0" marL="0">
              <a:buNone/>
            </a:pPr>
            <a:r>
              <a:rPr lang="en-US" sz="850" dirty="0">
                <a:solidFill>
                  <a:srgbClr val="D6F2FB"/>
                </a:solidFill>
                <a:latin typeface="Calibri" pitchFamily="34" charset="0"/>
                <a:ea typeface="Calibri" pitchFamily="34" charset="-122"/>
                <a:cs typeface="Calibri" pitchFamily="34" charset="-120"/>
              </a:rPr>
              <a:t>[ ]  Copied or downloaded Gathered Answers</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594360"/>
          </a:xfrm>
          <a:prstGeom prst="rect">
            <a:avLst/>
          </a:prstGeom>
          <a:solidFill>
            <a:srgbClr val="0E1C42"/>
          </a:solidFill>
          <a:ln/>
        </p:spPr>
      </p:sp>
      <p:sp>
        <p:nvSpPr>
          <p:cNvPr id="4" name="Text 2"/>
          <p:cNvSpPr/>
          <p:nvPr/>
        </p:nvSpPr>
        <p:spPr>
          <a:xfrm>
            <a:off x="274320" y="137160"/>
            <a:ext cx="8595360" cy="347472"/>
          </a:xfrm>
          <a:prstGeom prst="rect">
            <a:avLst/>
          </a:prstGeom>
          <a:noFill/>
          <a:ln/>
        </p:spPr>
        <p:txBody>
          <a:bodyPr wrap="square" lIns="0" tIns="0" rIns="0" bIns="0" rtlCol="0" anchor="ctr"/>
          <a:lstStyle/>
          <a:p>
            <a:pPr indent="0" marL="0">
              <a:buNone/>
            </a:pPr>
            <a:r>
              <a:rPr lang="en-US" sz="1300" b="1" spc="200" kern="0" dirty="0">
                <a:solidFill>
                  <a:srgbClr val="D4943A"/>
                </a:solidFill>
                <a:latin typeface="Cambria" pitchFamily="34" charset="0"/>
                <a:ea typeface="Cambria" pitchFamily="34" charset="-122"/>
                <a:cs typeface="Cambria" pitchFamily="34" charset="-120"/>
              </a:rPr>
              <a:t>THE REPUBLIC GAZETTE  |  ISSUE 11 PUBLISHED</a:t>
            </a:r>
            <a:endParaRPr lang="en-US" sz="1300" dirty="0"/>
          </a:p>
        </p:txBody>
      </p:sp>
      <p:sp>
        <p:nvSpPr>
          <p:cNvPr id="5" name="Shape 3"/>
          <p:cNvSpPr/>
          <p:nvPr/>
        </p:nvSpPr>
        <p:spPr>
          <a:xfrm>
            <a:off x="274320" y="749808"/>
            <a:ext cx="8595360" cy="1371600"/>
          </a:xfrm>
          <a:prstGeom prst="roundRect">
            <a:avLst>
              <a:gd name="adj" fmla="val 8000"/>
            </a:avLst>
          </a:prstGeom>
          <a:solidFill>
            <a:srgbClr val="34B76F">
              <a:alpha val="80000"/>
            </a:srgbClr>
          </a:solidFill>
          <a:ln w="25400">
            <a:solidFill>
              <a:srgbClr val="34B76F"/>
            </a:solidFill>
            <a:prstDash val="solid"/>
          </a:ln>
        </p:spPr>
      </p:sp>
      <p:sp>
        <p:nvSpPr>
          <p:cNvPr id="6" name="Text 4"/>
          <p:cNvSpPr/>
          <p:nvPr/>
        </p:nvSpPr>
        <p:spPr>
          <a:xfrm>
            <a:off x="548640" y="868680"/>
            <a:ext cx="8046720" cy="457200"/>
          </a:xfrm>
          <a:prstGeom prst="rect">
            <a:avLst/>
          </a:prstGeom>
          <a:noFill/>
          <a:ln/>
        </p:spPr>
        <p:txBody>
          <a:bodyPr wrap="square" lIns="0" tIns="0" rIns="0" bIns="0" rtlCol="0" anchor="ctr"/>
          <a:lstStyle/>
          <a:p>
            <a:pPr algn="ctr" indent="0" marL="0">
              <a:buNone/>
            </a:pPr>
            <a:r>
              <a:rPr lang="en-US" sz="2800" b="1" dirty="0">
                <a:solidFill>
                  <a:srgbClr val="0E1C42"/>
                </a:solidFill>
                <a:latin typeface="Cambria" pitchFamily="34" charset="0"/>
                <a:ea typeface="Cambria" pitchFamily="34" charset="-122"/>
                <a:cs typeface="Cambria" pitchFamily="34" charset="-120"/>
              </a:rPr>
              <a:t>Issue 11 Filed!</a:t>
            </a:r>
            <a:endParaRPr lang="en-US" sz="2800" dirty="0"/>
          </a:p>
        </p:txBody>
      </p:sp>
      <p:sp>
        <p:nvSpPr>
          <p:cNvPr id="7" name="Text 5"/>
          <p:cNvSpPr/>
          <p:nvPr/>
        </p:nvSpPr>
        <p:spPr>
          <a:xfrm>
            <a:off x="548640" y="1353312"/>
            <a:ext cx="8046720" cy="621792"/>
          </a:xfrm>
          <a:prstGeom prst="rect">
            <a:avLst/>
          </a:prstGeom>
          <a:noFill/>
          <a:ln/>
        </p:spPr>
        <p:txBody>
          <a:bodyPr wrap="square" lIns="0" tIns="0" rIns="0" bIns="0" rtlCol="0" anchor="ctr"/>
          <a:lstStyle/>
          <a:p>
            <a:pPr algn="ctr" indent="0" marL="0">
              <a:buNone/>
            </a:pPr>
            <a:r>
              <a:rPr lang="en-US" sz="1100" i="1" dirty="0">
                <a:solidFill>
                  <a:srgbClr val="0E1C42"/>
                </a:solidFill>
                <a:latin typeface="Calibri" pitchFamily="34" charset="0"/>
                <a:ea typeface="Calibri" pitchFamily="34" charset="-122"/>
                <a:cs typeface="Calibri" pitchFamily="34" charset="-120"/>
              </a:rPr>
              <a:t>Well done, Junior Editor. You reported on the Maya with evidence and perseverance — the Gazette's readers now understand a civilization that was far more than one achievement.</a:t>
            </a:r>
            <a:endParaRPr lang="en-US" sz="1100" dirty="0"/>
          </a:p>
        </p:txBody>
      </p:sp>
      <p:sp>
        <p:nvSpPr>
          <p:cNvPr id="8" name="Text 6"/>
          <p:cNvSpPr/>
          <p:nvPr/>
        </p:nvSpPr>
        <p:spPr>
          <a:xfrm>
            <a:off x="365760" y="2286000"/>
            <a:ext cx="8412480" cy="274320"/>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COMING IN ISSUE 12 (LESSON 5.03.04)</a:t>
            </a:r>
            <a:endParaRPr lang="en-US" sz="900" dirty="0"/>
          </a:p>
        </p:txBody>
      </p:sp>
      <p:sp>
        <p:nvSpPr>
          <p:cNvPr id="9" name="Shape 7"/>
          <p:cNvSpPr/>
          <p:nvPr/>
        </p:nvSpPr>
        <p:spPr>
          <a:xfrm>
            <a:off x="274320" y="2606040"/>
            <a:ext cx="8595360" cy="1965960"/>
          </a:xfrm>
          <a:prstGeom prst="roundRect">
            <a:avLst>
              <a:gd name="adj" fmla="val 5581"/>
            </a:avLst>
          </a:prstGeom>
          <a:solidFill>
            <a:srgbClr val="FFFFFF"/>
          </a:solidFill>
          <a:ln w="25400">
            <a:solidFill>
              <a:srgbClr val="D4943A"/>
            </a:solidFill>
            <a:prstDash val="solid"/>
          </a:ln>
        </p:spPr>
      </p:sp>
      <p:sp>
        <p:nvSpPr>
          <p:cNvPr id="10" name="Shape 8"/>
          <p:cNvSpPr/>
          <p:nvPr/>
        </p:nvSpPr>
        <p:spPr>
          <a:xfrm>
            <a:off x="274320" y="2606040"/>
            <a:ext cx="8595360" cy="457200"/>
          </a:xfrm>
          <a:prstGeom prst="rect">
            <a:avLst/>
          </a:prstGeom>
          <a:solidFill>
            <a:srgbClr val="E8636B"/>
          </a:solidFill>
          <a:ln/>
        </p:spPr>
      </p:sp>
      <p:sp>
        <p:nvSpPr>
          <p:cNvPr id="11" name="Text 9"/>
          <p:cNvSpPr/>
          <p:nvPr/>
        </p:nvSpPr>
        <p:spPr>
          <a:xfrm>
            <a:off x="457200" y="2651760"/>
            <a:ext cx="3657600" cy="320040"/>
          </a:xfrm>
          <a:prstGeom prst="rect">
            <a:avLst/>
          </a:prstGeom>
          <a:noFill/>
          <a:ln/>
        </p:spPr>
        <p:txBody>
          <a:bodyPr wrap="square" lIns="0" tIns="0" rIns="0" bIns="0" rtlCol="0" anchor="ctr"/>
          <a:lstStyle/>
          <a:p>
            <a:pPr indent="0" marL="0">
              <a:buNone/>
            </a:pPr>
            <a:r>
              <a:rPr lang="en-US" sz="1000" b="1" spc="100" kern="0" dirty="0">
                <a:solidFill>
                  <a:srgbClr val="FFFFFF"/>
                </a:solidFill>
                <a:latin typeface="Calibri" pitchFamily="34" charset="0"/>
                <a:ea typeface="Calibri" pitchFamily="34" charset="-122"/>
                <a:cs typeface="Calibri" pitchFamily="34" charset="-120"/>
              </a:rPr>
              <a:t>HASTY HERALD — BREAKING</a:t>
            </a:r>
            <a:endParaRPr lang="en-US" sz="1000" dirty="0"/>
          </a:p>
        </p:txBody>
      </p:sp>
      <p:sp>
        <p:nvSpPr>
          <p:cNvPr id="12" name="Text 10"/>
          <p:cNvSpPr/>
          <p:nvPr/>
        </p:nvSpPr>
        <p:spPr>
          <a:xfrm>
            <a:off x="411480" y="3154680"/>
            <a:ext cx="8229600" cy="457200"/>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Aztec Capital = The Whole Story!</a:t>
            </a:r>
            <a:endParaRPr lang="en-US" sz="2200" dirty="0"/>
          </a:p>
        </p:txBody>
      </p:sp>
      <p:sp>
        <p:nvSpPr>
          <p:cNvPr id="13" name="Text 11"/>
          <p:cNvSpPr/>
          <p:nvPr/>
        </p:nvSpPr>
        <p:spPr>
          <a:xfrm>
            <a:off x="457200" y="3639312"/>
            <a:ext cx="8046720" cy="640080"/>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The Hasty Herald claims the Aztec capital tells us everything we need to know about the whole Aztec civilization. A new dispatch arrives at the Source Desk. Editors, sharpen your pencils.</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0" y="0"/>
            <a:ext cx="9144000" cy="594360"/>
          </a:xfrm>
          <a:prstGeom prst="rect">
            <a:avLst/>
          </a:prstGeom>
          <a:solidFill>
            <a:srgbClr val="D4943A"/>
          </a:solidFill>
          <a:ln/>
        </p:spPr>
      </p:sp>
      <p:sp>
        <p:nvSpPr>
          <p:cNvPr id="6" name="Text 3"/>
          <p:cNvSpPr/>
          <p:nvPr/>
        </p:nvSpPr>
        <p:spPr>
          <a:xfrm>
            <a:off x="274320" y="137160"/>
            <a:ext cx="8595360" cy="347472"/>
          </a:xfrm>
          <a:prstGeom prst="rect">
            <a:avLst/>
          </a:prstGeom>
          <a:noFill/>
          <a:ln/>
        </p:spPr>
        <p:txBody>
          <a:bodyPr wrap="square" lIns="0" tIns="0" rIns="0" bIns="0" rtlCol="0" anchor="ctr"/>
          <a:lstStyle/>
          <a:p>
            <a:pPr indent="0" marL="0">
              <a:buNone/>
            </a:pPr>
            <a:r>
              <a:rPr lang="en-US" sz="900" b="1" spc="200" kern="0" dirty="0">
                <a:solidFill>
                  <a:srgbClr val="0E1C42"/>
                </a:solidFill>
                <a:latin typeface="Calibri" pitchFamily="34" charset="0"/>
                <a:ea typeface="Calibri" pitchFamily="34" charset="-122"/>
                <a:cs typeface="Calibri" pitchFamily="34" charset="-120"/>
              </a:rPr>
              <a:t>THE REPUBLIC GAZETTE  ·  HONEST REPORTING  ·  EVIDENCE FIRST  ·  FOR EVERY CITIZEN</a:t>
            </a:r>
            <a:endParaRPr lang="en-US" sz="900" dirty="0"/>
          </a:p>
        </p:txBody>
      </p:sp>
      <p:sp>
        <p:nvSpPr>
          <p:cNvPr id="7" name="Text 4"/>
          <p:cNvSpPr/>
          <p:nvPr/>
        </p:nvSpPr>
        <p:spPr>
          <a:xfrm>
            <a:off x="457200" y="868680"/>
            <a:ext cx="8229600" cy="502920"/>
          </a:xfrm>
          <a:prstGeom prst="rect">
            <a:avLst/>
          </a:prstGeom>
          <a:noFill/>
          <a:ln/>
        </p:spPr>
        <p:txBody>
          <a:bodyPr wrap="square" lIns="0" tIns="0" rIns="0" bIns="0" rtlCol="0" anchor="ctr"/>
          <a:lstStyle/>
          <a:p>
            <a:pPr indent="0" marL="0">
              <a:buNone/>
            </a:pPr>
            <a:r>
              <a:rPr lang="en-US" sz="2200" dirty="0">
                <a:solidFill>
                  <a:srgbClr val="D4943A"/>
                </a:solidFill>
                <a:latin typeface="Cambria" pitchFamily="34" charset="0"/>
                <a:ea typeface="Cambria" pitchFamily="34" charset="-122"/>
                <a:cs typeface="Cambria" pitchFamily="34" charset="-120"/>
              </a:rPr>
              <a:t>Well Done,</a:t>
            </a:r>
            <a:endParaRPr lang="en-US" sz="2200" dirty="0"/>
          </a:p>
        </p:txBody>
      </p:sp>
      <p:sp>
        <p:nvSpPr>
          <p:cNvPr id="8" name="Text 5"/>
          <p:cNvSpPr/>
          <p:nvPr/>
        </p:nvSpPr>
        <p:spPr>
          <a:xfrm>
            <a:off x="457200" y="1353312"/>
            <a:ext cx="8229600" cy="68580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Junior Editor.</a:t>
            </a:r>
            <a:endParaRPr lang="en-US" sz="4800" dirty="0"/>
          </a:p>
        </p:txBody>
      </p:sp>
      <p:sp>
        <p:nvSpPr>
          <p:cNvPr id="9" name="Shape 6"/>
          <p:cNvSpPr/>
          <p:nvPr/>
        </p:nvSpPr>
        <p:spPr>
          <a:xfrm>
            <a:off x="457200" y="2176272"/>
            <a:ext cx="8229600" cy="777240"/>
          </a:xfrm>
          <a:prstGeom prst="roundRect">
            <a:avLst>
              <a:gd name="adj" fmla="val 14118"/>
            </a:avLst>
          </a:prstGeom>
          <a:solidFill>
            <a:srgbClr val="1A2D5A">
              <a:alpha val="90000"/>
            </a:srgbClr>
          </a:solidFill>
          <a:ln w="19050">
            <a:solidFill>
              <a:srgbClr val="D4943A"/>
            </a:solidFill>
            <a:prstDash val="solid"/>
          </a:ln>
        </p:spPr>
      </p:sp>
      <p:sp>
        <p:nvSpPr>
          <p:cNvPr id="10" name="Text 7"/>
          <p:cNvSpPr/>
          <p:nvPr/>
        </p:nvSpPr>
        <p:spPr>
          <a:xfrm>
            <a:off x="640080" y="2258568"/>
            <a:ext cx="7863840" cy="621792"/>
          </a:xfrm>
          <a:prstGeom prst="rect">
            <a:avLst/>
          </a:prstGeom>
          <a:noFill/>
          <a:ln/>
        </p:spPr>
        <p:txBody>
          <a:bodyPr wrap="square" lIns="0" tIns="0" rIns="0" bIns="0" rtlCol="0" anchor="ctr"/>
          <a:lstStyle/>
          <a:p>
            <a:pPr indent="0" marL="0">
              <a:buNone/>
            </a:pPr>
            <a:r>
              <a:rPr lang="en-US" sz="1150" i="1" dirty="0">
                <a:solidFill>
                  <a:srgbClr val="D6F2FB"/>
                </a:solidFill>
                <a:latin typeface="Cambria" pitchFamily="34" charset="0"/>
                <a:ea typeface="Cambria" pitchFamily="34" charset="-122"/>
                <a:cs typeface="Cambria" pitchFamily="34" charset="-120"/>
              </a:rPr>
              <a:t>You investigated the Maya with perseverance — examining architecture, writing, mathematics, and astronomy. You found what the Herald missed: a civilization with many achievements working together. That is honest reporting.</a:t>
            </a:r>
            <a:endParaRPr lang="en-US" sz="1150" dirty="0"/>
          </a:p>
        </p:txBody>
      </p:sp>
      <p:sp>
        <p:nvSpPr>
          <p:cNvPr id="11" name="Shape 8"/>
          <p:cNvSpPr/>
          <p:nvPr/>
        </p:nvSpPr>
        <p:spPr>
          <a:xfrm>
            <a:off x="457200" y="3090672"/>
            <a:ext cx="1920240" cy="658368"/>
          </a:xfrm>
          <a:prstGeom prst="roundRect">
            <a:avLst>
              <a:gd name="adj" fmla="val 13889"/>
            </a:avLst>
          </a:prstGeom>
          <a:solidFill>
            <a:srgbClr val="0E1C42">
              <a:alpha val="90000"/>
            </a:srgbClr>
          </a:solidFill>
          <a:ln w="19050">
            <a:solidFill>
              <a:srgbClr val="D4943A"/>
            </a:solidFill>
            <a:prstDash val="solid"/>
          </a:ln>
        </p:spPr>
      </p:sp>
      <p:sp>
        <p:nvSpPr>
          <p:cNvPr id="12" name="Text 9"/>
          <p:cNvSpPr/>
          <p:nvPr/>
        </p:nvSpPr>
        <p:spPr>
          <a:xfrm>
            <a:off x="594360" y="3145536"/>
            <a:ext cx="1645920" cy="228600"/>
          </a:xfrm>
          <a:prstGeom prst="rect">
            <a:avLst/>
          </a:prstGeom>
          <a:noFill/>
          <a:ln/>
        </p:spPr>
        <p:txBody>
          <a:bodyPr wrap="square" lIns="0" tIns="0" rIns="0" bIns="0" rtlCol="0" anchor="ctr"/>
          <a:lstStyle/>
          <a:p>
            <a:pPr algn="ctr" indent="0" marL="0">
              <a:buNone/>
            </a:pPr>
            <a:r>
              <a:rPr lang="en-US" sz="1100" b="1" dirty="0">
                <a:solidFill>
                  <a:srgbClr val="D4943A"/>
                </a:solidFill>
                <a:latin typeface="Cambria" pitchFamily="34" charset="0"/>
                <a:ea typeface="Cambria" pitchFamily="34" charset="-122"/>
                <a:cs typeface="Cambria" pitchFamily="34" charset="-120"/>
              </a:rPr>
              <a:t>Architecture</a:t>
            </a:r>
            <a:endParaRPr lang="en-US" sz="1100" dirty="0"/>
          </a:p>
        </p:txBody>
      </p:sp>
      <p:sp>
        <p:nvSpPr>
          <p:cNvPr id="13" name="Text 10"/>
          <p:cNvSpPr/>
          <p:nvPr/>
        </p:nvSpPr>
        <p:spPr>
          <a:xfrm>
            <a:off x="594360" y="3383280"/>
            <a:ext cx="1645920" cy="274320"/>
          </a:xfrm>
          <a:prstGeom prst="rect">
            <a:avLst/>
          </a:prstGeom>
          <a:noFill/>
          <a:ln/>
        </p:spPr>
        <p:txBody>
          <a:bodyPr wrap="square" lIns="0" tIns="0" rIns="0" bIns="0" rtlCol="0" anchor="ctr"/>
          <a:lstStyle/>
          <a:p>
            <a:pPr algn="ctr" indent="0" marL="0">
              <a:buNone/>
            </a:pPr>
            <a:r>
              <a:rPr lang="en-US" sz="900" i="1" dirty="0">
                <a:solidFill>
                  <a:srgbClr val="D6F2FB"/>
                </a:solidFill>
                <a:latin typeface="Calibri" pitchFamily="34" charset="0"/>
                <a:ea typeface="Calibri" pitchFamily="34" charset="-122"/>
                <a:cs typeface="Calibri" pitchFamily="34" charset="-120"/>
              </a:rPr>
              <a:t>Pyramids, cities, observatories</a:t>
            </a:r>
            <a:endParaRPr lang="en-US" sz="900" dirty="0"/>
          </a:p>
        </p:txBody>
      </p:sp>
      <p:sp>
        <p:nvSpPr>
          <p:cNvPr id="14" name="Shape 11"/>
          <p:cNvSpPr/>
          <p:nvPr/>
        </p:nvSpPr>
        <p:spPr>
          <a:xfrm>
            <a:off x="2532888" y="3090672"/>
            <a:ext cx="1920240" cy="658368"/>
          </a:xfrm>
          <a:prstGeom prst="roundRect">
            <a:avLst>
              <a:gd name="adj" fmla="val 13889"/>
            </a:avLst>
          </a:prstGeom>
          <a:solidFill>
            <a:srgbClr val="0E1C42">
              <a:alpha val="90000"/>
            </a:srgbClr>
          </a:solidFill>
          <a:ln w="19050">
            <a:solidFill>
              <a:srgbClr val="1A8A7D"/>
            </a:solidFill>
            <a:prstDash val="solid"/>
          </a:ln>
        </p:spPr>
      </p:sp>
      <p:sp>
        <p:nvSpPr>
          <p:cNvPr id="15" name="Text 12"/>
          <p:cNvSpPr/>
          <p:nvPr/>
        </p:nvSpPr>
        <p:spPr>
          <a:xfrm>
            <a:off x="2670048" y="3145536"/>
            <a:ext cx="1645920" cy="228600"/>
          </a:xfrm>
          <a:prstGeom prst="rect">
            <a:avLst/>
          </a:prstGeom>
          <a:noFill/>
          <a:ln/>
        </p:spPr>
        <p:txBody>
          <a:bodyPr wrap="square" lIns="0" tIns="0" rIns="0" bIns="0" rtlCol="0" anchor="ctr"/>
          <a:lstStyle/>
          <a:p>
            <a:pPr algn="ctr" indent="0" marL="0">
              <a:buNone/>
            </a:pPr>
            <a:r>
              <a:rPr lang="en-US" sz="1100" b="1" dirty="0">
                <a:solidFill>
                  <a:srgbClr val="1A8A7D"/>
                </a:solidFill>
                <a:latin typeface="Cambria" pitchFamily="34" charset="0"/>
                <a:ea typeface="Cambria" pitchFamily="34" charset="-122"/>
                <a:cs typeface="Cambria" pitchFamily="34" charset="-120"/>
              </a:rPr>
              <a:t>Writing</a:t>
            </a:r>
            <a:endParaRPr lang="en-US" sz="1100" dirty="0"/>
          </a:p>
        </p:txBody>
      </p:sp>
      <p:sp>
        <p:nvSpPr>
          <p:cNvPr id="16" name="Text 13"/>
          <p:cNvSpPr/>
          <p:nvPr/>
        </p:nvSpPr>
        <p:spPr>
          <a:xfrm>
            <a:off x="2670048" y="3383280"/>
            <a:ext cx="1645920" cy="274320"/>
          </a:xfrm>
          <a:prstGeom prst="rect">
            <a:avLst/>
          </a:prstGeom>
          <a:noFill/>
          <a:ln/>
        </p:spPr>
        <p:txBody>
          <a:bodyPr wrap="square" lIns="0" tIns="0" rIns="0" bIns="0" rtlCol="0" anchor="ctr"/>
          <a:lstStyle/>
          <a:p>
            <a:pPr algn="ctr" indent="0" marL="0">
              <a:buNone/>
            </a:pPr>
            <a:r>
              <a:rPr lang="en-US" sz="900" i="1" dirty="0">
                <a:solidFill>
                  <a:srgbClr val="D6F2FB"/>
                </a:solidFill>
                <a:latin typeface="Calibri" pitchFamily="34" charset="0"/>
                <a:ea typeface="Calibri" pitchFamily="34" charset="-122"/>
                <a:cs typeface="Calibri" pitchFamily="34" charset="-120"/>
              </a:rPr>
              <a:t>Hieroglyphs, codices, stone carvings</a:t>
            </a:r>
            <a:endParaRPr lang="en-US" sz="900" dirty="0"/>
          </a:p>
        </p:txBody>
      </p:sp>
      <p:sp>
        <p:nvSpPr>
          <p:cNvPr id="17" name="Shape 14"/>
          <p:cNvSpPr/>
          <p:nvPr/>
        </p:nvSpPr>
        <p:spPr>
          <a:xfrm>
            <a:off x="4608576" y="3090672"/>
            <a:ext cx="1920240" cy="658368"/>
          </a:xfrm>
          <a:prstGeom prst="roundRect">
            <a:avLst>
              <a:gd name="adj" fmla="val 13889"/>
            </a:avLst>
          </a:prstGeom>
          <a:solidFill>
            <a:srgbClr val="0E1C42">
              <a:alpha val="90000"/>
            </a:srgbClr>
          </a:solidFill>
          <a:ln w="19050">
            <a:solidFill>
              <a:srgbClr val="8B6FC0"/>
            </a:solidFill>
            <a:prstDash val="solid"/>
          </a:ln>
        </p:spPr>
      </p:sp>
      <p:sp>
        <p:nvSpPr>
          <p:cNvPr id="18" name="Text 15"/>
          <p:cNvSpPr/>
          <p:nvPr/>
        </p:nvSpPr>
        <p:spPr>
          <a:xfrm>
            <a:off x="4745736" y="3145536"/>
            <a:ext cx="1645920" cy="228600"/>
          </a:xfrm>
          <a:prstGeom prst="rect">
            <a:avLst/>
          </a:prstGeom>
          <a:noFill/>
          <a:ln/>
        </p:spPr>
        <p:txBody>
          <a:bodyPr wrap="square" lIns="0" tIns="0" rIns="0" bIns="0" rtlCol="0" anchor="ctr"/>
          <a:lstStyle/>
          <a:p>
            <a:pPr algn="ctr" indent="0" marL="0">
              <a:buNone/>
            </a:pPr>
            <a:r>
              <a:rPr lang="en-US" sz="1100" b="1" dirty="0">
                <a:solidFill>
                  <a:srgbClr val="8B6FC0"/>
                </a:solidFill>
                <a:latin typeface="Cambria" pitchFamily="34" charset="0"/>
                <a:ea typeface="Cambria" pitchFamily="34" charset="-122"/>
                <a:cs typeface="Cambria" pitchFamily="34" charset="-120"/>
              </a:rPr>
              <a:t>Mathematics</a:t>
            </a:r>
            <a:endParaRPr lang="en-US" sz="1100" dirty="0"/>
          </a:p>
        </p:txBody>
      </p:sp>
      <p:sp>
        <p:nvSpPr>
          <p:cNvPr id="19" name="Text 16"/>
          <p:cNvSpPr/>
          <p:nvPr/>
        </p:nvSpPr>
        <p:spPr>
          <a:xfrm>
            <a:off x="4745736" y="3383280"/>
            <a:ext cx="1645920" cy="274320"/>
          </a:xfrm>
          <a:prstGeom prst="rect">
            <a:avLst/>
          </a:prstGeom>
          <a:noFill/>
          <a:ln/>
        </p:spPr>
        <p:txBody>
          <a:bodyPr wrap="square" lIns="0" tIns="0" rIns="0" bIns="0" rtlCol="0" anchor="ctr"/>
          <a:lstStyle/>
          <a:p>
            <a:pPr algn="ctr" indent="0" marL="0">
              <a:buNone/>
            </a:pPr>
            <a:r>
              <a:rPr lang="en-US" sz="900" i="1" dirty="0">
                <a:solidFill>
                  <a:srgbClr val="D6F2FB"/>
                </a:solidFill>
                <a:latin typeface="Calibri" pitchFamily="34" charset="0"/>
                <a:ea typeface="Calibri" pitchFamily="34" charset="-122"/>
                <a:cs typeface="Calibri" pitchFamily="34" charset="-120"/>
              </a:rPr>
              <a:t>Base-20, zero — centuries ahead</a:t>
            </a:r>
            <a:endParaRPr lang="en-US" sz="900" dirty="0"/>
          </a:p>
        </p:txBody>
      </p:sp>
      <p:sp>
        <p:nvSpPr>
          <p:cNvPr id="20" name="Shape 17"/>
          <p:cNvSpPr/>
          <p:nvPr/>
        </p:nvSpPr>
        <p:spPr>
          <a:xfrm>
            <a:off x="6684264" y="3090672"/>
            <a:ext cx="1920240" cy="658368"/>
          </a:xfrm>
          <a:prstGeom prst="roundRect">
            <a:avLst>
              <a:gd name="adj" fmla="val 13889"/>
            </a:avLst>
          </a:prstGeom>
          <a:solidFill>
            <a:srgbClr val="0E1C42">
              <a:alpha val="90000"/>
            </a:srgbClr>
          </a:solidFill>
          <a:ln w="19050">
            <a:solidFill>
              <a:srgbClr val="55C8E8"/>
            </a:solidFill>
            <a:prstDash val="solid"/>
          </a:ln>
        </p:spPr>
      </p:sp>
      <p:sp>
        <p:nvSpPr>
          <p:cNvPr id="21" name="Text 18"/>
          <p:cNvSpPr/>
          <p:nvPr/>
        </p:nvSpPr>
        <p:spPr>
          <a:xfrm>
            <a:off x="6821424" y="3145536"/>
            <a:ext cx="1645920" cy="228600"/>
          </a:xfrm>
          <a:prstGeom prst="rect">
            <a:avLst/>
          </a:prstGeom>
          <a:noFill/>
          <a:ln/>
        </p:spPr>
        <p:txBody>
          <a:bodyPr wrap="square" lIns="0" tIns="0" rIns="0" bIns="0" rtlCol="0" anchor="ctr"/>
          <a:lstStyle/>
          <a:p>
            <a:pPr algn="ctr" indent="0" marL="0">
              <a:buNone/>
            </a:pPr>
            <a:r>
              <a:rPr lang="en-US" sz="1100" b="1" dirty="0">
                <a:solidFill>
                  <a:srgbClr val="55C8E8"/>
                </a:solidFill>
                <a:latin typeface="Cambria" pitchFamily="34" charset="0"/>
                <a:ea typeface="Cambria" pitchFamily="34" charset="-122"/>
                <a:cs typeface="Cambria" pitchFamily="34" charset="-120"/>
              </a:rPr>
              <a:t>Astronomy</a:t>
            </a:r>
            <a:endParaRPr lang="en-US" sz="1100" dirty="0"/>
          </a:p>
        </p:txBody>
      </p:sp>
      <p:sp>
        <p:nvSpPr>
          <p:cNvPr id="22" name="Text 19"/>
          <p:cNvSpPr/>
          <p:nvPr/>
        </p:nvSpPr>
        <p:spPr>
          <a:xfrm>
            <a:off x="6821424" y="3383280"/>
            <a:ext cx="1645920" cy="274320"/>
          </a:xfrm>
          <a:prstGeom prst="rect">
            <a:avLst/>
          </a:prstGeom>
          <a:noFill/>
          <a:ln/>
        </p:spPr>
        <p:txBody>
          <a:bodyPr wrap="square" lIns="0" tIns="0" rIns="0" bIns="0" rtlCol="0" anchor="ctr"/>
          <a:lstStyle/>
          <a:p>
            <a:pPr algn="ctr" indent="0" marL="0">
              <a:buNone/>
            </a:pPr>
            <a:r>
              <a:rPr lang="en-US" sz="900" i="1" dirty="0">
                <a:solidFill>
                  <a:srgbClr val="D6F2FB"/>
                </a:solidFill>
                <a:latin typeface="Calibri" pitchFamily="34" charset="0"/>
                <a:ea typeface="Calibri" pitchFamily="34" charset="-122"/>
                <a:cs typeface="Calibri" pitchFamily="34" charset="-120"/>
              </a:rPr>
              <a:t>Calendars, eclipse prediction</a:t>
            </a:r>
            <a:endParaRPr lang="en-US" sz="900" dirty="0"/>
          </a:p>
        </p:txBody>
      </p:sp>
      <p:sp>
        <p:nvSpPr>
          <p:cNvPr id="23" name="Text 20"/>
          <p:cNvSpPr/>
          <p:nvPr/>
        </p:nvSpPr>
        <p:spPr>
          <a:xfrm>
            <a:off x="457200" y="3913632"/>
            <a:ext cx="8229600" cy="320040"/>
          </a:xfrm>
          <a:prstGeom prst="rect">
            <a:avLst/>
          </a:prstGeom>
          <a:noFill/>
          <a:ln/>
        </p:spPr>
        <p:txBody>
          <a:bodyPr wrap="square" lIns="0" tIns="0" rIns="0" bIns="0" rtlCol="0" anchor="ctr"/>
          <a:lstStyle/>
          <a:p>
            <a:pPr algn="ctr" indent="0" marL="0">
              <a:buNone/>
            </a:pPr>
            <a:r>
              <a:rPr lang="en-US" sz="1100" dirty="0">
                <a:solidFill>
                  <a:srgbClr val="D4943A"/>
                </a:solidFill>
                <a:latin typeface="Calibri" pitchFamily="34" charset="0"/>
                <a:ea typeface="Calibri" pitchFamily="34" charset="-122"/>
                <a:cs typeface="Calibri" pitchFamily="34" charset="-120"/>
              </a:rPr>
              <a:t>Issue 11 Filed · Next: Lesson 5.03.04 — Aztec Civilization</a:t>
            </a:r>
            <a:endParaRPr lang="en-US" sz="1100" dirty="0"/>
          </a:p>
        </p:txBody>
      </p:sp>
      <p:sp>
        <p:nvSpPr>
          <p:cNvPr id="24" name="Text 21"/>
          <p:cNvSpPr/>
          <p:nvPr/>
        </p:nvSpPr>
        <p:spPr>
          <a:xfrm>
            <a:off x="457200" y="4297680"/>
            <a:ext cx="8229600" cy="256032"/>
          </a:xfrm>
          <a:prstGeom prst="rect">
            <a:avLst/>
          </a:prstGeom>
          <a:noFill/>
          <a:ln/>
        </p:spPr>
        <p:txBody>
          <a:bodyPr wrap="square" lIns="0" tIns="0" rIns="0" bIns="0" rtlCol="0" anchor="ctr"/>
          <a:lstStyle/>
          <a:p>
            <a:pPr algn="ctr" indent="0" marL="0">
              <a:buNone/>
            </a:pPr>
            <a:r>
              <a:rPr lang="en-US" sz="900" dirty="0">
                <a:solidFill>
                  <a:srgbClr val="7A88A8"/>
                </a:solidFill>
                <a:latin typeface="Calibri" pitchFamily="34" charset="0"/>
                <a:ea typeface="Calibri" pitchFamily="34" charset="-122"/>
                <a:cs typeface="Calibri" pitchFamily="34" charset="-120"/>
              </a:rPr>
              <a:t>Optima Academy Online · Social Studies · Grade 5 · The Republic Gazette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2026-07-16T17:14:43Z</dcterms:created>
  <dcterms:modified xsi:type="dcterms:W3CDTF">2026-07-16T17:14:43Z</dcterms:modified>
</cp:coreProperties>
</file>