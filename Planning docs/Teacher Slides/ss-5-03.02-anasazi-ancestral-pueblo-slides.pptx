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or wide-angle photograph of Ancestral Pueblo cliff dwellings at Mesa Verde — dramatic canyon walls, stone buildings built into cliff alcoves, warm desert light.SLIDE 1 — Title. Set the stage: today we are Junior Editors at The Republic Gazette, Issue 10. The Hasty Herald has rushed a claim about cliff dwellings. Our job: examine the evidence and publish a better story. Virtue for today: service — reporting what readers truly need to understand, not what makes a catchy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Hasty Herald. Read the claim aloud. The word 'only' is the tell — it shuts out all other reasons. Ask: why do you think the Herald might pick the most dramatic reason? What is wrong with 'only'? This slide scaffolds Assignment Q3 (what's partly right, what's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Dispatch. Introduce students to their role as Junior Editors. Connect to last issue: Mound Builders showed us complex organized civilizations. Today we use the SAME source-study skill on a new civilization. Emphasize: Gazette only prints what the evidence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Last Edition Recap. Brief bridge from Issue 9 to Issue 10. The skill is the same: read physical evidence to understand a civilization. The Mound Builders proved that impressive structures mean organized communities. Does the same logic apply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Who Were the Ancestral Pueblo? Cover the geographic setting, the name preference (important lesson in itself), and the timeline from pit houses to cliff dwellings. Emphasize: this was a long, evolving civilization — not a one-moment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Source Study. Give students 60 seconds of quiet observation with the photograph. Then discuss: what did you notice? This directly scaffolds Assignment Q1: 'List two things you can directly observe... what do these tell you about the builders?' Do not rush past the photograph — it is the primary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Observation vs. Inference. This is the core skill for today. A careful editor knows the difference. Observation = what you see; inference = what you conclude. Both appear in a well-written correction, but they must be clearly labeled. This scaffolds Assignment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Why Cliff Locations? This slide directly scaffolds Assignment Q2: 'Why would a community choose to build homes into a cliff? Name at least two practical reasons supported by evidence.' Make sure students write their notebook answer after this slide. Climate control + protection are the strongest two evidence-backed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close-up of Cliff Palace at Mesa Verde — stone rooms glowing in warm afternoon light, cliff overhang above, canyon depth below. Conveys permanence and intentional design.SLIDE 9 — Reveal. This is the culminating content reveal. The Herald isn't entirely wrong — the buildings DO look impressive. But the word 'only' is the problem. A good correction acknowledges what's partly right, then supplies what's missing. This is the key move for Assignment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Kivas and Community Life. Kivas are powerful evidence: a society that builds communal gathering spaces has a complex social structure. This deepens the observation-to-inference skill from Slide 7 and gives students rich material for their Gazette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Why It Matters. Four reasons to care: living descendants, harm of oversimplification, evidence as the corrective tool, and the virtue of service. This sets up the Virtue Spotlight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Warm-toned image evoking community service or cooperative work — could be people working together, a teacher and students, or a historical image of Pueblo community life. Soft, purposeful atmosphere.SLIDE 12 — Virtue Spotlight: Service. Pause here. Ask students: the Ancestral Pueblo served their community's real needs with their buildings. How does that connect to our job as editors? Service means giving people what they need — not the flashiest version of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Guided Practice: I Do. Model the complete three-part correction process. Think aloud as you write: 'I'm going to quote the Herald first so readers know what I'm correcting. Then I name specific evidence — not vague. Then I rewrite.' Emphasize: specific evidence beats general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We Do. Students analyze a weak correction together. The correction is technically not wrong — but it doesn't help readers understand. Push for: what specific evidence would make this stronger? Students should practice naming the evidence before writing their own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You Do (Q1 and Q2). Students write independently for 4-5 minutes. Q1 is about observation (directly from the photograph). Q2 is about practical reasons (from the text and Slide 8). Walk the room; look for students who write 'they liked cliffs' — push them toward specific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Error Analysis. This directly scaffolds Assignment Q3: 'What's partly right about that? What's missing?' Students need to do this analysis before writing their correction. The Herald is not entirely wrong — but 'only' is the factual error. Model how a strong correction acknowledges the partial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The Tricky One. Advanced students may wonder about the abandonment. Use this as an opportunity to model intellectual honesty: a good editor notes what the evidence does NOT yet fully explain. Abandonment ≠ design failure. Drought is a different cause entirely. Historians say 'the evidence suggests' rather than claiming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Fact-Check Review. Walk through all three fact-check questions with the class before releasing students to the assignment. If students cannot answer #3, revisit Slide 16 (Error Analysis). These questions directly mirror the lesson's online Fact-Check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Assignment Preview. Show students the EXACT questions they will answer. Nothing here is new — each question was scaffolded: Q1 by Slides 6-7, Q2 by Slide 8 and Slide 15, Q3 by Slides 2, 9, and 16. The Archive Line is their parting gift to future citizens — model what a strong one sounds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sunset or late-afternoon light on canyon walls — evokes the permanence and beauty of the Southwest desert. Could show a distant view of Mesa Verde mesa against a golden sky.SLIDE 20 — Closing. Celebrate what students proved: not just that the Herald was wrong, but HOW to correct it — with specific evidence and intellectual honesty. Tease Issue 11: Maya Civilization. The Herald has a new claim ready. Same skill, new civilization.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402336"/>
          </a:xfrm>
          <a:prstGeom prst="rect">
            <a:avLst/>
          </a:prstGeom>
          <a:solidFill>
            <a:srgbClr val="D4943A"/>
          </a:solidFill>
          <a:ln/>
        </p:spPr>
      </p:sp>
      <p:sp>
        <p:nvSpPr>
          <p:cNvPr id="6" name="Text 3"/>
          <p:cNvSpPr/>
          <p:nvPr/>
        </p:nvSpPr>
        <p:spPr>
          <a:xfrm>
            <a:off x="274320" y="64008"/>
            <a:ext cx="8595360" cy="256032"/>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THE REPUBLIC GAZETTE  ·  VOL. 1, ISSUE 10  ·  GRADE 5 SOCIAL STUDIES</a:t>
            </a:r>
            <a:endParaRPr lang="en-US" sz="900" dirty="0"/>
          </a:p>
        </p:txBody>
      </p:sp>
      <p:sp>
        <p:nvSpPr>
          <p:cNvPr id="7" name="Text 4"/>
          <p:cNvSpPr/>
          <p:nvPr/>
        </p:nvSpPr>
        <p:spPr>
          <a:xfrm>
            <a:off x="457200" y="594360"/>
            <a:ext cx="8229600" cy="1371600"/>
          </a:xfrm>
          <a:prstGeom prst="rect">
            <a:avLst/>
          </a:prstGeom>
          <a:noFill/>
          <a:ln/>
        </p:spPr>
        <p:txBody>
          <a:bodyPr wrap="square" rtlCol="0" anchor="ctr"/>
          <a:lstStyle/>
          <a:p>
            <a:pPr algn="ctr" indent="0" marL="0">
              <a:buNone/>
            </a:pPr>
            <a:r>
              <a:rPr lang="en-US" sz="4400" b="1" spc="50" kern="0" dirty="0">
                <a:solidFill>
                  <a:srgbClr val="FFFFFF"/>
                </a:solidFill>
                <a:latin typeface="Cambria" pitchFamily="34" charset="0"/>
                <a:ea typeface="Cambria" pitchFamily="34" charset="-122"/>
                <a:cs typeface="Cambria" pitchFamily="34" charset="-120"/>
              </a:rPr>
              <a:t>Anasazi /</a:t>
            </a:r>
            <a:endParaRPr lang="en-US" sz="4400" dirty="0"/>
          </a:p>
          <a:p>
            <a:pPr algn="ctr" indent="0" marL="0">
              <a:buNone/>
            </a:pPr>
            <a:r>
              <a:rPr lang="en-US" sz="4400" b="1" spc="50" kern="0" dirty="0">
                <a:solidFill>
                  <a:srgbClr val="FFFFFF"/>
                </a:solidFill>
                <a:latin typeface="Cambria" pitchFamily="34" charset="0"/>
                <a:ea typeface="Cambria" pitchFamily="34" charset="-122"/>
                <a:cs typeface="Cambria" pitchFamily="34" charset="-120"/>
              </a:rPr>
              <a:t>Ancestral Pueblo</a:t>
            </a:r>
            <a:endParaRPr lang="en-US" sz="4400" dirty="0"/>
          </a:p>
        </p:txBody>
      </p:sp>
      <p:sp>
        <p:nvSpPr>
          <p:cNvPr id="8" name="Shape 5"/>
          <p:cNvSpPr/>
          <p:nvPr/>
        </p:nvSpPr>
        <p:spPr>
          <a:xfrm>
            <a:off x="3474720" y="2029968"/>
            <a:ext cx="2194560" cy="274320"/>
          </a:xfrm>
          <a:prstGeom prst="roundRect">
            <a:avLst>
              <a:gd name="adj" fmla="val 26667"/>
            </a:avLst>
          </a:prstGeom>
          <a:solidFill>
            <a:srgbClr val="1A8A7D"/>
          </a:solidFill>
          <a:ln/>
        </p:spPr>
      </p:sp>
      <p:sp>
        <p:nvSpPr>
          <p:cNvPr id="9" name="Text 6"/>
          <p:cNvSpPr/>
          <p:nvPr/>
        </p:nvSpPr>
        <p:spPr>
          <a:xfrm>
            <a:off x="3474720" y="2029968"/>
            <a:ext cx="2194560" cy="274320"/>
          </a:xfrm>
          <a:prstGeom prst="rect">
            <a:avLst/>
          </a:prstGeom>
          <a:noFill/>
          <a:ln/>
        </p:spPr>
        <p:txBody>
          <a:bodyPr wrap="square" lIns="0" tIns="0" rIns="0" bIns="0"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LESSON 5.03.02  ·  UNIT 3</a:t>
            </a:r>
            <a:endParaRPr lang="en-US" sz="850" dirty="0"/>
          </a:p>
        </p:txBody>
      </p:sp>
      <p:sp>
        <p:nvSpPr>
          <p:cNvPr id="10" name="Shape 7"/>
          <p:cNvSpPr/>
          <p:nvPr/>
        </p:nvSpPr>
        <p:spPr>
          <a:xfrm>
            <a:off x="731520" y="2395728"/>
            <a:ext cx="7680960" cy="658368"/>
          </a:xfrm>
          <a:prstGeom prst="roundRect">
            <a:avLst>
              <a:gd name="adj" fmla="val 16667"/>
            </a:avLst>
          </a:prstGeom>
          <a:solidFill>
            <a:srgbClr val="0E1C42">
              <a:alpha val="80000"/>
            </a:srgbClr>
          </a:solidFill>
          <a:ln w="19050">
            <a:solidFill>
              <a:srgbClr val="55C8E8"/>
            </a:solidFill>
            <a:prstDash val="solid"/>
          </a:ln>
        </p:spPr>
      </p:sp>
      <p:sp>
        <p:nvSpPr>
          <p:cNvPr id="11" name="Text 8"/>
          <p:cNvSpPr/>
          <p:nvPr/>
        </p:nvSpPr>
        <p:spPr>
          <a:xfrm>
            <a:off x="914400" y="2432304"/>
            <a:ext cx="7315200" cy="585216"/>
          </a:xfrm>
          <a:prstGeom prst="rect">
            <a:avLst/>
          </a:prstGeom>
          <a:noFill/>
          <a:ln/>
        </p:spPr>
        <p:txBody>
          <a:bodyPr wrap="square" rtlCol="0" anchor="ctr"/>
          <a:lstStyle/>
          <a:p>
            <a:pPr algn="ctr" indent="0" marL="0">
              <a:buNone/>
            </a:pPr>
            <a:r>
              <a:rPr lang="en-US" sz="1400" i="1" dirty="0">
                <a:solidFill>
                  <a:srgbClr val="55C8E8"/>
                </a:solidFill>
                <a:latin typeface="Cambria" pitchFamily="34" charset="0"/>
                <a:ea typeface="Cambria" pitchFamily="34" charset="-122"/>
                <a:cs typeface="Cambria" pitchFamily="34" charset="-120"/>
              </a:rPr>
              <a:t>Why did the Ancestral Pueblo people build their homes into the sides of cliffs,</a:t>
            </a:r>
            <a:endParaRPr lang="en-US" sz="1400" dirty="0"/>
          </a:p>
          <a:p>
            <a:pPr algn="ctr" indent="0" marL="0">
              <a:buNone/>
            </a:pPr>
            <a:r>
              <a:rPr lang="en-US" sz="1400" i="1" dirty="0">
                <a:solidFill>
                  <a:srgbClr val="55C8E8"/>
                </a:solidFill>
                <a:latin typeface="Cambria" pitchFamily="34" charset="0"/>
                <a:ea typeface="Cambria" pitchFamily="34" charset="-122"/>
                <a:cs typeface="Cambria" pitchFamily="34" charset="-120"/>
              </a:rPr>
              <a:t>and what does that tell us about how they lived?</a:t>
            </a:r>
            <a:endParaRPr lang="en-US" sz="1400" dirty="0"/>
          </a:p>
        </p:txBody>
      </p:sp>
      <p:sp>
        <p:nvSpPr>
          <p:cNvPr id="12" name="Shape 9"/>
          <p:cNvSpPr/>
          <p:nvPr/>
        </p:nvSpPr>
        <p:spPr>
          <a:xfrm>
            <a:off x="1371600" y="3154680"/>
            <a:ext cx="6400800" cy="475488"/>
          </a:xfrm>
          <a:prstGeom prst="roundRect">
            <a:avLst>
              <a:gd name="adj" fmla="val 19231"/>
            </a:avLst>
          </a:prstGeom>
          <a:solidFill>
            <a:srgbClr val="E8636B">
              <a:alpha val="85000"/>
            </a:srgbClr>
          </a:solidFill>
          <a:ln w="19050">
            <a:solidFill>
              <a:srgbClr val="E8636B"/>
            </a:solidFill>
            <a:prstDash val="solid"/>
          </a:ln>
        </p:spPr>
      </p:sp>
      <p:sp>
        <p:nvSpPr>
          <p:cNvPr id="13" name="Text 10"/>
          <p:cNvSpPr/>
          <p:nvPr/>
        </p:nvSpPr>
        <p:spPr>
          <a:xfrm>
            <a:off x="1508760" y="3191256"/>
            <a:ext cx="6126480" cy="402336"/>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HASTY HERALD CLAIMS: "Cliff dwellings were built only because they looked impressive."  — Is that right?</a:t>
            </a:r>
            <a:endParaRPr lang="en-US" sz="1100" dirty="0"/>
          </a:p>
        </p:txBody>
      </p:sp>
      <p:sp>
        <p:nvSpPr>
          <p:cNvPr id="14" name="Text 11"/>
          <p:cNvSpPr/>
          <p:nvPr/>
        </p:nvSpPr>
        <p:spPr>
          <a:xfrm>
            <a:off x="3200400" y="3749040"/>
            <a:ext cx="2743200" cy="219456"/>
          </a:xfrm>
          <a:prstGeom prst="rect">
            <a:avLst/>
          </a:prstGeom>
          <a:noFill/>
          <a:ln/>
        </p:spPr>
        <p:txBody>
          <a:bodyPr wrap="square"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VIRTUE LENS: SERVICE</a:t>
            </a:r>
            <a:endParaRPr lang="en-US" sz="900" dirty="0"/>
          </a:p>
        </p:txBody>
      </p:sp>
      <p:sp>
        <p:nvSpPr>
          <p:cNvPr id="15" name="Text 12"/>
          <p:cNvSpPr/>
          <p:nvPr/>
        </p:nvSpPr>
        <p:spPr>
          <a:xfrm>
            <a:off x="2286000" y="4005072"/>
            <a:ext cx="4572000" cy="201168"/>
          </a:xfrm>
          <a:prstGeom prst="rect">
            <a:avLst/>
          </a:prstGeom>
          <a:noFill/>
          <a:ln/>
        </p:spPr>
        <p:txBody>
          <a:bodyPr wrap="square" rtlCol="0" anchor="ctr"/>
          <a:lstStyle/>
          <a:p>
            <a:pPr algn="ctr" indent="0" marL="0">
              <a:buNone/>
            </a:pPr>
            <a:r>
              <a:rPr lang="en-US" sz="800" dirty="0">
                <a:solidFill>
                  <a:srgbClr val="7A88A8"/>
                </a:solidFill>
                <a:latin typeface="Calibri" pitchFamily="34" charset="0"/>
                <a:ea typeface="Calibri" pitchFamily="34" charset="-122"/>
                <a:cs typeface="Calibri" pitchFamily="34" charset="-120"/>
              </a:rPr>
              <a:t>Standards: SS.5.A.2.1  ·  SS.5.G.1.1  ·  SS.5.G.1.4</a:t>
            </a:r>
            <a:endParaRPr lang="en-US" sz="800" dirty="0"/>
          </a:p>
        </p:txBody>
      </p:sp>
      <p:sp>
        <p:nvSpPr>
          <p:cNvPr id="16" name="Shape 13"/>
          <p:cNvSpPr/>
          <p:nvPr/>
        </p:nvSpPr>
        <p:spPr>
          <a:xfrm>
            <a:off x="0" y="4754880"/>
            <a:ext cx="9144000" cy="388620"/>
          </a:xfrm>
          <a:prstGeom prst="rect">
            <a:avLst/>
          </a:prstGeom>
          <a:solidFill>
            <a:srgbClr val="1A2D5A"/>
          </a:solidFill>
          <a:ln/>
        </p:spPr>
      </p:sp>
      <p:sp>
        <p:nvSpPr>
          <p:cNvPr id="17" name="Text 14"/>
          <p:cNvSpPr/>
          <p:nvPr/>
        </p:nvSpPr>
        <p:spPr>
          <a:xfrm>
            <a:off x="274320" y="4773168"/>
            <a:ext cx="8595360" cy="27432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Honest Reporting  ·  Evidence First  ·  For Every Citizen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THE HASTY HERALD  ·  RIVAL WATCH</a:t>
            </a:r>
            <a:endParaRPr lang="en-US" sz="850" dirty="0"/>
          </a:p>
        </p:txBody>
      </p:sp>
      <p:sp>
        <p:nvSpPr>
          <p:cNvPr id="4" name="Shape 2"/>
          <p:cNvSpPr/>
          <p:nvPr/>
        </p:nvSpPr>
        <p:spPr>
          <a:xfrm>
            <a:off x="365760" y="292608"/>
            <a:ext cx="8412480" cy="658368"/>
          </a:xfrm>
          <a:prstGeom prst="roundRect">
            <a:avLst>
              <a:gd name="adj" fmla="val 13889"/>
            </a:avLst>
          </a:prstGeom>
          <a:solidFill>
            <a:srgbClr val="E8636B"/>
          </a:solidFill>
          <a:ln/>
        </p:spPr>
      </p:sp>
      <p:sp>
        <p:nvSpPr>
          <p:cNvPr id="5" name="Text 3"/>
          <p:cNvSpPr/>
          <p:nvPr/>
        </p:nvSpPr>
        <p:spPr>
          <a:xfrm>
            <a:off x="457200" y="320040"/>
            <a:ext cx="8229600" cy="274320"/>
          </a:xfrm>
          <a:prstGeom prst="rect">
            <a:avLst/>
          </a:prstGeom>
          <a:noFill/>
          <a:ln/>
        </p:spPr>
        <p:txBody>
          <a:bodyPr wrap="square" rtlCol="0" anchor="ctr"/>
          <a:lstStyle/>
          <a:p>
            <a:pPr algn="ctr" indent="0" marL="0">
              <a:buNone/>
            </a:pPr>
            <a:r>
              <a:rPr lang="en-US" sz="1800" b="1" spc="300" kern="0" dirty="0">
                <a:solidFill>
                  <a:srgbClr val="FFFFFF"/>
                </a:solidFill>
                <a:latin typeface="Cambria" pitchFamily="34" charset="0"/>
                <a:ea typeface="Cambria" pitchFamily="34" charset="-122"/>
                <a:cs typeface="Cambria" pitchFamily="34" charset="-120"/>
              </a:rPr>
              <a:t>THE HASTY HERALD</a:t>
            </a:r>
            <a:endParaRPr lang="en-US" sz="1800" dirty="0"/>
          </a:p>
        </p:txBody>
      </p:sp>
      <p:sp>
        <p:nvSpPr>
          <p:cNvPr id="6" name="Text 4"/>
          <p:cNvSpPr/>
          <p:nvPr/>
        </p:nvSpPr>
        <p:spPr>
          <a:xfrm>
            <a:off x="457200" y="603504"/>
            <a:ext cx="8229600" cy="201168"/>
          </a:xfrm>
          <a:prstGeom prst="rect">
            <a:avLst/>
          </a:prstGeom>
          <a:noFill/>
          <a:ln/>
        </p:spPr>
        <p:txBody>
          <a:bodyPr wrap="square" rtlCol="0" anchor="ctr"/>
          <a:lstStyle/>
          <a:p>
            <a:pPr algn="ctr" indent="0" marL="0">
              <a:buNone/>
            </a:pPr>
            <a:r>
              <a:rPr lang="en-US" sz="900" i="1" dirty="0">
                <a:solidFill>
                  <a:srgbClr val="FFD0D0"/>
                </a:solidFill>
                <a:latin typeface="Calibri" pitchFamily="34" charset="0"/>
                <a:ea typeface="Calibri" pitchFamily="34" charset="-122"/>
                <a:cs typeface="Calibri" pitchFamily="34" charset="-120"/>
              </a:rPr>
              <a:t>Today's News  ·  Yesterday  ·  Maybe</a:t>
            </a:r>
            <a:endParaRPr lang="en-US" sz="900" dirty="0"/>
          </a:p>
        </p:txBody>
      </p:sp>
      <p:sp>
        <p:nvSpPr>
          <p:cNvPr id="7" name="Shape 5"/>
          <p:cNvSpPr/>
          <p:nvPr/>
        </p:nvSpPr>
        <p:spPr>
          <a:xfrm>
            <a:off x="914400" y="1051560"/>
            <a:ext cx="7315200" cy="822960"/>
          </a:xfrm>
          <a:prstGeom prst="roundRect">
            <a:avLst>
              <a:gd name="adj" fmla="val 13333"/>
            </a:avLst>
          </a:prstGeom>
          <a:solidFill>
            <a:srgbClr val="FFFFFF"/>
          </a:solidFill>
          <a:ln w="31750">
            <a:solidFill>
              <a:srgbClr val="E8636B"/>
            </a:solidFill>
            <a:prstDash val="solid"/>
          </a:ln>
        </p:spPr>
      </p:sp>
      <p:sp>
        <p:nvSpPr>
          <p:cNvPr id="8" name="Text 6"/>
          <p:cNvSpPr/>
          <p:nvPr/>
        </p:nvSpPr>
        <p:spPr>
          <a:xfrm>
            <a:off x="1005840" y="1097280"/>
            <a:ext cx="7132320" cy="274320"/>
          </a:xfrm>
          <a:prstGeom prst="rect">
            <a:avLst/>
          </a:prstGeom>
          <a:noFill/>
          <a:ln/>
        </p:spPr>
        <p:txBody>
          <a:bodyPr wrap="square" rtlCol="0" anchor="ctr"/>
          <a:lstStyle/>
          <a:p>
            <a:pPr algn="ctr" indent="0" marL="0">
              <a:buNone/>
            </a:pPr>
            <a:r>
              <a:rPr lang="en-US" sz="1500" b="1" dirty="0">
                <a:solidFill>
                  <a:srgbClr val="E8636B"/>
                </a:solidFill>
                <a:latin typeface="Cambria" pitchFamily="34" charset="0"/>
                <a:ea typeface="Cambria" pitchFamily="34" charset="-122"/>
                <a:cs typeface="Cambria" pitchFamily="34" charset="-120"/>
              </a:rPr>
              <a:t>CLIFF DWELLINGS: JUST SHOWING OFF!</a:t>
            </a:r>
            <a:endParaRPr lang="en-US" sz="1500" dirty="0"/>
          </a:p>
        </p:txBody>
      </p:sp>
      <p:sp>
        <p:nvSpPr>
          <p:cNvPr id="9" name="Text 7"/>
          <p:cNvSpPr/>
          <p:nvPr/>
        </p:nvSpPr>
        <p:spPr>
          <a:xfrm>
            <a:off x="1005840" y="1371600"/>
            <a:ext cx="7132320" cy="347472"/>
          </a:xfrm>
          <a:prstGeom prst="rect">
            <a:avLst/>
          </a:prstGeom>
          <a:noFill/>
          <a:ln/>
        </p:spPr>
        <p:txBody>
          <a:bodyPr wrap="square" rtlCol="0" anchor="ctr"/>
          <a:lstStyle/>
          <a:p>
            <a:pPr algn="ctr" indent="0" marL="0">
              <a:buNone/>
            </a:pPr>
            <a:r>
              <a:rPr lang="en-US" sz="1250" i="1" dirty="0">
                <a:solidFill>
                  <a:srgbClr val="3A2020"/>
                </a:solidFill>
                <a:latin typeface="Cambria" pitchFamily="34" charset="0"/>
                <a:ea typeface="Cambria" pitchFamily="34" charset="-122"/>
                <a:cs typeface="Cambria" pitchFamily="34" charset="-120"/>
              </a:rPr>
              <a:t>"The Ancestral Pueblo built cliff dwellings only because they looked impressive."</a:t>
            </a:r>
            <a:endParaRPr lang="en-US" sz="1250" dirty="0"/>
          </a:p>
        </p:txBody>
      </p:sp>
      <p:sp>
        <p:nvSpPr>
          <p:cNvPr id="10" name="Shape 8"/>
          <p:cNvSpPr/>
          <p:nvPr/>
        </p:nvSpPr>
        <p:spPr>
          <a:xfrm>
            <a:off x="3474720" y="1938528"/>
            <a:ext cx="2194560" cy="274320"/>
          </a:xfrm>
          <a:prstGeom prst="roundRect">
            <a:avLst>
              <a:gd name="adj" fmla="val 26667"/>
            </a:avLst>
          </a:prstGeom>
          <a:solidFill>
            <a:srgbClr val="E8636B"/>
          </a:solidFill>
          <a:ln/>
        </p:spPr>
      </p:sp>
      <p:sp>
        <p:nvSpPr>
          <p:cNvPr id="11" name="Text 9"/>
          <p:cNvSpPr/>
          <p:nvPr/>
        </p:nvSpPr>
        <p:spPr>
          <a:xfrm>
            <a:off x="3474720" y="1938528"/>
            <a:ext cx="2194560" cy="274320"/>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RUSHED TO PRINT!</a:t>
            </a:r>
            <a:endParaRPr lang="en-US" sz="900" dirty="0"/>
          </a:p>
        </p:txBody>
      </p:sp>
      <p:sp>
        <p:nvSpPr>
          <p:cNvPr id="12" name="Shape 10"/>
          <p:cNvSpPr/>
          <p:nvPr/>
        </p:nvSpPr>
        <p:spPr>
          <a:xfrm>
            <a:off x="320040" y="2304288"/>
            <a:ext cx="4572000" cy="1417320"/>
          </a:xfrm>
          <a:prstGeom prst="roundRect">
            <a:avLst>
              <a:gd name="adj" fmla="val 7742"/>
            </a:avLst>
          </a:prstGeom>
          <a:solidFill>
            <a:srgbClr val="1A2D5A"/>
          </a:solidFill>
          <a:ln w="12700">
            <a:solidFill>
              <a:srgbClr val="2A4070"/>
            </a:solidFill>
            <a:prstDash val="solid"/>
          </a:ln>
        </p:spPr>
      </p:sp>
      <p:sp>
        <p:nvSpPr>
          <p:cNvPr id="13" name="Text 11"/>
          <p:cNvSpPr/>
          <p:nvPr/>
        </p:nvSpPr>
        <p:spPr>
          <a:xfrm>
            <a:off x="457200" y="2359152"/>
            <a:ext cx="42976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02920" y="2624328"/>
            <a:ext cx="4206240" cy="10058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exactly is the Herald claiming? What is the one word that makes it suspicious?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a building look impressive AND serve a practical purpose at the same time?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evidence would you need to check before you could agree or disagree with this claim?</a:t>
            </a:r>
            <a:endParaRPr lang="en-US" sz="1100" dirty="0"/>
          </a:p>
        </p:txBody>
      </p:sp>
      <p:sp>
        <p:nvSpPr>
          <p:cNvPr id="15" name="Shape 13"/>
          <p:cNvSpPr/>
          <p:nvPr/>
        </p:nvSpPr>
        <p:spPr>
          <a:xfrm>
            <a:off x="5029200" y="2304288"/>
            <a:ext cx="3749040" cy="1417320"/>
          </a:xfrm>
          <a:prstGeom prst="roundRect">
            <a:avLst>
              <a:gd name="adj" fmla="val 7742"/>
            </a:avLst>
          </a:prstGeom>
          <a:solidFill>
            <a:srgbClr val="FFF3DC"/>
          </a:solidFill>
          <a:ln w="19050">
            <a:solidFill>
              <a:srgbClr val="F5E6C8"/>
            </a:solidFill>
            <a:prstDash val="solid"/>
          </a:ln>
        </p:spPr>
      </p:sp>
      <p:sp>
        <p:nvSpPr>
          <p:cNvPr id="16" name="Text 14"/>
          <p:cNvSpPr/>
          <p:nvPr/>
        </p:nvSpPr>
        <p:spPr>
          <a:xfrm>
            <a:off x="5166360" y="2359152"/>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166360" y="2560320"/>
            <a:ext cx="347472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word that catches my attention is _____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Herald might be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"Before I decide, I would need to know..."</a:t>
            </a:r>
            <a:endParaRPr lang="en-US" sz="1200" dirty="0"/>
          </a:p>
        </p:txBody>
      </p:sp>
      <p:sp>
        <p:nvSpPr>
          <p:cNvPr id="18" name="Shape 16"/>
          <p:cNvSpPr/>
          <p:nvPr/>
        </p:nvSpPr>
        <p:spPr>
          <a:xfrm>
            <a:off x="0" y="4754880"/>
            <a:ext cx="9144000" cy="388620"/>
          </a:xfrm>
          <a:prstGeom prst="rect">
            <a:avLst/>
          </a:prstGeom>
          <a:solidFill>
            <a:srgbClr val="1A2D5A"/>
          </a:solidFill>
          <a:ln/>
        </p:spPr>
      </p:sp>
      <p:sp>
        <p:nvSpPr>
          <p:cNvPr id="19" name="Text 17"/>
          <p:cNvSpPr/>
          <p:nvPr/>
        </p:nvSpPr>
        <p:spPr>
          <a:xfrm>
            <a:off x="274320" y="4800600"/>
            <a:ext cx="8595360" cy="256032"/>
          </a:xfrm>
          <a:prstGeom prst="rect">
            <a:avLst/>
          </a:prstGeom>
          <a:noFill/>
          <a:ln/>
        </p:spPr>
        <p:txBody>
          <a:bodyPr wrap="square" rtlCol="0" anchor="ctr"/>
          <a:lstStyle/>
          <a:p>
            <a:pPr algn="ctr" indent="0" marL="0">
              <a:buNone/>
            </a:pPr>
            <a:r>
              <a:rPr lang="en-US" sz="1000" b="1" dirty="0">
                <a:solidFill>
                  <a:srgbClr val="D4943A"/>
                </a:solidFill>
                <a:latin typeface="Calibri" pitchFamily="34" charset="0"/>
                <a:ea typeface="Calibri" pitchFamily="34" charset="-122"/>
                <a:cs typeface="Calibri" pitchFamily="34" charset="-120"/>
              </a:rPr>
              <a:t>Your job: study the evidence — then fix the Herald's claim.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THE DISPATCH  ·  FROM THE EDITOR'S DESK</a:t>
            </a:r>
            <a:endParaRPr lang="en-US" sz="850" dirty="0"/>
          </a:p>
        </p:txBody>
      </p:sp>
      <p:sp>
        <p:nvSpPr>
          <p:cNvPr id="4" name="Text 2"/>
          <p:cNvSpPr/>
          <p:nvPr/>
        </p:nvSpPr>
        <p:spPr>
          <a:xfrm>
            <a:off x="365760" y="274320"/>
            <a:ext cx="8412480" cy="411480"/>
          </a:xfrm>
          <a:prstGeom prst="rect">
            <a:avLst/>
          </a:prstGeom>
          <a:noFill/>
          <a:ln/>
        </p:spPr>
        <p:txBody>
          <a:bodyPr wrap="square" rtlCol="0" anchor="ctr"/>
          <a:lstStyle/>
          <a:p>
            <a:pPr algn="ctr" indent="0" marL="0">
              <a:buNone/>
            </a:pPr>
            <a:r>
              <a:rPr lang="en-US" sz="2400" b="1" dirty="0">
                <a:solidFill>
                  <a:srgbClr val="0E1C42"/>
                </a:solidFill>
                <a:latin typeface="Cambria" pitchFamily="34" charset="0"/>
                <a:ea typeface="Cambria" pitchFamily="34" charset="-122"/>
                <a:cs typeface="Cambria" pitchFamily="34" charset="-120"/>
              </a:rPr>
              <a:t>Today's Dispatch</a:t>
            </a:r>
            <a:endParaRPr lang="en-US" sz="2400" dirty="0"/>
          </a:p>
        </p:txBody>
      </p:sp>
      <p:sp>
        <p:nvSpPr>
          <p:cNvPr id="5" name="Shape 3"/>
          <p:cNvSpPr/>
          <p:nvPr/>
        </p:nvSpPr>
        <p:spPr>
          <a:xfrm>
            <a:off x="320040" y="777240"/>
            <a:ext cx="8503920" cy="914400"/>
          </a:xfrm>
          <a:prstGeom prst="roundRect">
            <a:avLst>
              <a:gd name="adj" fmla="val 14000"/>
            </a:avLst>
          </a:prstGeom>
          <a:solidFill>
            <a:srgbClr val="1A2D5A"/>
          </a:solidFill>
          <a:ln w="25400">
            <a:solidFill>
              <a:srgbClr val="D4943A"/>
            </a:solidFill>
            <a:prstDash val="solid"/>
          </a:ln>
        </p:spPr>
      </p:sp>
      <p:sp>
        <p:nvSpPr>
          <p:cNvPr id="6" name="Text 4"/>
          <p:cNvSpPr/>
          <p:nvPr/>
        </p:nvSpPr>
        <p:spPr>
          <a:xfrm>
            <a:off x="502920" y="822960"/>
            <a:ext cx="365760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Ms. Avery, Editor-in-Chief:</a:t>
            </a:r>
            <a:endParaRPr lang="en-US" sz="900" dirty="0"/>
          </a:p>
        </p:txBody>
      </p:sp>
      <p:sp>
        <p:nvSpPr>
          <p:cNvPr id="7" name="Text 5"/>
          <p:cNvSpPr/>
          <p:nvPr/>
        </p:nvSpPr>
        <p:spPr>
          <a:xfrm>
            <a:off x="502920" y="1042416"/>
            <a:ext cx="8229600" cy="566928"/>
          </a:xfrm>
          <a:prstGeom prst="rect">
            <a:avLst/>
          </a:prstGeom>
          <a:noFill/>
          <a:ln/>
        </p:spPr>
        <p:txBody>
          <a:bodyPr wrap="square" rtlCol="0" anchor="t"/>
          <a:lstStyle/>
          <a:p>
            <a:pPr indent="0" marL="0">
              <a:buNone/>
            </a:pPr>
            <a:r>
              <a:rPr lang="en-US" sz="1250" i="1" dirty="0">
                <a:solidFill>
                  <a:srgbClr val="E8F4FF"/>
                </a:solidFill>
                <a:latin typeface="Cambria" pitchFamily="34" charset="0"/>
                <a:ea typeface="Cambria" pitchFamily="34" charset="-122"/>
                <a:cs typeface="Cambria" pitchFamily="34" charset="-120"/>
              </a:rPr>
              <a:t>"A new file marked 5.03.02 — Anasazi / Ancestral Pueblo — has arrived at the Source Desk. The Gazette may print only after you examine the source carefully and improve the public account. The Hasty Herald has already rushed its version to print."</a:t>
            </a:r>
            <a:endParaRPr lang="en-US" sz="1250" dirty="0"/>
          </a:p>
        </p:txBody>
      </p:sp>
      <p:sp>
        <p:nvSpPr>
          <p:cNvPr id="8" name="Shape 6"/>
          <p:cNvSpPr/>
          <p:nvPr/>
        </p:nvSpPr>
        <p:spPr>
          <a:xfrm>
            <a:off x="256032" y="1828800"/>
            <a:ext cx="2743200" cy="2633472"/>
          </a:xfrm>
          <a:prstGeom prst="roundRect">
            <a:avLst>
              <a:gd name="adj" fmla="val 4861"/>
            </a:avLst>
          </a:prstGeom>
          <a:solidFill>
            <a:srgbClr val="FFFFFF"/>
          </a:solidFill>
          <a:ln w="25400">
            <a:solidFill>
              <a:srgbClr val="1A8A7D"/>
            </a:solidFill>
            <a:prstDash val="solid"/>
          </a:ln>
        </p:spPr>
      </p:sp>
      <p:sp>
        <p:nvSpPr>
          <p:cNvPr id="9" name="Shape 7"/>
          <p:cNvSpPr/>
          <p:nvPr/>
        </p:nvSpPr>
        <p:spPr>
          <a:xfrm>
            <a:off x="256032" y="1828800"/>
            <a:ext cx="2743200" cy="329184"/>
          </a:xfrm>
          <a:prstGeom prst="roundRect">
            <a:avLst>
              <a:gd name="adj" fmla="val 38889"/>
            </a:avLst>
          </a:prstGeom>
          <a:solidFill>
            <a:srgbClr val="1A8A7D"/>
          </a:solidFill>
          <a:ln/>
        </p:spPr>
      </p:sp>
      <p:sp>
        <p:nvSpPr>
          <p:cNvPr id="10" name="Text 8"/>
          <p:cNvSpPr/>
          <p:nvPr/>
        </p:nvSpPr>
        <p:spPr>
          <a:xfrm>
            <a:off x="347472" y="1856232"/>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Your Role</a:t>
            </a:r>
            <a:endParaRPr lang="en-US" sz="1100" dirty="0"/>
          </a:p>
        </p:txBody>
      </p:sp>
      <p:sp>
        <p:nvSpPr>
          <p:cNvPr id="11" name="Shape 9"/>
          <p:cNvSpPr/>
          <p:nvPr/>
        </p:nvSpPr>
        <p:spPr>
          <a:xfrm>
            <a:off x="713232" y="2231136"/>
            <a:ext cx="1828800" cy="585216"/>
          </a:xfrm>
          <a:prstGeom prst="roundRect">
            <a:avLst>
              <a:gd name="adj" fmla="val 15625"/>
            </a:avLst>
          </a:prstGeom>
          <a:solidFill>
            <a:srgbClr val="1A8A7D">
              <a:alpha val="15000"/>
            </a:srgbClr>
          </a:solidFill>
          <a:ln/>
        </p:spPr>
      </p:sp>
      <p:sp>
        <p:nvSpPr>
          <p:cNvPr id="12" name="Text 10"/>
          <p:cNvSpPr/>
          <p:nvPr/>
        </p:nvSpPr>
        <p:spPr>
          <a:xfrm>
            <a:off x="713232" y="2231136"/>
            <a:ext cx="1828800" cy="585216"/>
          </a:xfrm>
          <a:prstGeom prst="rect">
            <a:avLst/>
          </a:prstGeom>
          <a:noFill/>
          <a:ln/>
        </p:spPr>
        <p:txBody>
          <a:bodyPr wrap="square" rtlCol="0" anchor="ctr"/>
          <a:lstStyle/>
          <a:p>
            <a:pPr algn="ctr" indent="0" marL="0">
              <a:buNone/>
            </a:pPr>
            <a:r>
              <a:rPr lang="en-US" sz="1050" b="1" dirty="0">
                <a:solidFill>
                  <a:srgbClr val="1A8A7D"/>
                </a:solidFill>
                <a:latin typeface="Calibri" pitchFamily="34" charset="0"/>
                <a:ea typeface="Calibri" pitchFamily="34" charset="-122"/>
                <a:cs typeface="Calibri" pitchFamily="34" charset="-120"/>
              </a:rPr>
              <a:t>Junior Editor</a:t>
            </a:r>
            <a:endParaRPr lang="en-US" sz="1050" dirty="0"/>
          </a:p>
          <a:p>
            <a:pPr algn="ctr" indent="0" marL="0">
              <a:buNone/>
            </a:pPr>
            <a:r>
              <a:rPr lang="en-US" sz="1050" b="1" dirty="0">
                <a:solidFill>
                  <a:srgbClr val="1A8A7D"/>
                </a:solidFill>
                <a:latin typeface="Calibri" pitchFamily="34" charset="0"/>
                <a:ea typeface="Calibri" pitchFamily="34" charset="-122"/>
                <a:cs typeface="Calibri" pitchFamily="34" charset="-120"/>
              </a:rPr>
              <a:t>at the Source Desk</a:t>
            </a:r>
            <a:endParaRPr lang="en-US" sz="1050" dirty="0"/>
          </a:p>
        </p:txBody>
      </p:sp>
      <p:sp>
        <p:nvSpPr>
          <p:cNvPr id="13" name="Text 11"/>
          <p:cNvSpPr/>
          <p:nvPr/>
        </p:nvSpPr>
        <p:spPr>
          <a:xfrm>
            <a:off x="393192" y="2871216"/>
            <a:ext cx="2468880" cy="1499616"/>
          </a:xfrm>
          <a:prstGeom prst="rect">
            <a:avLst/>
          </a:prstGeom>
          <a:noFill/>
          <a:ln/>
        </p:spPr>
        <p:txBody>
          <a:bodyPr wrap="square" lIns="0" tIns="0" rIns="0" bIns="0" rtlCol="0" anchor="t"/>
          <a:lstStyle/>
          <a:p>
            <a:pPr indent="0" marL="0">
              <a:buNone/>
            </a:pPr>
            <a:r>
              <a:rPr lang="en-US" sz="1050" dirty="0">
                <a:solidFill>
                  <a:srgbClr val="2A3A5A"/>
                </a:solidFill>
                <a:latin typeface="Calibri" pitchFamily="34" charset="0"/>
                <a:ea typeface="Calibri" pitchFamily="34" charset="-122"/>
                <a:cs typeface="Calibri" pitchFamily="34" charset="-120"/>
              </a:rPr>
              <a:t>You examine historical sources — photographs and written records — and report only what the evidence supports.</a:t>
            </a:r>
            <a:endParaRPr lang="en-US" sz="1050" dirty="0"/>
          </a:p>
        </p:txBody>
      </p:sp>
      <p:sp>
        <p:nvSpPr>
          <p:cNvPr id="14" name="Shape 12"/>
          <p:cNvSpPr/>
          <p:nvPr/>
        </p:nvSpPr>
        <p:spPr>
          <a:xfrm>
            <a:off x="3163824" y="1828800"/>
            <a:ext cx="2743200" cy="2633472"/>
          </a:xfrm>
          <a:prstGeom prst="roundRect">
            <a:avLst>
              <a:gd name="adj" fmla="val 4861"/>
            </a:avLst>
          </a:prstGeom>
          <a:solidFill>
            <a:srgbClr val="FFFFFF"/>
          </a:solidFill>
          <a:ln w="25400">
            <a:solidFill>
              <a:srgbClr val="D4943A"/>
            </a:solidFill>
            <a:prstDash val="solid"/>
          </a:ln>
        </p:spPr>
      </p:sp>
      <p:sp>
        <p:nvSpPr>
          <p:cNvPr id="15" name="Shape 13"/>
          <p:cNvSpPr/>
          <p:nvPr/>
        </p:nvSpPr>
        <p:spPr>
          <a:xfrm>
            <a:off x="3163824" y="1828800"/>
            <a:ext cx="2743200" cy="329184"/>
          </a:xfrm>
          <a:prstGeom prst="roundRect">
            <a:avLst>
              <a:gd name="adj" fmla="val 38889"/>
            </a:avLst>
          </a:prstGeom>
          <a:solidFill>
            <a:srgbClr val="D4943A"/>
          </a:solidFill>
          <a:ln/>
        </p:spPr>
      </p:sp>
      <p:sp>
        <p:nvSpPr>
          <p:cNvPr id="16" name="Text 14"/>
          <p:cNvSpPr/>
          <p:nvPr/>
        </p:nvSpPr>
        <p:spPr>
          <a:xfrm>
            <a:off x="3255264" y="1856232"/>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Today's Beat</a:t>
            </a:r>
            <a:endParaRPr lang="en-US" sz="1100" dirty="0"/>
          </a:p>
        </p:txBody>
      </p:sp>
      <p:sp>
        <p:nvSpPr>
          <p:cNvPr id="17" name="Shape 15"/>
          <p:cNvSpPr/>
          <p:nvPr/>
        </p:nvSpPr>
        <p:spPr>
          <a:xfrm>
            <a:off x="3621024" y="2231136"/>
            <a:ext cx="1828800" cy="585216"/>
          </a:xfrm>
          <a:prstGeom prst="roundRect">
            <a:avLst>
              <a:gd name="adj" fmla="val 15625"/>
            </a:avLst>
          </a:prstGeom>
          <a:solidFill>
            <a:srgbClr val="D4943A">
              <a:alpha val="15000"/>
            </a:srgbClr>
          </a:solidFill>
          <a:ln/>
        </p:spPr>
      </p:sp>
      <p:sp>
        <p:nvSpPr>
          <p:cNvPr id="18" name="Text 16"/>
          <p:cNvSpPr/>
          <p:nvPr/>
        </p:nvSpPr>
        <p:spPr>
          <a:xfrm>
            <a:off x="3621024" y="2231136"/>
            <a:ext cx="1828800" cy="585216"/>
          </a:xfrm>
          <a:prstGeom prst="rect">
            <a:avLst/>
          </a:prstGeom>
          <a:noFill/>
          <a:ln/>
        </p:spPr>
        <p:txBody>
          <a:bodyPr wrap="square" rtlCol="0" anchor="ctr"/>
          <a:lstStyle/>
          <a:p>
            <a:pPr algn="ctr" indent="0" marL="0">
              <a:buNone/>
            </a:pPr>
            <a:r>
              <a:rPr lang="en-US" sz="1050" b="1" dirty="0">
                <a:solidFill>
                  <a:srgbClr val="D4943A"/>
                </a:solidFill>
                <a:latin typeface="Calibri" pitchFamily="34" charset="0"/>
                <a:ea typeface="Calibri" pitchFamily="34" charset="-122"/>
                <a:cs typeface="Calibri" pitchFamily="34" charset="-120"/>
              </a:rPr>
              <a:t>Ancestral Pueblo</a:t>
            </a:r>
            <a:endParaRPr lang="en-US" sz="1050" dirty="0"/>
          </a:p>
          <a:p>
            <a:pPr algn="ctr" indent="0" marL="0">
              <a:buNone/>
            </a:pPr>
            <a:r>
              <a:rPr lang="en-US" sz="1050" b="1" dirty="0">
                <a:solidFill>
                  <a:srgbClr val="D4943A"/>
                </a:solidFill>
                <a:latin typeface="Calibri" pitchFamily="34" charset="0"/>
                <a:ea typeface="Calibri" pitchFamily="34" charset="-122"/>
                <a:cs typeface="Calibri" pitchFamily="34" charset="-120"/>
              </a:rPr>
              <a:t>Cliff Dwellings</a:t>
            </a:r>
            <a:endParaRPr lang="en-US" sz="1050" dirty="0"/>
          </a:p>
        </p:txBody>
      </p:sp>
      <p:sp>
        <p:nvSpPr>
          <p:cNvPr id="19" name="Text 17"/>
          <p:cNvSpPr/>
          <p:nvPr/>
        </p:nvSpPr>
        <p:spPr>
          <a:xfrm>
            <a:off x="3300984" y="2871216"/>
            <a:ext cx="2468880" cy="1499616"/>
          </a:xfrm>
          <a:prstGeom prst="rect">
            <a:avLst/>
          </a:prstGeom>
          <a:noFill/>
          <a:ln/>
        </p:spPr>
        <p:txBody>
          <a:bodyPr wrap="square" lIns="0" tIns="0" rIns="0" bIns="0" rtlCol="0" anchor="t"/>
          <a:lstStyle/>
          <a:p>
            <a:pPr indent="0" marL="0">
              <a:buNone/>
            </a:pPr>
            <a:r>
              <a:rPr lang="en-US" sz="1050" dirty="0">
                <a:solidFill>
                  <a:srgbClr val="2A3A5A"/>
                </a:solidFill>
                <a:latin typeface="Calibri" pitchFamily="34" charset="0"/>
                <a:ea typeface="Calibri" pitchFamily="34" charset="-122"/>
                <a:cs typeface="Calibri" pitchFamily="34" charset="-120"/>
              </a:rPr>
              <a:t>Why did they build into cliffs? Separate what you can observe from what you can infer.</a:t>
            </a:r>
            <a:endParaRPr lang="en-US" sz="1050" dirty="0"/>
          </a:p>
        </p:txBody>
      </p:sp>
      <p:sp>
        <p:nvSpPr>
          <p:cNvPr id="20" name="Shape 18"/>
          <p:cNvSpPr/>
          <p:nvPr/>
        </p:nvSpPr>
        <p:spPr>
          <a:xfrm>
            <a:off x="6071616" y="1828800"/>
            <a:ext cx="2743200" cy="2633472"/>
          </a:xfrm>
          <a:prstGeom prst="roundRect">
            <a:avLst>
              <a:gd name="adj" fmla="val 4861"/>
            </a:avLst>
          </a:prstGeom>
          <a:solidFill>
            <a:srgbClr val="FFFFFF"/>
          </a:solidFill>
          <a:ln w="25400">
            <a:solidFill>
              <a:srgbClr val="8B6FC0"/>
            </a:solidFill>
            <a:prstDash val="solid"/>
          </a:ln>
        </p:spPr>
      </p:sp>
      <p:sp>
        <p:nvSpPr>
          <p:cNvPr id="21" name="Shape 19"/>
          <p:cNvSpPr/>
          <p:nvPr/>
        </p:nvSpPr>
        <p:spPr>
          <a:xfrm>
            <a:off x="6071616" y="1828800"/>
            <a:ext cx="2743200" cy="329184"/>
          </a:xfrm>
          <a:prstGeom prst="roundRect">
            <a:avLst>
              <a:gd name="adj" fmla="val 38889"/>
            </a:avLst>
          </a:prstGeom>
          <a:solidFill>
            <a:srgbClr val="8B6FC0"/>
          </a:solidFill>
          <a:ln/>
        </p:spPr>
      </p:sp>
      <p:sp>
        <p:nvSpPr>
          <p:cNvPr id="22" name="Text 20"/>
          <p:cNvSpPr/>
          <p:nvPr/>
        </p:nvSpPr>
        <p:spPr>
          <a:xfrm>
            <a:off x="6163056" y="1856232"/>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Mission</a:t>
            </a:r>
            <a:endParaRPr lang="en-US" sz="1100" dirty="0"/>
          </a:p>
        </p:txBody>
      </p:sp>
      <p:sp>
        <p:nvSpPr>
          <p:cNvPr id="23" name="Shape 21"/>
          <p:cNvSpPr/>
          <p:nvPr/>
        </p:nvSpPr>
        <p:spPr>
          <a:xfrm>
            <a:off x="6528816" y="2231136"/>
            <a:ext cx="1828800" cy="585216"/>
          </a:xfrm>
          <a:prstGeom prst="roundRect">
            <a:avLst>
              <a:gd name="adj" fmla="val 15625"/>
            </a:avLst>
          </a:prstGeom>
          <a:solidFill>
            <a:srgbClr val="8B6FC0">
              <a:alpha val="15000"/>
            </a:srgbClr>
          </a:solidFill>
          <a:ln/>
        </p:spPr>
      </p:sp>
      <p:sp>
        <p:nvSpPr>
          <p:cNvPr id="24" name="Text 22"/>
          <p:cNvSpPr/>
          <p:nvPr/>
        </p:nvSpPr>
        <p:spPr>
          <a:xfrm>
            <a:off x="6528816" y="2231136"/>
            <a:ext cx="1828800" cy="585216"/>
          </a:xfrm>
          <a:prstGeom prst="rect">
            <a:avLst/>
          </a:prstGeom>
          <a:noFill/>
          <a:ln/>
        </p:spPr>
        <p:txBody>
          <a:bodyPr wrap="square" rtlCol="0" anchor="ctr"/>
          <a:lstStyle/>
          <a:p>
            <a:pPr algn="ctr" indent="0" marL="0">
              <a:buNone/>
            </a:pPr>
            <a:r>
              <a:rPr lang="en-US" sz="1050" b="1" dirty="0">
                <a:solidFill>
                  <a:srgbClr val="8B6FC0"/>
                </a:solidFill>
                <a:latin typeface="Calibri" pitchFamily="34" charset="0"/>
                <a:ea typeface="Calibri" pitchFamily="34" charset="-122"/>
                <a:cs typeface="Calibri" pitchFamily="34" charset="-120"/>
              </a:rPr>
              <a:t>Publish a</a:t>
            </a:r>
            <a:endParaRPr lang="en-US" sz="1050" dirty="0"/>
          </a:p>
          <a:p>
            <a:pPr algn="ctr" indent="0" marL="0">
              <a:buNone/>
            </a:pPr>
            <a:r>
              <a:rPr lang="en-US" sz="1050" b="1" dirty="0">
                <a:solidFill>
                  <a:srgbClr val="8B6FC0"/>
                </a:solidFill>
                <a:latin typeface="Calibri" pitchFamily="34" charset="0"/>
                <a:ea typeface="Calibri" pitchFamily="34" charset="-122"/>
                <a:cs typeface="Calibri" pitchFamily="34" charset="-120"/>
              </a:rPr>
              <a:t>Gazette Correction</a:t>
            </a:r>
            <a:endParaRPr lang="en-US" sz="1050" dirty="0"/>
          </a:p>
        </p:txBody>
      </p:sp>
      <p:sp>
        <p:nvSpPr>
          <p:cNvPr id="25" name="Text 23"/>
          <p:cNvSpPr/>
          <p:nvPr/>
        </p:nvSpPr>
        <p:spPr>
          <a:xfrm>
            <a:off x="6208776" y="2871216"/>
            <a:ext cx="2468880" cy="1499616"/>
          </a:xfrm>
          <a:prstGeom prst="rect">
            <a:avLst/>
          </a:prstGeom>
          <a:noFill/>
          <a:ln/>
        </p:spPr>
        <p:txBody>
          <a:bodyPr wrap="square" lIns="0" tIns="0" rIns="0" bIns="0" rtlCol="0" anchor="t"/>
          <a:lstStyle/>
          <a:p>
            <a:pPr indent="0" marL="0">
              <a:buNone/>
            </a:pPr>
            <a:r>
              <a:rPr lang="en-US" sz="1050" dirty="0">
                <a:solidFill>
                  <a:srgbClr val="2A3A5A"/>
                </a:solidFill>
                <a:latin typeface="Calibri" pitchFamily="34" charset="0"/>
                <a:ea typeface="Calibri" pitchFamily="34" charset="-122"/>
                <a:cs typeface="Calibri" pitchFamily="34" charset="-120"/>
              </a:rPr>
              <a:t>Use evidence to fix the Herald's claim and write one Archive Line for future citizens.</a:t>
            </a:r>
            <a:endParaRPr lang="en-US" sz="1050" dirty="0"/>
          </a:p>
        </p:txBody>
      </p:sp>
      <p:sp>
        <p:nvSpPr>
          <p:cNvPr id="26" name="Shape 24"/>
          <p:cNvSpPr/>
          <p:nvPr/>
        </p:nvSpPr>
        <p:spPr>
          <a:xfrm>
            <a:off x="0" y="4754880"/>
            <a:ext cx="9144000" cy="388620"/>
          </a:xfrm>
          <a:prstGeom prst="rect">
            <a:avLst/>
          </a:prstGeom>
          <a:solidFill>
            <a:srgbClr val="1A2D5A"/>
          </a:solidFill>
          <a:ln/>
        </p:spPr>
      </p:sp>
      <p:sp>
        <p:nvSpPr>
          <p:cNvPr id="27" name="Text 25"/>
          <p:cNvSpPr/>
          <p:nvPr/>
        </p:nvSpPr>
        <p:spPr>
          <a:xfrm>
            <a:off x="274320" y="4791456"/>
            <a:ext cx="8595360" cy="256032"/>
          </a:xfrm>
          <a:prstGeom prst="rect">
            <a:avLst/>
          </a:prstGeom>
          <a:noFill/>
          <a:ln/>
        </p:spPr>
        <p:txBody>
          <a:bodyPr wrap="square" rtlCol="0" anchor="ctr"/>
          <a:lstStyle/>
          <a:p>
            <a:pPr algn="ctr" indent="0" marL="0">
              <a:buNone/>
            </a:pPr>
            <a:r>
              <a:rPr lang="en-US" sz="950" b="1" dirty="0">
                <a:solidFill>
                  <a:srgbClr val="D4943A"/>
                </a:solidFill>
                <a:latin typeface="Calibri" pitchFamily="34" charset="0"/>
                <a:ea typeface="Calibri" pitchFamily="34" charset="-122"/>
                <a:cs typeface="Calibri" pitchFamily="34" charset="-120"/>
              </a:rPr>
              <a:t>Virtue for Today:  SERVICE  — reporting what readers truly need, not just what makes a headline.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LAST EDITION RECAP  ·  ISSUE 9: MOUND BUILDERS</a:t>
            </a:r>
            <a:endParaRPr lang="en-US" sz="850" dirty="0"/>
          </a:p>
        </p:txBody>
      </p:sp>
      <p:sp>
        <p:nvSpPr>
          <p:cNvPr id="4" name="Text 2"/>
          <p:cNvSpPr/>
          <p:nvPr/>
        </p:nvSpPr>
        <p:spPr>
          <a:xfrm>
            <a:off x="365760" y="274320"/>
            <a:ext cx="841248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From Last Issue to This One</a:t>
            </a:r>
            <a:endParaRPr lang="en-US" sz="2200" dirty="0"/>
          </a:p>
        </p:txBody>
      </p:sp>
      <p:sp>
        <p:nvSpPr>
          <p:cNvPr id="5" name="Shape 3"/>
          <p:cNvSpPr/>
          <p:nvPr/>
        </p:nvSpPr>
        <p:spPr>
          <a:xfrm>
            <a:off x="274320" y="804672"/>
            <a:ext cx="4023360" cy="3310128"/>
          </a:xfrm>
          <a:prstGeom prst="roundRect">
            <a:avLst>
              <a:gd name="adj" fmla="val 3867"/>
            </a:avLst>
          </a:prstGeom>
          <a:solidFill>
            <a:srgbClr val="FFFFFF"/>
          </a:solidFill>
          <a:ln w="25400">
            <a:solidFill>
              <a:srgbClr val="1A8A7D"/>
            </a:solidFill>
            <a:prstDash val="solid"/>
          </a:ln>
        </p:spPr>
      </p:sp>
      <p:sp>
        <p:nvSpPr>
          <p:cNvPr id="6" name="Shape 4"/>
          <p:cNvSpPr/>
          <p:nvPr/>
        </p:nvSpPr>
        <p:spPr>
          <a:xfrm>
            <a:off x="274320" y="804672"/>
            <a:ext cx="4023360" cy="292608"/>
          </a:xfrm>
          <a:prstGeom prst="roundRect">
            <a:avLst>
              <a:gd name="adj" fmla="val 25000"/>
            </a:avLst>
          </a:prstGeom>
          <a:solidFill>
            <a:srgbClr val="D4943A"/>
          </a:solidFill>
          <a:ln/>
        </p:spPr>
      </p:sp>
      <p:sp>
        <p:nvSpPr>
          <p:cNvPr id="7" name="Text 5"/>
          <p:cNvSpPr/>
          <p:nvPr/>
        </p:nvSpPr>
        <p:spPr>
          <a:xfrm>
            <a:off x="384048" y="822960"/>
            <a:ext cx="3803904" cy="256032"/>
          </a:xfrm>
          <a:prstGeom prst="rect">
            <a:avLst/>
          </a:prstGeom>
          <a:noFill/>
          <a:ln/>
        </p:spPr>
        <p:txBody>
          <a:bodyPr wrap="square" lIns="0" tIns="0" rIns="0" bIns="0" rtlCol="0" anchor="ctr"/>
          <a:lstStyle/>
          <a:p>
            <a:pPr indent="0" marL="0">
              <a:buNone/>
            </a:pPr>
            <a:r>
              <a:rPr lang="en-US" sz="1050" b="1" spc="50" kern="0" dirty="0">
                <a:solidFill>
                  <a:srgbClr val="FFFFFF"/>
                </a:solidFill>
                <a:latin typeface="Calibri" pitchFamily="34" charset="0"/>
                <a:ea typeface="Calibri" pitchFamily="34" charset="-122"/>
                <a:cs typeface="Calibri" pitchFamily="34" charset="-120"/>
              </a:rPr>
              <a:t>Issue 9: Mound Builders</a:t>
            </a:r>
            <a:endParaRPr lang="en-US" sz="1050" dirty="0"/>
          </a:p>
        </p:txBody>
      </p:sp>
      <p:sp>
        <p:nvSpPr>
          <p:cNvPr id="8" name="Text 6"/>
          <p:cNvSpPr/>
          <p:nvPr/>
        </p:nvSpPr>
        <p:spPr>
          <a:xfrm>
            <a:off x="411480" y="1170432"/>
            <a:ext cx="3749040" cy="2834640"/>
          </a:xfrm>
          <a:prstGeom prst="rect">
            <a:avLst/>
          </a:prstGeom>
          <a:noFill/>
          <a:ln/>
        </p:spPr>
        <p:txBody>
          <a:bodyPr wrap="square" rtlCol="0" anchor="t"/>
          <a:lstStyle/>
          <a:p>
            <a:pPr indent="0" marL="0">
              <a:buNone/>
            </a:pPr>
            <a:r>
              <a:rPr lang="en-US" sz="1150" dirty="0">
                <a:solidFill>
                  <a:srgbClr val="2A3A5A"/>
                </a:solidFill>
                <a:latin typeface="Calibri" pitchFamily="34" charset="0"/>
                <a:ea typeface="Calibri" pitchFamily="34" charset="-122"/>
                <a:cs typeface="Calibri" pitchFamily="34" charset="-120"/>
              </a:rPr>
              <a:t>What we proved:</a:t>
            </a:r>
            <a:endParaRPr lang="en-US" sz="1150" dirty="0"/>
          </a:p>
          <a:p>
            <a:pPr indent="0" marL="0">
              <a:buNone/>
            </a:pP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 Adena, Hopewell, and Mississippian peoples built enormous earthen mounds.</a:t>
            </a: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 Long-distance trade goods and carefully planned cities (Cahokia) proved complex, organized civilizations.</a:t>
            </a: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 Evidence, not just mystery, tells the story.</a:t>
            </a:r>
            <a:endParaRPr lang="en-US" sz="1150" dirty="0"/>
          </a:p>
          <a:p>
            <a:pPr indent="0" marL="0">
              <a:buNone/>
            </a:pP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Key skill: reading physical evidence — structures — to understand a civilization.</a:t>
            </a:r>
            <a:endParaRPr lang="en-US" sz="1150" dirty="0"/>
          </a:p>
        </p:txBody>
      </p:sp>
      <p:sp>
        <p:nvSpPr>
          <p:cNvPr id="9" name="Shape 7"/>
          <p:cNvSpPr/>
          <p:nvPr/>
        </p:nvSpPr>
        <p:spPr>
          <a:xfrm>
            <a:off x="4389120" y="2011680"/>
            <a:ext cx="457200" cy="548640"/>
          </a:xfrm>
          <a:prstGeom prst="rightArrow">
            <a:avLst/>
          </a:prstGeom>
          <a:solidFill>
            <a:srgbClr val="D4943A"/>
          </a:solidFill>
          <a:ln/>
        </p:spPr>
      </p:sp>
      <p:sp>
        <p:nvSpPr>
          <p:cNvPr id="10" name="Shape 8"/>
          <p:cNvSpPr/>
          <p:nvPr/>
        </p:nvSpPr>
        <p:spPr>
          <a:xfrm>
            <a:off x="4937760" y="804672"/>
            <a:ext cx="3886200" cy="3310128"/>
          </a:xfrm>
          <a:prstGeom prst="roundRect">
            <a:avLst>
              <a:gd name="adj" fmla="val 3867"/>
            </a:avLst>
          </a:prstGeom>
          <a:solidFill>
            <a:srgbClr val="FFFFFF"/>
          </a:solidFill>
          <a:ln w="31750">
            <a:solidFill>
              <a:srgbClr val="D4943A"/>
            </a:solidFill>
            <a:prstDash val="solid"/>
          </a:ln>
        </p:spPr>
      </p:sp>
      <p:sp>
        <p:nvSpPr>
          <p:cNvPr id="11" name="Shape 9"/>
          <p:cNvSpPr/>
          <p:nvPr/>
        </p:nvSpPr>
        <p:spPr>
          <a:xfrm>
            <a:off x="4937760" y="804672"/>
            <a:ext cx="3886200" cy="292608"/>
          </a:xfrm>
          <a:prstGeom prst="roundRect">
            <a:avLst>
              <a:gd name="adj" fmla="val 25000"/>
            </a:avLst>
          </a:prstGeom>
          <a:solidFill>
            <a:srgbClr val="D4943A"/>
          </a:solidFill>
          <a:ln/>
        </p:spPr>
      </p:sp>
      <p:sp>
        <p:nvSpPr>
          <p:cNvPr id="12" name="Text 10"/>
          <p:cNvSpPr/>
          <p:nvPr/>
        </p:nvSpPr>
        <p:spPr>
          <a:xfrm>
            <a:off x="5047488" y="822960"/>
            <a:ext cx="3666744" cy="256032"/>
          </a:xfrm>
          <a:prstGeom prst="rect">
            <a:avLst/>
          </a:prstGeom>
          <a:noFill/>
          <a:ln/>
        </p:spPr>
        <p:txBody>
          <a:bodyPr wrap="square" lIns="0" tIns="0" rIns="0" bIns="0" rtlCol="0" anchor="ctr"/>
          <a:lstStyle/>
          <a:p>
            <a:pPr indent="0" marL="0">
              <a:buNone/>
            </a:pPr>
            <a:r>
              <a:rPr lang="en-US" sz="1050" b="1" spc="50" kern="0" dirty="0">
                <a:solidFill>
                  <a:srgbClr val="FFFFFF"/>
                </a:solidFill>
                <a:latin typeface="Calibri" pitchFamily="34" charset="0"/>
                <a:ea typeface="Calibri" pitchFamily="34" charset="-122"/>
                <a:cs typeface="Calibri" pitchFamily="34" charset="-120"/>
              </a:rPr>
              <a:t>Issue 10: Ancestral Pueblo</a:t>
            </a:r>
            <a:endParaRPr lang="en-US" sz="1050" dirty="0"/>
          </a:p>
        </p:txBody>
      </p:sp>
      <p:sp>
        <p:nvSpPr>
          <p:cNvPr id="13" name="Text 11"/>
          <p:cNvSpPr/>
          <p:nvPr/>
        </p:nvSpPr>
        <p:spPr>
          <a:xfrm>
            <a:off x="5074920" y="1170432"/>
            <a:ext cx="3611880" cy="2834640"/>
          </a:xfrm>
          <a:prstGeom prst="rect">
            <a:avLst/>
          </a:prstGeom>
          <a:noFill/>
          <a:ln/>
        </p:spPr>
        <p:txBody>
          <a:bodyPr wrap="square" rtlCol="0" anchor="t"/>
          <a:lstStyle/>
          <a:p>
            <a:pPr indent="0" marL="0">
              <a:buNone/>
            </a:pPr>
            <a:r>
              <a:rPr lang="en-US" sz="1150" dirty="0">
                <a:solidFill>
                  <a:srgbClr val="2A3A5A"/>
                </a:solidFill>
                <a:latin typeface="Calibri" pitchFamily="34" charset="0"/>
                <a:ea typeface="Calibri" pitchFamily="34" charset="-122"/>
                <a:cs typeface="Calibri" pitchFamily="34" charset="-120"/>
              </a:rPr>
              <a:t>Same skill, new civilization:</a:t>
            </a:r>
            <a:endParaRPr lang="en-US" sz="1150" dirty="0"/>
          </a:p>
          <a:p>
            <a:pPr indent="0" marL="0">
              <a:buNone/>
            </a:pP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 Four Corners region — Utah, Colorado, Arizona, New Mexico.</a:t>
            </a: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 Built remarkable multi-story stone dwellings in cliff alcoves.</a:t>
            </a: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 Same question: what does the physical evidence tell us?</a:t>
            </a:r>
            <a:endParaRPr lang="en-US" sz="1150" dirty="0"/>
          </a:p>
          <a:p>
            <a:pPr indent="0" marL="0">
              <a:buNone/>
            </a:pPr>
            <a:endParaRPr lang="en-US" sz="1150" dirty="0"/>
          </a:p>
          <a:p>
            <a:pPr indent="0" marL="0">
              <a:buNone/>
            </a:pPr>
            <a:r>
              <a:rPr lang="en-US" sz="1150" dirty="0">
                <a:solidFill>
                  <a:srgbClr val="2A3A5A"/>
                </a:solidFill>
                <a:latin typeface="Calibri" pitchFamily="34" charset="0"/>
                <a:ea typeface="Calibri" pitchFamily="34" charset="-122"/>
                <a:cs typeface="Calibri" pitchFamily="34" charset="-120"/>
              </a:rPr>
              <a:t>Today's challenge: separate OBSERVATION from INFERENCE.</a:t>
            </a:r>
            <a:endParaRPr lang="en-US" sz="1150" dirty="0"/>
          </a:p>
        </p:txBody>
      </p:sp>
      <p:sp>
        <p:nvSpPr>
          <p:cNvPr id="14" name="Shape 12"/>
          <p:cNvSpPr/>
          <p:nvPr/>
        </p:nvSpPr>
        <p:spPr>
          <a:xfrm>
            <a:off x="0" y="4754880"/>
            <a:ext cx="9144000" cy="388620"/>
          </a:xfrm>
          <a:prstGeom prst="rect">
            <a:avLst/>
          </a:prstGeom>
          <a:solidFill>
            <a:srgbClr val="1A2D5A"/>
          </a:solidFill>
          <a:ln/>
        </p:spPr>
      </p:sp>
      <p:sp>
        <p:nvSpPr>
          <p:cNvPr id="15" name="Text 13"/>
          <p:cNvSpPr/>
          <p:nvPr/>
        </p:nvSpPr>
        <p:spPr>
          <a:xfrm>
            <a:off x="274320" y="4791456"/>
            <a:ext cx="8595360" cy="256032"/>
          </a:xfrm>
          <a:prstGeom prst="rect">
            <a:avLst/>
          </a:prstGeom>
          <a:noFill/>
          <a:ln/>
        </p:spPr>
        <p:txBody>
          <a:bodyPr wrap="square" rtlCol="0" anchor="ctr"/>
          <a:lstStyle/>
          <a:p>
            <a:pPr algn="ctr" indent="0" marL="0">
              <a:buNone/>
            </a:pPr>
            <a:r>
              <a:rPr lang="en-US" sz="950" i="1" dirty="0">
                <a:solidFill>
                  <a:srgbClr val="55C8E8"/>
                </a:solidFill>
                <a:latin typeface="Calibri" pitchFamily="34" charset="0"/>
                <a:ea typeface="Calibri" pitchFamily="34" charset="-122"/>
                <a:cs typeface="Calibri" pitchFamily="34" charset="-120"/>
              </a:rPr>
              <a:t>Think: how is studying cliff dwellings similar to studying mounds? What evidence-reading skill carries over?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SOURCE DESK  ·  WHO WERE THE ANCESTRAL PUEBLO?</a:t>
            </a:r>
            <a:endParaRPr lang="en-US" sz="850" dirty="0"/>
          </a:p>
        </p:txBody>
      </p:sp>
      <p:sp>
        <p:nvSpPr>
          <p:cNvPr id="4" name="Text 2"/>
          <p:cNvSpPr/>
          <p:nvPr/>
        </p:nvSpPr>
        <p:spPr>
          <a:xfrm>
            <a:off x="365760" y="274320"/>
            <a:ext cx="8412480" cy="384048"/>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 Civilization Built in Stone</a:t>
            </a:r>
            <a:endParaRPr lang="en-US" sz="2200" dirty="0"/>
          </a:p>
        </p:txBody>
      </p:sp>
      <p:sp>
        <p:nvSpPr>
          <p:cNvPr id="5" name="Shape 3"/>
          <p:cNvSpPr/>
          <p:nvPr/>
        </p:nvSpPr>
        <p:spPr>
          <a:xfrm>
            <a:off x="274320" y="749808"/>
            <a:ext cx="3291840" cy="2377440"/>
          </a:xfrm>
          <a:prstGeom prst="roundRect">
            <a:avLst>
              <a:gd name="adj" fmla="val 4615"/>
            </a:avLst>
          </a:prstGeom>
          <a:solidFill>
            <a:srgbClr val="E2E8F4"/>
          </a:solidFill>
          <a:ln w="19050">
            <a:solidFill>
              <a:srgbClr val="B0B8CC"/>
            </a:solidFill>
            <a:prstDash val="dash"/>
          </a:ln>
        </p:spPr>
      </p:sp>
      <p:sp>
        <p:nvSpPr>
          <p:cNvPr id="6" name="Text 4"/>
          <p:cNvSpPr/>
          <p:nvPr/>
        </p:nvSpPr>
        <p:spPr>
          <a:xfrm>
            <a:off x="274320" y="749808"/>
            <a:ext cx="32918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24128"/>
            <a:ext cx="3017520" cy="201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the Four Corners region (Utah, Colorado, Arizona, New Mexico) with Mesa Verde marked. Shows desert canyon landscape.</a:t>
            </a:r>
            <a:endParaRPr lang="en-US" sz="1100" dirty="0"/>
          </a:p>
        </p:txBody>
      </p:sp>
      <p:sp>
        <p:nvSpPr>
          <p:cNvPr id="8" name="Shape 6"/>
          <p:cNvSpPr/>
          <p:nvPr/>
        </p:nvSpPr>
        <p:spPr>
          <a:xfrm>
            <a:off x="3730752" y="749808"/>
            <a:ext cx="5074920" cy="2377440"/>
          </a:xfrm>
          <a:prstGeom prst="roundRect">
            <a:avLst>
              <a:gd name="adj" fmla="val 4615"/>
            </a:avLst>
          </a:prstGeom>
          <a:solidFill>
            <a:srgbClr val="1A2D5A"/>
          </a:solidFill>
          <a:ln w="25400">
            <a:solidFill>
              <a:srgbClr val="D4943A"/>
            </a:solidFill>
            <a:prstDash val="solid"/>
          </a:ln>
        </p:spPr>
      </p:sp>
      <p:sp>
        <p:nvSpPr>
          <p:cNvPr id="9" name="Text 7"/>
          <p:cNvSpPr/>
          <p:nvPr/>
        </p:nvSpPr>
        <p:spPr>
          <a:xfrm>
            <a:off x="3867912" y="813816"/>
            <a:ext cx="480060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CLUE BOX  KEY FACTS</a:t>
            </a:r>
            <a:endParaRPr lang="en-US" sz="900" dirty="0"/>
          </a:p>
        </p:txBody>
      </p:sp>
      <p:sp>
        <p:nvSpPr>
          <p:cNvPr id="10" name="Text 8"/>
          <p:cNvSpPr/>
          <p:nvPr/>
        </p:nvSpPr>
        <p:spPr>
          <a:xfrm>
            <a:off x="3913632" y="1078992"/>
            <a:ext cx="4754880" cy="1956816"/>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50" dirty="0">
                <a:solidFill>
                  <a:srgbClr val="E8F4FF"/>
                </a:solidFill>
                <a:latin typeface="Calibri" pitchFamily="34" charset="0"/>
                <a:ea typeface="Calibri" pitchFamily="34" charset="-122"/>
                <a:cs typeface="Calibri" pitchFamily="34" charset="-120"/>
              </a:rPr>
              <a:t>Lived in the Four Corners region for more than 1,000 years.</a:t>
            </a:r>
            <a:endParaRPr lang="en-US" sz="1150" dirty="0"/>
          </a:p>
          <a:p>
            <a:pPr marL="342900" indent="-342900">
              <a:spcAft>
                <a:spcPts val="300"/>
              </a:spcAft>
              <a:buSzPct val="100000"/>
              <a:buFont typeface="+mj-lt"/>
              <a:buAutoNum type="arabicPeriod" startAt="1"/>
            </a:pPr>
            <a:r>
              <a:rPr lang="en-US" sz="1150" dirty="0">
                <a:solidFill>
                  <a:srgbClr val="E8F4FF"/>
                </a:solidFill>
                <a:latin typeface="Calibri" pitchFamily="34" charset="0"/>
                <a:ea typeface="Calibri" pitchFamily="34" charset="-122"/>
                <a:cs typeface="Calibri" pitchFamily="34" charset="-120"/>
              </a:rPr>
              <a:t>Ancestors of today's Pueblo peoples — including the Hopi and Zuni nations.</a:t>
            </a:r>
            <a:endParaRPr lang="en-US" sz="1150" dirty="0"/>
          </a:p>
          <a:p>
            <a:pPr marL="342900" indent="-342900">
              <a:spcAft>
                <a:spcPts val="300"/>
              </a:spcAft>
              <a:buSzPct val="100000"/>
              <a:buFont typeface="+mj-lt"/>
              <a:buAutoNum type="arabicPeriod" startAt="1"/>
            </a:pPr>
            <a:r>
              <a:rPr lang="en-US" sz="1150" dirty="0">
                <a:solidFill>
                  <a:srgbClr val="E8F4FF"/>
                </a:solidFill>
                <a:latin typeface="Calibri" pitchFamily="34" charset="0"/>
                <a:ea typeface="Calibri" pitchFamily="34" charset="-122"/>
                <a:cs typeface="Calibri" pitchFamily="34" charset="-120"/>
              </a:rPr>
              <a:t>"Anasazi" is a Navajo word; many descendants prefer "Ancestral Pueblo."</a:t>
            </a:r>
            <a:endParaRPr lang="en-US" sz="1150" dirty="0"/>
          </a:p>
          <a:p>
            <a:pPr marL="342900" indent="-342900">
              <a:spcAft>
                <a:spcPts val="300"/>
              </a:spcAft>
              <a:buSzPct val="100000"/>
              <a:buFont typeface="+mj-lt"/>
              <a:buAutoNum type="arabicPeriod" startAt="1"/>
            </a:pPr>
            <a:r>
              <a:rPr lang="en-US" sz="1150" dirty="0">
                <a:solidFill>
                  <a:srgbClr val="E8F4FF"/>
                </a:solidFill>
                <a:latin typeface="Calibri" pitchFamily="34" charset="0"/>
                <a:ea typeface="Calibri" pitchFamily="34" charset="-122"/>
                <a:cs typeface="Calibri" pitchFamily="34" charset="-120"/>
              </a:rPr>
              <a:t>Timeline: pit houses (dug into ground) → above-ground stone buildings → cliff dwellings.</a:t>
            </a:r>
            <a:endParaRPr lang="en-US" sz="1150" dirty="0"/>
          </a:p>
          <a:p>
            <a:pPr marL="342900" indent="-342900">
              <a:spcAft>
                <a:spcPts val="300"/>
              </a:spcAft>
              <a:buSzPct val="100000"/>
              <a:buFont typeface="+mj-lt"/>
              <a:buAutoNum type="arabicPeriod" startAt="1"/>
            </a:pPr>
            <a:r>
              <a:rPr lang="en-US" sz="1150" dirty="0">
                <a:solidFill>
                  <a:srgbClr val="E8F4FF"/>
                </a:solidFill>
                <a:latin typeface="Calibri" pitchFamily="34" charset="0"/>
                <a:ea typeface="Calibri" pitchFamily="34" charset="-122"/>
                <a:cs typeface="Calibri" pitchFamily="34" charset="-120"/>
              </a:rPr>
              <a:t>Cliff Palace at Mesa Verde: ~150 rooms, estimated 100 people.</a:t>
            </a:r>
            <a:endParaRPr lang="en-US" sz="1150" dirty="0"/>
          </a:p>
        </p:txBody>
      </p:sp>
      <p:sp>
        <p:nvSpPr>
          <p:cNvPr id="11" name="Shape 9"/>
          <p:cNvSpPr/>
          <p:nvPr/>
        </p:nvSpPr>
        <p:spPr>
          <a:xfrm>
            <a:off x="274320" y="3246120"/>
            <a:ext cx="4160520" cy="1371600"/>
          </a:xfrm>
          <a:prstGeom prst="roundRect">
            <a:avLst>
              <a:gd name="adj" fmla="val 8000"/>
            </a:avLst>
          </a:prstGeom>
          <a:solidFill>
            <a:srgbClr val="FFFFFF"/>
          </a:solidFill>
          <a:ln w="19050">
            <a:solidFill>
              <a:srgbClr val="1A8A7D"/>
            </a:solidFill>
            <a:prstDash val="solid"/>
          </a:ln>
        </p:spPr>
      </p:sp>
      <p:sp>
        <p:nvSpPr>
          <p:cNvPr id="12" name="Text 10"/>
          <p:cNvSpPr/>
          <p:nvPr/>
        </p:nvSpPr>
        <p:spPr>
          <a:xfrm>
            <a:off x="411480" y="3291840"/>
            <a:ext cx="3886200" cy="237744"/>
          </a:xfrm>
          <a:prstGeom prst="rect">
            <a:avLst/>
          </a:prstGeom>
          <a:noFill/>
          <a:ln/>
        </p:spPr>
        <p:txBody>
          <a:bodyPr wrap="square"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Four Corners Region</a:t>
            </a:r>
            <a:endParaRPr lang="en-US" sz="1000" dirty="0"/>
          </a:p>
        </p:txBody>
      </p:sp>
      <p:sp>
        <p:nvSpPr>
          <p:cNvPr id="13" name="Text 11"/>
          <p:cNvSpPr/>
          <p:nvPr/>
        </p:nvSpPr>
        <p:spPr>
          <a:xfrm>
            <a:off x="411480" y="3566160"/>
            <a:ext cx="3886200" cy="1005840"/>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Where Utah, Colorado, Arizona, and New Mexico meet — the only point in the U.S. where four states share a corner. This high desert region has deep canyons, flat-topped mesas, and dramatic cliff faces. The Ancestral Pueblo mastered this challenging environment for centuries.</a:t>
            </a:r>
            <a:endParaRPr lang="en-US" sz="1050" dirty="0"/>
          </a:p>
        </p:txBody>
      </p:sp>
      <p:sp>
        <p:nvSpPr>
          <p:cNvPr id="14" name="Shape 12"/>
          <p:cNvSpPr/>
          <p:nvPr/>
        </p:nvSpPr>
        <p:spPr>
          <a:xfrm>
            <a:off x="4617720" y="3246120"/>
            <a:ext cx="4206240" cy="1371600"/>
          </a:xfrm>
          <a:prstGeom prst="roundRect">
            <a:avLst>
              <a:gd name="adj" fmla="val 8000"/>
            </a:avLst>
          </a:prstGeom>
          <a:solidFill>
            <a:srgbClr val="FFFFFF"/>
          </a:solidFill>
          <a:ln w="19050">
            <a:solidFill>
              <a:srgbClr val="D4943A"/>
            </a:solidFill>
            <a:prstDash val="solid"/>
          </a:ln>
        </p:spPr>
      </p:sp>
      <p:sp>
        <p:nvSpPr>
          <p:cNvPr id="15" name="Text 13"/>
          <p:cNvSpPr/>
          <p:nvPr/>
        </p:nvSpPr>
        <p:spPr>
          <a:xfrm>
            <a:off x="4754880" y="3291840"/>
            <a:ext cx="3931920" cy="237744"/>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A Name That Matters</a:t>
            </a:r>
            <a:endParaRPr lang="en-US" sz="1000" dirty="0"/>
          </a:p>
        </p:txBody>
      </p:sp>
      <p:sp>
        <p:nvSpPr>
          <p:cNvPr id="16" name="Text 14"/>
          <p:cNvSpPr/>
          <p:nvPr/>
        </p:nvSpPr>
        <p:spPr>
          <a:xfrm>
            <a:off x="4754880" y="3566160"/>
            <a:ext cx="3931920" cy="1005840"/>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"Anasazi" comes from a Navajo word that many descendants consider disrespectful. "Ancestral Pueblo" is preferred because it connects the ancient builders to their living descendants — the Pueblo peoples of today. The words we choose when writing history matter.</a:t>
            </a:r>
            <a:endParaRPr lang="en-US" sz="1050" dirty="0"/>
          </a:p>
        </p:txBody>
      </p:sp>
      <p:sp>
        <p:nvSpPr>
          <p:cNvPr id="17" name="Shape 15"/>
          <p:cNvSpPr/>
          <p:nvPr/>
        </p:nvSpPr>
        <p:spPr>
          <a:xfrm>
            <a:off x="0" y="4754880"/>
            <a:ext cx="9144000" cy="388620"/>
          </a:xfrm>
          <a:prstGeom prst="rect">
            <a:avLst/>
          </a:prstGeom>
          <a:solidFill>
            <a:srgbClr val="1A2D5A"/>
          </a:solidFill>
          <a:ln/>
        </p:spPr>
      </p:sp>
      <p:sp>
        <p:nvSpPr>
          <p:cNvPr id="18" name="Text 16"/>
          <p:cNvSpPr/>
          <p:nvPr/>
        </p:nvSpPr>
        <p:spPr>
          <a:xfrm>
            <a:off x="274320" y="4791456"/>
            <a:ext cx="8595360" cy="256032"/>
          </a:xfrm>
          <a:prstGeom prst="rect">
            <a:avLst/>
          </a:prstGeom>
          <a:noFill/>
          <a:ln/>
        </p:spPr>
        <p:txBody>
          <a:bodyPr wrap="square" rtlCol="0" anchor="ctr"/>
          <a:lstStyle/>
          <a:p>
            <a:pPr algn="ctr" indent="0" marL="0">
              <a:buNone/>
            </a:pPr>
            <a:r>
              <a:rPr lang="en-US" sz="950" i="1" dirty="0">
                <a:solidFill>
                  <a:srgbClr val="55C8E8"/>
                </a:solidFill>
                <a:latin typeface="Calibri" pitchFamily="34" charset="0"/>
                <a:ea typeface="Calibri" pitchFamily="34" charset="-122"/>
                <a:cs typeface="Calibri" pitchFamily="34" charset="-120"/>
              </a:rPr>
              <a:t>They didn't just survive the desert — they built one of the most sophisticated civilizations in North America.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SOURCE DESK  ·  EXAMINE THE PHOTOGRAPH</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At the Source Desk: Study the Cliff Dwellings</a:t>
            </a:r>
            <a:endParaRPr lang="en-US" sz="2000" dirty="0"/>
          </a:p>
        </p:txBody>
      </p:sp>
      <p:sp>
        <p:nvSpPr>
          <p:cNvPr id="5" name="Shape 3"/>
          <p:cNvSpPr/>
          <p:nvPr/>
        </p:nvSpPr>
        <p:spPr>
          <a:xfrm>
            <a:off x="274320" y="749808"/>
            <a:ext cx="4937760" cy="3200400"/>
          </a:xfrm>
          <a:prstGeom prst="roundRect">
            <a:avLst>
              <a:gd name="adj" fmla="val 3429"/>
            </a:avLst>
          </a:prstGeom>
          <a:solidFill>
            <a:srgbClr val="E2E8F4"/>
          </a:solidFill>
          <a:ln w="19050">
            <a:solidFill>
              <a:srgbClr val="B0B8CC"/>
            </a:solidFill>
            <a:prstDash val="dash"/>
          </a:ln>
        </p:spPr>
      </p:sp>
      <p:sp>
        <p:nvSpPr>
          <p:cNvPr id="6" name="Text 4"/>
          <p:cNvSpPr/>
          <p:nvPr/>
        </p:nvSpPr>
        <p:spPr>
          <a:xfrm>
            <a:off x="274320" y="749808"/>
            <a:ext cx="49377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24128"/>
            <a:ext cx="466344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Ancestral Pueblo cliff dwellings at Mesa Verde or similar site — multi-story stone walls built into natural cliff alcoves, T-shaped doorways visible, kiva depressions, ladders. File: source-5-03-02-ancestral-pueblo-dwelling.jpg</a:t>
            </a:r>
            <a:endParaRPr lang="en-US" sz="1100" dirty="0"/>
          </a:p>
        </p:txBody>
      </p:sp>
      <p:sp>
        <p:nvSpPr>
          <p:cNvPr id="8" name="Shape 6"/>
          <p:cNvSpPr/>
          <p:nvPr/>
        </p:nvSpPr>
        <p:spPr>
          <a:xfrm>
            <a:off x="5349240" y="749808"/>
            <a:ext cx="3474720" cy="3200400"/>
          </a:xfrm>
          <a:prstGeom prst="roundRect">
            <a:avLst>
              <a:gd name="adj" fmla="val 3429"/>
            </a:avLst>
          </a:prstGeom>
          <a:solidFill>
            <a:srgbClr val="FFFFFF"/>
          </a:solidFill>
          <a:ln w="19050">
            <a:solidFill>
              <a:srgbClr val="0E1C42"/>
            </a:solidFill>
            <a:prstDash val="solid"/>
          </a:ln>
        </p:spPr>
      </p:sp>
      <p:sp>
        <p:nvSpPr>
          <p:cNvPr id="9" name="Text 7"/>
          <p:cNvSpPr/>
          <p:nvPr/>
        </p:nvSpPr>
        <p:spPr>
          <a:xfrm>
            <a:off x="5486400" y="804672"/>
            <a:ext cx="3200400" cy="256032"/>
          </a:xfrm>
          <a:prstGeom prst="rect">
            <a:avLst/>
          </a:prstGeom>
          <a:noFill/>
          <a:ln/>
        </p:spPr>
        <p:txBody>
          <a:bodyPr wrap="square" rtlCol="0" anchor="ctr"/>
          <a:lstStyle/>
          <a:p>
            <a:pPr indent="0" marL="0">
              <a:buNone/>
            </a:pPr>
            <a:r>
              <a:rPr lang="en-US" sz="1050" b="1" dirty="0">
                <a:solidFill>
                  <a:srgbClr val="0E1C42"/>
                </a:solidFill>
                <a:latin typeface="Calibri" pitchFamily="34" charset="0"/>
                <a:ea typeface="Calibri" pitchFamily="34" charset="-122"/>
                <a:cs typeface="Calibri" pitchFamily="34" charset="-120"/>
              </a:rPr>
              <a:t>What to Look For:</a:t>
            </a:r>
            <a:endParaRPr lang="en-US" sz="1050" dirty="0"/>
          </a:p>
        </p:txBody>
      </p:sp>
      <p:sp>
        <p:nvSpPr>
          <p:cNvPr id="10" name="Shape 8"/>
          <p:cNvSpPr/>
          <p:nvPr/>
        </p:nvSpPr>
        <p:spPr>
          <a:xfrm>
            <a:off x="5486400" y="1115568"/>
            <a:ext cx="3200400" cy="457200"/>
          </a:xfrm>
          <a:prstGeom prst="roundRect">
            <a:avLst>
              <a:gd name="adj" fmla="val 16000"/>
            </a:avLst>
          </a:prstGeom>
          <a:solidFill>
            <a:srgbClr val="F0F2F8"/>
          </a:solidFill>
          <a:ln w="9525">
            <a:solidFill>
              <a:srgbClr val="B0B8CC"/>
            </a:solidFill>
            <a:prstDash val="solid"/>
          </a:ln>
        </p:spPr>
      </p:sp>
      <p:sp>
        <p:nvSpPr>
          <p:cNvPr id="11" name="Text 9"/>
          <p:cNvSpPr/>
          <p:nvPr/>
        </p:nvSpPr>
        <p:spPr>
          <a:xfrm>
            <a:off x="5596128" y="1152144"/>
            <a:ext cx="2980944" cy="182880"/>
          </a:xfrm>
          <a:prstGeom prst="rect">
            <a:avLst/>
          </a:prstGeom>
          <a:noFill/>
          <a:ln/>
        </p:spPr>
        <p:txBody>
          <a:bodyPr wrap="square" lIns="0" tIns="0" rIns="0" bIns="0" rtlCol="0" anchor="ctr"/>
          <a:lstStyle/>
          <a:p>
            <a:pPr indent="0" marL="0">
              <a:buNone/>
            </a:pPr>
            <a:r>
              <a:rPr lang="en-US" sz="950" b="1" dirty="0">
                <a:solidFill>
                  <a:srgbClr val="1A8A7D"/>
                </a:solidFill>
                <a:latin typeface="Calibri" pitchFamily="34" charset="0"/>
                <a:ea typeface="Calibri" pitchFamily="34" charset="-122"/>
                <a:cs typeface="Calibri" pitchFamily="34" charset="-120"/>
              </a:rPr>
              <a:t>Building materials</a:t>
            </a:r>
            <a:endParaRPr lang="en-US" sz="950" dirty="0"/>
          </a:p>
        </p:txBody>
      </p:sp>
      <p:sp>
        <p:nvSpPr>
          <p:cNvPr id="12" name="Text 10"/>
          <p:cNvSpPr/>
          <p:nvPr/>
        </p:nvSpPr>
        <p:spPr>
          <a:xfrm>
            <a:off x="5596128" y="1316736"/>
            <a:ext cx="2980944" cy="201168"/>
          </a:xfrm>
          <a:prstGeom prst="rect">
            <a:avLst/>
          </a:prstGeom>
          <a:noFill/>
          <a:ln/>
        </p:spPr>
        <p:txBody>
          <a:bodyPr wrap="square" lIns="0" tIns="0" rIns="0" bIns="0" rtlCol="0" anchor="ctr"/>
          <a:lstStyle/>
          <a:p>
            <a:pPr indent="0" marL="0">
              <a:buNone/>
            </a:pPr>
            <a:r>
              <a:rPr lang="en-US" sz="950" dirty="0">
                <a:solidFill>
                  <a:srgbClr val="2A3A5A"/>
                </a:solidFill>
                <a:latin typeface="Calibri" pitchFamily="34" charset="0"/>
                <a:ea typeface="Calibri" pitchFamily="34" charset="-122"/>
                <a:cs typeface="Calibri" pitchFamily="34" charset="-120"/>
              </a:rPr>
              <a:t>Stone and mortar — cut and stacked precisely</a:t>
            </a:r>
            <a:endParaRPr lang="en-US" sz="950" dirty="0"/>
          </a:p>
        </p:txBody>
      </p:sp>
      <p:sp>
        <p:nvSpPr>
          <p:cNvPr id="13" name="Shape 11"/>
          <p:cNvSpPr/>
          <p:nvPr/>
        </p:nvSpPr>
        <p:spPr>
          <a:xfrm>
            <a:off x="5486400" y="1627632"/>
            <a:ext cx="3200400" cy="457200"/>
          </a:xfrm>
          <a:prstGeom prst="roundRect">
            <a:avLst>
              <a:gd name="adj" fmla="val 16000"/>
            </a:avLst>
          </a:prstGeom>
          <a:solidFill>
            <a:srgbClr val="F0F2F8"/>
          </a:solidFill>
          <a:ln w="9525">
            <a:solidFill>
              <a:srgbClr val="B0B8CC"/>
            </a:solidFill>
            <a:prstDash val="solid"/>
          </a:ln>
        </p:spPr>
      </p:sp>
      <p:sp>
        <p:nvSpPr>
          <p:cNvPr id="14" name="Text 12"/>
          <p:cNvSpPr/>
          <p:nvPr/>
        </p:nvSpPr>
        <p:spPr>
          <a:xfrm>
            <a:off x="5596128" y="1664208"/>
            <a:ext cx="2980944" cy="182880"/>
          </a:xfrm>
          <a:prstGeom prst="rect">
            <a:avLst/>
          </a:prstGeom>
          <a:noFill/>
          <a:ln/>
        </p:spPr>
        <p:txBody>
          <a:bodyPr wrap="square" lIns="0" tIns="0" rIns="0" bIns="0" rtlCol="0" anchor="ctr"/>
          <a:lstStyle/>
          <a:p>
            <a:pPr indent="0" marL="0">
              <a:buNone/>
            </a:pPr>
            <a:r>
              <a:rPr lang="en-US" sz="950" b="1" dirty="0">
                <a:solidFill>
                  <a:srgbClr val="1A8A7D"/>
                </a:solidFill>
                <a:latin typeface="Calibri" pitchFamily="34" charset="0"/>
                <a:ea typeface="Calibri" pitchFamily="34" charset="-122"/>
                <a:cs typeface="Calibri" pitchFamily="34" charset="-120"/>
              </a:rPr>
              <a:t>Location</a:t>
            </a:r>
            <a:endParaRPr lang="en-US" sz="950" dirty="0"/>
          </a:p>
        </p:txBody>
      </p:sp>
      <p:sp>
        <p:nvSpPr>
          <p:cNvPr id="15" name="Text 13"/>
          <p:cNvSpPr/>
          <p:nvPr/>
        </p:nvSpPr>
        <p:spPr>
          <a:xfrm>
            <a:off x="5596128" y="1828800"/>
            <a:ext cx="2980944" cy="201168"/>
          </a:xfrm>
          <a:prstGeom prst="rect">
            <a:avLst/>
          </a:prstGeom>
          <a:noFill/>
          <a:ln/>
        </p:spPr>
        <p:txBody>
          <a:bodyPr wrap="square" lIns="0" tIns="0" rIns="0" bIns="0" rtlCol="0" anchor="ctr"/>
          <a:lstStyle/>
          <a:p>
            <a:pPr indent="0" marL="0">
              <a:buNone/>
            </a:pPr>
            <a:r>
              <a:rPr lang="en-US" sz="950" dirty="0">
                <a:solidFill>
                  <a:srgbClr val="2A3A5A"/>
                </a:solidFill>
                <a:latin typeface="Calibri" pitchFamily="34" charset="0"/>
                <a:ea typeface="Calibri" pitchFamily="34" charset="-122"/>
                <a:cs typeface="Calibri" pitchFamily="34" charset="-120"/>
              </a:rPr>
              <a:t>Tucked into natural alcoves in the cliff face</a:t>
            </a:r>
            <a:endParaRPr lang="en-US" sz="950" dirty="0"/>
          </a:p>
        </p:txBody>
      </p:sp>
      <p:sp>
        <p:nvSpPr>
          <p:cNvPr id="16" name="Shape 14"/>
          <p:cNvSpPr/>
          <p:nvPr/>
        </p:nvSpPr>
        <p:spPr>
          <a:xfrm>
            <a:off x="5486400" y="2139696"/>
            <a:ext cx="3200400" cy="457200"/>
          </a:xfrm>
          <a:prstGeom prst="roundRect">
            <a:avLst>
              <a:gd name="adj" fmla="val 16000"/>
            </a:avLst>
          </a:prstGeom>
          <a:solidFill>
            <a:srgbClr val="F0F2F8"/>
          </a:solidFill>
          <a:ln w="9525">
            <a:solidFill>
              <a:srgbClr val="B0B8CC"/>
            </a:solidFill>
            <a:prstDash val="solid"/>
          </a:ln>
        </p:spPr>
      </p:sp>
      <p:sp>
        <p:nvSpPr>
          <p:cNvPr id="17" name="Text 15"/>
          <p:cNvSpPr/>
          <p:nvPr/>
        </p:nvSpPr>
        <p:spPr>
          <a:xfrm>
            <a:off x="5596128" y="2176272"/>
            <a:ext cx="2980944" cy="182880"/>
          </a:xfrm>
          <a:prstGeom prst="rect">
            <a:avLst/>
          </a:prstGeom>
          <a:noFill/>
          <a:ln/>
        </p:spPr>
        <p:txBody>
          <a:bodyPr wrap="square" lIns="0" tIns="0" rIns="0" bIns="0" rtlCol="0" anchor="ctr"/>
          <a:lstStyle/>
          <a:p>
            <a:pPr indent="0" marL="0">
              <a:buNone/>
            </a:pPr>
            <a:r>
              <a:rPr lang="en-US" sz="950" b="1" dirty="0">
                <a:solidFill>
                  <a:srgbClr val="1A8A7D"/>
                </a:solidFill>
                <a:latin typeface="Calibri" pitchFamily="34" charset="0"/>
                <a:ea typeface="Calibri" pitchFamily="34" charset="-122"/>
                <a:cs typeface="Calibri" pitchFamily="34" charset="-120"/>
              </a:rPr>
              <a:t>Room arrangement</a:t>
            </a:r>
            <a:endParaRPr lang="en-US" sz="950" dirty="0"/>
          </a:p>
        </p:txBody>
      </p:sp>
      <p:sp>
        <p:nvSpPr>
          <p:cNvPr id="18" name="Text 16"/>
          <p:cNvSpPr/>
          <p:nvPr/>
        </p:nvSpPr>
        <p:spPr>
          <a:xfrm>
            <a:off x="5596128" y="2340864"/>
            <a:ext cx="2980944" cy="201168"/>
          </a:xfrm>
          <a:prstGeom prst="rect">
            <a:avLst/>
          </a:prstGeom>
          <a:noFill/>
          <a:ln/>
        </p:spPr>
        <p:txBody>
          <a:bodyPr wrap="square" lIns="0" tIns="0" rIns="0" bIns="0" rtlCol="0" anchor="ctr"/>
          <a:lstStyle/>
          <a:p>
            <a:pPr indent="0" marL="0">
              <a:buNone/>
            </a:pPr>
            <a:r>
              <a:rPr lang="en-US" sz="950" dirty="0">
                <a:solidFill>
                  <a:srgbClr val="2A3A5A"/>
                </a:solidFill>
                <a:latin typeface="Calibri" pitchFamily="34" charset="0"/>
                <a:ea typeface="Calibri" pitchFamily="34" charset="-122"/>
                <a:cs typeface="Calibri" pitchFamily="34" charset="-120"/>
              </a:rPr>
              <a:t>Multiple stories; rooms of different sizes</a:t>
            </a:r>
            <a:endParaRPr lang="en-US" sz="950" dirty="0"/>
          </a:p>
        </p:txBody>
      </p:sp>
      <p:sp>
        <p:nvSpPr>
          <p:cNvPr id="19" name="Shape 17"/>
          <p:cNvSpPr/>
          <p:nvPr/>
        </p:nvSpPr>
        <p:spPr>
          <a:xfrm>
            <a:off x="5486400" y="2651760"/>
            <a:ext cx="3200400" cy="457200"/>
          </a:xfrm>
          <a:prstGeom prst="roundRect">
            <a:avLst>
              <a:gd name="adj" fmla="val 16000"/>
            </a:avLst>
          </a:prstGeom>
          <a:solidFill>
            <a:srgbClr val="F0F2F8"/>
          </a:solidFill>
          <a:ln w="9525">
            <a:solidFill>
              <a:srgbClr val="B0B8CC"/>
            </a:solidFill>
            <a:prstDash val="solid"/>
          </a:ln>
        </p:spPr>
      </p:sp>
      <p:sp>
        <p:nvSpPr>
          <p:cNvPr id="20" name="Text 18"/>
          <p:cNvSpPr/>
          <p:nvPr/>
        </p:nvSpPr>
        <p:spPr>
          <a:xfrm>
            <a:off x="5596128" y="2688336"/>
            <a:ext cx="2980944" cy="182880"/>
          </a:xfrm>
          <a:prstGeom prst="rect">
            <a:avLst/>
          </a:prstGeom>
          <a:noFill/>
          <a:ln/>
        </p:spPr>
        <p:txBody>
          <a:bodyPr wrap="square" lIns="0" tIns="0" rIns="0" bIns="0" rtlCol="0" anchor="ctr"/>
          <a:lstStyle/>
          <a:p>
            <a:pPr indent="0" marL="0">
              <a:buNone/>
            </a:pPr>
            <a:r>
              <a:rPr lang="en-US" sz="950" b="1" dirty="0">
                <a:solidFill>
                  <a:srgbClr val="1A8A7D"/>
                </a:solidFill>
                <a:latin typeface="Calibri" pitchFamily="34" charset="0"/>
                <a:ea typeface="Calibri" pitchFamily="34" charset="-122"/>
                <a:cs typeface="Calibri" pitchFamily="34" charset="-120"/>
              </a:rPr>
              <a:t>Special features</a:t>
            </a:r>
            <a:endParaRPr lang="en-US" sz="950" dirty="0"/>
          </a:p>
        </p:txBody>
      </p:sp>
      <p:sp>
        <p:nvSpPr>
          <p:cNvPr id="21" name="Text 19"/>
          <p:cNvSpPr/>
          <p:nvPr/>
        </p:nvSpPr>
        <p:spPr>
          <a:xfrm>
            <a:off x="5596128" y="2852928"/>
            <a:ext cx="2980944" cy="201168"/>
          </a:xfrm>
          <a:prstGeom prst="rect">
            <a:avLst/>
          </a:prstGeom>
          <a:noFill/>
          <a:ln/>
        </p:spPr>
        <p:txBody>
          <a:bodyPr wrap="square" lIns="0" tIns="0" rIns="0" bIns="0" rtlCol="0" anchor="ctr"/>
          <a:lstStyle/>
          <a:p>
            <a:pPr indent="0" marL="0">
              <a:buNone/>
            </a:pPr>
            <a:r>
              <a:rPr lang="en-US" sz="950" dirty="0">
                <a:solidFill>
                  <a:srgbClr val="2A3A5A"/>
                </a:solidFill>
                <a:latin typeface="Calibri" pitchFamily="34" charset="0"/>
                <a:ea typeface="Calibri" pitchFamily="34" charset="-122"/>
                <a:cs typeface="Calibri" pitchFamily="34" charset="-120"/>
              </a:rPr>
              <a:t>T-shaped doorways; circular kiva rooms</a:t>
            </a:r>
            <a:endParaRPr lang="en-US" sz="950" dirty="0"/>
          </a:p>
        </p:txBody>
      </p:sp>
      <p:sp>
        <p:nvSpPr>
          <p:cNvPr id="22" name="Shape 20"/>
          <p:cNvSpPr/>
          <p:nvPr/>
        </p:nvSpPr>
        <p:spPr>
          <a:xfrm>
            <a:off x="5486400" y="3163824"/>
            <a:ext cx="3200400" cy="457200"/>
          </a:xfrm>
          <a:prstGeom prst="roundRect">
            <a:avLst>
              <a:gd name="adj" fmla="val 16000"/>
            </a:avLst>
          </a:prstGeom>
          <a:solidFill>
            <a:srgbClr val="F0F2F8"/>
          </a:solidFill>
          <a:ln w="9525">
            <a:solidFill>
              <a:srgbClr val="B0B8CC"/>
            </a:solidFill>
            <a:prstDash val="solid"/>
          </a:ln>
        </p:spPr>
      </p:sp>
      <p:sp>
        <p:nvSpPr>
          <p:cNvPr id="23" name="Text 21"/>
          <p:cNvSpPr/>
          <p:nvPr/>
        </p:nvSpPr>
        <p:spPr>
          <a:xfrm>
            <a:off x="5596128" y="3200400"/>
            <a:ext cx="2980944" cy="182880"/>
          </a:xfrm>
          <a:prstGeom prst="rect">
            <a:avLst/>
          </a:prstGeom>
          <a:noFill/>
          <a:ln/>
        </p:spPr>
        <p:txBody>
          <a:bodyPr wrap="square" lIns="0" tIns="0" rIns="0" bIns="0" rtlCol="0" anchor="ctr"/>
          <a:lstStyle/>
          <a:p>
            <a:pPr indent="0" marL="0">
              <a:buNone/>
            </a:pPr>
            <a:r>
              <a:rPr lang="en-US" sz="950" b="1" dirty="0">
                <a:solidFill>
                  <a:srgbClr val="1A8A7D"/>
                </a:solidFill>
                <a:latin typeface="Calibri" pitchFamily="34" charset="0"/>
                <a:ea typeface="Calibri" pitchFamily="34" charset="-122"/>
                <a:cs typeface="Calibri" pitchFamily="34" charset="-120"/>
              </a:rPr>
              <a:t>Surroundings</a:t>
            </a:r>
            <a:endParaRPr lang="en-US" sz="950" dirty="0"/>
          </a:p>
        </p:txBody>
      </p:sp>
      <p:sp>
        <p:nvSpPr>
          <p:cNvPr id="24" name="Text 22"/>
          <p:cNvSpPr/>
          <p:nvPr/>
        </p:nvSpPr>
        <p:spPr>
          <a:xfrm>
            <a:off x="5596128" y="3364992"/>
            <a:ext cx="2980944" cy="201168"/>
          </a:xfrm>
          <a:prstGeom prst="rect">
            <a:avLst/>
          </a:prstGeom>
          <a:noFill/>
          <a:ln/>
        </p:spPr>
        <p:txBody>
          <a:bodyPr wrap="square" lIns="0" tIns="0" rIns="0" bIns="0" rtlCol="0" anchor="ctr"/>
          <a:lstStyle/>
          <a:p>
            <a:pPr indent="0" marL="0">
              <a:buNone/>
            </a:pPr>
            <a:r>
              <a:rPr lang="en-US" sz="950" dirty="0">
                <a:solidFill>
                  <a:srgbClr val="2A3A5A"/>
                </a:solidFill>
                <a:latin typeface="Calibri" pitchFamily="34" charset="0"/>
                <a:ea typeface="Calibri" pitchFamily="34" charset="-122"/>
                <a:cs typeface="Calibri" pitchFamily="34" charset="-120"/>
              </a:rPr>
              <a:t>Mesa top above; canyon floor below</a:t>
            </a:r>
            <a:endParaRPr lang="en-US" sz="950" dirty="0"/>
          </a:p>
        </p:txBody>
      </p:sp>
      <p:sp>
        <p:nvSpPr>
          <p:cNvPr id="25" name="Shape 23"/>
          <p:cNvSpPr/>
          <p:nvPr/>
        </p:nvSpPr>
        <p:spPr>
          <a:xfrm>
            <a:off x="274320" y="4041648"/>
            <a:ext cx="8549640" cy="566928"/>
          </a:xfrm>
          <a:prstGeom prst="roundRect">
            <a:avLst>
              <a:gd name="adj" fmla="val 16129"/>
            </a:avLst>
          </a:prstGeom>
          <a:solidFill>
            <a:srgbClr val="1A2D5A"/>
          </a:solidFill>
          <a:ln w="12700">
            <a:solidFill>
              <a:srgbClr val="55C8E8"/>
            </a:solidFill>
            <a:prstDash val="solid"/>
          </a:ln>
        </p:spPr>
      </p:sp>
      <p:sp>
        <p:nvSpPr>
          <p:cNvPr id="26" name="Text 24"/>
          <p:cNvSpPr/>
          <p:nvPr/>
        </p:nvSpPr>
        <p:spPr>
          <a:xfrm>
            <a:off x="457200" y="4078224"/>
            <a:ext cx="8229600" cy="457200"/>
          </a:xfrm>
          <a:prstGeom prst="rect">
            <a:avLst/>
          </a:prstGeom>
          <a:noFill/>
          <a:ln/>
        </p:spPr>
        <p:txBody>
          <a:bodyPr wrap="square" rtlCol="0" anchor="ctr"/>
          <a:lstStyle/>
          <a:p>
            <a:pPr indent="0" marL="0">
              <a:buNone/>
            </a:pPr>
            <a:r>
              <a:rPr lang="en-US" sz="1250" i="1" dirty="0">
                <a:solidFill>
                  <a:srgbClr val="55C8E8"/>
                </a:solidFill>
                <a:latin typeface="Cambria" pitchFamily="34" charset="0"/>
                <a:ea typeface="Cambria" pitchFamily="34" charset="-122"/>
                <a:cs typeface="Cambria" pitchFamily="34" charset="-120"/>
              </a:rPr>
              <a:t>Editor's Question: What choices did the builders make — and what do those choices tell us about their priorities?</a:t>
            </a:r>
            <a:endParaRPr lang="en-US" sz="1250" dirty="0"/>
          </a:p>
        </p:txBody>
      </p:sp>
      <p:sp>
        <p:nvSpPr>
          <p:cNvPr id="27" name="Shape 25"/>
          <p:cNvSpPr/>
          <p:nvPr/>
        </p:nvSpPr>
        <p:spPr>
          <a:xfrm>
            <a:off x="0" y="4754880"/>
            <a:ext cx="9144000" cy="388620"/>
          </a:xfrm>
          <a:prstGeom prst="rect">
            <a:avLst/>
          </a:prstGeom>
          <a:solidFill>
            <a:srgbClr val="1A2D5A"/>
          </a:solidFill>
          <a:ln/>
        </p:spPr>
      </p:sp>
      <p:sp>
        <p:nvSpPr>
          <p:cNvPr id="28" name="Text 26"/>
          <p:cNvSpPr/>
          <p:nvPr/>
        </p:nvSpPr>
        <p:spPr>
          <a:xfrm>
            <a:off x="274320" y="4791456"/>
            <a:ext cx="8595360" cy="256032"/>
          </a:xfrm>
          <a:prstGeom prst="rect">
            <a:avLst/>
          </a:prstGeom>
          <a:noFill/>
          <a:ln/>
        </p:spPr>
        <p:txBody>
          <a:bodyPr wrap="square" rtlCol="0" anchor="ctr"/>
          <a:lstStyle/>
          <a:p>
            <a:pPr algn="ctr" indent="0" marL="0">
              <a:buNone/>
            </a:pPr>
            <a:r>
              <a:rPr lang="en-US" sz="950" b="1" dirty="0">
                <a:solidFill>
                  <a:srgbClr val="D4943A"/>
                </a:solidFill>
                <a:latin typeface="Calibri" pitchFamily="34" charset="0"/>
                <a:ea typeface="Calibri" pitchFamily="34" charset="-122"/>
                <a:cs typeface="Calibri" pitchFamily="34" charset="-120"/>
              </a:rPr>
              <a:t>Take 60 seconds: write TWO things you can directly observe. (This will answer your first notebook question.)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SOURCE DESK  ·  OBSERVATION VS. INFERENCE</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Separating Observation from Inference</a:t>
            </a:r>
            <a:endParaRPr lang="en-US" sz="2000" dirty="0"/>
          </a:p>
        </p:txBody>
      </p:sp>
      <p:sp>
        <p:nvSpPr>
          <p:cNvPr id="5" name="Shape 3"/>
          <p:cNvSpPr/>
          <p:nvPr/>
        </p:nvSpPr>
        <p:spPr>
          <a:xfrm>
            <a:off x="274320" y="749808"/>
            <a:ext cx="4023360" cy="3401568"/>
          </a:xfrm>
          <a:prstGeom prst="roundRect">
            <a:avLst>
              <a:gd name="adj" fmla="val 3763"/>
            </a:avLst>
          </a:prstGeom>
          <a:solidFill>
            <a:srgbClr val="FFFFFF"/>
          </a:solidFill>
          <a:ln w="31750">
            <a:solidFill>
              <a:srgbClr val="1A8A7D"/>
            </a:solidFill>
            <a:prstDash val="solid"/>
          </a:ln>
        </p:spPr>
      </p:sp>
      <p:sp>
        <p:nvSpPr>
          <p:cNvPr id="6" name="Shape 4"/>
          <p:cNvSpPr/>
          <p:nvPr/>
        </p:nvSpPr>
        <p:spPr>
          <a:xfrm>
            <a:off x="274320" y="749808"/>
            <a:ext cx="4023360" cy="347472"/>
          </a:xfrm>
          <a:prstGeom prst="roundRect">
            <a:avLst>
              <a:gd name="adj" fmla="val 36842"/>
            </a:avLst>
          </a:prstGeom>
          <a:solidFill>
            <a:srgbClr val="1A8A7D"/>
          </a:solidFill>
          <a:ln/>
        </p:spPr>
      </p:sp>
      <p:sp>
        <p:nvSpPr>
          <p:cNvPr id="7" name="Text 5"/>
          <p:cNvSpPr/>
          <p:nvPr/>
        </p:nvSpPr>
        <p:spPr>
          <a:xfrm>
            <a:off x="365760" y="777240"/>
            <a:ext cx="3840480" cy="292608"/>
          </a:xfrm>
          <a:prstGeom prst="rect">
            <a:avLst/>
          </a:prstGeom>
          <a:noFill/>
          <a:ln/>
        </p:spPr>
        <p:txBody>
          <a:bodyPr wrap="square" lIns="0" tIns="0" rIns="0" bIns="0" rtlCol="0" anchor="ctr"/>
          <a:lstStyle/>
          <a:p>
            <a:pPr indent="0" marL="0">
              <a:buNone/>
            </a:pPr>
            <a:r>
              <a:rPr lang="en-US" sz="1050" b="1" spc="80" kern="0" dirty="0">
                <a:solidFill>
                  <a:srgbClr val="FFFFFF"/>
                </a:solidFill>
                <a:latin typeface="Calibri" pitchFamily="34" charset="0"/>
                <a:ea typeface="Calibri" pitchFamily="34" charset="-122"/>
                <a:cs typeface="Calibri" pitchFamily="34" charset="-120"/>
              </a:rPr>
              <a:t>OBSERVATION  —  Direct Evidence</a:t>
            </a:r>
            <a:endParaRPr lang="en-US" sz="1050" dirty="0"/>
          </a:p>
        </p:txBody>
      </p:sp>
      <p:sp>
        <p:nvSpPr>
          <p:cNvPr id="8" name="Text 6"/>
          <p:cNvSpPr/>
          <p:nvPr/>
        </p:nvSpPr>
        <p:spPr>
          <a:xfrm>
            <a:off x="411480" y="1170432"/>
            <a:ext cx="3749040" cy="329184"/>
          </a:xfrm>
          <a:prstGeom prst="rect">
            <a:avLst/>
          </a:prstGeom>
          <a:noFill/>
          <a:ln/>
        </p:spPr>
        <p:txBody>
          <a:bodyPr wrap="square"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Things you can see directly in the photograph or read in the historical record.</a:t>
            </a:r>
            <a:endParaRPr lang="en-US" sz="1000" dirty="0"/>
          </a:p>
        </p:txBody>
      </p:sp>
      <p:sp>
        <p:nvSpPr>
          <p:cNvPr id="9" name="Shape 7"/>
          <p:cNvSpPr/>
          <p:nvPr/>
        </p:nvSpPr>
        <p:spPr>
          <a:xfrm>
            <a:off x="411480" y="1572768"/>
            <a:ext cx="164592" cy="164592"/>
          </a:xfrm>
          <a:prstGeom prst="ellipse">
            <a:avLst/>
          </a:prstGeom>
          <a:solidFill>
            <a:srgbClr val="1A8A7D"/>
          </a:solidFill>
          <a:ln/>
        </p:spPr>
      </p:sp>
      <p:sp>
        <p:nvSpPr>
          <p:cNvPr id="10" name="Text 8"/>
          <p:cNvSpPr/>
          <p:nvPr/>
        </p:nvSpPr>
        <p:spPr>
          <a:xfrm>
            <a:off x="658368" y="1554480"/>
            <a:ext cx="347472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Multi-story stone walls built into natural cliff alcoves</a:t>
            </a:r>
            <a:endParaRPr lang="en-US" sz="1100" dirty="0"/>
          </a:p>
        </p:txBody>
      </p:sp>
      <p:sp>
        <p:nvSpPr>
          <p:cNvPr id="11" name="Shape 9"/>
          <p:cNvSpPr/>
          <p:nvPr/>
        </p:nvSpPr>
        <p:spPr>
          <a:xfrm>
            <a:off x="411480" y="2048256"/>
            <a:ext cx="164592" cy="164592"/>
          </a:xfrm>
          <a:prstGeom prst="ellipse">
            <a:avLst/>
          </a:prstGeom>
          <a:solidFill>
            <a:srgbClr val="1A8A7D"/>
          </a:solidFill>
          <a:ln/>
        </p:spPr>
      </p:sp>
      <p:sp>
        <p:nvSpPr>
          <p:cNvPr id="12" name="Text 10"/>
          <p:cNvSpPr/>
          <p:nvPr/>
        </p:nvSpPr>
        <p:spPr>
          <a:xfrm>
            <a:off x="658368" y="2029968"/>
            <a:ext cx="347472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Rooms of different sizes suggesting different uses</a:t>
            </a:r>
            <a:endParaRPr lang="en-US" sz="1100" dirty="0"/>
          </a:p>
        </p:txBody>
      </p:sp>
      <p:sp>
        <p:nvSpPr>
          <p:cNvPr id="13" name="Shape 11"/>
          <p:cNvSpPr/>
          <p:nvPr/>
        </p:nvSpPr>
        <p:spPr>
          <a:xfrm>
            <a:off x="411480" y="2523744"/>
            <a:ext cx="164592" cy="164592"/>
          </a:xfrm>
          <a:prstGeom prst="ellipse">
            <a:avLst/>
          </a:prstGeom>
          <a:solidFill>
            <a:srgbClr val="1A8A7D"/>
          </a:solidFill>
          <a:ln/>
        </p:spPr>
      </p:sp>
      <p:sp>
        <p:nvSpPr>
          <p:cNvPr id="14" name="Text 12"/>
          <p:cNvSpPr/>
          <p:nvPr/>
        </p:nvSpPr>
        <p:spPr>
          <a:xfrm>
            <a:off x="658368" y="2505456"/>
            <a:ext cx="347472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T-shaped doorways in the stone walls</a:t>
            </a:r>
            <a:endParaRPr lang="en-US" sz="1100" dirty="0"/>
          </a:p>
        </p:txBody>
      </p:sp>
      <p:sp>
        <p:nvSpPr>
          <p:cNvPr id="15" name="Shape 13"/>
          <p:cNvSpPr/>
          <p:nvPr/>
        </p:nvSpPr>
        <p:spPr>
          <a:xfrm>
            <a:off x="411480" y="2999232"/>
            <a:ext cx="164592" cy="164592"/>
          </a:xfrm>
          <a:prstGeom prst="ellipse">
            <a:avLst/>
          </a:prstGeom>
          <a:solidFill>
            <a:srgbClr val="1A8A7D"/>
          </a:solidFill>
          <a:ln/>
        </p:spPr>
      </p:sp>
      <p:sp>
        <p:nvSpPr>
          <p:cNvPr id="16" name="Text 14"/>
          <p:cNvSpPr/>
          <p:nvPr/>
        </p:nvSpPr>
        <p:spPr>
          <a:xfrm>
            <a:off x="658368" y="2980944"/>
            <a:ext cx="347472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Circular kiva rooms (underground/semi-underground)</a:t>
            </a:r>
            <a:endParaRPr lang="en-US" sz="1100" dirty="0"/>
          </a:p>
        </p:txBody>
      </p:sp>
      <p:sp>
        <p:nvSpPr>
          <p:cNvPr id="17" name="Shape 15"/>
          <p:cNvSpPr/>
          <p:nvPr/>
        </p:nvSpPr>
        <p:spPr>
          <a:xfrm>
            <a:off x="4846320" y="749808"/>
            <a:ext cx="3977640" cy="3401568"/>
          </a:xfrm>
          <a:prstGeom prst="roundRect">
            <a:avLst>
              <a:gd name="adj" fmla="val 3763"/>
            </a:avLst>
          </a:prstGeom>
          <a:solidFill>
            <a:srgbClr val="FFFFFF"/>
          </a:solidFill>
          <a:ln w="31750">
            <a:solidFill>
              <a:srgbClr val="8B6FC0"/>
            </a:solidFill>
            <a:prstDash val="solid"/>
          </a:ln>
        </p:spPr>
      </p:sp>
      <p:sp>
        <p:nvSpPr>
          <p:cNvPr id="18" name="Shape 16"/>
          <p:cNvSpPr/>
          <p:nvPr/>
        </p:nvSpPr>
        <p:spPr>
          <a:xfrm>
            <a:off x="4846320" y="749808"/>
            <a:ext cx="3977640" cy="347472"/>
          </a:xfrm>
          <a:prstGeom prst="roundRect">
            <a:avLst>
              <a:gd name="adj" fmla="val 36842"/>
            </a:avLst>
          </a:prstGeom>
          <a:solidFill>
            <a:srgbClr val="8B6FC0"/>
          </a:solidFill>
          <a:ln/>
        </p:spPr>
      </p:sp>
      <p:sp>
        <p:nvSpPr>
          <p:cNvPr id="19" name="Text 17"/>
          <p:cNvSpPr/>
          <p:nvPr/>
        </p:nvSpPr>
        <p:spPr>
          <a:xfrm>
            <a:off x="4937760" y="777240"/>
            <a:ext cx="3794760" cy="292608"/>
          </a:xfrm>
          <a:prstGeom prst="rect">
            <a:avLst/>
          </a:prstGeom>
          <a:noFill/>
          <a:ln/>
        </p:spPr>
        <p:txBody>
          <a:bodyPr wrap="square" lIns="0" tIns="0" rIns="0" bIns="0" rtlCol="0" anchor="ctr"/>
          <a:lstStyle/>
          <a:p>
            <a:pPr indent="0" marL="0">
              <a:buNone/>
            </a:pPr>
            <a:r>
              <a:rPr lang="en-US" sz="1050" b="1" spc="80" kern="0" dirty="0">
                <a:solidFill>
                  <a:srgbClr val="FFFFFF"/>
                </a:solidFill>
                <a:latin typeface="Calibri" pitchFamily="34" charset="0"/>
                <a:ea typeface="Calibri" pitchFamily="34" charset="-122"/>
                <a:cs typeface="Calibri" pitchFamily="34" charset="-120"/>
              </a:rPr>
              <a:t>INFERENCE  —  Reasoned Conclusion</a:t>
            </a:r>
            <a:endParaRPr lang="en-US" sz="1050" dirty="0"/>
          </a:p>
        </p:txBody>
      </p:sp>
      <p:sp>
        <p:nvSpPr>
          <p:cNvPr id="20" name="Text 18"/>
          <p:cNvSpPr/>
          <p:nvPr/>
        </p:nvSpPr>
        <p:spPr>
          <a:xfrm>
            <a:off x="4983480" y="1170432"/>
            <a:ext cx="3657600" cy="329184"/>
          </a:xfrm>
          <a:prstGeom prst="rect">
            <a:avLst/>
          </a:prstGeom>
          <a:noFill/>
          <a:ln/>
        </p:spPr>
        <p:txBody>
          <a:bodyPr wrap="square" rtlCol="0" anchor="ctr"/>
          <a:lstStyle/>
          <a:p>
            <a:pPr indent="0" marL="0">
              <a:buNone/>
            </a:pPr>
            <a:r>
              <a:rPr lang="en-US" sz="1000" i="1" dirty="0">
                <a:solidFill>
                  <a:srgbClr val="8B6FC0"/>
                </a:solidFill>
                <a:latin typeface="Calibri" pitchFamily="34" charset="0"/>
                <a:ea typeface="Calibri" pitchFamily="34" charset="-122"/>
                <a:cs typeface="Calibri" pitchFamily="34" charset="-120"/>
              </a:rPr>
              <a:t>Things you figure out by connecting evidence to what you know about people.</a:t>
            </a:r>
            <a:endParaRPr lang="en-US" sz="1000" dirty="0"/>
          </a:p>
        </p:txBody>
      </p:sp>
      <p:sp>
        <p:nvSpPr>
          <p:cNvPr id="21" name="Shape 19"/>
          <p:cNvSpPr/>
          <p:nvPr/>
        </p:nvSpPr>
        <p:spPr>
          <a:xfrm>
            <a:off x="4983480" y="1572768"/>
            <a:ext cx="164592" cy="164592"/>
          </a:xfrm>
          <a:prstGeom prst="ellipse">
            <a:avLst/>
          </a:prstGeom>
          <a:solidFill>
            <a:srgbClr val="8B6FC0"/>
          </a:solidFill>
          <a:ln/>
        </p:spPr>
      </p:sp>
      <p:sp>
        <p:nvSpPr>
          <p:cNvPr id="22" name="Text 20"/>
          <p:cNvSpPr/>
          <p:nvPr/>
        </p:nvSpPr>
        <p:spPr>
          <a:xfrm>
            <a:off x="5230368" y="1554480"/>
            <a:ext cx="342900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Different room sizes suggest living rooms vs. storage</a:t>
            </a:r>
            <a:endParaRPr lang="en-US" sz="1100" dirty="0"/>
          </a:p>
        </p:txBody>
      </p:sp>
      <p:sp>
        <p:nvSpPr>
          <p:cNvPr id="23" name="Shape 21"/>
          <p:cNvSpPr/>
          <p:nvPr/>
        </p:nvSpPr>
        <p:spPr>
          <a:xfrm>
            <a:off x="4983480" y="2048256"/>
            <a:ext cx="164592" cy="164592"/>
          </a:xfrm>
          <a:prstGeom prst="ellipse">
            <a:avLst/>
          </a:prstGeom>
          <a:solidFill>
            <a:srgbClr val="8B6FC0"/>
          </a:solidFill>
          <a:ln/>
        </p:spPr>
      </p:sp>
      <p:sp>
        <p:nvSpPr>
          <p:cNvPr id="24" name="Text 22"/>
          <p:cNvSpPr/>
          <p:nvPr/>
        </p:nvSpPr>
        <p:spPr>
          <a:xfrm>
            <a:off x="5230368" y="2029968"/>
            <a:ext cx="342900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Kivas suggest shared spiritual or community practices</a:t>
            </a:r>
            <a:endParaRPr lang="en-US" sz="1100" dirty="0"/>
          </a:p>
        </p:txBody>
      </p:sp>
      <p:sp>
        <p:nvSpPr>
          <p:cNvPr id="25" name="Shape 23"/>
          <p:cNvSpPr/>
          <p:nvPr/>
        </p:nvSpPr>
        <p:spPr>
          <a:xfrm>
            <a:off x="4983480" y="2523744"/>
            <a:ext cx="164592" cy="164592"/>
          </a:xfrm>
          <a:prstGeom prst="ellipse">
            <a:avLst/>
          </a:prstGeom>
          <a:solidFill>
            <a:srgbClr val="8B6FC0"/>
          </a:solidFill>
          <a:ln/>
        </p:spPr>
      </p:sp>
      <p:sp>
        <p:nvSpPr>
          <p:cNvPr id="26" name="Text 24"/>
          <p:cNvSpPr/>
          <p:nvPr/>
        </p:nvSpPr>
        <p:spPr>
          <a:xfrm>
            <a:off x="5230368" y="2505456"/>
            <a:ext cx="342900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Cliff location suggests concern for protection and climate</a:t>
            </a:r>
            <a:endParaRPr lang="en-US" sz="1100" dirty="0"/>
          </a:p>
        </p:txBody>
      </p:sp>
      <p:sp>
        <p:nvSpPr>
          <p:cNvPr id="27" name="Shape 25"/>
          <p:cNvSpPr/>
          <p:nvPr/>
        </p:nvSpPr>
        <p:spPr>
          <a:xfrm>
            <a:off x="4983480" y="2999232"/>
            <a:ext cx="164592" cy="164592"/>
          </a:xfrm>
          <a:prstGeom prst="ellipse">
            <a:avLst/>
          </a:prstGeom>
          <a:solidFill>
            <a:srgbClr val="8B6FC0"/>
          </a:solidFill>
          <a:ln/>
        </p:spPr>
      </p:sp>
      <p:sp>
        <p:nvSpPr>
          <p:cNvPr id="28" name="Text 26"/>
          <p:cNvSpPr/>
          <p:nvPr/>
        </p:nvSpPr>
        <p:spPr>
          <a:xfrm>
            <a:off x="5230368" y="2980944"/>
            <a:ext cx="3429000" cy="34747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Mesa farming above shows planning and cooperation</a:t>
            </a:r>
            <a:endParaRPr lang="en-US" sz="1100" dirty="0"/>
          </a:p>
        </p:txBody>
      </p:sp>
      <p:sp>
        <p:nvSpPr>
          <p:cNvPr id="29" name="Shape 27"/>
          <p:cNvSpPr/>
          <p:nvPr/>
        </p:nvSpPr>
        <p:spPr>
          <a:xfrm>
            <a:off x="4160520" y="1920240"/>
            <a:ext cx="548640" cy="457200"/>
          </a:xfrm>
          <a:prstGeom prst="leftRightArrow">
            <a:avLst/>
          </a:prstGeom>
          <a:solidFill>
            <a:srgbClr val="D4943A"/>
          </a:solidFill>
          <a:ln/>
        </p:spPr>
      </p:sp>
      <p:sp>
        <p:nvSpPr>
          <p:cNvPr id="30" name="Shape 28"/>
          <p:cNvSpPr/>
          <p:nvPr/>
        </p:nvSpPr>
        <p:spPr>
          <a:xfrm>
            <a:off x="274320" y="4224528"/>
            <a:ext cx="8549640" cy="822960"/>
          </a:xfrm>
          <a:prstGeom prst="roundRect">
            <a:avLst>
              <a:gd name="adj" fmla="val 13333"/>
            </a:avLst>
          </a:prstGeom>
          <a:solidFill>
            <a:srgbClr val="1A2D5A"/>
          </a:solidFill>
          <a:ln w="12700">
            <a:solidFill>
              <a:srgbClr val="2A4070"/>
            </a:solidFill>
            <a:prstDash val="solid"/>
          </a:ln>
        </p:spPr>
      </p:sp>
      <p:sp>
        <p:nvSpPr>
          <p:cNvPr id="31" name="Text 29"/>
          <p:cNvSpPr/>
          <p:nvPr/>
        </p:nvSpPr>
        <p:spPr>
          <a:xfrm>
            <a:off x="411480" y="4279392"/>
            <a:ext cx="8275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32" name="Text 30"/>
          <p:cNvSpPr/>
          <p:nvPr/>
        </p:nvSpPr>
        <p:spPr>
          <a:xfrm>
            <a:off x="457200" y="4544568"/>
            <a:ext cx="8183880" cy="41148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an observation become an inference? How?</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of these — observation or inference — is safer to print in the Gazette? Why?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DISCOVERY CYCLE  ·  WHY CLIFF LOCATIONS?</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Build Homes Into a Cliff?</a:t>
            </a:r>
            <a:endParaRPr lang="en-US" sz="2200" dirty="0"/>
          </a:p>
        </p:txBody>
      </p:sp>
      <p:sp>
        <p:nvSpPr>
          <p:cNvPr id="5" name="Shape 3"/>
          <p:cNvSpPr/>
          <p:nvPr/>
        </p:nvSpPr>
        <p:spPr>
          <a:xfrm>
            <a:off x="256032" y="804672"/>
            <a:ext cx="4206240" cy="1591056"/>
          </a:xfrm>
          <a:prstGeom prst="roundRect">
            <a:avLst>
              <a:gd name="adj" fmla="val 8046"/>
            </a:avLst>
          </a:prstGeom>
          <a:solidFill>
            <a:srgbClr val="FFFFFF"/>
          </a:solidFill>
          <a:ln w="25400">
            <a:solidFill>
              <a:srgbClr val="1A8A7D"/>
            </a:solidFill>
            <a:prstDash val="solid"/>
          </a:ln>
        </p:spPr>
      </p:sp>
      <p:sp>
        <p:nvSpPr>
          <p:cNvPr id="6" name="Shape 4"/>
          <p:cNvSpPr/>
          <p:nvPr/>
        </p:nvSpPr>
        <p:spPr>
          <a:xfrm>
            <a:off x="256032" y="804672"/>
            <a:ext cx="4206240" cy="301752"/>
          </a:xfrm>
          <a:prstGeom prst="roundRect">
            <a:avLst>
              <a:gd name="adj" fmla="val 42424"/>
            </a:avLst>
          </a:prstGeom>
          <a:solidFill>
            <a:srgbClr val="1A8A7D"/>
          </a:solidFill>
          <a:ln/>
        </p:spPr>
      </p:sp>
      <p:sp>
        <p:nvSpPr>
          <p:cNvPr id="7" name="Text 5"/>
          <p:cNvSpPr/>
          <p:nvPr/>
        </p:nvSpPr>
        <p:spPr>
          <a:xfrm>
            <a:off x="365760" y="841248"/>
            <a:ext cx="3986784" cy="228600"/>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CLIMATE CONTROL</a:t>
            </a:r>
            <a:endParaRPr lang="en-US" sz="1000" dirty="0"/>
          </a:p>
        </p:txBody>
      </p:sp>
      <p:sp>
        <p:nvSpPr>
          <p:cNvPr id="8" name="Text 6"/>
          <p:cNvSpPr/>
          <p:nvPr/>
        </p:nvSpPr>
        <p:spPr>
          <a:xfrm>
            <a:off x="393192" y="1170432"/>
            <a:ext cx="3931920" cy="1170432"/>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South-facing alcoves captured warmth from the low winter sun while providing shade in summer. A built-in solar heating and cooling system — 700 years before modern HVAC.</a:t>
            </a:r>
            <a:endParaRPr lang="en-US" sz="1050" dirty="0"/>
          </a:p>
        </p:txBody>
      </p:sp>
      <p:sp>
        <p:nvSpPr>
          <p:cNvPr id="9" name="Shape 7"/>
          <p:cNvSpPr/>
          <p:nvPr/>
        </p:nvSpPr>
        <p:spPr>
          <a:xfrm>
            <a:off x="4709160" y="804672"/>
            <a:ext cx="4206240" cy="1591056"/>
          </a:xfrm>
          <a:prstGeom prst="roundRect">
            <a:avLst>
              <a:gd name="adj" fmla="val 8046"/>
            </a:avLst>
          </a:prstGeom>
          <a:solidFill>
            <a:srgbClr val="FFFFFF"/>
          </a:solidFill>
          <a:ln w="25400">
            <a:solidFill>
              <a:srgbClr val="D4943A"/>
            </a:solidFill>
            <a:prstDash val="solid"/>
          </a:ln>
        </p:spPr>
      </p:sp>
      <p:sp>
        <p:nvSpPr>
          <p:cNvPr id="10" name="Shape 8"/>
          <p:cNvSpPr/>
          <p:nvPr/>
        </p:nvSpPr>
        <p:spPr>
          <a:xfrm>
            <a:off x="4709160" y="804672"/>
            <a:ext cx="4206240" cy="301752"/>
          </a:xfrm>
          <a:prstGeom prst="roundRect">
            <a:avLst>
              <a:gd name="adj" fmla="val 42424"/>
            </a:avLst>
          </a:prstGeom>
          <a:solidFill>
            <a:srgbClr val="D4943A"/>
          </a:solidFill>
          <a:ln/>
        </p:spPr>
      </p:sp>
      <p:sp>
        <p:nvSpPr>
          <p:cNvPr id="11" name="Text 9"/>
          <p:cNvSpPr/>
          <p:nvPr/>
        </p:nvSpPr>
        <p:spPr>
          <a:xfrm>
            <a:off x="4818888" y="841248"/>
            <a:ext cx="3986784" cy="228600"/>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PROTECTION</a:t>
            </a:r>
            <a:endParaRPr lang="en-US" sz="1000" dirty="0"/>
          </a:p>
        </p:txBody>
      </p:sp>
      <p:sp>
        <p:nvSpPr>
          <p:cNvPr id="12" name="Text 10"/>
          <p:cNvSpPr/>
          <p:nvPr/>
        </p:nvSpPr>
        <p:spPr>
          <a:xfrm>
            <a:off x="4846320" y="1170432"/>
            <a:ext cx="3931920" cy="1170432"/>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The cliffs offered natural protection from harsh weather and potential threats. The only way in was by ladder — which could be pulled up. Strategic, not just scenic.</a:t>
            </a:r>
            <a:endParaRPr lang="en-US" sz="1050" dirty="0"/>
          </a:p>
        </p:txBody>
      </p:sp>
      <p:sp>
        <p:nvSpPr>
          <p:cNvPr id="13" name="Shape 11"/>
          <p:cNvSpPr/>
          <p:nvPr/>
        </p:nvSpPr>
        <p:spPr>
          <a:xfrm>
            <a:off x="256032" y="2523744"/>
            <a:ext cx="4206240" cy="1591056"/>
          </a:xfrm>
          <a:prstGeom prst="roundRect">
            <a:avLst>
              <a:gd name="adj" fmla="val 8046"/>
            </a:avLst>
          </a:prstGeom>
          <a:solidFill>
            <a:srgbClr val="FFFFFF"/>
          </a:solidFill>
          <a:ln w="25400">
            <a:solidFill>
              <a:srgbClr val="8B6FC0"/>
            </a:solidFill>
            <a:prstDash val="solid"/>
          </a:ln>
        </p:spPr>
      </p:sp>
      <p:sp>
        <p:nvSpPr>
          <p:cNvPr id="14" name="Shape 12"/>
          <p:cNvSpPr/>
          <p:nvPr/>
        </p:nvSpPr>
        <p:spPr>
          <a:xfrm>
            <a:off x="256032" y="2523744"/>
            <a:ext cx="4206240" cy="301752"/>
          </a:xfrm>
          <a:prstGeom prst="roundRect">
            <a:avLst>
              <a:gd name="adj" fmla="val 42424"/>
            </a:avLst>
          </a:prstGeom>
          <a:solidFill>
            <a:srgbClr val="8B6FC0"/>
          </a:solidFill>
          <a:ln/>
        </p:spPr>
      </p:sp>
      <p:sp>
        <p:nvSpPr>
          <p:cNvPr id="15" name="Text 13"/>
          <p:cNvSpPr/>
          <p:nvPr/>
        </p:nvSpPr>
        <p:spPr>
          <a:xfrm>
            <a:off x="365760" y="2560320"/>
            <a:ext cx="3986784" cy="228600"/>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FARMLAND ACCESS</a:t>
            </a:r>
            <a:endParaRPr lang="en-US" sz="1000" dirty="0"/>
          </a:p>
        </p:txBody>
      </p:sp>
      <p:sp>
        <p:nvSpPr>
          <p:cNvPr id="16" name="Text 14"/>
          <p:cNvSpPr/>
          <p:nvPr/>
        </p:nvSpPr>
        <p:spPr>
          <a:xfrm>
            <a:off x="393192" y="2889504"/>
            <a:ext cx="3931920" cy="1170432"/>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Flat mesa tops directly above the cliff dwellings provided excellent farmland for growing corn, beans, and squash. The community lived below; the fields were above.</a:t>
            </a:r>
            <a:endParaRPr lang="en-US" sz="1050" dirty="0"/>
          </a:p>
        </p:txBody>
      </p:sp>
      <p:sp>
        <p:nvSpPr>
          <p:cNvPr id="17" name="Shape 15"/>
          <p:cNvSpPr/>
          <p:nvPr/>
        </p:nvSpPr>
        <p:spPr>
          <a:xfrm>
            <a:off x="4709160" y="2523744"/>
            <a:ext cx="4206240" cy="1591056"/>
          </a:xfrm>
          <a:prstGeom prst="roundRect">
            <a:avLst>
              <a:gd name="adj" fmla="val 8046"/>
            </a:avLst>
          </a:prstGeom>
          <a:solidFill>
            <a:srgbClr val="FFFFFF"/>
          </a:solidFill>
          <a:ln w="25400">
            <a:solidFill>
              <a:srgbClr val="E8636B"/>
            </a:solidFill>
            <a:prstDash val="solid"/>
          </a:ln>
        </p:spPr>
      </p:sp>
      <p:sp>
        <p:nvSpPr>
          <p:cNvPr id="18" name="Shape 16"/>
          <p:cNvSpPr/>
          <p:nvPr/>
        </p:nvSpPr>
        <p:spPr>
          <a:xfrm>
            <a:off x="4709160" y="2523744"/>
            <a:ext cx="4206240" cy="301752"/>
          </a:xfrm>
          <a:prstGeom prst="roundRect">
            <a:avLst>
              <a:gd name="adj" fmla="val 42424"/>
            </a:avLst>
          </a:prstGeom>
          <a:solidFill>
            <a:srgbClr val="E8636B"/>
          </a:solidFill>
          <a:ln/>
        </p:spPr>
      </p:sp>
      <p:sp>
        <p:nvSpPr>
          <p:cNvPr id="19" name="Text 17"/>
          <p:cNvSpPr/>
          <p:nvPr/>
        </p:nvSpPr>
        <p:spPr>
          <a:xfrm>
            <a:off x="4818888" y="2560320"/>
            <a:ext cx="3986784" cy="228600"/>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COMMUNITY DESIGN</a:t>
            </a:r>
            <a:endParaRPr lang="en-US" sz="1000" dirty="0"/>
          </a:p>
        </p:txBody>
      </p:sp>
      <p:sp>
        <p:nvSpPr>
          <p:cNvPr id="20" name="Text 18"/>
          <p:cNvSpPr/>
          <p:nvPr/>
        </p:nvSpPr>
        <p:spPr>
          <a:xfrm>
            <a:off x="4846320" y="2889504"/>
            <a:ext cx="3931920" cy="1170432"/>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Cliff Palace had ~150 rooms and housed an estimated 100 people. Kivas (circular underground rooms) served as gathering spaces for community and spiritual life.</a:t>
            </a:r>
            <a:endParaRPr lang="en-US" sz="1050" dirty="0"/>
          </a:p>
        </p:txBody>
      </p:sp>
      <p:sp>
        <p:nvSpPr>
          <p:cNvPr id="21" name="Shape 19"/>
          <p:cNvSpPr/>
          <p:nvPr/>
        </p:nvSpPr>
        <p:spPr>
          <a:xfrm>
            <a:off x="0" y="4754880"/>
            <a:ext cx="9144000" cy="388620"/>
          </a:xfrm>
          <a:prstGeom prst="rect">
            <a:avLst/>
          </a:prstGeom>
          <a:solidFill>
            <a:srgbClr val="1A2D5A"/>
          </a:solidFill>
          <a:ln/>
        </p:spPr>
      </p:sp>
      <p:sp>
        <p:nvSpPr>
          <p:cNvPr id="22" name="Text 20"/>
          <p:cNvSpPr/>
          <p:nvPr/>
        </p:nvSpPr>
        <p:spPr>
          <a:xfrm>
            <a:off x="274320" y="4791456"/>
            <a:ext cx="8595360" cy="256032"/>
          </a:xfrm>
          <a:prstGeom prst="rect">
            <a:avLst/>
          </a:prstGeom>
          <a:noFill/>
          <a:ln/>
        </p:spPr>
        <p:txBody>
          <a:bodyPr wrap="square" rtlCol="0" anchor="ctr"/>
          <a:lstStyle/>
          <a:p>
            <a:pPr algn="ctr" indent="0" marL="0">
              <a:buNone/>
            </a:pPr>
            <a:r>
              <a:rPr lang="en-US" sz="950" b="1" dirty="0">
                <a:solidFill>
                  <a:srgbClr val="D4943A"/>
                </a:solidFill>
                <a:latin typeface="Calibri" pitchFamily="34" charset="0"/>
                <a:ea typeface="Calibri" pitchFamily="34" charset="-122"/>
                <a:cs typeface="Calibri" pitchFamily="34" charset="-120"/>
              </a:rPr>
              <a:t>Notebook prompt: Name at least TWO practical reasons the Ancestral Pueblo built into cliffs. Use evidence above to support each reason.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347472"/>
          </a:xfrm>
          <a:prstGeom prst="rect">
            <a:avLst/>
          </a:prstGeom>
          <a:solidFill>
            <a:srgbClr val="D4943A"/>
          </a:solidFill>
          <a:ln/>
        </p:spPr>
      </p:sp>
      <p:sp>
        <p:nvSpPr>
          <p:cNvPr id="6" name="Text 3"/>
          <p:cNvSpPr/>
          <p:nvPr/>
        </p:nvSpPr>
        <p:spPr>
          <a:xfrm>
            <a:off x="274320" y="54864"/>
            <a:ext cx="8595360" cy="237744"/>
          </a:xfrm>
          <a:prstGeom prst="rect">
            <a:avLst/>
          </a:prstGeom>
          <a:noFill/>
          <a:ln/>
        </p:spPr>
        <p:txBody>
          <a:bodyPr wrap="square"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THE REVEAL  ·  WHAT THE EVIDENCE SAYS</a:t>
            </a:r>
            <a:endParaRPr lang="en-US" sz="900" dirty="0"/>
          </a:p>
        </p:txBody>
      </p:sp>
      <p:sp>
        <p:nvSpPr>
          <p:cNvPr id="7" name="Text 4"/>
          <p:cNvSpPr/>
          <p:nvPr/>
        </p:nvSpPr>
        <p:spPr>
          <a:xfrm>
            <a:off x="457200" y="502920"/>
            <a:ext cx="8229600" cy="9144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These were not</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"show-off" buildings.</a:t>
            </a:r>
            <a:endParaRPr lang="en-US" sz="3400" dirty="0"/>
          </a:p>
        </p:txBody>
      </p:sp>
      <p:sp>
        <p:nvSpPr>
          <p:cNvPr id="8" name="Text 5"/>
          <p:cNvSpPr/>
          <p:nvPr/>
        </p:nvSpPr>
        <p:spPr>
          <a:xfrm>
            <a:off x="914400" y="1508760"/>
            <a:ext cx="7315200" cy="457200"/>
          </a:xfrm>
          <a:prstGeom prst="rect">
            <a:avLst/>
          </a:prstGeom>
          <a:noFill/>
          <a:ln/>
        </p:spPr>
        <p:txBody>
          <a:bodyPr wrap="square" rtlCol="0" anchor="ctr"/>
          <a:lstStyle/>
          <a:p>
            <a:pPr algn="ctr" indent="0" marL="0">
              <a:buNone/>
            </a:pPr>
            <a:r>
              <a:rPr lang="en-US" sz="1600" i="1" dirty="0">
                <a:solidFill>
                  <a:srgbClr val="D4943A"/>
                </a:solidFill>
                <a:latin typeface="Cambria" pitchFamily="34" charset="0"/>
                <a:ea typeface="Cambria" pitchFamily="34" charset="-122"/>
                <a:cs typeface="Cambria" pitchFamily="34" charset="-120"/>
              </a:rPr>
              <a:t>They were carefully planned homes that served real community needs.</a:t>
            </a:r>
            <a:endParaRPr lang="en-US" sz="1600" dirty="0"/>
          </a:p>
        </p:txBody>
      </p:sp>
      <p:sp>
        <p:nvSpPr>
          <p:cNvPr id="9" name="Shape 6"/>
          <p:cNvSpPr/>
          <p:nvPr/>
        </p:nvSpPr>
        <p:spPr>
          <a:xfrm>
            <a:off x="914400" y="2084832"/>
            <a:ext cx="2286000" cy="658368"/>
          </a:xfrm>
          <a:prstGeom prst="roundRect">
            <a:avLst>
              <a:gd name="adj" fmla="val 19444"/>
            </a:avLst>
          </a:prstGeom>
          <a:solidFill>
            <a:srgbClr val="1A8A7D">
              <a:alpha val="80000"/>
            </a:srgbClr>
          </a:solidFill>
          <a:ln w="19050">
            <a:solidFill>
              <a:srgbClr val="1A8A7D"/>
            </a:solidFill>
            <a:prstDash val="solid"/>
          </a:ln>
        </p:spPr>
      </p:sp>
      <p:sp>
        <p:nvSpPr>
          <p:cNvPr id="10" name="Text 7"/>
          <p:cNvSpPr/>
          <p:nvPr/>
        </p:nvSpPr>
        <p:spPr>
          <a:xfrm>
            <a:off x="1005840" y="2084832"/>
            <a:ext cx="2103120" cy="65836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South-facing alcoves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for climate control</a:t>
            </a:r>
            <a:endParaRPr lang="en-US" sz="1150" dirty="0"/>
          </a:p>
        </p:txBody>
      </p:sp>
      <p:sp>
        <p:nvSpPr>
          <p:cNvPr id="11" name="Shape 8"/>
          <p:cNvSpPr/>
          <p:nvPr/>
        </p:nvSpPr>
        <p:spPr>
          <a:xfrm>
            <a:off x="3474720" y="2084832"/>
            <a:ext cx="2286000" cy="658368"/>
          </a:xfrm>
          <a:prstGeom prst="roundRect">
            <a:avLst>
              <a:gd name="adj" fmla="val 19444"/>
            </a:avLst>
          </a:prstGeom>
          <a:solidFill>
            <a:srgbClr val="8B6FC0">
              <a:alpha val="80000"/>
            </a:srgbClr>
          </a:solidFill>
          <a:ln w="19050">
            <a:solidFill>
              <a:srgbClr val="8B6FC0"/>
            </a:solidFill>
            <a:prstDash val="solid"/>
          </a:ln>
        </p:spPr>
      </p:sp>
      <p:sp>
        <p:nvSpPr>
          <p:cNvPr id="12" name="Text 9"/>
          <p:cNvSpPr/>
          <p:nvPr/>
        </p:nvSpPr>
        <p:spPr>
          <a:xfrm>
            <a:off x="3566160" y="2084832"/>
            <a:ext cx="2103120" cy="65836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Cliff location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for protection</a:t>
            </a:r>
            <a:endParaRPr lang="en-US" sz="1150" dirty="0"/>
          </a:p>
        </p:txBody>
      </p:sp>
      <p:sp>
        <p:nvSpPr>
          <p:cNvPr id="13" name="Shape 10"/>
          <p:cNvSpPr/>
          <p:nvPr/>
        </p:nvSpPr>
        <p:spPr>
          <a:xfrm>
            <a:off x="6035040" y="2084832"/>
            <a:ext cx="2286000" cy="658368"/>
          </a:xfrm>
          <a:prstGeom prst="roundRect">
            <a:avLst>
              <a:gd name="adj" fmla="val 19444"/>
            </a:avLst>
          </a:prstGeom>
          <a:solidFill>
            <a:srgbClr val="D4943A">
              <a:alpha val="80000"/>
            </a:srgbClr>
          </a:solidFill>
          <a:ln w="19050">
            <a:solidFill>
              <a:srgbClr val="D4943A"/>
            </a:solidFill>
            <a:prstDash val="solid"/>
          </a:ln>
        </p:spPr>
      </p:sp>
      <p:sp>
        <p:nvSpPr>
          <p:cNvPr id="14" name="Text 11"/>
          <p:cNvSpPr/>
          <p:nvPr/>
        </p:nvSpPr>
        <p:spPr>
          <a:xfrm>
            <a:off x="6126480" y="2084832"/>
            <a:ext cx="2103120" cy="65836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Mesa farming</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above the dwellings</a:t>
            </a:r>
            <a:endParaRPr lang="en-US" sz="1150" dirty="0"/>
          </a:p>
        </p:txBody>
      </p:sp>
      <p:sp>
        <p:nvSpPr>
          <p:cNvPr id="15" name="Shape 12"/>
          <p:cNvSpPr/>
          <p:nvPr/>
        </p:nvSpPr>
        <p:spPr>
          <a:xfrm>
            <a:off x="731520" y="2852928"/>
            <a:ext cx="7680960" cy="640080"/>
          </a:xfrm>
          <a:prstGeom prst="roundRect">
            <a:avLst>
              <a:gd name="adj" fmla="val 17143"/>
            </a:avLst>
          </a:prstGeom>
          <a:solidFill>
            <a:srgbClr val="0B1835">
              <a:alpha val="90000"/>
            </a:srgbClr>
          </a:solidFill>
          <a:ln w="19050">
            <a:solidFill>
              <a:srgbClr val="55C8E8"/>
            </a:solidFill>
            <a:prstDash val="solid"/>
          </a:ln>
        </p:spPr>
      </p:sp>
      <p:sp>
        <p:nvSpPr>
          <p:cNvPr id="16" name="Text 13"/>
          <p:cNvSpPr/>
          <p:nvPr/>
        </p:nvSpPr>
        <p:spPr>
          <a:xfrm>
            <a:off x="914400" y="2889504"/>
            <a:ext cx="7315200" cy="566928"/>
          </a:xfrm>
          <a:prstGeom prst="rect">
            <a:avLst/>
          </a:prstGeom>
          <a:noFill/>
          <a:ln/>
        </p:spPr>
        <p:txBody>
          <a:bodyPr wrap="square" rtlCol="0" anchor="ctr"/>
          <a:lstStyle/>
          <a:p>
            <a:pPr algn="ctr" indent="0" marL="0">
              <a:buNone/>
            </a:pPr>
            <a:r>
              <a:rPr lang="en-US" sz="1150" i="1" dirty="0">
                <a:solidFill>
                  <a:srgbClr val="D6F2FB"/>
                </a:solidFill>
                <a:latin typeface="Cambria" pitchFamily="34" charset="0"/>
                <a:ea typeface="Cambria" pitchFamily="34" charset="-122"/>
                <a:cs typeface="Cambria" pitchFamily="34" charset="-120"/>
              </a:rPr>
              <a:t>The Ancestral Pueblo chose cliff locations for practical reasons — warmth, protection, and access to farmland. A careful editor separates observation from inference and writes what the evidence actually supports.</a:t>
            </a:r>
            <a:endParaRPr lang="en-US" sz="1150" dirty="0"/>
          </a:p>
        </p:txBody>
      </p:sp>
      <p:sp>
        <p:nvSpPr>
          <p:cNvPr id="17" name="Shape 14"/>
          <p:cNvSpPr/>
          <p:nvPr/>
        </p:nvSpPr>
        <p:spPr>
          <a:xfrm>
            <a:off x="1371600" y="3611880"/>
            <a:ext cx="6400800" cy="640080"/>
          </a:xfrm>
          <a:prstGeom prst="roundRect">
            <a:avLst>
              <a:gd name="adj" fmla="val 17143"/>
            </a:avLst>
          </a:prstGeom>
          <a:solidFill>
            <a:srgbClr val="E8636B">
              <a:alpha val="80000"/>
            </a:srgbClr>
          </a:solidFill>
          <a:ln w="19050">
            <a:solidFill>
              <a:srgbClr val="E8636B"/>
            </a:solidFill>
            <a:prstDash val="solid"/>
          </a:ln>
        </p:spPr>
      </p:sp>
      <p:sp>
        <p:nvSpPr>
          <p:cNvPr id="18" name="Text 15"/>
          <p:cNvSpPr/>
          <p:nvPr/>
        </p:nvSpPr>
        <p:spPr>
          <a:xfrm>
            <a:off x="1508760" y="3648456"/>
            <a:ext cx="6126480" cy="566928"/>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HERALD CHECK: The cliff dwellings DO look impressive — that part is not wrong. But "only because" erases the practical purposes that evidence supports. A correction must name what's missing, not just say "you're wrong."</a:t>
            </a:r>
            <a:endParaRPr lang="en-US" sz="1050" dirty="0"/>
          </a:p>
        </p:txBody>
      </p:sp>
      <p:sp>
        <p:nvSpPr>
          <p:cNvPr id="19" name="Shape 16"/>
          <p:cNvSpPr/>
          <p:nvPr/>
        </p:nvSpPr>
        <p:spPr>
          <a:xfrm>
            <a:off x="0" y="4754880"/>
            <a:ext cx="9144000" cy="388620"/>
          </a:xfrm>
          <a:prstGeom prst="rect">
            <a:avLst/>
          </a:prstGeom>
          <a:solidFill>
            <a:srgbClr val="0B1835"/>
          </a:solidFill>
          <a:ln/>
        </p:spPr>
      </p:sp>
      <p:sp>
        <p:nvSpPr>
          <p:cNvPr id="20" name="Text 17"/>
          <p:cNvSpPr/>
          <p:nvPr/>
        </p:nvSpPr>
        <p:spPr>
          <a:xfrm>
            <a:off x="274320" y="4791456"/>
            <a:ext cx="8595360" cy="256032"/>
          </a:xfrm>
          <a:prstGeom prst="rect">
            <a:avLst/>
          </a:prstGeom>
          <a:noFill/>
          <a:ln/>
        </p:spPr>
        <p:txBody>
          <a:bodyPr wrap="square" rtlCol="0" anchor="ctr"/>
          <a:lstStyle/>
          <a:p>
            <a:pPr algn="ctr" indent="0" marL="0">
              <a:buNone/>
            </a:pPr>
            <a:r>
              <a:rPr lang="en-US" sz="1000" b="1" i="1" dirty="0">
                <a:solidFill>
                  <a:srgbClr val="D4943A"/>
                </a:solidFill>
                <a:latin typeface="Calibri" pitchFamily="34" charset="0"/>
                <a:ea typeface="Calibri" pitchFamily="34" charset="-122"/>
                <a:cs typeface="Calibri" pitchFamily="34" charset="-120"/>
              </a:rPr>
              <a:t>"What's partly right? What's missing?" — the editor's two questions for every claim.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SOURCE DESK  ·  COMMUNITY LIFE</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More Than Walls: Community, Faith, and Farming</a:t>
            </a:r>
            <a:endParaRPr lang="en-US" sz="2000" dirty="0"/>
          </a:p>
        </p:txBody>
      </p:sp>
      <p:sp>
        <p:nvSpPr>
          <p:cNvPr id="5" name="Shape 3"/>
          <p:cNvSpPr/>
          <p:nvPr/>
        </p:nvSpPr>
        <p:spPr>
          <a:xfrm>
            <a:off x="274320" y="749808"/>
            <a:ext cx="3200400" cy="2423160"/>
          </a:xfrm>
          <a:prstGeom prst="roundRect">
            <a:avLst>
              <a:gd name="adj" fmla="val 4528"/>
            </a:avLst>
          </a:prstGeom>
          <a:solidFill>
            <a:srgbClr val="E2E8F4"/>
          </a:solidFill>
          <a:ln w="19050">
            <a:solidFill>
              <a:srgbClr val="B0B8CC"/>
            </a:solidFill>
            <a:prstDash val="dash"/>
          </a:ln>
        </p:spPr>
      </p:sp>
      <p:sp>
        <p:nvSpPr>
          <p:cNvPr id="6" name="Text 4"/>
          <p:cNvSpPr/>
          <p:nvPr/>
        </p:nvSpPr>
        <p:spPr>
          <a:xfrm>
            <a:off x="274320" y="749808"/>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024128"/>
            <a:ext cx="2926080" cy="2057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or illustration of a kiva — circular underground room with wooden roof beams, fire pit, and sipapu. Shows interior of a ceremonial/community gathering space.</a:t>
            </a:r>
            <a:endParaRPr lang="en-US" sz="1100" dirty="0"/>
          </a:p>
        </p:txBody>
      </p:sp>
      <p:sp>
        <p:nvSpPr>
          <p:cNvPr id="8" name="Shape 6"/>
          <p:cNvSpPr/>
          <p:nvPr/>
        </p:nvSpPr>
        <p:spPr>
          <a:xfrm>
            <a:off x="3639312" y="749808"/>
            <a:ext cx="5184648" cy="1152144"/>
          </a:xfrm>
          <a:prstGeom prst="roundRect">
            <a:avLst>
              <a:gd name="adj" fmla="val 9524"/>
            </a:avLst>
          </a:prstGeom>
          <a:solidFill>
            <a:srgbClr val="FFFFFF"/>
          </a:solidFill>
          <a:ln w="22860">
            <a:solidFill>
              <a:srgbClr val="8B6FC0"/>
            </a:solidFill>
            <a:prstDash val="solid"/>
          </a:ln>
        </p:spPr>
      </p:sp>
      <p:sp>
        <p:nvSpPr>
          <p:cNvPr id="9" name="Shape 7"/>
          <p:cNvSpPr/>
          <p:nvPr/>
        </p:nvSpPr>
        <p:spPr>
          <a:xfrm>
            <a:off x="3639312" y="749808"/>
            <a:ext cx="5184648" cy="292608"/>
          </a:xfrm>
          <a:prstGeom prst="roundRect">
            <a:avLst>
              <a:gd name="adj" fmla="val 25000"/>
            </a:avLst>
          </a:prstGeom>
          <a:solidFill>
            <a:srgbClr val="D4943A"/>
          </a:solidFill>
          <a:ln/>
        </p:spPr>
      </p:sp>
      <p:sp>
        <p:nvSpPr>
          <p:cNvPr id="10" name="Text 8"/>
          <p:cNvSpPr/>
          <p:nvPr/>
        </p:nvSpPr>
        <p:spPr>
          <a:xfrm>
            <a:off x="3749040" y="768096"/>
            <a:ext cx="4965192" cy="256032"/>
          </a:xfrm>
          <a:prstGeom prst="rect">
            <a:avLst/>
          </a:prstGeom>
          <a:noFill/>
          <a:ln/>
        </p:spPr>
        <p:txBody>
          <a:bodyPr wrap="square" lIns="0" tIns="0" rIns="0" bIns="0" rtlCol="0" anchor="ctr"/>
          <a:lstStyle/>
          <a:p>
            <a:pPr indent="0" marL="0">
              <a:buNone/>
            </a:pPr>
            <a:r>
              <a:rPr lang="en-US" sz="1050" b="1" spc="50" kern="0" dirty="0">
                <a:solidFill>
                  <a:srgbClr val="FFFFFF"/>
                </a:solidFill>
                <a:latin typeface="Calibri" pitchFamily="34" charset="0"/>
                <a:ea typeface="Calibri" pitchFamily="34" charset="-122"/>
                <a:cs typeface="Calibri" pitchFamily="34" charset="-120"/>
              </a:rPr>
              <a:t>Kivas: Community Gathering Spaces</a:t>
            </a:r>
            <a:endParaRPr lang="en-US" sz="1050" dirty="0"/>
          </a:p>
        </p:txBody>
      </p:sp>
      <p:sp>
        <p:nvSpPr>
          <p:cNvPr id="11" name="Text 9"/>
          <p:cNvSpPr/>
          <p:nvPr/>
        </p:nvSpPr>
        <p:spPr>
          <a:xfrm>
            <a:off x="3767328" y="1115568"/>
            <a:ext cx="4937760" cy="731520"/>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Circular, often underground rooms built into the cliff dwelling complex. Used for community meetings, spiritual practices, and ceremonies. Their presence suggests shared community life — not just private households.</a:t>
            </a:r>
            <a:endParaRPr lang="en-US" sz="1050" dirty="0"/>
          </a:p>
        </p:txBody>
      </p:sp>
      <p:sp>
        <p:nvSpPr>
          <p:cNvPr id="12" name="Shape 10"/>
          <p:cNvSpPr/>
          <p:nvPr/>
        </p:nvSpPr>
        <p:spPr>
          <a:xfrm>
            <a:off x="3639312" y="2011680"/>
            <a:ext cx="5184648" cy="1152144"/>
          </a:xfrm>
          <a:prstGeom prst="roundRect">
            <a:avLst>
              <a:gd name="adj" fmla="val 9524"/>
            </a:avLst>
          </a:prstGeom>
          <a:solidFill>
            <a:srgbClr val="FFFFFF"/>
          </a:solidFill>
          <a:ln w="22860">
            <a:solidFill>
              <a:srgbClr val="34B76F"/>
            </a:solidFill>
            <a:prstDash val="solid"/>
          </a:ln>
        </p:spPr>
      </p:sp>
      <p:sp>
        <p:nvSpPr>
          <p:cNvPr id="13" name="Shape 11"/>
          <p:cNvSpPr/>
          <p:nvPr/>
        </p:nvSpPr>
        <p:spPr>
          <a:xfrm>
            <a:off x="3639312" y="2011680"/>
            <a:ext cx="5184648" cy="292608"/>
          </a:xfrm>
          <a:prstGeom prst="roundRect">
            <a:avLst>
              <a:gd name="adj" fmla="val 25000"/>
            </a:avLst>
          </a:prstGeom>
          <a:solidFill>
            <a:srgbClr val="D4943A"/>
          </a:solidFill>
          <a:ln/>
        </p:spPr>
      </p:sp>
      <p:sp>
        <p:nvSpPr>
          <p:cNvPr id="14" name="Text 12"/>
          <p:cNvSpPr/>
          <p:nvPr/>
        </p:nvSpPr>
        <p:spPr>
          <a:xfrm>
            <a:off x="3749040" y="2029968"/>
            <a:ext cx="4965192" cy="256032"/>
          </a:xfrm>
          <a:prstGeom prst="rect">
            <a:avLst/>
          </a:prstGeom>
          <a:noFill/>
          <a:ln/>
        </p:spPr>
        <p:txBody>
          <a:bodyPr wrap="square" lIns="0" tIns="0" rIns="0" bIns="0" rtlCol="0" anchor="ctr"/>
          <a:lstStyle/>
          <a:p>
            <a:pPr indent="0" marL="0">
              <a:buNone/>
            </a:pPr>
            <a:r>
              <a:rPr lang="en-US" sz="1050" b="1" spc="50" kern="0" dirty="0">
                <a:solidFill>
                  <a:srgbClr val="FFFFFF"/>
                </a:solidFill>
                <a:latin typeface="Calibri" pitchFamily="34" charset="0"/>
                <a:ea typeface="Calibri" pitchFamily="34" charset="-122"/>
                <a:cs typeface="Calibri" pitchFamily="34" charset="-120"/>
              </a:rPr>
              <a:t>Agriculture on the Mesa</a:t>
            </a:r>
            <a:endParaRPr lang="en-US" sz="1050" dirty="0"/>
          </a:p>
        </p:txBody>
      </p:sp>
      <p:sp>
        <p:nvSpPr>
          <p:cNvPr id="15" name="Text 13"/>
          <p:cNvSpPr/>
          <p:nvPr/>
        </p:nvSpPr>
        <p:spPr>
          <a:xfrm>
            <a:off x="3767328" y="2377440"/>
            <a:ext cx="4937760" cy="731520"/>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Corn, beans, and squash — the "Three Sisters" — were grown on the flat mesa tops above the dwellings. The cliff location was chosen partly because of this farmland access. Farming required cooperation and planning.</a:t>
            </a:r>
            <a:endParaRPr lang="en-US" sz="1050" dirty="0"/>
          </a:p>
        </p:txBody>
      </p:sp>
      <p:sp>
        <p:nvSpPr>
          <p:cNvPr id="16" name="Shape 14"/>
          <p:cNvSpPr/>
          <p:nvPr/>
        </p:nvSpPr>
        <p:spPr>
          <a:xfrm>
            <a:off x="274320" y="3273552"/>
            <a:ext cx="8549640" cy="1261872"/>
          </a:xfrm>
          <a:prstGeom prst="roundRect">
            <a:avLst>
              <a:gd name="adj" fmla="val 8696"/>
            </a:avLst>
          </a:prstGeom>
          <a:solidFill>
            <a:srgbClr val="1A2D5A"/>
          </a:solidFill>
          <a:ln w="12700">
            <a:solidFill>
              <a:srgbClr val="2A4070"/>
            </a:solidFill>
            <a:prstDash val="solid"/>
          </a:ln>
        </p:spPr>
      </p:sp>
      <p:sp>
        <p:nvSpPr>
          <p:cNvPr id="17" name="Text 15"/>
          <p:cNvSpPr/>
          <p:nvPr/>
        </p:nvSpPr>
        <p:spPr>
          <a:xfrm>
            <a:off x="411480" y="3328416"/>
            <a:ext cx="8275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457200" y="3593592"/>
            <a:ext cx="8183880" cy="850392"/>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a kiva tell us that a storage room does not?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the Ancestral Pueblo built kivas for community gatherings, what does that suggest about how they organized their society?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two pieces of evidence together suggest this was a planned, cooperative community?</a:t>
            </a:r>
            <a:endParaRPr lang="en-US" sz="1100" dirty="0"/>
          </a:p>
        </p:txBody>
      </p:sp>
      <p:sp>
        <p:nvSpPr>
          <p:cNvPr id="19" name="Shape 17"/>
          <p:cNvSpPr/>
          <p:nvPr/>
        </p:nvSpPr>
        <p:spPr>
          <a:xfrm>
            <a:off x="0" y="4754880"/>
            <a:ext cx="9144000" cy="388620"/>
          </a:xfrm>
          <a:prstGeom prst="rect">
            <a:avLst/>
          </a:prstGeom>
          <a:solidFill>
            <a:srgbClr val="1A2D5A"/>
          </a:solidFill>
          <a:ln/>
        </p:spPr>
      </p:sp>
      <p:sp>
        <p:nvSpPr>
          <p:cNvPr id="20" name="Text 18"/>
          <p:cNvSpPr/>
          <p:nvPr/>
        </p:nvSpPr>
        <p:spPr>
          <a:xfrm>
            <a:off x="274320" y="4791456"/>
            <a:ext cx="8595360" cy="256032"/>
          </a:xfrm>
          <a:prstGeom prst="rect">
            <a:avLst/>
          </a:prstGeom>
          <a:noFill/>
          <a:ln/>
        </p:spPr>
        <p:txBody>
          <a:bodyPr wrap="square" rtlCol="0" anchor="ctr"/>
          <a:lstStyle/>
          <a:p>
            <a:pPr algn="ctr" indent="0" marL="0">
              <a:buNone/>
            </a:pPr>
            <a:r>
              <a:rPr lang="en-US" sz="950" i="1" dirty="0">
                <a:solidFill>
                  <a:srgbClr val="55C8E8"/>
                </a:solidFill>
                <a:latin typeface="Calibri" pitchFamily="34" charset="0"/>
                <a:ea typeface="Calibri" pitchFamily="34" charset="-122"/>
                <a:cs typeface="Calibri" pitchFamily="34" charset="-120"/>
              </a:rPr>
              <a:t>Kivas + farming cooperation = evidence of a community that planned for shared life, not just individual survival.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EDITORIAL BOARD  ·  WHY IT MATTERS</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Why the Ancestral Pueblo Story Matters</a:t>
            </a:r>
            <a:endParaRPr lang="en-US" sz="2100" dirty="0"/>
          </a:p>
        </p:txBody>
      </p:sp>
      <p:sp>
        <p:nvSpPr>
          <p:cNvPr id="5" name="Shape 3"/>
          <p:cNvSpPr/>
          <p:nvPr/>
        </p:nvSpPr>
        <p:spPr>
          <a:xfrm>
            <a:off x="256032" y="804672"/>
            <a:ext cx="4206240" cy="1664208"/>
          </a:xfrm>
          <a:prstGeom prst="roundRect">
            <a:avLst>
              <a:gd name="adj" fmla="val 7692"/>
            </a:avLst>
          </a:prstGeom>
          <a:solidFill>
            <a:srgbClr val="FFFFFF"/>
          </a:solidFill>
          <a:ln w="22860">
            <a:solidFill>
              <a:srgbClr val="1A8A7D"/>
            </a:solidFill>
            <a:prstDash val="solid"/>
          </a:ln>
        </p:spPr>
      </p:sp>
      <p:sp>
        <p:nvSpPr>
          <p:cNvPr id="6" name="Shape 4"/>
          <p:cNvSpPr/>
          <p:nvPr/>
        </p:nvSpPr>
        <p:spPr>
          <a:xfrm>
            <a:off x="256032" y="804672"/>
            <a:ext cx="4206240" cy="301752"/>
          </a:xfrm>
          <a:prstGeom prst="roundRect">
            <a:avLst>
              <a:gd name="adj" fmla="val 42424"/>
            </a:avLst>
          </a:prstGeom>
          <a:solidFill>
            <a:srgbClr val="1A8A7D"/>
          </a:solidFill>
          <a:ln/>
        </p:spPr>
      </p:sp>
      <p:sp>
        <p:nvSpPr>
          <p:cNvPr id="7" name="Text 5"/>
          <p:cNvSpPr/>
          <p:nvPr/>
        </p:nvSpPr>
        <p:spPr>
          <a:xfrm>
            <a:off x="365760" y="841248"/>
            <a:ext cx="3986784" cy="228600"/>
          </a:xfrm>
          <a:prstGeom prst="rect">
            <a:avLst/>
          </a:prstGeom>
          <a:noFill/>
          <a:ln/>
        </p:spPr>
        <p:txBody>
          <a:bodyPr wrap="square" lIns="0" tIns="0" rIns="0" bIns="0" rtlCol="0" anchor="ctr"/>
          <a:lstStyle/>
          <a:p>
            <a:pPr indent="0" marL="0">
              <a:buNone/>
            </a:pPr>
            <a:r>
              <a:rPr lang="en-US" sz="950" b="1" spc="120" kern="0" dirty="0">
                <a:solidFill>
                  <a:srgbClr val="FFFFFF"/>
                </a:solidFill>
                <a:latin typeface="Calibri" pitchFamily="34" charset="0"/>
                <a:ea typeface="Calibri" pitchFamily="34" charset="-122"/>
                <a:cs typeface="Calibri" pitchFamily="34" charset="-120"/>
              </a:rPr>
              <a:t>LIVING DESCENDANTS</a:t>
            </a:r>
            <a:endParaRPr lang="en-US" sz="950" dirty="0"/>
          </a:p>
        </p:txBody>
      </p:sp>
      <p:sp>
        <p:nvSpPr>
          <p:cNvPr id="8" name="Shape 6"/>
          <p:cNvSpPr/>
          <p:nvPr/>
        </p:nvSpPr>
        <p:spPr>
          <a:xfrm>
            <a:off x="3639312" y="1170432"/>
            <a:ext cx="685800" cy="594360"/>
          </a:xfrm>
          <a:prstGeom prst="roundRect">
            <a:avLst>
              <a:gd name="adj" fmla="val 12308"/>
            </a:avLst>
          </a:prstGeom>
          <a:solidFill>
            <a:srgbClr val="1A8A7D">
              <a:alpha val="20000"/>
            </a:srgbClr>
          </a:solidFill>
          <a:ln/>
        </p:spPr>
      </p:sp>
      <p:sp>
        <p:nvSpPr>
          <p:cNvPr id="9" name="Text 7"/>
          <p:cNvSpPr/>
          <p:nvPr/>
        </p:nvSpPr>
        <p:spPr>
          <a:xfrm>
            <a:off x="3639312" y="1170432"/>
            <a:ext cx="685800" cy="594360"/>
          </a:xfrm>
          <a:prstGeom prst="rect">
            <a:avLst/>
          </a:prstGeom>
          <a:noFill/>
          <a:ln/>
        </p:spPr>
        <p:txBody>
          <a:bodyPr wrap="square" rtlCol="0" anchor="ctr"/>
          <a:lstStyle/>
          <a:p>
            <a:pPr algn="ctr" indent="0" marL="0">
              <a:buNone/>
            </a:pPr>
            <a:r>
              <a:rPr lang="en-US" sz="800" b="1" dirty="0">
                <a:solidFill>
                  <a:srgbClr val="1A8A7D"/>
                </a:solidFill>
                <a:latin typeface="Calibri" pitchFamily="34" charset="0"/>
                <a:ea typeface="Calibri" pitchFamily="34" charset="-122"/>
                <a:cs typeface="Calibri" pitchFamily="34" charset="-120"/>
              </a:rPr>
              <a:t>Living</a:t>
            </a:r>
            <a:endParaRPr lang="en-US" sz="800" dirty="0"/>
          </a:p>
          <a:p>
            <a:pPr algn="ctr" indent="0" marL="0">
              <a:buNone/>
            </a:pPr>
            <a:r>
              <a:rPr lang="en-US" sz="800" b="1" dirty="0">
                <a:solidFill>
                  <a:srgbClr val="1A8A7D"/>
                </a:solidFill>
                <a:latin typeface="Calibri" pitchFamily="34" charset="0"/>
                <a:ea typeface="Calibri" pitchFamily="34" charset="-122"/>
                <a:cs typeface="Calibri" pitchFamily="34" charset="-120"/>
              </a:rPr>
              <a:t>Communities</a:t>
            </a:r>
            <a:endParaRPr lang="en-US" sz="800" dirty="0"/>
          </a:p>
        </p:txBody>
      </p:sp>
      <p:sp>
        <p:nvSpPr>
          <p:cNvPr id="10" name="Text 8"/>
          <p:cNvSpPr/>
          <p:nvPr/>
        </p:nvSpPr>
        <p:spPr>
          <a:xfrm>
            <a:off x="393192" y="1170432"/>
            <a:ext cx="3200400" cy="124358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The Ancestral Pueblo are not "ancient and gone." Their descendants — the Hopi, Zuni, and other Pueblo peoples — are living nations today. How we write their history matters to living people.</a:t>
            </a:r>
            <a:endParaRPr lang="en-US" sz="1050" dirty="0"/>
          </a:p>
        </p:txBody>
      </p:sp>
      <p:sp>
        <p:nvSpPr>
          <p:cNvPr id="11" name="Shape 9"/>
          <p:cNvSpPr/>
          <p:nvPr/>
        </p:nvSpPr>
        <p:spPr>
          <a:xfrm>
            <a:off x="4709160" y="804672"/>
            <a:ext cx="4206240" cy="1664208"/>
          </a:xfrm>
          <a:prstGeom prst="roundRect">
            <a:avLst>
              <a:gd name="adj" fmla="val 7692"/>
            </a:avLst>
          </a:prstGeom>
          <a:solidFill>
            <a:srgbClr val="FFFFFF"/>
          </a:solidFill>
          <a:ln w="22860">
            <a:solidFill>
              <a:srgbClr val="E8636B"/>
            </a:solidFill>
            <a:prstDash val="solid"/>
          </a:ln>
        </p:spPr>
      </p:sp>
      <p:sp>
        <p:nvSpPr>
          <p:cNvPr id="12" name="Shape 10"/>
          <p:cNvSpPr/>
          <p:nvPr/>
        </p:nvSpPr>
        <p:spPr>
          <a:xfrm>
            <a:off x="4709160" y="804672"/>
            <a:ext cx="4206240" cy="301752"/>
          </a:xfrm>
          <a:prstGeom prst="roundRect">
            <a:avLst>
              <a:gd name="adj" fmla="val 42424"/>
            </a:avLst>
          </a:prstGeom>
          <a:solidFill>
            <a:srgbClr val="E8636B"/>
          </a:solidFill>
          <a:ln/>
        </p:spPr>
      </p:sp>
      <p:sp>
        <p:nvSpPr>
          <p:cNvPr id="13" name="Text 11"/>
          <p:cNvSpPr/>
          <p:nvPr/>
        </p:nvSpPr>
        <p:spPr>
          <a:xfrm>
            <a:off x="4818888" y="841248"/>
            <a:ext cx="3986784" cy="228600"/>
          </a:xfrm>
          <a:prstGeom prst="rect">
            <a:avLst/>
          </a:prstGeom>
          <a:noFill/>
          <a:ln/>
        </p:spPr>
        <p:txBody>
          <a:bodyPr wrap="square" lIns="0" tIns="0" rIns="0" bIns="0" rtlCol="0" anchor="ctr"/>
          <a:lstStyle/>
          <a:p>
            <a:pPr indent="0" marL="0">
              <a:buNone/>
            </a:pPr>
            <a:r>
              <a:rPr lang="en-US" sz="950" b="1" spc="120" kern="0" dirty="0">
                <a:solidFill>
                  <a:srgbClr val="FFFFFF"/>
                </a:solidFill>
                <a:latin typeface="Calibri" pitchFamily="34" charset="0"/>
                <a:ea typeface="Calibri" pitchFamily="34" charset="-122"/>
                <a:cs typeface="Calibri" pitchFamily="34" charset="-120"/>
              </a:rPr>
              <a:t>OVERSIMPLIFICATION HARMS</a:t>
            </a:r>
            <a:endParaRPr lang="en-US" sz="950" dirty="0"/>
          </a:p>
        </p:txBody>
      </p:sp>
      <p:sp>
        <p:nvSpPr>
          <p:cNvPr id="14" name="Shape 12"/>
          <p:cNvSpPr/>
          <p:nvPr/>
        </p:nvSpPr>
        <p:spPr>
          <a:xfrm>
            <a:off x="8092440" y="1170432"/>
            <a:ext cx="685800" cy="594360"/>
          </a:xfrm>
          <a:prstGeom prst="roundRect">
            <a:avLst>
              <a:gd name="adj" fmla="val 12308"/>
            </a:avLst>
          </a:prstGeom>
          <a:solidFill>
            <a:srgbClr val="E8636B">
              <a:alpha val="20000"/>
            </a:srgbClr>
          </a:solidFill>
          <a:ln/>
        </p:spPr>
      </p:sp>
      <p:sp>
        <p:nvSpPr>
          <p:cNvPr id="15" name="Text 13"/>
          <p:cNvSpPr/>
          <p:nvPr/>
        </p:nvSpPr>
        <p:spPr>
          <a:xfrm>
            <a:off x="8092440" y="1170432"/>
            <a:ext cx="685800" cy="594360"/>
          </a:xfrm>
          <a:prstGeom prst="rect">
            <a:avLst/>
          </a:prstGeom>
          <a:noFill/>
          <a:ln/>
        </p:spPr>
        <p:txBody>
          <a:bodyPr wrap="square" rtlCol="0" anchor="ctr"/>
          <a:lstStyle/>
          <a:p>
            <a:pPr algn="ctr" indent="0" marL="0">
              <a:buNone/>
            </a:pPr>
            <a:r>
              <a:rPr lang="en-US" sz="800" b="1" dirty="0">
                <a:solidFill>
                  <a:srgbClr val="E8636B"/>
                </a:solidFill>
                <a:latin typeface="Calibri" pitchFamily="34" charset="0"/>
                <a:ea typeface="Calibri" pitchFamily="34" charset="-122"/>
                <a:cs typeface="Calibri" pitchFamily="34" charset="-120"/>
              </a:rPr>
              <a:t>Accurate</a:t>
            </a:r>
            <a:endParaRPr lang="en-US" sz="800" dirty="0"/>
          </a:p>
          <a:p>
            <a:pPr algn="ctr" indent="0" marL="0">
              <a:buNone/>
            </a:pPr>
            <a:r>
              <a:rPr lang="en-US" sz="800" b="1" dirty="0">
                <a:solidFill>
                  <a:srgbClr val="E8636B"/>
                </a:solidFill>
                <a:latin typeface="Calibri" pitchFamily="34" charset="0"/>
                <a:ea typeface="Calibri" pitchFamily="34" charset="-122"/>
                <a:cs typeface="Calibri" pitchFamily="34" charset="-120"/>
              </a:rPr>
              <a:t>History</a:t>
            </a:r>
            <a:endParaRPr lang="en-US" sz="800" dirty="0"/>
          </a:p>
        </p:txBody>
      </p:sp>
      <p:sp>
        <p:nvSpPr>
          <p:cNvPr id="16" name="Text 14"/>
          <p:cNvSpPr/>
          <p:nvPr/>
        </p:nvSpPr>
        <p:spPr>
          <a:xfrm>
            <a:off x="4846320" y="1170432"/>
            <a:ext cx="3200400" cy="124358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When the Herald says "only because they looked impressive," it erases a civilization's engineering, ecology, and community planning. Bad history means readers get a false picture.</a:t>
            </a:r>
            <a:endParaRPr lang="en-US" sz="1050" dirty="0"/>
          </a:p>
        </p:txBody>
      </p:sp>
      <p:sp>
        <p:nvSpPr>
          <p:cNvPr id="17" name="Shape 15"/>
          <p:cNvSpPr/>
          <p:nvPr/>
        </p:nvSpPr>
        <p:spPr>
          <a:xfrm>
            <a:off x="256032" y="2596896"/>
            <a:ext cx="4206240" cy="1664208"/>
          </a:xfrm>
          <a:prstGeom prst="roundRect">
            <a:avLst>
              <a:gd name="adj" fmla="val 7692"/>
            </a:avLst>
          </a:prstGeom>
          <a:solidFill>
            <a:srgbClr val="FFFFFF"/>
          </a:solidFill>
          <a:ln w="22860">
            <a:solidFill>
              <a:srgbClr val="D4943A"/>
            </a:solidFill>
            <a:prstDash val="solid"/>
          </a:ln>
        </p:spPr>
      </p:sp>
      <p:sp>
        <p:nvSpPr>
          <p:cNvPr id="18" name="Shape 16"/>
          <p:cNvSpPr/>
          <p:nvPr/>
        </p:nvSpPr>
        <p:spPr>
          <a:xfrm>
            <a:off x="256032" y="2596896"/>
            <a:ext cx="4206240" cy="301752"/>
          </a:xfrm>
          <a:prstGeom prst="roundRect">
            <a:avLst>
              <a:gd name="adj" fmla="val 42424"/>
            </a:avLst>
          </a:prstGeom>
          <a:solidFill>
            <a:srgbClr val="D4943A"/>
          </a:solidFill>
          <a:ln/>
        </p:spPr>
      </p:sp>
      <p:sp>
        <p:nvSpPr>
          <p:cNvPr id="19" name="Text 17"/>
          <p:cNvSpPr/>
          <p:nvPr/>
        </p:nvSpPr>
        <p:spPr>
          <a:xfrm>
            <a:off x="365760" y="2633472"/>
            <a:ext cx="3986784" cy="228600"/>
          </a:xfrm>
          <a:prstGeom prst="rect">
            <a:avLst/>
          </a:prstGeom>
          <a:noFill/>
          <a:ln/>
        </p:spPr>
        <p:txBody>
          <a:bodyPr wrap="square" lIns="0" tIns="0" rIns="0" bIns="0" rtlCol="0" anchor="ctr"/>
          <a:lstStyle/>
          <a:p>
            <a:pPr indent="0" marL="0">
              <a:buNone/>
            </a:pPr>
            <a:r>
              <a:rPr lang="en-US" sz="950" b="1" spc="120" kern="0" dirty="0">
                <a:solidFill>
                  <a:srgbClr val="FFFFFF"/>
                </a:solidFill>
                <a:latin typeface="Calibri" pitchFamily="34" charset="0"/>
                <a:ea typeface="Calibri" pitchFamily="34" charset="-122"/>
                <a:cs typeface="Calibri" pitchFamily="34" charset="-120"/>
              </a:rPr>
              <a:t>EVIDENCE CHANGES STORIES</a:t>
            </a:r>
            <a:endParaRPr lang="en-US" sz="950" dirty="0"/>
          </a:p>
        </p:txBody>
      </p:sp>
      <p:sp>
        <p:nvSpPr>
          <p:cNvPr id="20" name="Shape 18"/>
          <p:cNvSpPr/>
          <p:nvPr/>
        </p:nvSpPr>
        <p:spPr>
          <a:xfrm>
            <a:off x="3639312" y="2962656"/>
            <a:ext cx="685800" cy="594360"/>
          </a:xfrm>
          <a:prstGeom prst="roundRect">
            <a:avLst>
              <a:gd name="adj" fmla="val 12308"/>
            </a:avLst>
          </a:prstGeom>
          <a:solidFill>
            <a:srgbClr val="D4943A">
              <a:alpha val="20000"/>
            </a:srgbClr>
          </a:solidFill>
          <a:ln/>
        </p:spPr>
      </p:sp>
      <p:sp>
        <p:nvSpPr>
          <p:cNvPr id="21" name="Text 19"/>
          <p:cNvSpPr/>
          <p:nvPr/>
        </p:nvSpPr>
        <p:spPr>
          <a:xfrm>
            <a:off x="3639312" y="2962656"/>
            <a:ext cx="685800" cy="594360"/>
          </a:xfrm>
          <a:prstGeom prst="rect">
            <a:avLst/>
          </a:prstGeom>
          <a:noFill/>
          <a:ln/>
        </p:spPr>
        <p:txBody>
          <a:bodyPr wrap="square" rtlCol="0" anchor="ctr"/>
          <a:lstStyle/>
          <a:p>
            <a:pPr algn="ctr" indent="0" marL="0">
              <a:buNone/>
            </a:pPr>
            <a:r>
              <a:rPr lang="en-US" sz="800" b="1" dirty="0">
                <a:solidFill>
                  <a:srgbClr val="D4943A"/>
                </a:solidFill>
                <a:latin typeface="Calibri" pitchFamily="34" charset="0"/>
                <a:ea typeface="Calibri" pitchFamily="34" charset="-122"/>
                <a:cs typeface="Calibri" pitchFamily="34" charset="-120"/>
              </a:rPr>
              <a:t>Evidence</a:t>
            </a:r>
            <a:endParaRPr lang="en-US" sz="800" dirty="0"/>
          </a:p>
          <a:p>
            <a:pPr algn="ctr" indent="0" marL="0">
              <a:buNone/>
            </a:pPr>
            <a:r>
              <a:rPr lang="en-US" sz="800" b="1" dirty="0">
                <a:solidFill>
                  <a:srgbClr val="D4943A"/>
                </a:solidFill>
                <a:latin typeface="Calibri" pitchFamily="34" charset="0"/>
                <a:ea typeface="Calibri" pitchFamily="34" charset="-122"/>
                <a:cs typeface="Calibri" pitchFamily="34" charset="-120"/>
              </a:rPr>
              <a:t>Matters</a:t>
            </a:r>
            <a:endParaRPr lang="en-US" sz="800" dirty="0"/>
          </a:p>
        </p:txBody>
      </p:sp>
      <p:sp>
        <p:nvSpPr>
          <p:cNvPr id="22" name="Text 20"/>
          <p:cNvSpPr/>
          <p:nvPr/>
        </p:nvSpPr>
        <p:spPr>
          <a:xfrm>
            <a:off x="393192" y="2962656"/>
            <a:ext cx="3200400" cy="124358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Before archaeology, many people assumed cliff dwellings were "mysterious" or built for unknown reasons. Evidence — careful observation — replaced mystery with understanding.</a:t>
            </a:r>
            <a:endParaRPr lang="en-US" sz="1050" dirty="0"/>
          </a:p>
        </p:txBody>
      </p:sp>
      <p:sp>
        <p:nvSpPr>
          <p:cNvPr id="23" name="Shape 21"/>
          <p:cNvSpPr/>
          <p:nvPr/>
        </p:nvSpPr>
        <p:spPr>
          <a:xfrm>
            <a:off x="4709160" y="2596896"/>
            <a:ext cx="4206240" cy="1664208"/>
          </a:xfrm>
          <a:prstGeom prst="roundRect">
            <a:avLst>
              <a:gd name="adj" fmla="val 7692"/>
            </a:avLst>
          </a:prstGeom>
          <a:solidFill>
            <a:srgbClr val="FFFFFF"/>
          </a:solidFill>
          <a:ln w="22860">
            <a:solidFill>
              <a:srgbClr val="8B6FC0"/>
            </a:solidFill>
            <a:prstDash val="solid"/>
          </a:ln>
        </p:spPr>
      </p:sp>
      <p:sp>
        <p:nvSpPr>
          <p:cNvPr id="24" name="Shape 22"/>
          <p:cNvSpPr/>
          <p:nvPr/>
        </p:nvSpPr>
        <p:spPr>
          <a:xfrm>
            <a:off x="4709160" y="2596896"/>
            <a:ext cx="4206240" cy="301752"/>
          </a:xfrm>
          <a:prstGeom prst="roundRect">
            <a:avLst>
              <a:gd name="adj" fmla="val 42424"/>
            </a:avLst>
          </a:prstGeom>
          <a:solidFill>
            <a:srgbClr val="8B6FC0"/>
          </a:solidFill>
          <a:ln/>
        </p:spPr>
      </p:sp>
      <p:sp>
        <p:nvSpPr>
          <p:cNvPr id="25" name="Text 23"/>
          <p:cNvSpPr/>
          <p:nvPr/>
        </p:nvSpPr>
        <p:spPr>
          <a:xfrm>
            <a:off x="4818888" y="2633472"/>
            <a:ext cx="3986784" cy="228600"/>
          </a:xfrm>
          <a:prstGeom prst="rect">
            <a:avLst/>
          </a:prstGeom>
          <a:noFill/>
          <a:ln/>
        </p:spPr>
        <p:txBody>
          <a:bodyPr wrap="square" lIns="0" tIns="0" rIns="0" bIns="0" rtlCol="0" anchor="ctr"/>
          <a:lstStyle/>
          <a:p>
            <a:pPr indent="0" marL="0">
              <a:buNone/>
            </a:pPr>
            <a:r>
              <a:rPr lang="en-US" sz="950" b="1" spc="120" kern="0" dirty="0">
                <a:solidFill>
                  <a:srgbClr val="FFFFFF"/>
                </a:solidFill>
                <a:latin typeface="Calibri" pitchFamily="34" charset="0"/>
                <a:ea typeface="Calibri" pitchFamily="34" charset="-122"/>
                <a:cs typeface="Calibri" pitchFamily="34" charset="-120"/>
              </a:rPr>
              <a:t>SERVICE IN REPORTING</a:t>
            </a:r>
            <a:endParaRPr lang="en-US" sz="950" dirty="0"/>
          </a:p>
        </p:txBody>
      </p:sp>
      <p:sp>
        <p:nvSpPr>
          <p:cNvPr id="26" name="Shape 24"/>
          <p:cNvSpPr/>
          <p:nvPr/>
        </p:nvSpPr>
        <p:spPr>
          <a:xfrm>
            <a:off x="8092440" y="2962656"/>
            <a:ext cx="685800" cy="594360"/>
          </a:xfrm>
          <a:prstGeom prst="roundRect">
            <a:avLst>
              <a:gd name="adj" fmla="val 12308"/>
            </a:avLst>
          </a:prstGeom>
          <a:solidFill>
            <a:srgbClr val="8B6FC0">
              <a:alpha val="20000"/>
            </a:srgbClr>
          </a:solidFill>
          <a:ln/>
        </p:spPr>
      </p:sp>
      <p:sp>
        <p:nvSpPr>
          <p:cNvPr id="27" name="Text 25"/>
          <p:cNvSpPr/>
          <p:nvPr/>
        </p:nvSpPr>
        <p:spPr>
          <a:xfrm>
            <a:off x="8092440" y="2962656"/>
            <a:ext cx="685800" cy="594360"/>
          </a:xfrm>
          <a:prstGeom prst="rect">
            <a:avLst/>
          </a:prstGeom>
          <a:noFill/>
          <a:ln/>
        </p:spPr>
        <p:txBody>
          <a:bodyPr wrap="square" rtlCol="0" anchor="ctr"/>
          <a:lstStyle/>
          <a:p>
            <a:pPr algn="ctr" indent="0" marL="0">
              <a:buNone/>
            </a:pPr>
            <a:r>
              <a:rPr lang="en-US" sz="800" b="1" dirty="0">
                <a:solidFill>
                  <a:srgbClr val="8B6FC0"/>
                </a:solidFill>
                <a:latin typeface="Calibri" pitchFamily="34" charset="0"/>
                <a:ea typeface="Calibri" pitchFamily="34" charset="-122"/>
                <a:cs typeface="Calibri" pitchFamily="34" charset="-120"/>
              </a:rPr>
              <a:t>Service</a:t>
            </a:r>
            <a:endParaRPr lang="en-US" sz="800" dirty="0"/>
          </a:p>
          <a:p>
            <a:pPr algn="ctr" indent="0" marL="0">
              <a:buNone/>
            </a:pPr>
            <a:r>
              <a:rPr lang="en-US" sz="800" b="1" dirty="0">
                <a:solidFill>
                  <a:srgbClr val="8B6FC0"/>
                </a:solidFill>
                <a:latin typeface="Calibri" pitchFamily="34" charset="0"/>
                <a:ea typeface="Calibri" pitchFamily="34" charset="-122"/>
                <a:cs typeface="Calibri" pitchFamily="34" charset="-120"/>
              </a:rPr>
              <a:t>in Action</a:t>
            </a:r>
            <a:endParaRPr lang="en-US" sz="800" dirty="0"/>
          </a:p>
        </p:txBody>
      </p:sp>
      <p:sp>
        <p:nvSpPr>
          <p:cNvPr id="28" name="Text 26"/>
          <p:cNvSpPr/>
          <p:nvPr/>
        </p:nvSpPr>
        <p:spPr>
          <a:xfrm>
            <a:off x="4846320" y="2962656"/>
            <a:ext cx="3200400" cy="124358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A journalist who values service writes stories that help readers understand reality. Today's virtue is the same: serve readers with accuracy, not just with what sounds dramatic.</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347472"/>
          </a:xfrm>
          <a:prstGeom prst="rect">
            <a:avLst/>
          </a:prstGeom>
          <a:solidFill>
            <a:srgbClr val="D4943A"/>
          </a:solidFill>
          <a:ln/>
        </p:spPr>
      </p:sp>
      <p:sp>
        <p:nvSpPr>
          <p:cNvPr id="6" name="Text 3"/>
          <p:cNvSpPr/>
          <p:nvPr/>
        </p:nvSpPr>
        <p:spPr>
          <a:xfrm>
            <a:off x="274320" y="54864"/>
            <a:ext cx="8595360" cy="237744"/>
          </a:xfrm>
          <a:prstGeom prst="rect">
            <a:avLst/>
          </a:prstGeom>
          <a:noFill/>
          <a:ln/>
        </p:spPr>
        <p:txBody>
          <a:bodyPr wrap="square"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VIRTUE LENS  ·  LESSON 5.03.02</a:t>
            </a:r>
            <a:endParaRPr lang="en-US" sz="900" dirty="0"/>
          </a:p>
        </p:txBody>
      </p:sp>
      <p:sp>
        <p:nvSpPr>
          <p:cNvPr id="7" name="Shape 4"/>
          <p:cNvSpPr/>
          <p:nvPr/>
        </p:nvSpPr>
        <p:spPr>
          <a:xfrm>
            <a:off x="3200400" y="502920"/>
            <a:ext cx="2743200" cy="384048"/>
          </a:xfrm>
          <a:prstGeom prst="roundRect">
            <a:avLst>
              <a:gd name="adj" fmla="val 28571"/>
            </a:avLst>
          </a:prstGeom>
          <a:solidFill>
            <a:srgbClr val="D4943A">
              <a:alpha val="85000"/>
            </a:srgbClr>
          </a:solidFill>
          <a:ln w="19050">
            <a:solidFill>
              <a:srgbClr val="D4943A"/>
            </a:solidFill>
            <a:prstDash val="solid"/>
          </a:ln>
        </p:spPr>
      </p:sp>
      <p:sp>
        <p:nvSpPr>
          <p:cNvPr id="8" name="Text 5"/>
          <p:cNvSpPr/>
          <p:nvPr/>
        </p:nvSpPr>
        <p:spPr>
          <a:xfrm>
            <a:off x="3200400" y="502920"/>
            <a:ext cx="2743200" cy="384048"/>
          </a:xfrm>
          <a:prstGeom prst="rect">
            <a:avLst/>
          </a:prstGeom>
          <a:noFill/>
          <a:ln/>
        </p:spPr>
        <p:txBody>
          <a:bodyPr wrap="square" rtlCol="0" anchor="ctr"/>
          <a:lstStyle/>
          <a:p>
            <a:pPr algn="ctr" indent="0" marL="0">
              <a:buNone/>
            </a:pPr>
            <a:r>
              <a:rPr lang="en-US" sz="2200" b="1" spc="500" kern="0" dirty="0">
                <a:solidFill>
                  <a:srgbClr val="D4943A"/>
                </a:solidFill>
                <a:latin typeface="Cambria" pitchFamily="34" charset="0"/>
                <a:ea typeface="Cambria" pitchFamily="34" charset="-122"/>
                <a:cs typeface="Cambria" pitchFamily="34" charset="-120"/>
              </a:rPr>
              <a:t>SERVICE</a:t>
            </a:r>
            <a:endParaRPr lang="en-US" sz="2200" dirty="0"/>
          </a:p>
        </p:txBody>
      </p:sp>
      <p:sp>
        <p:nvSpPr>
          <p:cNvPr id="9" name="Text 6"/>
          <p:cNvSpPr/>
          <p:nvPr/>
        </p:nvSpPr>
        <p:spPr>
          <a:xfrm>
            <a:off x="731520" y="1005840"/>
            <a:ext cx="7680960" cy="713232"/>
          </a:xfrm>
          <a:prstGeom prst="rect">
            <a:avLst/>
          </a:prstGeom>
          <a:noFill/>
          <a:ln/>
        </p:spPr>
        <p:txBody>
          <a:bodyPr wrap="square"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"An editor who values service writes stories</a:t>
            </a:r>
            <a:endParaRPr lang="en-US" sz="1700" dirty="0"/>
          </a:p>
          <a:p>
            <a:pPr algn="ctr" indent="0" marL="0">
              <a:buNone/>
            </a:pPr>
            <a:r>
              <a:rPr lang="en-US" sz="1700" i="1" dirty="0">
                <a:solidFill>
                  <a:srgbClr val="FFFFFF"/>
                </a:solidFill>
                <a:latin typeface="Cambria" pitchFamily="34" charset="0"/>
                <a:ea typeface="Cambria" pitchFamily="34" charset="-122"/>
                <a:cs typeface="Cambria" pitchFamily="34" charset="-120"/>
              </a:rPr>
              <a:t>that help the community understand the truth."</a:t>
            </a:r>
            <a:endParaRPr lang="en-US" sz="1700" dirty="0"/>
          </a:p>
        </p:txBody>
      </p:sp>
      <p:sp>
        <p:nvSpPr>
          <p:cNvPr id="10" name="Text 7"/>
          <p:cNvSpPr/>
          <p:nvPr/>
        </p:nvSpPr>
        <p:spPr>
          <a:xfrm>
            <a:off x="2286000" y="1783080"/>
            <a:ext cx="4572000" cy="274320"/>
          </a:xfrm>
          <a:prstGeom prst="rect">
            <a:avLst/>
          </a:prstGeom>
          <a:noFill/>
          <a:ln/>
        </p:spPr>
        <p:txBody>
          <a:bodyPr wrap="square" rtlCol="0" anchor="ctr"/>
          <a:lstStyle/>
          <a:p>
            <a:pPr algn="ctr" indent="0" marL="0">
              <a:buNone/>
            </a:pPr>
            <a:r>
              <a:rPr lang="en-US" sz="1100" i="1" dirty="0">
                <a:solidFill>
                  <a:srgbClr val="D4943A"/>
                </a:solidFill>
                <a:latin typeface="Calibri" pitchFamily="34" charset="0"/>
                <a:ea typeface="Calibri" pitchFamily="34" charset="-122"/>
                <a:cs typeface="Calibri" pitchFamily="34" charset="-120"/>
              </a:rPr>
              <a:t>— Ms. Avery, Editor-in-Chief</a:t>
            </a:r>
            <a:endParaRPr lang="en-US" sz="1100" dirty="0"/>
          </a:p>
        </p:txBody>
      </p:sp>
      <p:sp>
        <p:nvSpPr>
          <p:cNvPr id="11" name="Shape 8"/>
          <p:cNvSpPr/>
          <p:nvPr/>
        </p:nvSpPr>
        <p:spPr>
          <a:xfrm>
            <a:off x="365760" y="2176272"/>
            <a:ext cx="3886200" cy="1719072"/>
          </a:xfrm>
          <a:prstGeom prst="roundRect">
            <a:avLst>
              <a:gd name="adj" fmla="val 7447"/>
            </a:avLst>
          </a:prstGeom>
          <a:solidFill>
            <a:srgbClr val="1A2D5A">
              <a:alpha val="90000"/>
            </a:srgbClr>
          </a:solidFill>
          <a:ln w="19050">
            <a:solidFill>
              <a:srgbClr val="D4943A"/>
            </a:solidFill>
            <a:prstDash val="solid"/>
          </a:ln>
        </p:spPr>
      </p:sp>
      <p:sp>
        <p:nvSpPr>
          <p:cNvPr id="12" name="Text 9"/>
          <p:cNvSpPr/>
          <p:nvPr/>
        </p:nvSpPr>
        <p:spPr>
          <a:xfrm>
            <a:off x="502920" y="2231136"/>
            <a:ext cx="3611880" cy="256032"/>
          </a:xfrm>
          <a:prstGeom prst="rect">
            <a:avLst/>
          </a:prstGeom>
          <a:noFill/>
          <a:ln/>
        </p:spPr>
        <p:txBody>
          <a:bodyPr wrap="square" rtlCol="0" anchor="ctr"/>
          <a:lstStyle/>
          <a:p>
            <a:pPr indent="0" marL="0">
              <a:buNone/>
            </a:pPr>
            <a:r>
              <a:rPr lang="en-US" sz="1050" b="1" dirty="0">
                <a:solidFill>
                  <a:srgbClr val="D4943A"/>
                </a:solidFill>
                <a:latin typeface="Calibri" pitchFamily="34" charset="0"/>
                <a:ea typeface="Calibri" pitchFamily="34" charset="-122"/>
                <a:cs typeface="Calibri" pitchFamily="34" charset="-120"/>
              </a:rPr>
              <a:t>The Ancestral Pueblo and Service</a:t>
            </a:r>
            <a:endParaRPr lang="en-US" sz="1050" dirty="0"/>
          </a:p>
        </p:txBody>
      </p:sp>
      <p:sp>
        <p:nvSpPr>
          <p:cNvPr id="13" name="Text 10"/>
          <p:cNvSpPr/>
          <p:nvPr/>
        </p:nvSpPr>
        <p:spPr>
          <a:xfrm>
            <a:off x="502920" y="2523744"/>
            <a:ext cx="3611880" cy="1316736"/>
          </a:xfrm>
          <a:prstGeom prst="rect">
            <a:avLst/>
          </a:prstGeom>
          <a:noFill/>
          <a:ln/>
        </p:spPr>
        <p:txBody>
          <a:bodyPr wrap="square" rtlCol="0" anchor="t"/>
          <a:lstStyle/>
          <a:p>
            <a:pPr indent="0" marL="0">
              <a:buNone/>
            </a:pPr>
            <a:r>
              <a:rPr lang="en-US" sz="1100" dirty="0">
                <a:solidFill>
                  <a:srgbClr val="E8F4FF"/>
                </a:solidFill>
                <a:latin typeface="Calibri" pitchFamily="34" charset="0"/>
                <a:ea typeface="Calibri" pitchFamily="34" charset="-122"/>
                <a:cs typeface="Calibri" pitchFamily="34" charset="-120"/>
              </a:rPr>
              <a:t>Their cliff dwellings served the community's real needs — climate, protection, farming, and gathering. Kivas weren't for individual use; they were for everyone. Service meant thinking about what the community needed, not what looked most impressive.</a:t>
            </a:r>
            <a:endParaRPr lang="en-US" sz="1100" dirty="0"/>
          </a:p>
        </p:txBody>
      </p:sp>
      <p:sp>
        <p:nvSpPr>
          <p:cNvPr id="14" name="Shape 11"/>
          <p:cNvSpPr/>
          <p:nvPr/>
        </p:nvSpPr>
        <p:spPr>
          <a:xfrm>
            <a:off x="4892040" y="2176272"/>
            <a:ext cx="3886200" cy="1719072"/>
          </a:xfrm>
          <a:prstGeom prst="roundRect">
            <a:avLst>
              <a:gd name="adj" fmla="val 7447"/>
            </a:avLst>
          </a:prstGeom>
          <a:solidFill>
            <a:srgbClr val="1A2D5A">
              <a:alpha val="90000"/>
            </a:srgbClr>
          </a:solidFill>
          <a:ln w="19050">
            <a:solidFill>
              <a:srgbClr val="55C8E8"/>
            </a:solidFill>
            <a:prstDash val="solid"/>
          </a:ln>
        </p:spPr>
      </p:sp>
      <p:sp>
        <p:nvSpPr>
          <p:cNvPr id="15" name="Text 12"/>
          <p:cNvSpPr/>
          <p:nvPr/>
        </p:nvSpPr>
        <p:spPr>
          <a:xfrm>
            <a:off x="5029200" y="2231136"/>
            <a:ext cx="3611880" cy="256032"/>
          </a:xfrm>
          <a:prstGeom prst="rect">
            <a:avLst/>
          </a:prstGeom>
          <a:noFill/>
          <a:ln/>
        </p:spPr>
        <p:txBody>
          <a:bodyPr wrap="square" rtlCol="0" anchor="ctr"/>
          <a:lstStyle/>
          <a:p>
            <a:pPr indent="0" marL="0">
              <a:buNone/>
            </a:pPr>
            <a:r>
              <a:rPr lang="en-US" sz="1050" b="1" dirty="0">
                <a:solidFill>
                  <a:srgbClr val="55C8E8"/>
                </a:solidFill>
                <a:latin typeface="Calibri" pitchFamily="34" charset="0"/>
                <a:ea typeface="Calibri" pitchFamily="34" charset="-122"/>
                <a:cs typeface="Calibri" pitchFamily="34" charset="-120"/>
              </a:rPr>
              <a:t>You as a Junior Editor</a:t>
            </a:r>
            <a:endParaRPr lang="en-US" sz="1050" dirty="0"/>
          </a:p>
        </p:txBody>
      </p:sp>
      <p:sp>
        <p:nvSpPr>
          <p:cNvPr id="16" name="Text 13"/>
          <p:cNvSpPr/>
          <p:nvPr/>
        </p:nvSpPr>
        <p:spPr>
          <a:xfrm>
            <a:off x="5029200" y="2523744"/>
            <a:ext cx="3611880" cy="1316736"/>
          </a:xfrm>
          <a:prstGeom prst="rect">
            <a:avLst/>
          </a:prstGeom>
          <a:noFill/>
          <a:ln/>
        </p:spPr>
        <p:txBody>
          <a:bodyPr wrap="square" rtlCol="0" anchor="t"/>
          <a:lstStyle/>
          <a:p>
            <a:pPr indent="0" marL="0">
              <a:buNone/>
            </a:pPr>
            <a:r>
              <a:rPr lang="en-US" sz="1100" dirty="0">
                <a:solidFill>
                  <a:srgbClr val="E8F4FF"/>
                </a:solidFill>
                <a:latin typeface="Calibri" pitchFamily="34" charset="0"/>
                <a:ea typeface="Calibri" pitchFamily="34" charset="-122"/>
                <a:cs typeface="Calibri" pitchFamily="34" charset="-120"/>
              </a:rPr>
              <a:t>Your Gazette Correction serves readers who deserve the truth. Writing "only because they looked impressive" serves the headline — not the reader. A correction that names real evidence serves the community. That is the virtue in practice.</a:t>
            </a:r>
            <a:endParaRPr lang="en-US" sz="1100" dirty="0"/>
          </a:p>
        </p:txBody>
      </p:sp>
      <p:sp>
        <p:nvSpPr>
          <p:cNvPr id="17" name="Shape 14"/>
          <p:cNvSpPr/>
          <p:nvPr/>
        </p:nvSpPr>
        <p:spPr>
          <a:xfrm>
            <a:off x="914400" y="3986784"/>
            <a:ext cx="7315200" cy="548640"/>
          </a:xfrm>
          <a:prstGeom prst="roundRect">
            <a:avLst>
              <a:gd name="adj" fmla="val 20000"/>
            </a:avLst>
          </a:prstGeom>
          <a:solidFill>
            <a:srgbClr val="0B1835">
              <a:alpha val="85000"/>
            </a:srgbClr>
          </a:solidFill>
          <a:ln w="12700">
            <a:solidFill>
              <a:srgbClr val="D4943A"/>
            </a:solidFill>
            <a:prstDash val="solid"/>
          </a:ln>
        </p:spPr>
      </p:sp>
      <p:sp>
        <p:nvSpPr>
          <p:cNvPr id="18" name="Text 15"/>
          <p:cNvSpPr/>
          <p:nvPr/>
        </p:nvSpPr>
        <p:spPr>
          <a:xfrm>
            <a:off x="1051560" y="4023360"/>
            <a:ext cx="7040880" cy="475488"/>
          </a:xfrm>
          <a:prstGeom prst="rect">
            <a:avLst/>
          </a:prstGeom>
          <a:noFill/>
          <a:ln/>
        </p:spPr>
        <p:txBody>
          <a:bodyPr wrap="square" rtlCol="0" anchor="ctr"/>
          <a:lstStyle/>
          <a:p>
            <a:pPr algn="ctr" indent="0" marL="0">
              <a:buNone/>
            </a:pPr>
            <a:r>
              <a:rPr lang="en-US" sz="1200" i="1" dirty="0">
                <a:solidFill>
                  <a:srgbClr val="FFF3DC"/>
                </a:solidFill>
                <a:latin typeface="Cambria" pitchFamily="34" charset="0"/>
                <a:ea typeface="Cambria" pitchFamily="34" charset="-122"/>
                <a:cs typeface="Cambria" pitchFamily="34" charset="-120"/>
              </a:rPr>
              <a:t>Think: When have you chosen to give someone the full truth, even when the short version was easier?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GUIDED PRACTICE  ·  I DO  (watch me model it)</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How to Write a Gazette Correction</a:t>
            </a:r>
            <a:endParaRPr lang="en-US" sz="2000" dirty="0"/>
          </a:p>
        </p:txBody>
      </p:sp>
      <p:sp>
        <p:nvSpPr>
          <p:cNvPr id="5" name="Shape 3"/>
          <p:cNvSpPr/>
          <p:nvPr/>
        </p:nvSpPr>
        <p:spPr>
          <a:xfrm>
            <a:off x="274320" y="749808"/>
            <a:ext cx="8549640" cy="475488"/>
          </a:xfrm>
          <a:prstGeom prst="roundRect">
            <a:avLst>
              <a:gd name="adj" fmla="val 19231"/>
            </a:avLst>
          </a:prstGeom>
          <a:solidFill>
            <a:srgbClr val="1A2D5A"/>
          </a:solidFill>
          <a:ln w="19050">
            <a:solidFill>
              <a:srgbClr val="D4943A"/>
            </a:solidFill>
            <a:prstDash val="solid"/>
          </a:ln>
        </p:spPr>
      </p:sp>
      <p:sp>
        <p:nvSpPr>
          <p:cNvPr id="6" name="Text 4"/>
          <p:cNvSpPr/>
          <p:nvPr/>
        </p:nvSpPr>
        <p:spPr>
          <a:xfrm>
            <a:off x="457200" y="786384"/>
            <a:ext cx="8229600" cy="402336"/>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A Gazette Correction has THREE parts:  (1) Quote the Herald's claim.  (2) Name evidence that corrects it.  (3) Rewrite the claim so it is accurate and fair.</a:t>
            </a:r>
            <a:endParaRPr lang="en-US" sz="1100" dirty="0"/>
          </a:p>
        </p:txBody>
      </p:sp>
      <p:sp>
        <p:nvSpPr>
          <p:cNvPr id="7" name="Shape 5"/>
          <p:cNvSpPr/>
          <p:nvPr/>
        </p:nvSpPr>
        <p:spPr>
          <a:xfrm>
            <a:off x="274320" y="1316736"/>
            <a:ext cx="8549640" cy="932688"/>
          </a:xfrm>
          <a:prstGeom prst="roundRect">
            <a:avLst>
              <a:gd name="adj" fmla="val 11765"/>
            </a:avLst>
          </a:prstGeom>
          <a:solidFill>
            <a:srgbClr val="FFFFFF"/>
          </a:solidFill>
          <a:ln w="25400">
            <a:solidFill>
              <a:srgbClr val="E8636B"/>
            </a:solidFill>
            <a:prstDash val="solid"/>
          </a:ln>
        </p:spPr>
      </p:sp>
      <p:sp>
        <p:nvSpPr>
          <p:cNvPr id="8" name="Shape 6"/>
          <p:cNvSpPr/>
          <p:nvPr/>
        </p:nvSpPr>
        <p:spPr>
          <a:xfrm>
            <a:off x="274320" y="1499616"/>
            <a:ext cx="420624" cy="420624"/>
          </a:xfrm>
          <a:prstGeom prst="ellipse">
            <a:avLst/>
          </a:prstGeom>
          <a:solidFill>
            <a:srgbClr val="E8636B"/>
          </a:solidFill>
          <a:ln/>
        </p:spPr>
      </p:sp>
      <p:sp>
        <p:nvSpPr>
          <p:cNvPr id="9" name="Text 7"/>
          <p:cNvSpPr/>
          <p:nvPr/>
        </p:nvSpPr>
        <p:spPr>
          <a:xfrm>
            <a:off x="274320" y="1499616"/>
            <a:ext cx="420624" cy="420624"/>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777240" y="1371600"/>
            <a:ext cx="7909560" cy="219456"/>
          </a:xfrm>
          <a:prstGeom prst="rect">
            <a:avLst/>
          </a:prstGeom>
          <a:noFill/>
          <a:ln/>
        </p:spPr>
        <p:txBody>
          <a:bodyPr wrap="square" lIns="0" tIns="0" rIns="0" bIns="0" rtlCol="0" anchor="ctr"/>
          <a:lstStyle/>
          <a:p>
            <a:pPr indent="0" marL="0">
              <a:buNone/>
            </a:pPr>
            <a:r>
              <a:rPr lang="en-US" sz="950" b="1" spc="50" kern="0" dirty="0">
                <a:solidFill>
                  <a:srgbClr val="E8636B"/>
                </a:solidFill>
                <a:latin typeface="Calibri" pitchFamily="34" charset="0"/>
                <a:ea typeface="Calibri" pitchFamily="34" charset="-122"/>
                <a:cs typeface="Calibri" pitchFamily="34" charset="-120"/>
              </a:rPr>
              <a:t>Quote the Herald:</a:t>
            </a:r>
            <a:endParaRPr lang="en-US" sz="950" dirty="0"/>
          </a:p>
        </p:txBody>
      </p:sp>
      <p:sp>
        <p:nvSpPr>
          <p:cNvPr id="11" name="Text 9"/>
          <p:cNvSpPr/>
          <p:nvPr/>
        </p:nvSpPr>
        <p:spPr>
          <a:xfrm>
            <a:off x="777240" y="1591056"/>
            <a:ext cx="7909560" cy="60350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The Hasty Herald reported: "The Ancestral Pueblo built cliff dwellings only because they looked impressive."</a:t>
            </a:r>
            <a:endParaRPr lang="en-US" sz="1050" dirty="0"/>
          </a:p>
        </p:txBody>
      </p:sp>
      <p:sp>
        <p:nvSpPr>
          <p:cNvPr id="12" name="Shape 10"/>
          <p:cNvSpPr/>
          <p:nvPr/>
        </p:nvSpPr>
        <p:spPr>
          <a:xfrm>
            <a:off x="274320" y="2322576"/>
            <a:ext cx="8549640" cy="932688"/>
          </a:xfrm>
          <a:prstGeom prst="roundRect">
            <a:avLst>
              <a:gd name="adj" fmla="val 11765"/>
            </a:avLst>
          </a:prstGeom>
          <a:solidFill>
            <a:srgbClr val="FFFFFF"/>
          </a:solidFill>
          <a:ln w="25400">
            <a:solidFill>
              <a:srgbClr val="1A8A7D"/>
            </a:solidFill>
            <a:prstDash val="solid"/>
          </a:ln>
        </p:spPr>
      </p:sp>
      <p:sp>
        <p:nvSpPr>
          <p:cNvPr id="13" name="Shape 11"/>
          <p:cNvSpPr/>
          <p:nvPr/>
        </p:nvSpPr>
        <p:spPr>
          <a:xfrm>
            <a:off x="274320" y="2505456"/>
            <a:ext cx="420624" cy="420624"/>
          </a:xfrm>
          <a:prstGeom prst="ellipse">
            <a:avLst/>
          </a:prstGeom>
          <a:solidFill>
            <a:srgbClr val="1A8A7D"/>
          </a:solidFill>
          <a:ln/>
        </p:spPr>
      </p:sp>
      <p:sp>
        <p:nvSpPr>
          <p:cNvPr id="14" name="Text 12"/>
          <p:cNvSpPr/>
          <p:nvPr/>
        </p:nvSpPr>
        <p:spPr>
          <a:xfrm>
            <a:off x="274320" y="2505456"/>
            <a:ext cx="420624" cy="420624"/>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p:nvPr/>
        </p:nvSpPr>
        <p:spPr>
          <a:xfrm>
            <a:off x="777240" y="2377440"/>
            <a:ext cx="7909560" cy="219456"/>
          </a:xfrm>
          <a:prstGeom prst="rect">
            <a:avLst/>
          </a:prstGeom>
          <a:noFill/>
          <a:ln/>
        </p:spPr>
        <p:txBody>
          <a:bodyPr wrap="square" lIns="0" tIns="0" rIns="0" bIns="0" rtlCol="0" anchor="ctr"/>
          <a:lstStyle/>
          <a:p>
            <a:pPr indent="0" marL="0">
              <a:buNone/>
            </a:pPr>
            <a:r>
              <a:rPr lang="en-US" sz="950" b="1" spc="50" kern="0" dirty="0">
                <a:solidFill>
                  <a:srgbClr val="1A8A7D"/>
                </a:solidFill>
                <a:latin typeface="Calibri" pitchFamily="34" charset="0"/>
                <a:ea typeface="Calibri" pitchFamily="34" charset="-122"/>
                <a:cs typeface="Calibri" pitchFamily="34" charset="-120"/>
              </a:rPr>
              <a:t>Name the Evidence:</a:t>
            </a:r>
            <a:endParaRPr lang="en-US" sz="950" dirty="0"/>
          </a:p>
        </p:txBody>
      </p:sp>
      <p:sp>
        <p:nvSpPr>
          <p:cNvPr id="16" name="Text 14"/>
          <p:cNvSpPr/>
          <p:nvPr/>
        </p:nvSpPr>
        <p:spPr>
          <a:xfrm>
            <a:off x="777240" y="2596896"/>
            <a:ext cx="7909560" cy="60350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However, the source record shows that south-facing alcoves captured winter warmth and provided summer shade, the cliff location provided protection, and flat mesa tops above offered farmland for corn, beans, and squash. Kivas — circular community rooms — show the dwellings were designed for shared life.</a:t>
            </a:r>
            <a:endParaRPr lang="en-US" sz="1050" dirty="0"/>
          </a:p>
        </p:txBody>
      </p:sp>
      <p:sp>
        <p:nvSpPr>
          <p:cNvPr id="17" name="Shape 15"/>
          <p:cNvSpPr/>
          <p:nvPr/>
        </p:nvSpPr>
        <p:spPr>
          <a:xfrm>
            <a:off x="274320" y="3328416"/>
            <a:ext cx="8549640" cy="932688"/>
          </a:xfrm>
          <a:prstGeom prst="roundRect">
            <a:avLst>
              <a:gd name="adj" fmla="val 11765"/>
            </a:avLst>
          </a:prstGeom>
          <a:solidFill>
            <a:srgbClr val="FFFFFF"/>
          </a:solidFill>
          <a:ln w="25400">
            <a:solidFill>
              <a:srgbClr val="34B76F"/>
            </a:solidFill>
            <a:prstDash val="solid"/>
          </a:ln>
        </p:spPr>
      </p:sp>
      <p:sp>
        <p:nvSpPr>
          <p:cNvPr id="18" name="Shape 16"/>
          <p:cNvSpPr/>
          <p:nvPr/>
        </p:nvSpPr>
        <p:spPr>
          <a:xfrm>
            <a:off x="274320" y="3511296"/>
            <a:ext cx="420624" cy="420624"/>
          </a:xfrm>
          <a:prstGeom prst="ellipse">
            <a:avLst/>
          </a:prstGeom>
          <a:solidFill>
            <a:srgbClr val="34B76F"/>
          </a:solidFill>
          <a:ln/>
        </p:spPr>
      </p:sp>
      <p:sp>
        <p:nvSpPr>
          <p:cNvPr id="19" name="Text 17"/>
          <p:cNvSpPr/>
          <p:nvPr/>
        </p:nvSpPr>
        <p:spPr>
          <a:xfrm>
            <a:off x="274320" y="3511296"/>
            <a:ext cx="420624" cy="420624"/>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p:nvPr/>
        </p:nvSpPr>
        <p:spPr>
          <a:xfrm>
            <a:off x="777240" y="3383280"/>
            <a:ext cx="7909560" cy="219456"/>
          </a:xfrm>
          <a:prstGeom prst="rect">
            <a:avLst/>
          </a:prstGeom>
          <a:noFill/>
          <a:ln/>
        </p:spPr>
        <p:txBody>
          <a:bodyPr wrap="square" lIns="0" tIns="0" rIns="0" bIns="0" rtlCol="0" anchor="ctr"/>
          <a:lstStyle/>
          <a:p>
            <a:pPr indent="0" marL="0">
              <a:buNone/>
            </a:pPr>
            <a:r>
              <a:rPr lang="en-US" sz="950" b="1" spc="50" kern="0" dirty="0">
                <a:solidFill>
                  <a:srgbClr val="34B76F"/>
                </a:solidFill>
                <a:latin typeface="Calibri" pitchFamily="34" charset="0"/>
                <a:ea typeface="Calibri" pitchFamily="34" charset="-122"/>
                <a:cs typeface="Calibri" pitchFamily="34" charset="-120"/>
              </a:rPr>
              <a:t>Rewrite Accurately:</a:t>
            </a:r>
            <a:endParaRPr lang="en-US" sz="950" dirty="0"/>
          </a:p>
        </p:txBody>
      </p:sp>
      <p:sp>
        <p:nvSpPr>
          <p:cNvPr id="21" name="Text 19"/>
          <p:cNvSpPr/>
          <p:nvPr/>
        </p:nvSpPr>
        <p:spPr>
          <a:xfrm>
            <a:off x="777240" y="3602736"/>
            <a:ext cx="7909560" cy="603504"/>
          </a:xfrm>
          <a:prstGeom prst="rect">
            <a:avLst/>
          </a:prstGeom>
          <a:noFill/>
          <a:ln/>
        </p:spPr>
        <p:txBody>
          <a:bodyPr wrap="square" rtlCol="0" anchor="t"/>
          <a:lstStyle/>
          <a:p>
            <a:pPr indent="0" marL="0">
              <a:buNone/>
            </a:pPr>
            <a:r>
              <a:rPr lang="en-US" sz="1050" dirty="0">
                <a:solidFill>
                  <a:srgbClr val="2A3A5A"/>
                </a:solidFill>
                <a:latin typeface="Calibri" pitchFamily="34" charset="0"/>
                <a:ea typeface="Calibri" pitchFamily="34" charset="-122"/>
                <a:cs typeface="Calibri" pitchFamily="34" charset="-120"/>
              </a:rPr>
              <a:t>CORRECTION: The Ancestral Pueblo built cliff dwellings for practical reasons — climate control, protection, and access to farmland. While the dwellings are impressive, evidence shows the builders were solving real community needs.</a:t>
            </a:r>
            <a:endParaRPr lang="en-US" sz="1050" dirty="0"/>
          </a:p>
        </p:txBody>
      </p:sp>
      <p:sp>
        <p:nvSpPr>
          <p:cNvPr id="22" name="Shape 20"/>
          <p:cNvSpPr/>
          <p:nvPr/>
        </p:nvSpPr>
        <p:spPr>
          <a:xfrm>
            <a:off x="0" y="4754880"/>
            <a:ext cx="9144000" cy="388620"/>
          </a:xfrm>
          <a:prstGeom prst="rect">
            <a:avLst/>
          </a:prstGeom>
          <a:solidFill>
            <a:srgbClr val="1A2D5A"/>
          </a:solidFill>
          <a:ln/>
        </p:spPr>
      </p:sp>
      <p:sp>
        <p:nvSpPr>
          <p:cNvPr id="23" name="Text 21"/>
          <p:cNvSpPr/>
          <p:nvPr/>
        </p:nvSpPr>
        <p:spPr>
          <a:xfrm>
            <a:off x="274320" y="4791456"/>
            <a:ext cx="8595360" cy="256032"/>
          </a:xfrm>
          <a:prstGeom prst="rect">
            <a:avLst/>
          </a:prstGeom>
          <a:noFill/>
          <a:ln/>
        </p:spPr>
        <p:txBody>
          <a:bodyPr wrap="square" rtlCol="0" anchor="ctr"/>
          <a:lstStyle/>
          <a:p>
            <a:pPr algn="ctr" indent="0" marL="0">
              <a:buNone/>
            </a:pPr>
            <a:r>
              <a:rPr lang="en-US" sz="950" i="1" dirty="0">
                <a:solidFill>
                  <a:srgbClr val="55C8E8"/>
                </a:solidFill>
                <a:latin typeface="Calibri" pitchFamily="34" charset="0"/>
                <a:ea typeface="Calibri" pitchFamily="34" charset="-122"/>
                <a:cs typeface="Calibri" pitchFamily="34" charset="-120"/>
              </a:rPr>
              <a:t>Notice: I named specific evidence (south-facing alcoves, mesa farming, kivas) — not just "they had reasons."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GUIDED PRACTICE  ·  WE DO  (together)</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We Do: Strengthen the Evidence Step</a:t>
            </a:r>
            <a:endParaRPr lang="en-US" sz="2000" dirty="0"/>
          </a:p>
        </p:txBody>
      </p:sp>
      <p:sp>
        <p:nvSpPr>
          <p:cNvPr id="5" name="Shape 3"/>
          <p:cNvSpPr/>
          <p:nvPr/>
        </p:nvSpPr>
        <p:spPr>
          <a:xfrm>
            <a:off x="274320" y="749808"/>
            <a:ext cx="8549640" cy="1005840"/>
          </a:xfrm>
          <a:prstGeom prst="roundRect">
            <a:avLst>
              <a:gd name="adj" fmla="val 10909"/>
            </a:avLst>
          </a:prstGeom>
          <a:solidFill>
            <a:srgbClr val="FFFFFF"/>
          </a:solidFill>
          <a:ln w="25400">
            <a:solidFill>
              <a:srgbClr val="E8636B"/>
            </a:solidFill>
            <a:prstDash val="solid"/>
          </a:ln>
        </p:spPr>
      </p:sp>
      <p:sp>
        <p:nvSpPr>
          <p:cNvPr id="6" name="Shape 4"/>
          <p:cNvSpPr/>
          <p:nvPr/>
        </p:nvSpPr>
        <p:spPr>
          <a:xfrm>
            <a:off x="274320" y="749808"/>
            <a:ext cx="8549640" cy="274320"/>
          </a:xfrm>
          <a:prstGeom prst="roundRect">
            <a:avLst>
              <a:gd name="adj" fmla="val 40000"/>
            </a:avLst>
          </a:prstGeom>
          <a:solidFill>
            <a:srgbClr val="E8636B"/>
          </a:solidFill>
          <a:ln/>
        </p:spPr>
      </p:sp>
      <p:sp>
        <p:nvSpPr>
          <p:cNvPr id="7" name="Text 5"/>
          <p:cNvSpPr/>
          <p:nvPr/>
        </p:nvSpPr>
        <p:spPr>
          <a:xfrm>
            <a:off x="411480" y="777240"/>
            <a:ext cx="8321040" cy="219456"/>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WEAK CORRECTION — What's missing?</a:t>
            </a:r>
            <a:endParaRPr lang="en-US" sz="950" dirty="0"/>
          </a:p>
        </p:txBody>
      </p:sp>
      <p:sp>
        <p:nvSpPr>
          <p:cNvPr id="8" name="Text 6"/>
          <p:cNvSpPr/>
          <p:nvPr/>
        </p:nvSpPr>
        <p:spPr>
          <a:xfrm>
            <a:off x="411480" y="1078992"/>
            <a:ext cx="8321040" cy="621792"/>
          </a:xfrm>
          <a:prstGeom prst="rect">
            <a:avLst/>
          </a:prstGeom>
          <a:noFill/>
          <a:ln/>
        </p:spPr>
        <p:txBody>
          <a:bodyPr wrap="square" rtlCol="0" anchor="t"/>
          <a:lstStyle/>
          <a:p>
            <a:pPr indent="0" marL="0">
              <a:buNone/>
            </a:pPr>
            <a:r>
              <a:rPr lang="en-US" sz="1200" i="1" dirty="0">
                <a:solidFill>
                  <a:srgbClr val="3A2020"/>
                </a:solidFill>
                <a:latin typeface="Cambria" pitchFamily="34" charset="0"/>
                <a:ea typeface="Cambria" pitchFamily="34" charset="-122"/>
                <a:cs typeface="Cambria" pitchFamily="34" charset="-120"/>
              </a:rPr>
              <a:t>"The Herald is wrong. The Ancestral Pueblo had good reasons for building in cliffs. They did not just want to look impressive."</a:t>
            </a:r>
            <a:endParaRPr lang="en-US" sz="1200" dirty="0"/>
          </a:p>
        </p:txBody>
      </p:sp>
      <p:sp>
        <p:nvSpPr>
          <p:cNvPr id="9" name="Shape 7"/>
          <p:cNvSpPr/>
          <p:nvPr/>
        </p:nvSpPr>
        <p:spPr>
          <a:xfrm>
            <a:off x="274320" y="1865376"/>
            <a:ext cx="8549640" cy="1188720"/>
          </a:xfrm>
          <a:prstGeom prst="roundRect">
            <a:avLst>
              <a:gd name="adj" fmla="val 9231"/>
            </a:avLst>
          </a:prstGeom>
          <a:solidFill>
            <a:srgbClr val="1A2D5A"/>
          </a:solidFill>
          <a:ln w="12700">
            <a:solidFill>
              <a:srgbClr val="2A4070"/>
            </a:solidFill>
            <a:prstDash val="solid"/>
          </a:ln>
        </p:spPr>
      </p:sp>
      <p:sp>
        <p:nvSpPr>
          <p:cNvPr id="10" name="Text 8"/>
          <p:cNvSpPr/>
          <p:nvPr/>
        </p:nvSpPr>
        <p:spPr>
          <a:xfrm>
            <a:off x="411480" y="1920240"/>
            <a:ext cx="827532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 y="2185416"/>
            <a:ext cx="8183880" cy="7772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This correction says the Herald is wrong — but does it prove it? What is missing?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correction says 'good reasons' — what specific reasons should an editor name?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A reader who doesn't know about cliff dwellings reads this. Are they better informed after reading it?</a:t>
            </a:r>
            <a:endParaRPr lang="en-US" sz="1100" dirty="0"/>
          </a:p>
        </p:txBody>
      </p:sp>
      <p:sp>
        <p:nvSpPr>
          <p:cNvPr id="12" name="Shape 10"/>
          <p:cNvSpPr/>
          <p:nvPr/>
        </p:nvSpPr>
        <p:spPr>
          <a:xfrm>
            <a:off x="274320" y="3145536"/>
            <a:ext cx="8549640" cy="1097280"/>
          </a:xfrm>
          <a:prstGeom prst="roundRect">
            <a:avLst>
              <a:gd name="adj" fmla="val 10000"/>
            </a:avLst>
          </a:prstGeom>
          <a:solidFill>
            <a:srgbClr val="FFF3DC"/>
          </a:solidFill>
          <a:ln w="19050">
            <a:solidFill>
              <a:srgbClr val="F5E6C8"/>
            </a:solidFill>
            <a:prstDash val="solid"/>
          </a:ln>
        </p:spPr>
      </p:sp>
      <p:sp>
        <p:nvSpPr>
          <p:cNvPr id="13" name="Text 11"/>
          <p:cNvSpPr/>
          <p:nvPr/>
        </p:nvSpPr>
        <p:spPr>
          <a:xfrm>
            <a:off x="411480" y="3200400"/>
            <a:ext cx="8275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11480" y="3401568"/>
            <a:ext cx="827532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correction is weak because it doesn't name..."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say: 'The evidence shows that...' followed by..."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one specific detail I would add is..."</a:t>
            </a:r>
            <a:endParaRPr lang="en-US" sz="1200" dirty="0"/>
          </a:p>
        </p:txBody>
      </p:sp>
      <p:sp>
        <p:nvSpPr>
          <p:cNvPr id="15" name="Shape 13"/>
          <p:cNvSpPr/>
          <p:nvPr/>
        </p:nvSpPr>
        <p:spPr>
          <a:xfrm>
            <a:off x="0" y="4754880"/>
            <a:ext cx="9144000" cy="388620"/>
          </a:xfrm>
          <a:prstGeom prst="rect">
            <a:avLst/>
          </a:prstGeom>
          <a:solidFill>
            <a:srgbClr val="1A2D5A"/>
          </a:solidFill>
          <a:ln/>
        </p:spPr>
      </p:sp>
      <p:sp>
        <p:nvSpPr>
          <p:cNvPr id="16" name="Text 14"/>
          <p:cNvSpPr/>
          <p:nvPr/>
        </p:nvSpPr>
        <p:spPr>
          <a:xfrm>
            <a:off x="274320" y="4791456"/>
            <a:ext cx="8595360" cy="256032"/>
          </a:xfrm>
          <a:prstGeom prst="rect">
            <a:avLst/>
          </a:prstGeom>
          <a:noFill/>
          <a:ln/>
        </p:spPr>
        <p:txBody>
          <a:bodyPr wrap="square" rtlCol="0" anchor="ctr"/>
          <a:lstStyle/>
          <a:p>
            <a:pPr algn="ctr" indent="0" marL="0">
              <a:buNone/>
            </a:pPr>
            <a:r>
              <a:rPr lang="en-US" sz="950" b="1" dirty="0">
                <a:solidFill>
                  <a:srgbClr val="D4943A"/>
                </a:solidFill>
                <a:latin typeface="Calibri" pitchFamily="34" charset="0"/>
                <a:ea typeface="Calibri" pitchFamily="34" charset="-122"/>
                <a:cs typeface="Calibri" pitchFamily="34" charset="-120"/>
              </a:rPr>
              <a:t>A correction without specific evidence is just an opinion. Readers deserve the evidence.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GUIDED PRACTICE  ·  YOU DO  (independent)</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Your Turn: Editor's Notebook Draft</a:t>
            </a:r>
            <a:endParaRPr lang="en-US" sz="2000" dirty="0"/>
          </a:p>
        </p:txBody>
      </p:sp>
      <p:sp>
        <p:nvSpPr>
          <p:cNvPr id="5" name="Shape 3"/>
          <p:cNvSpPr/>
          <p:nvPr/>
        </p:nvSpPr>
        <p:spPr>
          <a:xfrm>
            <a:off x="274320" y="749808"/>
            <a:ext cx="8549640" cy="402336"/>
          </a:xfrm>
          <a:prstGeom prst="roundRect">
            <a:avLst>
              <a:gd name="adj" fmla="val 22727"/>
            </a:avLst>
          </a:prstGeom>
          <a:solidFill>
            <a:srgbClr val="1A2D5A"/>
          </a:solidFill>
          <a:ln w="12700">
            <a:solidFill>
              <a:srgbClr val="55C8E8"/>
            </a:solidFill>
            <a:prstDash val="solid"/>
          </a:ln>
        </p:spPr>
      </p:sp>
      <p:sp>
        <p:nvSpPr>
          <p:cNvPr id="6" name="Text 4"/>
          <p:cNvSpPr/>
          <p:nvPr/>
        </p:nvSpPr>
        <p:spPr>
          <a:xfrm>
            <a:off x="457200" y="804672"/>
            <a:ext cx="8229600" cy="292608"/>
          </a:xfrm>
          <a:prstGeom prst="rect">
            <a:avLst/>
          </a:prstGeom>
          <a:noFill/>
          <a:ln/>
        </p:spPr>
        <p:txBody>
          <a:bodyPr wrap="square" rtlCol="0" anchor="ctr"/>
          <a:lstStyle/>
          <a:p>
            <a:pPr indent="0" marL="0">
              <a:buNone/>
            </a:pPr>
            <a:r>
              <a:rPr lang="en-US" sz="1100" i="1" dirty="0">
                <a:solidFill>
                  <a:srgbClr val="D6F2FB"/>
                </a:solidFill>
                <a:latin typeface="Calibri" pitchFamily="34" charset="0"/>
                <a:ea typeface="Calibri" pitchFamily="34" charset="-122"/>
                <a:cs typeface="Calibri" pitchFamily="34" charset="-120"/>
              </a:rPr>
              <a:t>Write your answers in your Editor's Notebook. Use the evidence from today's Source Desk.</a:t>
            </a:r>
            <a:endParaRPr lang="en-US" sz="1100" dirty="0"/>
          </a:p>
        </p:txBody>
      </p:sp>
      <p:sp>
        <p:nvSpPr>
          <p:cNvPr id="7" name="Shape 5"/>
          <p:cNvSpPr/>
          <p:nvPr/>
        </p:nvSpPr>
        <p:spPr>
          <a:xfrm>
            <a:off x="274320" y="1243584"/>
            <a:ext cx="8549640" cy="1499616"/>
          </a:xfrm>
          <a:prstGeom prst="roundRect">
            <a:avLst>
              <a:gd name="adj" fmla="val 8537"/>
            </a:avLst>
          </a:prstGeom>
          <a:solidFill>
            <a:srgbClr val="FFFFFF"/>
          </a:solidFill>
          <a:ln w="25400">
            <a:solidFill>
              <a:srgbClr val="1A8A7D"/>
            </a:solidFill>
            <a:prstDash val="solid"/>
          </a:ln>
        </p:spPr>
      </p:sp>
      <p:sp>
        <p:nvSpPr>
          <p:cNvPr id="8" name="Shape 6"/>
          <p:cNvSpPr/>
          <p:nvPr/>
        </p:nvSpPr>
        <p:spPr>
          <a:xfrm>
            <a:off x="274320" y="1298448"/>
            <a:ext cx="475488" cy="475488"/>
          </a:xfrm>
          <a:prstGeom prst="roundRect">
            <a:avLst>
              <a:gd name="adj" fmla="val 15385"/>
            </a:avLst>
          </a:prstGeom>
          <a:solidFill>
            <a:srgbClr val="1A8A7D"/>
          </a:solidFill>
          <a:ln/>
        </p:spPr>
      </p:sp>
      <p:sp>
        <p:nvSpPr>
          <p:cNvPr id="9" name="Text 7"/>
          <p:cNvSpPr/>
          <p:nvPr/>
        </p:nvSpPr>
        <p:spPr>
          <a:xfrm>
            <a:off x="274320" y="1298448"/>
            <a:ext cx="475488" cy="47548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Q1</a:t>
            </a:r>
            <a:endParaRPr lang="en-US" sz="1200" dirty="0"/>
          </a:p>
        </p:txBody>
      </p:sp>
      <p:sp>
        <p:nvSpPr>
          <p:cNvPr id="10" name="Text 8"/>
          <p:cNvSpPr/>
          <p:nvPr/>
        </p:nvSpPr>
        <p:spPr>
          <a:xfrm>
            <a:off x="841248" y="1298448"/>
            <a:ext cx="7845552" cy="493776"/>
          </a:xfrm>
          <a:prstGeom prst="rect">
            <a:avLst/>
          </a:prstGeom>
          <a:noFill/>
          <a:ln/>
        </p:spPr>
        <p:txBody>
          <a:bodyPr wrap="square" rtlCol="0" anchor="t"/>
          <a:lstStyle/>
          <a:p>
            <a:pPr indent="0" marL="0">
              <a:buNone/>
            </a:pPr>
            <a:r>
              <a:rPr lang="en-US" sz="1200" b="1" dirty="0">
                <a:solidFill>
                  <a:srgbClr val="0E1C42"/>
                </a:solidFill>
                <a:latin typeface="Cambria" pitchFamily="34" charset="0"/>
                <a:ea typeface="Cambria" pitchFamily="34" charset="-122"/>
                <a:cs typeface="Cambria" pitchFamily="34" charset="-120"/>
              </a:rPr>
              <a:t>List two things you can directly observe in the cliff dwelling photograph. What do these observations tell you about the builders?</a:t>
            </a:r>
            <a:endParaRPr lang="en-US" sz="1200" dirty="0"/>
          </a:p>
        </p:txBody>
      </p:sp>
      <p:sp>
        <p:nvSpPr>
          <p:cNvPr id="11" name="Shape 9"/>
          <p:cNvSpPr/>
          <p:nvPr/>
        </p:nvSpPr>
        <p:spPr>
          <a:xfrm>
            <a:off x="411480" y="1901952"/>
            <a:ext cx="8321040" cy="658368"/>
          </a:xfrm>
          <a:prstGeom prst="roundRect">
            <a:avLst>
              <a:gd name="adj" fmla="val 11111"/>
            </a:avLst>
          </a:prstGeom>
          <a:solidFill>
            <a:srgbClr val="1A8A7D">
              <a:alpha val="12000"/>
            </a:srgbClr>
          </a:solidFill>
          <a:ln/>
        </p:spPr>
      </p:sp>
      <p:sp>
        <p:nvSpPr>
          <p:cNvPr id="12" name="Text 10"/>
          <p:cNvSpPr/>
          <p:nvPr/>
        </p:nvSpPr>
        <p:spPr>
          <a:xfrm>
            <a:off x="548640" y="1938528"/>
            <a:ext cx="8046720" cy="585216"/>
          </a:xfrm>
          <a:prstGeom prst="rect">
            <a:avLst/>
          </a:prstGeom>
          <a:noFill/>
          <a:ln/>
        </p:spPr>
        <p:txBody>
          <a:bodyPr wrap="square" rtlCol="0" anchor="t"/>
          <a:lstStyle/>
          <a:p>
            <a:pPr indent="0" marL="0">
              <a:buNone/>
            </a:pPr>
            <a:r>
              <a:rPr lang="en-US" sz="1000" i="1" dirty="0">
                <a:solidFill>
                  <a:srgbClr val="1A8A7D"/>
                </a:solidFill>
                <a:latin typeface="Calibri" pitchFamily="34" charset="0"/>
                <a:ea typeface="Calibri" pitchFamily="34" charset="-122"/>
                <a:cs typeface="Calibri" pitchFamily="34" charset="-120"/>
              </a:rPr>
              <a:t>Hint: Think: building materials, room sizes, doorway shape, cliff location. Each observation leads to an inference — but label them separately!</a:t>
            </a:r>
            <a:endParaRPr lang="en-US" sz="1000" dirty="0"/>
          </a:p>
        </p:txBody>
      </p:sp>
      <p:sp>
        <p:nvSpPr>
          <p:cNvPr id="13" name="Shape 11"/>
          <p:cNvSpPr/>
          <p:nvPr/>
        </p:nvSpPr>
        <p:spPr>
          <a:xfrm>
            <a:off x="274320" y="2852928"/>
            <a:ext cx="8549640" cy="1499616"/>
          </a:xfrm>
          <a:prstGeom prst="roundRect">
            <a:avLst>
              <a:gd name="adj" fmla="val 8537"/>
            </a:avLst>
          </a:prstGeom>
          <a:solidFill>
            <a:srgbClr val="FFFFFF"/>
          </a:solidFill>
          <a:ln w="25400">
            <a:solidFill>
              <a:srgbClr val="8B6FC0"/>
            </a:solidFill>
            <a:prstDash val="solid"/>
          </a:ln>
        </p:spPr>
      </p:sp>
      <p:sp>
        <p:nvSpPr>
          <p:cNvPr id="14" name="Shape 12"/>
          <p:cNvSpPr/>
          <p:nvPr/>
        </p:nvSpPr>
        <p:spPr>
          <a:xfrm>
            <a:off x="274320" y="2907792"/>
            <a:ext cx="475488" cy="475488"/>
          </a:xfrm>
          <a:prstGeom prst="roundRect">
            <a:avLst>
              <a:gd name="adj" fmla="val 15385"/>
            </a:avLst>
          </a:prstGeom>
          <a:solidFill>
            <a:srgbClr val="8B6FC0"/>
          </a:solidFill>
          <a:ln/>
        </p:spPr>
      </p:sp>
      <p:sp>
        <p:nvSpPr>
          <p:cNvPr id="15" name="Text 13"/>
          <p:cNvSpPr/>
          <p:nvPr/>
        </p:nvSpPr>
        <p:spPr>
          <a:xfrm>
            <a:off x="274320" y="2907792"/>
            <a:ext cx="475488" cy="475488"/>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Q2</a:t>
            </a:r>
            <a:endParaRPr lang="en-US" sz="1200" dirty="0"/>
          </a:p>
        </p:txBody>
      </p:sp>
      <p:sp>
        <p:nvSpPr>
          <p:cNvPr id="16" name="Text 14"/>
          <p:cNvSpPr/>
          <p:nvPr/>
        </p:nvSpPr>
        <p:spPr>
          <a:xfrm>
            <a:off x="841248" y="2907792"/>
            <a:ext cx="7845552" cy="493776"/>
          </a:xfrm>
          <a:prstGeom prst="rect">
            <a:avLst/>
          </a:prstGeom>
          <a:noFill/>
          <a:ln/>
        </p:spPr>
        <p:txBody>
          <a:bodyPr wrap="square" rtlCol="0" anchor="t"/>
          <a:lstStyle/>
          <a:p>
            <a:pPr indent="0" marL="0">
              <a:buNone/>
            </a:pPr>
            <a:r>
              <a:rPr lang="en-US" sz="1200" b="1" dirty="0">
                <a:solidFill>
                  <a:srgbClr val="0E1C42"/>
                </a:solidFill>
                <a:latin typeface="Cambria" pitchFamily="34" charset="0"/>
                <a:ea typeface="Cambria" pitchFamily="34" charset="-122"/>
                <a:cs typeface="Cambria" pitchFamily="34" charset="-120"/>
              </a:rPr>
              <a:t>Why would a community choose to build homes into a cliff instead of on flat ground? Name at least two practical reasons supported by evidence.</a:t>
            </a:r>
            <a:endParaRPr lang="en-US" sz="1200" dirty="0"/>
          </a:p>
        </p:txBody>
      </p:sp>
      <p:sp>
        <p:nvSpPr>
          <p:cNvPr id="17" name="Shape 15"/>
          <p:cNvSpPr/>
          <p:nvPr/>
        </p:nvSpPr>
        <p:spPr>
          <a:xfrm>
            <a:off x="411480" y="3511296"/>
            <a:ext cx="8321040" cy="658368"/>
          </a:xfrm>
          <a:prstGeom prst="roundRect">
            <a:avLst>
              <a:gd name="adj" fmla="val 11111"/>
            </a:avLst>
          </a:prstGeom>
          <a:solidFill>
            <a:srgbClr val="8B6FC0">
              <a:alpha val="12000"/>
            </a:srgbClr>
          </a:solidFill>
          <a:ln/>
        </p:spPr>
      </p:sp>
      <p:sp>
        <p:nvSpPr>
          <p:cNvPr id="18" name="Text 16"/>
          <p:cNvSpPr/>
          <p:nvPr/>
        </p:nvSpPr>
        <p:spPr>
          <a:xfrm>
            <a:off x="548640" y="3547872"/>
            <a:ext cx="8046720" cy="585216"/>
          </a:xfrm>
          <a:prstGeom prst="rect">
            <a:avLst/>
          </a:prstGeom>
          <a:noFill/>
          <a:ln/>
        </p:spPr>
        <p:txBody>
          <a:bodyPr wrap="square" rtlCol="0" anchor="t"/>
          <a:lstStyle/>
          <a:p>
            <a:pPr indent="0" marL="0">
              <a:buNone/>
            </a:pPr>
            <a:r>
              <a:rPr lang="en-US" sz="1000" i="1" dirty="0">
                <a:solidFill>
                  <a:srgbClr val="8B6FC0"/>
                </a:solidFill>
                <a:latin typeface="Calibri" pitchFamily="34" charset="0"/>
                <a:ea typeface="Calibri" pitchFamily="34" charset="-122"/>
                <a:cs typeface="Calibri" pitchFamily="34" charset="-120"/>
              </a:rPr>
              <a:t>Hint: Use the four-reason card from Slide 8: climate control (south-facing alcoves), protection (pull up the ladder!), farmland (mesa top above). Pick two and add the evidence detail.</a:t>
            </a:r>
            <a:endParaRPr lang="en-US" sz="1000" dirty="0"/>
          </a:p>
        </p:txBody>
      </p:sp>
      <p:sp>
        <p:nvSpPr>
          <p:cNvPr id="19" name="Shape 17"/>
          <p:cNvSpPr/>
          <p:nvPr/>
        </p:nvSpPr>
        <p:spPr>
          <a:xfrm>
            <a:off x="0" y="4754880"/>
            <a:ext cx="9144000" cy="388620"/>
          </a:xfrm>
          <a:prstGeom prst="rect">
            <a:avLst/>
          </a:prstGeom>
          <a:solidFill>
            <a:srgbClr val="1A2D5A"/>
          </a:solidFill>
          <a:ln/>
        </p:spPr>
      </p:sp>
      <p:sp>
        <p:nvSpPr>
          <p:cNvPr id="20" name="Text 18"/>
          <p:cNvSpPr/>
          <p:nvPr/>
        </p:nvSpPr>
        <p:spPr>
          <a:xfrm>
            <a:off x="274320" y="4791456"/>
            <a:ext cx="8595360" cy="256032"/>
          </a:xfrm>
          <a:prstGeom prst="rect">
            <a:avLst/>
          </a:prstGeom>
          <a:noFill/>
          <a:ln/>
        </p:spPr>
        <p:txBody>
          <a:bodyPr wrap="square" rtlCol="0" anchor="ctr"/>
          <a:lstStyle/>
          <a:p>
            <a:pPr algn="ctr" indent="0" marL="0">
              <a:buNone/>
            </a:pPr>
            <a:r>
              <a:rPr lang="en-US" sz="950" b="1" dirty="0">
                <a:solidFill>
                  <a:srgbClr val="D4943A"/>
                </a:solidFill>
                <a:latin typeface="Calibri" pitchFamily="34" charset="0"/>
                <a:ea typeface="Calibri" pitchFamily="34" charset="-122"/>
                <a:cs typeface="Calibri" pitchFamily="34" charset="-120"/>
              </a:rPr>
              <a:t>Give yourself 4-5 minutes. Use specific evidence — not just "they had reasons."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GUIDED PRACTICE  ·  ERROR ANALYSIS</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Error Analysis: What's Right, What's Wrong?</a:t>
            </a:r>
            <a:endParaRPr lang="en-US" sz="2000" dirty="0"/>
          </a:p>
        </p:txBody>
      </p:sp>
      <p:sp>
        <p:nvSpPr>
          <p:cNvPr id="5" name="Shape 3"/>
          <p:cNvSpPr/>
          <p:nvPr/>
        </p:nvSpPr>
        <p:spPr>
          <a:xfrm>
            <a:off x="274320" y="749808"/>
            <a:ext cx="8549640" cy="548640"/>
          </a:xfrm>
          <a:prstGeom prst="roundRect">
            <a:avLst>
              <a:gd name="adj" fmla="val 16667"/>
            </a:avLst>
          </a:prstGeom>
          <a:solidFill>
            <a:srgbClr val="E8636B">
              <a:alpha val="90000"/>
            </a:srgbClr>
          </a:solidFill>
          <a:ln w="25400">
            <a:solidFill>
              <a:srgbClr val="E8636B"/>
            </a:solidFill>
            <a:prstDash val="solid"/>
          </a:ln>
        </p:spPr>
      </p:sp>
      <p:sp>
        <p:nvSpPr>
          <p:cNvPr id="6" name="Text 4"/>
          <p:cNvSpPr/>
          <p:nvPr/>
        </p:nvSpPr>
        <p:spPr>
          <a:xfrm>
            <a:off x="457200" y="786384"/>
            <a:ext cx="8229600" cy="47548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HERALD CLAIM: "The Ancestral Pueblo built cliff dwellings only because they looked impressive."</a:t>
            </a:r>
            <a:endParaRPr lang="en-US" sz="1250" dirty="0"/>
          </a:p>
        </p:txBody>
      </p:sp>
      <p:sp>
        <p:nvSpPr>
          <p:cNvPr id="7" name="Shape 5"/>
          <p:cNvSpPr/>
          <p:nvPr/>
        </p:nvSpPr>
        <p:spPr>
          <a:xfrm>
            <a:off x="274320" y="1408176"/>
            <a:ext cx="4041648" cy="2231136"/>
          </a:xfrm>
          <a:prstGeom prst="roundRect">
            <a:avLst>
              <a:gd name="adj" fmla="val 5738"/>
            </a:avLst>
          </a:prstGeom>
          <a:solidFill>
            <a:srgbClr val="FFFFFF"/>
          </a:solidFill>
          <a:ln w="25400">
            <a:solidFill>
              <a:srgbClr val="34B76F"/>
            </a:solidFill>
            <a:prstDash val="solid"/>
          </a:ln>
        </p:spPr>
      </p:sp>
      <p:sp>
        <p:nvSpPr>
          <p:cNvPr id="8" name="Shape 6"/>
          <p:cNvSpPr/>
          <p:nvPr/>
        </p:nvSpPr>
        <p:spPr>
          <a:xfrm>
            <a:off x="274320" y="1408176"/>
            <a:ext cx="4041648" cy="310896"/>
          </a:xfrm>
          <a:prstGeom prst="roundRect">
            <a:avLst>
              <a:gd name="adj" fmla="val 41176"/>
            </a:avLst>
          </a:prstGeom>
          <a:solidFill>
            <a:srgbClr val="34B76F"/>
          </a:solidFill>
          <a:ln/>
        </p:spPr>
      </p:sp>
      <p:sp>
        <p:nvSpPr>
          <p:cNvPr id="9" name="Text 7"/>
          <p:cNvSpPr/>
          <p:nvPr/>
        </p:nvSpPr>
        <p:spPr>
          <a:xfrm>
            <a:off x="384048" y="1435608"/>
            <a:ext cx="3822192" cy="256032"/>
          </a:xfrm>
          <a:prstGeom prst="rect">
            <a:avLst/>
          </a:prstGeom>
          <a:noFill/>
          <a:ln/>
        </p:spPr>
        <p:txBody>
          <a:bodyPr wrap="square" lIns="0" tIns="0" rIns="0" bIns="0" rtlCol="0" anchor="ctr"/>
          <a:lstStyle/>
          <a:p>
            <a:pPr indent="0" marL="0">
              <a:buNone/>
            </a:pPr>
            <a:r>
              <a:rPr lang="en-US" sz="1000" b="1" spc="120" kern="0" dirty="0">
                <a:solidFill>
                  <a:srgbClr val="FFFFFF"/>
                </a:solidFill>
                <a:latin typeface="Calibri" pitchFamily="34" charset="0"/>
                <a:ea typeface="Calibri" pitchFamily="34" charset="-122"/>
                <a:cs typeface="Calibri" pitchFamily="34" charset="-120"/>
              </a:rPr>
              <a:t>WHAT'S PARTLY RIGHT</a:t>
            </a:r>
            <a:endParaRPr lang="en-US" sz="1000" dirty="0"/>
          </a:p>
        </p:txBody>
      </p:sp>
      <p:sp>
        <p:nvSpPr>
          <p:cNvPr id="10" name="Text 8"/>
          <p:cNvSpPr/>
          <p:nvPr/>
        </p:nvSpPr>
        <p:spPr>
          <a:xfrm>
            <a:off x="411480" y="1773936"/>
            <a:ext cx="3767328" cy="181051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 Cliff dwellings at Mesa Verde ARE visually impressive — that is a true statement.</a:t>
            </a: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 The buildings required extraordinary skill and effort to construct.</a:t>
            </a: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 It is fair to say the Ancestral Pueblo took pride in their work.</a:t>
            </a:r>
            <a:endParaRPr lang="en-US" sz="1100" dirty="0"/>
          </a:p>
          <a:p>
            <a:pPr indent="0" marL="0">
              <a:buNone/>
            </a:pP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Noting this is honest. A correction that says 'the Herald was completely wrong' is also oversimplifying.</a:t>
            </a:r>
            <a:endParaRPr lang="en-US" sz="1100" dirty="0"/>
          </a:p>
        </p:txBody>
      </p:sp>
      <p:sp>
        <p:nvSpPr>
          <p:cNvPr id="11" name="Shape 9"/>
          <p:cNvSpPr/>
          <p:nvPr/>
        </p:nvSpPr>
        <p:spPr>
          <a:xfrm>
            <a:off x="4782312" y="1408176"/>
            <a:ext cx="4041648" cy="2231136"/>
          </a:xfrm>
          <a:prstGeom prst="roundRect">
            <a:avLst>
              <a:gd name="adj" fmla="val 5738"/>
            </a:avLst>
          </a:prstGeom>
          <a:solidFill>
            <a:srgbClr val="FFFFFF"/>
          </a:solidFill>
          <a:ln w="25400">
            <a:solidFill>
              <a:srgbClr val="E8636B"/>
            </a:solidFill>
            <a:prstDash val="solid"/>
          </a:ln>
        </p:spPr>
      </p:sp>
      <p:sp>
        <p:nvSpPr>
          <p:cNvPr id="12" name="Shape 10"/>
          <p:cNvSpPr/>
          <p:nvPr/>
        </p:nvSpPr>
        <p:spPr>
          <a:xfrm>
            <a:off x="4782312" y="1408176"/>
            <a:ext cx="4041648" cy="310896"/>
          </a:xfrm>
          <a:prstGeom prst="roundRect">
            <a:avLst>
              <a:gd name="adj" fmla="val 41176"/>
            </a:avLst>
          </a:prstGeom>
          <a:solidFill>
            <a:srgbClr val="E8636B"/>
          </a:solidFill>
          <a:ln/>
        </p:spPr>
      </p:sp>
      <p:sp>
        <p:nvSpPr>
          <p:cNvPr id="13" name="Text 11"/>
          <p:cNvSpPr/>
          <p:nvPr/>
        </p:nvSpPr>
        <p:spPr>
          <a:xfrm>
            <a:off x="4892040" y="1435608"/>
            <a:ext cx="3822192" cy="256032"/>
          </a:xfrm>
          <a:prstGeom prst="rect">
            <a:avLst/>
          </a:prstGeom>
          <a:noFill/>
          <a:ln/>
        </p:spPr>
        <p:txBody>
          <a:bodyPr wrap="square" lIns="0" tIns="0" rIns="0" bIns="0" rtlCol="0" anchor="ctr"/>
          <a:lstStyle/>
          <a:p>
            <a:pPr indent="0" marL="0">
              <a:buNone/>
            </a:pPr>
            <a:r>
              <a:rPr lang="en-US" sz="1000" b="1" spc="120" kern="0" dirty="0">
                <a:solidFill>
                  <a:srgbClr val="FFFFFF"/>
                </a:solidFill>
                <a:latin typeface="Calibri" pitchFamily="34" charset="0"/>
                <a:ea typeface="Calibri" pitchFamily="34" charset="-122"/>
                <a:cs typeface="Calibri" pitchFamily="34" charset="-120"/>
              </a:rPr>
              <a:t>WHAT'S MISSING</a:t>
            </a:r>
            <a:endParaRPr lang="en-US" sz="1000" dirty="0"/>
          </a:p>
        </p:txBody>
      </p:sp>
      <p:sp>
        <p:nvSpPr>
          <p:cNvPr id="14" name="Text 12"/>
          <p:cNvSpPr/>
          <p:nvPr/>
        </p:nvSpPr>
        <p:spPr>
          <a:xfrm>
            <a:off x="4919472" y="1773936"/>
            <a:ext cx="3767328" cy="1810512"/>
          </a:xfrm>
          <a:prstGeom prst="rect">
            <a:avLst/>
          </a:prstGeom>
          <a:noFill/>
          <a:ln/>
        </p:spPr>
        <p:txBody>
          <a:bodyPr wrap="square" rtlCol="0" anchor="t"/>
          <a:lstStyle/>
          <a:p>
            <a:pPr indent="0" marL="0">
              <a:buNone/>
            </a:pPr>
            <a:r>
              <a:rPr lang="en-US" sz="1100" dirty="0">
                <a:solidFill>
                  <a:srgbClr val="2A3A5A"/>
                </a:solidFill>
                <a:latin typeface="Calibri" pitchFamily="34" charset="0"/>
                <a:ea typeface="Calibri" pitchFamily="34" charset="-122"/>
                <a:cs typeface="Calibri" pitchFamily="34" charset="-120"/>
              </a:rPr>
              <a:t>• The word "ONLY" erases all practical reasons — climate, protection, farmland.</a:t>
            </a: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 No mention of south-facing alcoves or mesa agriculture.</a:t>
            </a: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 No mention of kivas and community planning.</a:t>
            </a: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 Implies the builders were showing off rather than solving problems.</a:t>
            </a:r>
            <a:endParaRPr lang="en-US" sz="1100" dirty="0"/>
          </a:p>
          <a:p>
            <a:pPr indent="0" marL="0">
              <a:buNone/>
            </a:pPr>
            <a:endParaRPr lang="en-US" sz="1100" dirty="0"/>
          </a:p>
          <a:p>
            <a:pPr indent="0" marL="0">
              <a:buNone/>
            </a:pPr>
            <a:r>
              <a:rPr lang="en-US" sz="1100" dirty="0">
                <a:solidFill>
                  <a:srgbClr val="2A3A5A"/>
                </a:solidFill>
                <a:latin typeface="Calibri" pitchFamily="34" charset="0"/>
                <a:ea typeface="Calibri" pitchFamily="34" charset="-122"/>
                <a:cs typeface="Calibri" pitchFamily="34" charset="-120"/>
              </a:rPr>
              <a:t>The Herald confused a side effect (looking impressive) with the cause.</a:t>
            </a:r>
            <a:endParaRPr lang="en-US" sz="1100" dirty="0"/>
          </a:p>
        </p:txBody>
      </p:sp>
      <p:sp>
        <p:nvSpPr>
          <p:cNvPr id="15" name="Shape 13"/>
          <p:cNvSpPr/>
          <p:nvPr/>
        </p:nvSpPr>
        <p:spPr>
          <a:xfrm>
            <a:off x="274320" y="3749040"/>
            <a:ext cx="8549640" cy="914400"/>
          </a:xfrm>
          <a:prstGeom prst="roundRect">
            <a:avLst>
              <a:gd name="adj" fmla="val 12000"/>
            </a:avLst>
          </a:prstGeom>
          <a:solidFill>
            <a:srgbClr val="FFF3DC"/>
          </a:solidFill>
          <a:ln w="19050">
            <a:solidFill>
              <a:srgbClr val="F5E6C8"/>
            </a:solidFill>
            <a:prstDash val="solid"/>
          </a:ln>
        </p:spPr>
      </p:sp>
      <p:sp>
        <p:nvSpPr>
          <p:cNvPr id="16" name="Text 14"/>
          <p:cNvSpPr/>
          <p:nvPr/>
        </p:nvSpPr>
        <p:spPr>
          <a:xfrm>
            <a:off x="411480" y="3803904"/>
            <a:ext cx="8275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11480" y="4005072"/>
            <a:ext cx="827532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is partly right because... but the word 'only' is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fair correction would say: 'While the cliff dwellings are impressive, the evidence shows...'"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GUIDED PRACTICE  ·  THE TRICKY ONE</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The Tricky One: A Challenge Question</a:t>
            </a:r>
            <a:endParaRPr lang="en-US" sz="2000" dirty="0"/>
          </a:p>
        </p:txBody>
      </p:sp>
      <p:sp>
        <p:nvSpPr>
          <p:cNvPr id="5" name="Shape 3"/>
          <p:cNvSpPr/>
          <p:nvPr/>
        </p:nvSpPr>
        <p:spPr>
          <a:xfrm>
            <a:off x="274320" y="749808"/>
            <a:ext cx="8549640" cy="749808"/>
          </a:xfrm>
          <a:prstGeom prst="roundRect">
            <a:avLst>
              <a:gd name="adj" fmla="val 14634"/>
            </a:avLst>
          </a:prstGeom>
          <a:solidFill>
            <a:srgbClr val="1A2D5A"/>
          </a:solidFill>
          <a:ln w="25400">
            <a:solidFill>
              <a:srgbClr val="D4943A"/>
            </a:solidFill>
            <a:prstDash val="solid"/>
          </a:ln>
        </p:spPr>
      </p:sp>
      <p:sp>
        <p:nvSpPr>
          <p:cNvPr id="6" name="Text 4"/>
          <p:cNvSpPr/>
          <p:nvPr/>
        </p:nvSpPr>
        <p:spPr>
          <a:xfrm>
            <a:off x="457200" y="804672"/>
            <a:ext cx="2743200" cy="237744"/>
          </a:xfrm>
          <a:prstGeom prst="rect">
            <a:avLst/>
          </a:prstGeom>
          <a:noFill/>
          <a:ln/>
        </p:spPr>
        <p:txBody>
          <a:bodyPr wrap="square" rtlCol="0" anchor="ctr"/>
          <a:lstStyle/>
          <a:p>
            <a:pPr indent="0" marL="0">
              <a:buNone/>
            </a:pPr>
            <a:r>
              <a:rPr lang="en-US" sz="950" b="1" spc="150" kern="0" dirty="0">
                <a:solidFill>
                  <a:srgbClr val="D4943A"/>
                </a:solidFill>
                <a:latin typeface="Calibri" pitchFamily="34" charset="0"/>
                <a:ea typeface="Calibri" pitchFamily="34" charset="-122"/>
                <a:cs typeface="Calibri" pitchFamily="34" charset="-120"/>
              </a:rPr>
              <a:t>The Tricky Question:</a:t>
            </a:r>
            <a:endParaRPr lang="en-US" sz="950" dirty="0"/>
          </a:p>
        </p:txBody>
      </p:sp>
      <p:sp>
        <p:nvSpPr>
          <p:cNvPr id="7" name="Text 5"/>
          <p:cNvSpPr/>
          <p:nvPr/>
        </p:nvSpPr>
        <p:spPr>
          <a:xfrm>
            <a:off x="457200" y="1024128"/>
            <a:ext cx="8229600" cy="438912"/>
          </a:xfrm>
          <a:prstGeom prst="rect">
            <a:avLst/>
          </a:prstGeom>
          <a:noFill/>
          <a:ln/>
        </p:spPr>
        <p:txBody>
          <a:bodyPr wrap="square" rtlCol="0" anchor="t"/>
          <a:lstStyle/>
          <a:p>
            <a:pPr indent="0" marL="0">
              <a:buNone/>
            </a:pPr>
            <a:r>
              <a:rPr lang="en-US" sz="1200" i="1" dirty="0">
                <a:solidFill>
                  <a:srgbClr val="D6F2FB"/>
                </a:solidFill>
                <a:latin typeface="Cambria" pitchFamily="34" charset="0"/>
                <a:ea typeface="Cambria" pitchFamily="34" charset="-122"/>
                <a:cs typeface="Cambria" pitchFamily="34" charset="-120"/>
              </a:rPr>
              <a:t>"If the Ancestral Pueblo abandoned their cliff dwellings around 1300 CE, doesn't that mean the cliff locations eventually failed? Couldn't the Herald argue the practical reasons weren't that good after all?"</a:t>
            </a:r>
            <a:endParaRPr lang="en-US" sz="1200" dirty="0"/>
          </a:p>
        </p:txBody>
      </p:sp>
      <p:sp>
        <p:nvSpPr>
          <p:cNvPr id="8" name="Shape 6"/>
          <p:cNvSpPr/>
          <p:nvPr/>
        </p:nvSpPr>
        <p:spPr>
          <a:xfrm>
            <a:off x="274320" y="1609344"/>
            <a:ext cx="5029200" cy="1591056"/>
          </a:xfrm>
          <a:prstGeom prst="roundRect">
            <a:avLst>
              <a:gd name="adj" fmla="val 6897"/>
            </a:avLst>
          </a:prstGeom>
          <a:solidFill>
            <a:srgbClr val="1A2D5A"/>
          </a:solidFill>
          <a:ln w="12700">
            <a:solidFill>
              <a:srgbClr val="2A4070"/>
            </a:solidFill>
            <a:prstDash val="solid"/>
          </a:ln>
        </p:spPr>
      </p:sp>
      <p:sp>
        <p:nvSpPr>
          <p:cNvPr id="9" name="Text 7"/>
          <p:cNvSpPr/>
          <p:nvPr/>
        </p:nvSpPr>
        <p:spPr>
          <a:xfrm>
            <a:off x="411480" y="1664208"/>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1929384"/>
            <a:ext cx="4663440" cy="1179576"/>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the fact that people eventually leave a place mean the reasons they built there were wrong?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other factors might cause a community to abandon a location even if it once worked well?</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should a careful editor handle historical events they cannot fully explain?</a:t>
            </a:r>
            <a:endParaRPr lang="en-US" sz="1100" dirty="0"/>
          </a:p>
        </p:txBody>
      </p:sp>
      <p:sp>
        <p:nvSpPr>
          <p:cNvPr id="11" name="Shape 9"/>
          <p:cNvSpPr/>
          <p:nvPr/>
        </p:nvSpPr>
        <p:spPr>
          <a:xfrm>
            <a:off x="5440680" y="1609344"/>
            <a:ext cx="3383280" cy="1591056"/>
          </a:xfrm>
          <a:prstGeom prst="roundRect">
            <a:avLst>
              <a:gd name="adj" fmla="val 6897"/>
            </a:avLst>
          </a:prstGeom>
          <a:solidFill>
            <a:srgbClr val="FFFFFF"/>
          </a:solidFill>
          <a:ln w="19050">
            <a:solidFill>
              <a:srgbClr val="1A8A7D"/>
            </a:solidFill>
            <a:prstDash val="solid"/>
          </a:ln>
        </p:spPr>
      </p:sp>
      <p:sp>
        <p:nvSpPr>
          <p:cNvPr id="12" name="Text 10"/>
          <p:cNvSpPr/>
          <p:nvPr/>
        </p:nvSpPr>
        <p:spPr>
          <a:xfrm>
            <a:off x="5577840" y="1664208"/>
            <a:ext cx="3108960" cy="237744"/>
          </a:xfrm>
          <a:prstGeom prst="rect">
            <a:avLst/>
          </a:prstGeom>
          <a:noFill/>
          <a:ln/>
        </p:spPr>
        <p:txBody>
          <a:bodyPr wrap="square"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What We Know:</a:t>
            </a:r>
            <a:endParaRPr lang="en-US" sz="1000" dirty="0"/>
          </a:p>
        </p:txBody>
      </p:sp>
      <p:sp>
        <p:nvSpPr>
          <p:cNvPr id="13" name="Text 11"/>
          <p:cNvSpPr/>
          <p:nvPr/>
        </p:nvSpPr>
        <p:spPr>
          <a:xfrm>
            <a:off x="5577840" y="1938528"/>
            <a:ext cx="3108960" cy="1207008"/>
          </a:xfrm>
          <a:prstGeom prst="rect">
            <a:avLst/>
          </a:prstGeom>
          <a:noFill/>
          <a:ln/>
        </p:spPr>
        <p:txBody>
          <a:bodyPr wrap="square" rtlCol="0" anchor="t"/>
          <a:lstStyle/>
          <a:p>
            <a:pPr indent="0" marL="0">
              <a:buNone/>
            </a:pPr>
            <a:r>
              <a:rPr lang="en-US" sz="1000" dirty="0">
                <a:solidFill>
                  <a:srgbClr val="2A3A5A"/>
                </a:solidFill>
                <a:latin typeface="Calibri" pitchFamily="34" charset="0"/>
                <a:ea typeface="Calibri" pitchFamily="34" charset="-122"/>
                <a:cs typeface="Calibri" pitchFamily="34" charset="-120"/>
              </a:rPr>
              <a:t>Archaeologists believe a severe drought (1276-1299 CE) and possible resource depletion contributed to the abandonment — not a failure of the cliff design. The Ancestral Pueblo moved, but their descendants (Hopi, Zuni) continued as organized peoples. Moving is not the same as failing.</a:t>
            </a:r>
            <a:endParaRPr lang="en-US" sz="1000" dirty="0"/>
          </a:p>
        </p:txBody>
      </p:sp>
      <p:sp>
        <p:nvSpPr>
          <p:cNvPr id="14" name="Shape 12"/>
          <p:cNvSpPr/>
          <p:nvPr/>
        </p:nvSpPr>
        <p:spPr>
          <a:xfrm>
            <a:off x="274320" y="3310128"/>
            <a:ext cx="8549640" cy="1133856"/>
          </a:xfrm>
          <a:prstGeom prst="roundRect">
            <a:avLst>
              <a:gd name="adj" fmla="val 9677"/>
            </a:avLst>
          </a:prstGeom>
          <a:solidFill>
            <a:srgbClr val="FFF3DC"/>
          </a:solidFill>
          <a:ln w="19050">
            <a:solidFill>
              <a:srgbClr val="F5E6C8"/>
            </a:solidFill>
            <a:prstDash val="solid"/>
          </a:ln>
        </p:spPr>
      </p:sp>
      <p:sp>
        <p:nvSpPr>
          <p:cNvPr id="15" name="Text 13"/>
          <p:cNvSpPr/>
          <p:nvPr/>
        </p:nvSpPr>
        <p:spPr>
          <a:xfrm>
            <a:off x="411480" y="3364992"/>
            <a:ext cx="8275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11480" y="3566160"/>
            <a:ext cx="8275320" cy="813816"/>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abandonment doesn't prove the Herald right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careful editor would note that abandoning a location and failing to build well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the evidence supports vs. what we cannot yet prove..."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FACT-CHECK ROOM  ·  BEFORE THE GAZETTE GOES TO PRINT</a:t>
            </a:r>
            <a:endParaRPr lang="en-US" sz="850" dirty="0"/>
          </a:p>
        </p:txBody>
      </p:sp>
      <p:sp>
        <p:nvSpPr>
          <p:cNvPr id="4" name="Text 2"/>
          <p:cNvSpPr/>
          <p:nvPr/>
        </p:nvSpPr>
        <p:spPr>
          <a:xfrm>
            <a:off x="365760" y="256032"/>
            <a:ext cx="841248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Fact-Check: Three Questions to Lock In</a:t>
            </a:r>
            <a:endParaRPr lang="en-US" sz="2000" dirty="0"/>
          </a:p>
        </p:txBody>
      </p:sp>
      <p:sp>
        <p:nvSpPr>
          <p:cNvPr id="5" name="Shape 3"/>
          <p:cNvSpPr/>
          <p:nvPr/>
        </p:nvSpPr>
        <p:spPr>
          <a:xfrm>
            <a:off x="274320" y="749808"/>
            <a:ext cx="8549640" cy="1225296"/>
          </a:xfrm>
          <a:prstGeom prst="roundRect">
            <a:avLst>
              <a:gd name="adj" fmla="val 8955"/>
            </a:avLst>
          </a:prstGeom>
          <a:solidFill>
            <a:srgbClr val="FFFFFF"/>
          </a:solidFill>
          <a:ln w="12700">
            <a:solidFill>
              <a:srgbClr val="0E1C42"/>
            </a:solidFill>
            <a:prstDash val="solid"/>
          </a:ln>
        </p:spPr>
      </p:sp>
      <p:sp>
        <p:nvSpPr>
          <p:cNvPr id="6" name="Shape 4"/>
          <p:cNvSpPr/>
          <p:nvPr/>
        </p:nvSpPr>
        <p:spPr>
          <a:xfrm>
            <a:off x="347472" y="822960"/>
            <a:ext cx="329184" cy="329184"/>
          </a:xfrm>
          <a:prstGeom prst="ellipse">
            <a:avLst/>
          </a:prstGeom>
          <a:solidFill>
            <a:srgbClr val="0E1C42"/>
          </a:solidFill>
          <a:ln/>
        </p:spPr>
      </p:sp>
      <p:sp>
        <p:nvSpPr>
          <p:cNvPr id="7" name="Text 5"/>
          <p:cNvSpPr/>
          <p:nvPr/>
        </p:nvSpPr>
        <p:spPr>
          <a:xfrm>
            <a:off x="347472" y="822960"/>
            <a:ext cx="329184" cy="329184"/>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p:nvPr/>
        </p:nvSpPr>
        <p:spPr>
          <a:xfrm>
            <a:off x="768096" y="822960"/>
            <a:ext cx="7973568" cy="27432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Which region did the Ancestral Pueblo call home?</a:t>
            </a:r>
            <a:endParaRPr lang="en-US" sz="1100" dirty="0"/>
          </a:p>
        </p:txBody>
      </p:sp>
      <p:sp>
        <p:nvSpPr>
          <p:cNvPr id="9" name="Shape 7"/>
          <p:cNvSpPr/>
          <p:nvPr/>
        </p:nvSpPr>
        <p:spPr>
          <a:xfrm>
            <a:off x="411480" y="1152144"/>
            <a:ext cx="3977640" cy="365760"/>
          </a:xfrm>
          <a:prstGeom prst="roundRect">
            <a:avLst>
              <a:gd name="adj" fmla="val 20000"/>
            </a:avLst>
          </a:prstGeom>
          <a:solidFill>
            <a:srgbClr val="34B76F">
              <a:alpha val="85000"/>
            </a:srgbClr>
          </a:solidFill>
          <a:ln w="12700">
            <a:solidFill>
              <a:srgbClr val="34B76F"/>
            </a:solidFill>
            <a:prstDash val="solid"/>
          </a:ln>
        </p:spPr>
      </p:sp>
      <p:sp>
        <p:nvSpPr>
          <p:cNvPr id="10" name="Text 8"/>
          <p:cNvSpPr/>
          <p:nvPr/>
        </p:nvSpPr>
        <p:spPr>
          <a:xfrm>
            <a:off x="530352" y="1179576"/>
            <a:ext cx="3822192" cy="310896"/>
          </a:xfrm>
          <a:prstGeom prst="rect">
            <a:avLst/>
          </a:prstGeom>
          <a:noFill/>
          <a:ln/>
        </p:spPr>
        <p:txBody>
          <a:bodyPr wrap="square" rtlCol="0" anchor="ctr"/>
          <a:lstStyle/>
          <a:p>
            <a:pPr indent="0" marL="0">
              <a:buNone/>
            </a:pPr>
            <a:r>
              <a:rPr lang="en-US" sz="950" b="1" dirty="0">
                <a:solidFill>
                  <a:srgbClr val="1A4A2A"/>
                </a:solidFill>
                <a:latin typeface="Calibri" pitchFamily="34" charset="0"/>
                <a:ea typeface="Calibri" pitchFamily="34" charset="-122"/>
                <a:cs typeface="Calibri" pitchFamily="34" charset="-120"/>
              </a:rPr>
              <a:t>CORRECT: The Four Corners region — where Utah, Colorado, Arizona, and New Mexico meet</a:t>
            </a:r>
            <a:endParaRPr lang="en-US" sz="950" dirty="0"/>
          </a:p>
        </p:txBody>
      </p:sp>
      <p:sp>
        <p:nvSpPr>
          <p:cNvPr id="11" name="Shape 9"/>
          <p:cNvSpPr/>
          <p:nvPr/>
        </p:nvSpPr>
        <p:spPr>
          <a:xfrm>
            <a:off x="4480560" y="1152144"/>
            <a:ext cx="4297680" cy="365760"/>
          </a:xfrm>
          <a:prstGeom prst="roundRect">
            <a:avLst>
              <a:gd name="adj" fmla="val 20000"/>
            </a:avLst>
          </a:prstGeom>
          <a:solidFill>
            <a:srgbClr val="1A2D5A">
              <a:alpha val="90000"/>
            </a:srgbClr>
          </a:solidFill>
          <a:ln/>
        </p:spPr>
      </p:sp>
      <p:sp>
        <p:nvSpPr>
          <p:cNvPr id="12" name="Text 10"/>
          <p:cNvSpPr/>
          <p:nvPr/>
        </p:nvSpPr>
        <p:spPr>
          <a:xfrm>
            <a:off x="4590288" y="1179576"/>
            <a:ext cx="4114800" cy="310896"/>
          </a:xfrm>
          <a:prstGeom prst="rect">
            <a:avLst/>
          </a:prstGeom>
          <a:noFill/>
          <a:ln/>
        </p:spPr>
        <p:txBody>
          <a:bodyPr wrap="square" rtlCol="0" anchor="ctr"/>
          <a:lstStyle/>
          <a:p>
            <a:pPr indent="0" marL="0">
              <a:buNone/>
            </a:pPr>
            <a:r>
              <a:rPr lang="en-US" sz="950" i="1" dirty="0">
                <a:solidFill>
                  <a:srgbClr val="D6F2FB"/>
                </a:solidFill>
                <a:latin typeface="Calibri" pitchFamily="34" charset="0"/>
                <a:ea typeface="Calibri" pitchFamily="34" charset="-122"/>
                <a:cs typeface="Calibri" pitchFamily="34" charset="-120"/>
              </a:rPr>
              <a:t>Why: This is a foundational geographic fact. The Four Corners is a high-desert, canyon landscape — the environment that made cliff dwellings make sense.</a:t>
            </a:r>
            <a:endParaRPr lang="en-US" sz="950" dirty="0"/>
          </a:p>
        </p:txBody>
      </p:sp>
      <p:sp>
        <p:nvSpPr>
          <p:cNvPr id="13" name="Shape 11"/>
          <p:cNvSpPr/>
          <p:nvPr/>
        </p:nvSpPr>
        <p:spPr>
          <a:xfrm>
            <a:off x="274320" y="2066544"/>
            <a:ext cx="8549640" cy="1225296"/>
          </a:xfrm>
          <a:prstGeom prst="roundRect">
            <a:avLst>
              <a:gd name="adj" fmla="val 8955"/>
            </a:avLst>
          </a:prstGeom>
          <a:solidFill>
            <a:srgbClr val="FFFFFF"/>
          </a:solidFill>
          <a:ln w="12700">
            <a:solidFill>
              <a:srgbClr val="0E1C42"/>
            </a:solidFill>
            <a:prstDash val="solid"/>
          </a:ln>
        </p:spPr>
      </p:sp>
      <p:sp>
        <p:nvSpPr>
          <p:cNvPr id="14" name="Shape 12"/>
          <p:cNvSpPr/>
          <p:nvPr/>
        </p:nvSpPr>
        <p:spPr>
          <a:xfrm>
            <a:off x="347472" y="2139696"/>
            <a:ext cx="329184" cy="329184"/>
          </a:xfrm>
          <a:prstGeom prst="ellipse">
            <a:avLst/>
          </a:prstGeom>
          <a:solidFill>
            <a:srgbClr val="0E1C42"/>
          </a:solidFill>
          <a:ln/>
        </p:spPr>
      </p:sp>
      <p:sp>
        <p:nvSpPr>
          <p:cNvPr id="15" name="Text 13"/>
          <p:cNvSpPr/>
          <p:nvPr/>
        </p:nvSpPr>
        <p:spPr>
          <a:xfrm>
            <a:off x="347472" y="2139696"/>
            <a:ext cx="329184" cy="329184"/>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6" name="Text 14"/>
          <p:cNvSpPr/>
          <p:nvPr/>
        </p:nvSpPr>
        <p:spPr>
          <a:xfrm>
            <a:off x="768096" y="2139696"/>
            <a:ext cx="7973568" cy="27432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Why did the Ancestral Pueblo build into south-facing cliff alcoves?</a:t>
            </a:r>
            <a:endParaRPr lang="en-US" sz="1100" dirty="0"/>
          </a:p>
        </p:txBody>
      </p:sp>
      <p:sp>
        <p:nvSpPr>
          <p:cNvPr id="17" name="Shape 15"/>
          <p:cNvSpPr/>
          <p:nvPr/>
        </p:nvSpPr>
        <p:spPr>
          <a:xfrm>
            <a:off x="411480" y="2468880"/>
            <a:ext cx="3977640" cy="365760"/>
          </a:xfrm>
          <a:prstGeom prst="roundRect">
            <a:avLst>
              <a:gd name="adj" fmla="val 20000"/>
            </a:avLst>
          </a:prstGeom>
          <a:solidFill>
            <a:srgbClr val="34B76F">
              <a:alpha val="85000"/>
            </a:srgbClr>
          </a:solidFill>
          <a:ln w="12700">
            <a:solidFill>
              <a:srgbClr val="34B76F"/>
            </a:solidFill>
            <a:prstDash val="solid"/>
          </a:ln>
        </p:spPr>
      </p:sp>
      <p:sp>
        <p:nvSpPr>
          <p:cNvPr id="18" name="Text 16"/>
          <p:cNvSpPr/>
          <p:nvPr/>
        </p:nvSpPr>
        <p:spPr>
          <a:xfrm>
            <a:off x="530352" y="2496312"/>
            <a:ext cx="3822192" cy="310896"/>
          </a:xfrm>
          <a:prstGeom prst="rect">
            <a:avLst/>
          </a:prstGeom>
          <a:noFill/>
          <a:ln/>
        </p:spPr>
        <p:txBody>
          <a:bodyPr wrap="square" rtlCol="0" anchor="ctr"/>
          <a:lstStyle/>
          <a:p>
            <a:pPr indent="0" marL="0">
              <a:buNone/>
            </a:pPr>
            <a:r>
              <a:rPr lang="en-US" sz="950" b="1" dirty="0">
                <a:solidFill>
                  <a:srgbClr val="1A4A2A"/>
                </a:solidFill>
                <a:latin typeface="Calibri" pitchFamily="34" charset="0"/>
                <a:ea typeface="Calibri" pitchFamily="34" charset="-122"/>
                <a:cs typeface="Calibri" pitchFamily="34" charset="-120"/>
              </a:rPr>
              <a:t>CORRECT: South-facing alcoves captured winter sun warmth and provided shade in summer</a:t>
            </a:r>
            <a:endParaRPr lang="en-US" sz="950" dirty="0"/>
          </a:p>
        </p:txBody>
      </p:sp>
      <p:sp>
        <p:nvSpPr>
          <p:cNvPr id="19" name="Shape 17"/>
          <p:cNvSpPr/>
          <p:nvPr/>
        </p:nvSpPr>
        <p:spPr>
          <a:xfrm>
            <a:off x="4480560" y="2468880"/>
            <a:ext cx="4297680" cy="365760"/>
          </a:xfrm>
          <a:prstGeom prst="roundRect">
            <a:avLst>
              <a:gd name="adj" fmla="val 20000"/>
            </a:avLst>
          </a:prstGeom>
          <a:solidFill>
            <a:srgbClr val="1A2D5A">
              <a:alpha val="90000"/>
            </a:srgbClr>
          </a:solidFill>
          <a:ln/>
        </p:spPr>
      </p:sp>
      <p:sp>
        <p:nvSpPr>
          <p:cNvPr id="20" name="Text 18"/>
          <p:cNvSpPr/>
          <p:nvPr/>
        </p:nvSpPr>
        <p:spPr>
          <a:xfrm>
            <a:off x="4590288" y="2496312"/>
            <a:ext cx="4114800" cy="310896"/>
          </a:xfrm>
          <a:prstGeom prst="rect">
            <a:avLst/>
          </a:prstGeom>
          <a:noFill/>
          <a:ln/>
        </p:spPr>
        <p:txBody>
          <a:bodyPr wrap="square" rtlCol="0" anchor="ctr"/>
          <a:lstStyle/>
          <a:p>
            <a:pPr indent="0" marL="0">
              <a:buNone/>
            </a:pPr>
            <a:r>
              <a:rPr lang="en-US" sz="950" i="1" dirty="0">
                <a:solidFill>
                  <a:srgbClr val="D6F2FB"/>
                </a:solidFill>
                <a:latin typeface="Calibri" pitchFamily="34" charset="0"/>
                <a:ea typeface="Calibri" pitchFamily="34" charset="-122"/>
                <a:cs typeface="Calibri" pitchFamily="34" charset="-120"/>
              </a:rPr>
              <a:t>Why: This is the climate-control evidence — the strongest single practical reason in the source record.</a:t>
            </a:r>
            <a:endParaRPr lang="en-US" sz="950" dirty="0"/>
          </a:p>
        </p:txBody>
      </p:sp>
      <p:sp>
        <p:nvSpPr>
          <p:cNvPr id="21" name="Shape 19"/>
          <p:cNvSpPr/>
          <p:nvPr/>
        </p:nvSpPr>
        <p:spPr>
          <a:xfrm>
            <a:off x="274320" y="3383280"/>
            <a:ext cx="8549640" cy="1225296"/>
          </a:xfrm>
          <a:prstGeom prst="roundRect">
            <a:avLst>
              <a:gd name="adj" fmla="val 8955"/>
            </a:avLst>
          </a:prstGeom>
          <a:solidFill>
            <a:srgbClr val="FFFFFF"/>
          </a:solidFill>
          <a:ln w="12700">
            <a:solidFill>
              <a:srgbClr val="0E1C42"/>
            </a:solidFill>
            <a:prstDash val="solid"/>
          </a:ln>
        </p:spPr>
      </p:sp>
      <p:sp>
        <p:nvSpPr>
          <p:cNvPr id="22" name="Shape 20"/>
          <p:cNvSpPr/>
          <p:nvPr/>
        </p:nvSpPr>
        <p:spPr>
          <a:xfrm>
            <a:off x="347472" y="3456432"/>
            <a:ext cx="329184" cy="329184"/>
          </a:xfrm>
          <a:prstGeom prst="ellipse">
            <a:avLst/>
          </a:prstGeom>
          <a:solidFill>
            <a:srgbClr val="0E1C42"/>
          </a:solidFill>
          <a:ln/>
        </p:spPr>
      </p:sp>
      <p:sp>
        <p:nvSpPr>
          <p:cNvPr id="23" name="Text 21"/>
          <p:cNvSpPr/>
          <p:nvPr/>
        </p:nvSpPr>
        <p:spPr>
          <a:xfrm>
            <a:off x="347472" y="3456432"/>
            <a:ext cx="329184" cy="329184"/>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4" name="Text 22"/>
          <p:cNvSpPr/>
          <p:nvPr/>
        </p:nvSpPr>
        <p:spPr>
          <a:xfrm>
            <a:off x="768096" y="3456432"/>
            <a:ext cx="7973568" cy="27432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What should a careful editor do with the Herald's claim?</a:t>
            </a:r>
            <a:endParaRPr lang="en-US" sz="1100" dirty="0"/>
          </a:p>
        </p:txBody>
      </p:sp>
      <p:sp>
        <p:nvSpPr>
          <p:cNvPr id="25" name="Shape 23"/>
          <p:cNvSpPr/>
          <p:nvPr/>
        </p:nvSpPr>
        <p:spPr>
          <a:xfrm>
            <a:off x="411480" y="3785616"/>
            <a:ext cx="3977640" cy="365760"/>
          </a:xfrm>
          <a:prstGeom prst="roundRect">
            <a:avLst>
              <a:gd name="adj" fmla="val 20000"/>
            </a:avLst>
          </a:prstGeom>
          <a:solidFill>
            <a:srgbClr val="34B76F">
              <a:alpha val="85000"/>
            </a:srgbClr>
          </a:solidFill>
          <a:ln w="12700">
            <a:solidFill>
              <a:srgbClr val="34B76F"/>
            </a:solidFill>
            <a:prstDash val="solid"/>
          </a:ln>
        </p:spPr>
      </p:sp>
      <p:sp>
        <p:nvSpPr>
          <p:cNvPr id="26" name="Text 24"/>
          <p:cNvSpPr/>
          <p:nvPr/>
        </p:nvSpPr>
        <p:spPr>
          <a:xfrm>
            <a:off x="530352" y="3813048"/>
            <a:ext cx="3822192" cy="310896"/>
          </a:xfrm>
          <a:prstGeom prst="rect">
            <a:avLst/>
          </a:prstGeom>
          <a:noFill/>
          <a:ln/>
        </p:spPr>
        <p:txBody>
          <a:bodyPr wrap="square" rtlCol="0" anchor="ctr"/>
          <a:lstStyle/>
          <a:p>
            <a:pPr indent="0" marL="0">
              <a:buNone/>
            </a:pPr>
            <a:r>
              <a:rPr lang="en-US" sz="950" b="1" dirty="0">
                <a:solidFill>
                  <a:srgbClr val="1A4A2A"/>
                </a:solidFill>
                <a:latin typeface="Calibri" pitchFamily="34" charset="0"/>
                <a:ea typeface="Calibri" pitchFamily="34" charset="-122"/>
                <a:cs typeface="Calibri" pitchFamily="34" charset="-120"/>
              </a:rPr>
              <a:t>CORRECT: Rewrite the claim using evidence that the dwellings served practical purposes like protection and climate control</a:t>
            </a:r>
            <a:endParaRPr lang="en-US" sz="950" dirty="0"/>
          </a:p>
        </p:txBody>
      </p:sp>
      <p:sp>
        <p:nvSpPr>
          <p:cNvPr id="27" name="Shape 25"/>
          <p:cNvSpPr/>
          <p:nvPr/>
        </p:nvSpPr>
        <p:spPr>
          <a:xfrm>
            <a:off x="4480560" y="3785616"/>
            <a:ext cx="4297680" cy="365760"/>
          </a:xfrm>
          <a:prstGeom prst="roundRect">
            <a:avLst>
              <a:gd name="adj" fmla="val 20000"/>
            </a:avLst>
          </a:prstGeom>
          <a:solidFill>
            <a:srgbClr val="1A2D5A">
              <a:alpha val="90000"/>
            </a:srgbClr>
          </a:solidFill>
          <a:ln/>
        </p:spPr>
      </p:sp>
      <p:sp>
        <p:nvSpPr>
          <p:cNvPr id="28" name="Text 26"/>
          <p:cNvSpPr/>
          <p:nvPr/>
        </p:nvSpPr>
        <p:spPr>
          <a:xfrm>
            <a:off x="4590288" y="3813048"/>
            <a:ext cx="4114800" cy="310896"/>
          </a:xfrm>
          <a:prstGeom prst="rect">
            <a:avLst/>
          </a:prstGeom>
          <a:noFill/>
          <a:ln/>
        </p:spPr>
        <p:txBody>
          <a:bodyPr wrap="square" rtlCol="0" anchor="ctr"/>
          <a:lstStyle/>
          <a:p>
            <a:pPr indent="0" marL="0">
              <a:buNone/>
            </a:pPr>
            <a:r>
              <a:rPr lang="en-US" sz="950" i="1" dirty="0">
                <a:solidFill>
                  <a:srgbClr val="D6F2FB"/>
                </a:solidFill>
                <a:latin typeface="Calibri" pitchFamily="34" charset="0"/>
                <a:ea typeface="Calibri" pitchFamily="34" charset="-122"/>
                <a:cs typeface="Calibri" pitchFamily="34" charset="-120"/>
              </a:rPr>
              <a:t>Why: A correction acknowledges what's partly right, names specific evidence, and rewrites accurately.</a:t>
            </a:r>
            <a:endParaRPr lang="en-US" sz="950" dirty="0"/>
          </a:p>
        </p:txBody>
      </p:sp>
      <p:sp>
        <p:nvSpPr>
          <p:cNvPr id="29" name="Shape 27"/>
          <p:cNvSpPr/>
          <p:nvPr/>
        </p:nvSpPr>
        <p:spPr>
          <a:xfrm>
            <a:off x="0" y="4754880"/>
            <a:ext cx="9144000" cy="388620"/>
          </a:xfrm>
          <a:prstGeom prst="rect">
            <a:avLst/>
          </a:prstGeom>
          <a:solidFill>
            <a:srgbClr val="1A2D5A"/>
          </a:solidFill>
          <a:ln/>
        </p:spPr>
      </p:sp>
      <p:sp>
        <p:nvSpPr>
          <p:cNvPr id="30" name="Text 28"/>
          <p:cNvSpPr/>
          <p:nvPr/>
        </p:nvSpPr>
        <p:spPr>
          <a:xfrm>
            <a:off x="274320" y="4791456"/>
            <a:ext cx="8595360" cy="256032"/>
          </a:xfrm>
          <a:prstGeom prst="rect">
            <a:avLst/>
          </a:prstGeom>
          <a:noFill/>
          <a:ln/>
        </p:spPr>
        <p:txBody>
          <a:bodyPr wrap="square" rtlCol="0" anchor="ctr"/>
          <a:lstStyle/>
          <a:p>
            <a:pPr algn="ctr" indent="0" marL="0">
              <a:buNone/>
            </a:pPr>
            <a:r>
              <a:rPr lang="en-US" sz="950" b="1" dirty="0">
                <a:solidFill>
                  <a:srgbClr val="D4943A"/>
                </a:solidFill>
                <a:latin typeface="Calibri" pitchFamily="34" charset="0"/>
                <a:ea typeface="Calibri" pitchFamily="34" charset="-122"/>
                <a:cs typeface="Calibri" pitchFamily="34" charset="-120"/>
              </a:rPr>
              <a:t>3 for 3? You are ready to go to press. Head to the Assignment tab in the lesson page.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274320" y="73152"/>
            <a:ext cx="3200400" cy="201168"/>
          </a:xfrm>
          <a:prstGeom prst="rect">
            <a:avLst/>
          </a:prstGeom>
          <a:noFill/>
          <a:ln/>
        </p:spPr>
        <p:txBody>
          <a:bodyPr wrap="square" rtlCol="0" anchor="ctr"/>
          <a:lstStyle/>
          <a:p>
            <a:pPr indent="0" marL="0">
              <a:buNone/>
            </a:pPr>
            <a:r>
              <a:rPr lang="en-US" sz="850" b="1" spc="180" kern="0" dirty="0">
                <a:solidFill>
                  <a:srgbClr val="7A88A8"/>
                </a:solidFill>
                <a:latin typeface="Calibri" pitchFamily="34" charset="0"/>
                <a:ea typeface="Calibri" pitchFamily="34" charset="-122"/>
                <a:cs typeface="Calibri" pitchFamily="34" charset="-120"/>
              </a:rPr>
              <a:t>GO TO PRESS  ·  ASSIGNMENT PREVIEW</a:t>
            </a:r>
            <a:endParaRPr lang="en-US" sz="850" dirty="0"/>
          </a:p>
        </p:txBody>
      </p:sp>
      <p:sp>
        <p:nvSpPr>
          <p:cNvPr id="4" name="Shape 2"/>
          <p:cNvSpPr/>
          <p:nvPr/>
        </p:nvSpPr>
        <p:spPr>
          <a:xfrm>
            <a:off x="0" y="0"/>
            <a:ext cx="9144000" cy="566928"/>
          </a:xfrm>
          <a:prstGeom prst="rect">
            <a:avLst/>
          </a:prstGeom>
          <a:solidFill>
            <a:srgbClr val="0E1C42"/>
          </a:solidFill>
          <a:ln/>
        </p:spPr>
      </p:sp>
      <p:sp>
        <p:nvSpPr>
          <p:cNvPr id="5" name="Text 3"/>
          <p:cNvSpPr/>
          <p:nvPr/>
        </p:nvSpPr>
        <p:spPr>
          <a:xfrm>
            <a:off x="274320" y="54864"/>
            <a:ext cx="8595360" cy="237744"/>
          </a:xfrm>
          <a:prstGeom prst="rect">
            <a:avLst/>
          </a:prstGeom>
          <a:noFill/>
          <a:ln/>
        </p:spPr>
        <p:txBody>
          <a:bodyPr wrap="square"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GAZETTE CORRECTION — Junior Editor's Submission  ·  Vol. 1, Issue 10</a:t>
            </a:r>
            <a:endParaRPr lang="en-US" sz="900" dirty="0"/>
          </a:p>
        </p:txBody>
      </p:sp>
      <p:sp>
        <p:nvSpPr>
          <p:cNvPr id="6" name="Text 4"/>
          <p:cNvSpPr/>
          <p:nvPr/>
        </p:nvSpPr>
        <p:spPr>
          <a:xfrm>
            <a:off x="274320" y="310896"/>
            <a:ext cx="8595360" cy="201168"/>
          </a:xfrm>
          <a:prstGeom prst="rect">
            <a:avLst/>
          </a:prstGeom>
          <a:noFill/>
          <a:ln/>
        </p:spPr>
        <p:txBody>
          <a:bodyPr wrap="square" rtlCol="0" anchor="ctr"/>
          <a:lstStyle/>
          <a:p>
            <a:pPr algn="ctr" indent="0" marL="0">
              <a:buNone/>
            </a:pPr>
            <a:r>
              <a:rPr lang="en-US" sz="850" i="1" dirty="0">
                <a:solidFill>
                  <a:srgbClr val="7A88A8"/>
                </a:solidFill>
                <a:latin typeface="Calibri" pitchFamily="34" charset="0"/>
                <a:ea typeface="Calibri" pitchFamily="34" charset="-122"/>
                <a:cs typeface="Calibri" pitchFamily="34" charset="-120"/>
              </a:rPr>
              <a:t>Honest Reporting  ·  Evidence First  ·  For Every Citizen</a:t>
            </a:r>
            <a:endParaRPr lang="en-US" sz="850" dirty="0"/>
          </a:p>
        </p:txBody>
      </p:sp>
      <p:sp>
        <p:nvSpPr>
          <p:cNvPr id="7" name="Shape 5"/>
          <p:cNvSpPr/>
          <p:nvPr/>
        </p:nvSpPr>
        <p:spPr>
          <a:xfrm>
            <a:off x="256032" y="658368"/>
            <a:ext cx="8631936" cy="786384"/>
          </a:xfrm>
          <a:prstGeom prst="roundRect">
            <a:avLst>
              <a:gd name="adj" fmla="val 11628"/>
            </a:avLst>
          </a:prstGeom>
          <a:solidFill>
            <a:srgbClr val="FFFFFF"/>
          </a:solidFill>
          <a:ln w="25400">
            <a:solidFill>
              <a:srgbClr val="1A8A7D"/>
            </a:solidFill>
            <a:prstDash val="solid"/>
          </a:ln>
        </p:spPr>
      </p:sp>
      <p:sp>
        <p:nvSpPr>
          <p:cNvPr id="8" name="Shape 6"/>
          <p:cNvSpPr/>
          <p:nvPr/>
        </p:nvSpPr>
        <p:spPr>
          <a:xfrm>
            <a:off x="256032" y="658368"/>
            <a:ext cx="457200" cy="786384"/>
          </a:xfrm>
          <a:prstGeom prst="roundRect">
            <a:avLst>
              <a:gd name="adj" fmla="val 20000"/>
            </a:avLst>
          </a:prstGeom>
          <a:solidFill>
            <a:srgbClr val="1A8A7D"/>
          </a:solidFill>
          <a:ln/>
        </p:spPr>
      </p:sp>
      <p:sp>
        <p:nvSpPr>
          <p:cNvPr id="9" name="Text 7"/>
          <p:cNvSpPr/>
          <p:nvPr/>
        </p:nvSpPr>
        <p:spPr>
          <a:xfrm>
            <a:off x="256032" y="658368"/>
            <a:ext cx="457200" cy="786384"/>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786384" y="694944"/>
            <a:ext cx="7973568" cy="7132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List two things you can directly observe in the cliff dwelling photograph. What do these observations tell you about the builders?</a:t>
            </a:r>
            <a:endParaRPr lang="en-US" sz="1200" dirty="0"/>
          </a:p>
        </p:txBody>
      </p:sp>
      <p:sp>
        <p:nvSpPr>
          <p:cNvPr id="11" name="Shape 9"/>
          <p:cNvSpPr/>
          <p:nvPr/>
        </p:nvSpPr>
        <p:spPr>
          <a:xfrm>
            <a:off x="256032" y="1536192"/>
            <a:ext cx="8631936" cy="786384"/>
          </a:xfrm>
          <a:prstGeom prst="roundRect">
            <a:avLst>
              <a:gd name="adj" fmla="val 11628"/>
            </a:avLst>
          </a:prstGeom>
          <a:solidFill>
            <a:srgbClr val="FFFFFF"/>
          </a:solidFill>
          <a:ln w="25400">
            <a:solidFill>
              <a:srgbClr val="8B6FC0"/>
            </a:solidFill>
            <a:prstDash val="solid"/>
          </a:ln>
        </p:spPr>
      </p:sp>
      <p:sp>
        <p:nvSpPr>
          <p:cNvPr id="12" name="Shape 10"/>
          <p:cNvSpPr/>
          <p:nvPr/>
        </p:nvSpPr>
        <p:spPr>
          <a:xfrm>
            <a:off x="256032" y="1536192"/>
            <a:ext cx="457200" cy="786384"/>
          </a:xfrm>
          <a:prstGeom prst="roundRect">
            <a:avLst>
              <a:gd name="adj" fmla="val 20000"/>
            </a:avLst>
          </a:prstGeom>
          <a:solidFill>
            <a:srgbClr val="8B6FC0"/>
          </a:solidFill>
          <a:ln/>
        </p:spPr>
      </p:sp>
      <p:sp>
        <p:nvSpPr>
          <p:cNvPr id="13" name="Text 11"/>
          <p:cNvSpPr/>
          <p:nvPr/>
        </p:nvSpPr>
        <p:spPr>
          <a:xfrm>
            <a:off x="256032" y="1536192"/>
            <a:ext cx="457200" cy="786384"/>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786384" y="1572768"/>
            <a:ext cx="7973568" cy="7132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Why would a community choose to build homes into a cliff instead of on flat ground? Name at least two practical reasons supported by evidence.</a:t>
            </a:r>
            <a:endParaRPr lang="en-US" sz="1200" dirty="0"/>
          </a:p>
        </p:txBody>
      </p:sp>
      <p:sp>
        <p:nvSpPr>
          <p:cNvPr id="15" name="Shape 13"/>
          <p:cNvSpPr/>
          <p:nvPr/>
        </p:nvSpPr>
        <p:spPr>
          <a:xfrm>
            <a:off x="256032" y="2414016"/>
            <a:ext cx="8631936" cy="786384"/>
          </a:xfrm>
          <a:prstGeom prst="roundRect">
            <a:avLst>
              <a:gd name="adj" fmla="val 11628"/>
            </a:avLst>
          </a:prstGeom>
          <a:solidFill>
            <a:srgbClr val="FFFFFF"/>
          </a:solidFill>
          <a:ln w="25400">
            <a:solidFill>
              <a:srgbClr val="E8636B"/>
            </a:solidFill>
            <a:prstDash val="solid"/>
          </a:ln>
        </p:spPr>
      </p:sp>
      <p:sp>
        <p:nvSpPr>
          <p:cNvPr id="16" name="Shape 14"/>
          <p:cNvSpPr/>
          <p:nvPr/>
        </p:nvSpPr>
        <p:spPr>
          <a:xfrm>
            <a:off x="256032" y="2414016"/>
            <a:ext cx="457200" cy="786384"/>
          </a:xfrm>
          <a:prstGeom prst="roundRect">
            <a:avLst>
              <a:gd name="adj" fmla="val 20000"/>
            </a:avLst>
          </a:prstGeom>
          <a:solidFill>
            <a:srgbClr val="E8636B"/>
          </a:solidFill>
          <a:ln/>
        </p:spPr>
      </p:sp>
      <p:sp>
        <p:nvSpPr>
          <p:cNvPr id="17" name="Text 15"/>
          <p:cNvSpPr/>
          <p:nvPr/>
        </p:nvSpPr>
        <p:spPr>
          <a:xfrm>
            <a:off x="256032" y="2414016"/>
            <a:ext cx="457200" cy="786384"/>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786384" y="2450592"/>
            <a:ext cx="7973568" cy="713232"/>
          </a:xfrm>
          <a:prstGeom prst="rect">
            <a:avLst/>
          </a:prstGeom>
          <a:noFill/>
          <a:ln/>
        </p:spPr>
        <p:txBody>
          <a:bodyPr wrap="square" rtlCol="0" anchor="ctr"/>
          <a:lstStyle/>
          <a:p>
            <a:pPr indent="0" marL="0">
              <a:buNone/>
            </a:pPr>
            <a:r>
              <a:rPr lang="en-US" sz="1200" b="1" dirty="0">
                <a:solidFill>
                  <a:srgbClr val="0E1C42"/>
                </a:solidFill>
                <a:latin typeface="Cambria" pitchFamily="34" charset="0"/>
                <a:ea typeface="Cambria" pitchFamily="34" charset="-122"/>
                <a:cs typeface="Cambria" pitchFamily="34" charset="-120"/>
              </a:rPr>
              <a:t>The Hasty Herald said "The Ancestral Pueblo built cliff dwellings only because they looked impressive." What's partly right about that? What's missing?</a:t>
            </a:r>
            <a:endParaRPr lang="en-US" sz="1200" dirty="0"/>
          </a:p>
        </p:txBody>
      </p:sp>
      <p:sp>
        <p:nvSpPr>
          <p:cNvPr id="19" name="Shape 17"/>
          <p:cNvSpPr/>
          <p:nvPr/>
        </p:nvSpPr>
        <p:spPr>
          <a:xfrm>
            <a:off x="256032" y="3291840"/>
            <a:ext cx="8631936" cy="749808"/>
          </a:xfrm>
          <a:prstGeom prst="roundRect">
            <a:avLst>
              <a:gd name="adj" fmla="val 14634"/>
            </a:avLst>
          </a:prstGeom>
          <a:solidFill>
            <a:srgbClr val="FFF3DC"/>
          </a:solidFill>
          <a:ln w="25400">
            <a:solidFill>
              <a:srgbClr val="D4943A"/>
            </a:solidFill>
            <a:prstDash val="solid"/>
          </a:ln>
        </p:spPr>
      </p:sp>
      <p:sp>
        <p:nvSpPr>
          <p:cNvPr id="20" name="Text 18"/>
          <p:cNvSpPr/>
          <p:nvPr/>
        </p:nvSpPr>
        <p:spPr>
          <a:xfrm>
            <a:off x="411480" y="3337560"/>
            <a:ext cx="2286000"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FOR THE ARCHIVE:</a:t>
            </a:r>
            <a:endParaRPr lang="en-US" sz="900" dirty="0"/>
          </a:p>
        </p:txBody>
      </p:sp>
      <p:sp>
        <p:nvSpPr>
          <p:cNvPr id="21" name="Text 19"/>
          <p:cNvSpPr/>
          <p:nvPr/>
        </p:nvSpPr>
        <p:spPr>
          <a:xfrm>
            <a:off x="411480" y="3547872"/>
            <a:ext cx="8339328" cy="438912"/>
          </a:xfrm>
          <a:prstGeom prst="rect">
            <a:avLst/>
          </a:prstGeom>
          <a:noFill/>
          <a:ln/>
        </p:spPr>
        <p:txBody>
          <a:bodyPr wrap="square" rtlCol="0" anchor="t"/>
          <a:lstStyle/>
          <a:p>
            <a:pPr indent="0" marL="0">
              <a:buNone/>
            </a:pPr>
            <a:r>
              <a:rPr lang="en-US" sz="1200" i="1" dirty="0">
                <a:solidFill>
                  <a:srgbClr val="5A4A3A"/>
                </a:solidFill>
                <a:latin typeface="Cambria" pitchFamily="34" charset="0"/>
                <a:ea typeface="Cambria" pitchFamily="34" charset="-122"/>
                <a:cs typeface="Cambria" pitchFamily="34" charset="-120"/>
              </a:rPr>
              <a:t>In one careful sentence, write what future citizens should remember about the Ancestral Pueblo.</a:t>
            </a:r>
            <a:endParaRPr lang="en-US" sz="1200" dirty="0"/>
          </a:p>
        </p:txBody>
      </p:sp>
      <p:sp>
        <p:nvSpPr>
          <p:cNvPr id="22" name="Shape 20"/>
          <p:cNvSpPr/>
          <p:nvPr/>
        </p:nvSpPr>
        <p:spPr>
          <a:xfrm>
            <a:off x="256032" y="4133088"/>
            <a:ext cx="8631936" cy="512064"/>
          </a:xfrm>
          <a:prstGeom prst="roundRect">
            <a:avLst>
              <a:gd name="adj" fmla="val 17857"/>
            </a:avLst>
          </a:prstGeom>
          <a:solidFill>
            <a:srgbClr val="1A2D5A"/>
          </a:solidFill>
          <a:ln/>
        </p:spPr>
      </p:sp>
      <p:sp>
        <p:nvSpPr>
          <p:cNvPr id="23" name="Text 21"/>
          <p:cNvSpPr/>
          <p:nvPr/>
        </p:nvSpPr>
        <p:spPr>
          <a:xfrm>
            <a:off x="384048" y="4169664"/>
            <a:ext cx="8375904" cy="402336"/>
          </a:xfrm>
          <a:prstGeom prst="rect">
            <a:avLst/>
          </a:prstGeom>
          <a:noFill/>
          <a:ln/>
        </p:spPr>
        <p:txBody>
          <a:bodyPr wrap="square" rtlCol="0" anchor="ctr"/>
          <a:lstStyle/>
          <a:p>
            <a:pPr indent="0" marL="0">
              <a:buNone/>
            </a:pPr>
            <a:r>
              <a:rPr lang="en-US" sz="950" b="1" dirty="0">
                <a:solidFill>
                  <a:srgbClr val="D4943A"/>
                </a:solidFill>
                <a:latin typeface="Calibri" pitchFamily="34" charset="0"/>
                <a:ea typeface="Calibri" pitchFamily="34" charset="-122"/>
                <a:cs typeface="Calibri" pitchFamily="34" charset="-120"/>
              </a:rPr>
              <a:t>  Answered all 3 notebook questions   ·     Completed Fact-Check   ·     Wrote headline + Gazette Correction   ·     Added name to byline   ·     Wrote Archive Line   ·     Copied/downloaded Gathered Answers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347472"/>
          </a:xfrm>
          <a:prstGeom prst="rect">
            <a:avLst/>
          </a:prstGeom>
          <a:solidFill>
            <a:srgbClr val="D4943A"/>
          </a:solidFill>
          <a:ln/>
        </p:spPr>
      </p:sp>
      <p:sp>
        <p:nvSpPr>
          <p:cNvPr id="6" name="Text 3"/>
          <p:cNvSpPr/>
          <p:nvPr/>
        </p:nvSpPr>
        <p:spPr>
          <a:xfrm>
            <a:off x="274320" y="54864"/>
            <a:ext cx="8595360" cy="237744"/>
          </a:xfrm>
          <a:prstGeom prst="rect">
            <a:avLst/>
          </a:prstGeom>
          <a:noFill/>
          <a:ln/>
        </p:spPr>
        <p:txBody>
          <a:bodyPr wrap="square"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THE REPUBLIC GAZETTE  ·  ISSUE 10 PUBLISHED</a:t>
            </a:r>
            <a:endParaRPr lang="en-US" sz="900" dirty="0"/>
          </a:p>
        </p:txBody>
      </p:sp>
      <p:sp>
        <p:nvSpPr>
          <p:cNvPr id="7" name="Text 4"/>
          <p:cNvSpPr/>
          <p:nvPr/>
        </p:nvSpPr>
        <p:spPr>
          <a:xfrm>
            <a:off x="457200" y="502920"/>
            <a:ext cx="8229600" cy="54864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Issue 10 Complete.</a:t>
            </a:r>
            <a:endParaRPr lang="en-US" sz="3000" dirty="0"/>
          </a:p>
        </p:txBody>
      </p:sp>
      <p:sp>
        <p:nvSpPr>
          <p:cNvPr id="8" name="Text 5"/>
          <p:cNvSpPr/>
          <p:nvPr/>
        </p:nvSpPr>
        <p:spPr>
          <a:xfrm>
            <a:off x="731520" y="1115568"/>
            <a:ext cx="7680960" cy="621792"/>
          </a:xfrm>
          <a:prstGeom prst="rect">
            <a:avLst/>
          </a:prstGeom>
          <a:noFill/>
          <a:ln/>
        </p:spPr>
        <p:txBody>
          <a:bodyPr wrap="square" rtlCol="0" anchor="ctr"/>
          <a:lstStyle/>
          <a:p>
            <a:pPr algn="ctr" indent="0" marL="0">
              <a:buNone/>
            </a:pPr>
            <a:r>
              <a:rPr lang="en-US" sz="1500" i="1" dirty="0">
                <a:solidFill>
                  <a:srgbClr val="D4943A"/>
                </a:solidFill>
                <a:latin typeface="Cambria" pitchFamily="34" charset="0"/>
                <a:ea typeface="Cambria" pitchFamily="34" charset="-122"/>
                <a:cs typeface="Cambria" pitchFamily="34" charset="-120"/>
              </a:rPr>
              <a:t>You examined a source, separated observation from inference,</a:t>
            </a:r>
            <a:endParaRPr lang="en-US" sz="1500" dirty="0"/>
          </a:p>
          <a:p>
            <a:pPr algn="ctr" indent="0" marL="0">
              <a:buNone/>
            </a:pPr>
            <a:r>
              <a:rPr lang="en-US" sz="1500" i="1" dirty="0">
                <a:solidFill>
                  <a:srgbClr val="D4943A"/>
                </a:solidFill>
                <a:latin typeface="Cambria" pitchFamily="34" charset="0"/>
                <a:ea typeface="Cambria" pitchFamily="34" charset="-122"/>
                <a:cs typeface="Cambria" pitchFamily="34" charset="-120"/>
              </a:rPr>
              <a:t>and corrected the Herald's oversimplified claim.</a:t>
            </a:r>
            <a:endParaRPr lang="en-US" sz="1500" dirty="0"/>
          </a:p>
        </p:txBody>
      </p:sp>
      <p:sp>
        <p:nvSpPr>
          <p:cNvPr id="9" name="Shape 6"/>
          <p:cNvSpPr/>
          <p:nvPr/>
        </p:nvSpPr>
        <p:spPr>
          <a:xfrm>
            <a:off x="457200" y="1828800"/>
            <a:ext cx="8229600" cy="566928"/>
          </a:xfrm>
          <a:prstGeom prst="roundRect">
            <a:avLst>
              <a:gd name="adj" fmla="val 19355"/>
            </a:avLst>
          </a:prstGeom>
          <a:solidFill>
            <a:srgbClr val="1A2D5A">
              <a:alpha val="90000"/>
            </a:srgbClr>
          </a:solidFill>
          <a:ln w="19050">
            <a:solidFill>
              <a:srgbClr val="55C8E8"/>
            </a:solidFill>
            <a:prstDash val="solid"/>
          </a:ln>
        </p:spPr>
      </p:sp>
      <p:sp>
        <p:nvSpPr>
          <p:cNvPr id="10" name="Text 7"/>
          <p:cNvSpPr/>
          <p:nvPr/>
        </p:nvSpPr>
        <p:spPr>
          <a:xfrm>
            <a:off x="621792" y="1865376"/>
            <a:ext cx="7900416" cy="493776"/>
          </a:xfrm>
          <a:prstGeom prst="rect">
            <a:avLst/>
          </a:prstGeom>
          <a:noFill/>
          <a:ln/>
        </p:spPr>
        <p:txBody>
          <a:bodyPr wrap="square" rtlCol="0" anchor="ctr"/>
          <a:lstStyle/>
          <a:p>
            <a:pPr algn="ctr" indent="0" marL="0">
              <a:buNone/>
            </a:pPr>
            <a:r>
              <a:rPr lang="en-US" sz="1150" dirty="0">
                <a:solidFill>
                  <a:srgbClr val="D6F2FB"/>
                </a:solidFill>
                <a:latin typeface="Calibri" pitchFamily="34" charset="0"/>
                <a:ea typeface="Calibri" pitchFamily="34" charset="-122"/>
                <a:cs typeface="Calibri" pitchFamily="34" charset="-120"/>
              </a:rPr>
              <a:t>What the Gazette proved today: The Ancestral Pueblo built cliff dwellings for climate control, protection, and farmland access — not just because they looked impressive. The Gazette is stronger because you served readers with accurate, evidence-based reporting.</a:t>
            </a:r>
            <a:endParaRPr lang="en-US" sz="1150" dirty="0"/>
          </a:p>
        </p:txBody>
      </p:sp>
      <p:sp>
        <p:nvSpPr>
          <p:cNvPr id="11" name="Shape 8"/>
          <p:cNvSpPr/>
          <p:nvPr/>
        </p:nvSpPr>
        <p:spPr>
          <a:xfrm>
            <a:off x="1371600" y="2505456"/>
            <a:ext cx="6400800" cy="1225296"/>
          </a:xfrm>
          <a:prstGeom prst="roundRect">
            <a:avLst>
              <a:gd name="adj" fmla="val 10448"/>
            </a:avLst>
          </a:prstGeom>
          <a:solidFill>
            <a:srgbClr val="0B1835">
              <a:alpha val="95000"/>
            </a:srgbClr>
          </a:solidFill>
          <a:ln w="25400">
            <a:solidFill>
              <a:srgbClr val="D4943A"/>
            </a:solidFill>
            <a:prstDash val="solid"/>
          </a:ln>
        </p:spPr>
      </p:sp>
      <p:sp>
        <p:nvSpPr>
          <p:cNvPr id="12" name="Shape 9"/>
          <p:cNvSpPr/>
          <p:nvPr/>
        </p:nvSpPr>
        <p:spPr>
          <a:xfrm>
            <a:off x="1371600" y="2505456"/>
            <a:ext cx="6400800" cy="292608"/>
          </a:xfrm>
          <a:prstGeom prst="roundRect">
            <a:avLst>
              <a:gd name="adj" fmla="val 43750"/>
            </a:avLst>
          </a:prstGeom>
          <a:solidFill>
            <a:srgbClr val="D4943A"/>
          </a:solidFill>
          <a:ln/>
        </p:spPr>
      </p:sp>
      <p:sp>
        <p:nvSpPr>
          <p:cNvPr id="13" name="Text 10"/>
          <p:cNvSpPr/>
          <p:nvPr/>
        </p:nvSpPr>
        <p:spPr>
          <a:xfrm>
            <a:off x="1481328" y="2532888"/>
            <a:ext cx="6181344" cy="23774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Calibri" pitchFamily="34" charset="0"/>
                <a:ea typeface="Calibri" pitchFamily="34" charset="-122"/>
                <a:cs typeface="Calibri" pitchFamily="34" charset="-120"/>
              </a:rPr>
              <a:t>NEXT ISSUE: 5.03.03  —  MAYA CIVILIZATION</a:t>
            </a:r>
            <a:endParaRPr lang="en-US" sz="950" dirty="0"/>
          </a:p>
        </p:txBody>
      </p:sp>
      <p:sp>
        <p:nvSpPr>
          <p:cNvPr id="14" name="Text 11"/>
          <p:cNvSpPr/>
          <p:nvPr/>
        </p:nvSpPr>
        <p:spPr>
          <a:xfrm>
            <a:off x="1508760" y="2852928"/>
            <a:ext cx="6126480" cy="512064"/>
          </a:xfrm>
          <a:prstGeom prst="rect">
            <a:avLst/>
          </a:prstGeom>
          <a:noFill/>
          <a:ln/>
        </p:spPr>
        <p:txBody>
          <a:bodyPr wrap="square" rtlCol="0" anchor="ctr"/>
          <a:lstStyle/>
          <a:p>
            <a:pPr algn="ctr" indent="0" marL="0">
              <a:buNone/>
            </a:pPr>
            <a:r>
              <a:rPr lang="en-US" sz="1150" i="1" dirty="0">
                <a:solidFill>
                  <a:srgbClr val="FFF3DC"/>
                </a:solidFill>
                <a:latin typeface="Cambria" pitchFamily="34" charset="0"/>
                <a:ea typeface="Cambria" pitchFamily="34" charset="-122"/>
                <a:cs typeface="Cambria" pitchFamily="34" charset="-120"/>
              </a:rPr>
              <a:t>A new dispatch arrives at the Front Page Desk — and The Hasty Herald has already rushed to print a claim about what the Maya should be remembered for.</a:t>
            </a:r>
            <a:endParaRPr lang="en-US" sz="1150" dirty="0"/>
          </a:p>
        </p:txBody>
      </p:sp>
      <p:sp>
        <p:nvSpPr>
          <p:cNvPr id="15" name="Text 12"/>
          <p:cNvSpPr/>
          <p:nvPr/>
        </p:nvSpPr>
        <p:spPr>
          <a:xfrm>
            <a:off x="1508760" y="3383280"/>
            <a:ext cx="6126480" cy="274320"/>
          </a:xfrm>
          <a:prstGeom prst="rect">
            <a:avLst/>
          </a:prstGeom>
          <a:noFill/>
          <a:ln/>
        </p:spPr>
        <p:txBody>
          <a:bodyPr wrap="square" rtlCol="0" anchor="ctr"/>
          <a:lstStyle/>
          <a:p>
            <a:pPr algn="ctr" indent="0" marL="0">
              <a:buNone/>
            </a:pPr>
            <a:r>
              <a:rPr lang="en-US" sz="1100" b="1" dirty="0">
                <a:solidFill>
                  <a:srgbClr val="D4943A"/>
                </a:solidFill>
                <a:latin typeface="Calibri" pitchFamily="34" charset="0"/>
                <a:ea typeface="Calibri" pitchFamily="34" charset="-122"/>
                <a:cs typeface="Calibri" pitchFamily="34" charset="-120"/>
              </a:rPr>
              <a:t>Editors, sharpen your pencils.</a:t>
            </a:r>
            <a:endParaRPr lang="en-US" sz="1100" dirty="0"/>
          </a:p>
        </p:txBody>
      </p:sp>
      <p:sp>
        <p:nvSpPr>
          <p:cNvPr id="16" name="Shape 13"/>
          <p:cNvSpPr/>
          <p:nvPr/>
        </p:nvSpPr>
        <p:spPr>
          <a:xfrm>
            <a:off x="2286000" y="3785616"/>
            <a:ext cx="4572000" cy="512064"/>
          </a:xfrm>
          <a:prstGeom prst="roundRect">
            <a:avLst>
              <a:gd name="adj" fmla="val 21429"/>
            </a:avLst>
          </a:prstGeom>
          <a:solidFill>
            <a:srgbClr val="D4943A">
              <a:alpha val="85000"/>
            </a:srgbClr>
          </a:solidFill>
          <a:ln w="19050">
            <a:solidFill>
              <a:srgbClr val="D4943A"/>
            </a:solidFill>
            <a:prstDash val="solid"/>
          </a:ln>
        </p:spPr>
      </p:sp>
      <p:sp>
        <p:nvSpPr>
          <p:cNvPr id="17" name="Text 14"/>
          <p:cNvSpPr/>
          <p:nvPr/>
        </p:nvSpPr>
        <p:spPr>
          <a:xfrm>
            <a:off x="2423160" y="3822192"/>
            <a:ext cx="4297680" cy="438912"/>
          </a:xfrm>
          <a:prstGeom prst="rect">
            <a:avLst/>
          </a:prstGeom>
          <a:noFill/>
          <a:ln/>
        </p:spPr>
        <p:txBody>
          <a:bodyPr wrap="square" rtlCol="0" anchor="ctr"/>
          <a:lstStyle/>
          <a:p>
            <a:pPr algn="ctr" indent="0" marL="0">
              <a:buNone/>
            </a:pPr>
            <a:r>
              <a:rPr lang="en-US" sz="1250" b="1" i="1" dirty="0">
                <a:solidFill>
                  <a:srgbClr val="FFFFFF"/>
                </a:solidFill>
                <a:latin typeface="Cambria" pitchFamily="34" charset="0"/>
                <a:ea typeface="Cambria" pitchFamily="34" charset="-122"/>
                <a:cs typeface="Cambria" pitchFamily="34" charset="-120"/>
              </a:rPr>
              <a:t>SERVICE — You served readers with the truth today.</a:t>
            </a:r>
            <a:endParaRPr lang="en-US" sz="1250" dirty="0"/>
          </a:p>
        </p:txBody>
      </p:sp>
      <p:sp>
        <p:nvSpPr>
          <p:cNvPr id="18" name="Shape 15"/>
          <p:cNvSpPr/>
          <p:nvPr/>
        </p:nvSpPr>
        <p:spPr>
          <a:xfrm>
            <a:off x="0" y="4754880"/>
            <a:ext cx="9144000" cy="388620"/>
          </a:xfrm>
          <a:prstGeom prst="rect">
            <a:avLst/>
          </a:prstGeom>
          <a:solidFill>
            <a:srgbClr val="0B1835"/>
          </a:solidFill>
          <a:ln/>
        </p:spPr>
      </p:sp>
      <p:sp>
        <p:nvSpPr>
          <p:cNvPr id="19" name="Text 16"/>
          <p:cNvSpPr/>
          <p:nvPr/>
        </p:nvSpPr>
        <p:spPr>
          <a:xfrm>
            <a:off x="274320" y="4791456"/>
            <a:ext cx="8595360" cy="256032"/>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Honest Reporting  ·  Evidence First  ·  For Every Citizen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2026-07-16T17:15:35Z</dcterms:created>
  <dcterms:modified xsi:type="dcterms:W3CDTF">2026-07-16T17:15:35Z</dcterms:modified>
</cp:coreProperties>
</file>