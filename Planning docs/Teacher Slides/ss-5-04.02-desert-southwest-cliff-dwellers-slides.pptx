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Dramatic aerial view of Pueblo cliff dwellings in canyon walls, warm golden light, desert mesas in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The Hasty Herald claim. Have students read the claim aloud. Ask: before we look at any evidence, what KINDS of evidence would prove this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Newsroom dispatch board with clippings, headlines, map pins — warm editorial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Show the image in silence for 30 seconds. Then ask the observation prompt aloud before opening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This is the setup for the productive struggle. Students should feel the genuine difficulty BEFORE the reveal. Don't rush to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Ancestral Pueblo cliff dwellings at Mesa Verde — stone buildings nestled in canyon alcove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Full-width image for maximum impact. 30-second silent observation before any chat. Then take 3-4 chat responses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Push students on the word 'evidence.' Architecture is a PRIMARY source. What can we read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Read the question aloud together. Then walk through the scaffold. Remind students: the adaptation must SOLVE that specific challenge — not just be something the Pueblo peoples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This photograph is the anchor for Question 2. Train students to point to SPECIFIC details, not general impressions.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Emphasize that both images show SYSTEMS — not random survival tricks, but integrated knowledge passed down over generations.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Model the structure: DETAIL → CONNECTION → CONCLUSION. Students who write 'it shows they were smart' need to back up one step: what SPECIFICALLY in the photograph shows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This is the pivot slide — Question 3 prep. The key intellectual move is: partly right + completely misleading = irresponsible journalism.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Contemplative image — a student journalist at a desk, notebook open, thinking carefully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Narrate every decision aloud. Pause after naming the challenge: 'Am I being specific enough?' Pause after naming the adaptation: 'Does this DIRECTLY solve my challenge?' Then model the because-clause.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Co-construct the answer using student responses from chat. Write collaboratively — this is the bridge to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3 minutes independent work. Circulate and prompt: 'What specific challenge did you choose?' and 'Read me your because-clause.'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Students should diagnose the problem before you name it. The sample response has facts but no analysis — it lists without explaining. The revision needs a because-clause.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Read through the assignment together. Clarify Gazette Map Note structure. Students should begin immediately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Newsroom celebration — warm lights, papers flying, diverse young journalists celebrating a filed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164592"/>
            <a:ext cx="9144000" cy="73152"/>
          </a:xfrm>
          <a:prstGeom prst="rect">
            <a:avLst/>
          </a:prstGeom>
          <a:solidFill>
            <a:srgbClr val="D4943A"/>
          </a:solidFill>
          <a:ln/>
        </p:spPr>
      </p:sp>
      <p:sp>
        <p:nvSpPr>
          <p:cNvPr id="6" name="Text 3"/>
          <p:cNvSpPr/>
          <p:nvPr/>
        </p:nvSpPr>
        <p:spPr>
          <a:xfrm>
            <a:off x="365760" y="256032"/>
            <a:ext cx="8412480" cy="502920"/>
          </a:xfrm>
          <a:prstGeom prst="rect">
            <a:avLst/>
          </a:prstGeom>
          <a:noFill/>
          <a:ln/>
        </p:spPr>
        <p:txBody>
          <a:bodyPr wrap="square" rtlCol="0" anchor="ctr"/>
          <a:lstStyle/>
          <a:p>
            <a:pPr algn="ctr" indent="0" marL="0">
              <a:buNone/>
            </a:pPr>
            <a:r>
              <a:rPr lang="en-US" sz="3800" b="1" spc="400" kern="0" dirty="0">
                <a:solidFill>
                  <a:srgbClr val="D4943A"/>
                </a:solidFill>
                <a:latin typeface="Cambria" pitchFamily="34" charset="0"/>
                <a:ea typeface="Cambria" pitchFamily="34" charset="-122"/>
                <a:cs typeface="Cambria" pitchFamily="34" charset="-120"/>
              </a:rPr>
              <a:t>THE REPUBLIC GAZETTE</a:t>
            </a:r>
            <a:endParaRPr lang="en-US" sz="3800" dirty="0"/>
          </a:p>
        </p:txBody>
      </p:sp>
      <p:sp>
        <p:nvSpPr>
          <p:cNvPr id="7" name="Text 4"/>
          <p:cNvSpPr/>
          <p:nvPr/>
        </p:nvSpPr>
        <p:spPr>
          <a:xfrm>
            <a:off x="365760" y="777240"/>
            <a:ext cx="8412480" cy="256032"/>
          </a:xfrm>
          <a:prstGeom prst="rect">
            <a:avLst/>
          </a:prstGeom>
          <a:noFill/>
          <a:ln/>
        </p:spPr>
        <p:txBody>
          <a:bodyPr wrap="square" rtlCol="0" anchor="ctr"/>
          <a:lstStyle/>
          <a:p>
            <a:pPr algn="ctr" indent="0" marL="0">
              <a:buNone/>
            </a:pPr>
            <a:r>
              <a:rPr lang="en-US" sz="1300" spc="200" kern="0" dirty="0">
                <a:solidFill>
                  <a:srgbClr val="55C8E8"/>
                </a:solidFill>
                <a:latin typeface="Calibri" pitchFamily="34" charset="0"/>
                <a:ea typeface="Calibri" pitchFamily="34" charset="-122"/>
                <a:cs typeface="Calibri" pitchFamily="34" charset="-120"/>
              </a:rPr>
              <a:t>Vol. 1  ·  Issue 16  ·  Map Room</a:t>
            </a:r>
            <a:endParaRPr lang="en-US" sz="1300" dirty="0"/>
          </a:p>
        </p:txBody>
      </p:sp>
      <p:sp>
        <p:nvSpPr>
          <p:cNvPr id="8" name="Shape 5"/>
          <p:cNvSpPr/>
          <p:nvPr/>
        </p:nvSpPr>
        <p:spPr>
          <a:xfrm>
            <a:off x="2286000" y="1097280"/>
            <a:ext cx="4572000" cy="36576"/>
          </a:xfrm>
          <a:prstGeom prst="rect">
            <a:avLst/>
          </a:prstGeom>
          <a:solidFill>
            <a:srgbClr val="D4943A"/>
          </a:solidFill>
          <a:ln/>
        </p:spPr>
      </p:sp>
      <p:sp>
        <p:nvSpPr>
          <p:cNvPr id="9" name="Text 6"/>
          <p:cNvSpPr/>
          <p:nvPr/>
        </p:nvSpPr>
        <p:spPr>
          <a:xfrm>
            <a:off x="365760" y="1188720"/>
            <a:ext cx="8412480" cy="54864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Desert Southwest:</a:t>
            </a:r>
            <a:endParaRPr lang="en-US" sz="3200" dirty="0"/>
          </a:p>
        </p:txBody>
      </p:sp>
      <p:sp>
        <p:nvSpPr>
          <p:cNvPr id="10" name="Text 7"/>
          <p:cNvSpPr/>
          <p:nvPr/>
        </p:nvSpPr>
        <p:spPr>
          <a:xfrm>
            <a:off x="365760" y="1719072"/>
            <a:ext cx="8412480" cy="475488"/>
          </a:xfrm>
          <a:prstGeom prst="rect">
            <a:avLst/>
          </a:prstGeom>
          <a:noFill/>
          <a:ln/>
        </p:spPr>
        <p:txBody>
          <a:bodyPr wrap="square" rtlCol="0" anchor="ctr"/>
          <a:lstStyle/>
          <a:p>
            <a:pPr algn="ctr" indent="0" marL="0">
              <a:buNone/>
            </a:pPr>
            <a:r>
              <a:rPr lang="en-US" sz="2600" dirty="0">
                <a:solidFill>
                  <a:srgbClr val="F0F2F8"/>
                </a:solidFill>
                <a:latin typeface="Cambria" pitchFamily="34" charset="0"/>
                <a:ea typeface="Cambria" pitchFamily="34" charset="-122"/>
                <a:cs typeface="Cambria" pitchFamily="34" charset="-120"/>
              </a:rPr>
              <a:t>Cliff Dwellers and Pueblo Peoples</a:t>
            </a:r>
            <a:endParaRPr lang="en-US" sz="2600" dirty="0"/>
          </a:p>
        </p:txBody>
      </p:sp>
      <p:sp>
        <p:nvSpPr>
          <p:cNvPr id="11" name="Shape 8"/>
          <p:cNvSpPr/>
          <p:nvPr/>
        </p:nvSpPr>
        <p:spPr>
          <a:xfrm>
            <a:off x="731520" y="2304288"/>
            <a:ext cx="7680960" cy="713232"/>
          </a:xfrm>
          <a:prstGeom prst="roundRect">
            <a:avLst>
              <a:gd name="adj" fmla="val 12821"/>
            </a:avLst>
          </a:prstGeom>
          <a:solidFill>
            <a:srgbClr val="1A2D5A">
              <a:alpha val="80000"/>
            </a:srgbClr>
          </a:solidFill>
          <a:ln w="12700">
            <a:solidFill>
              <a:srgbClr val="55C8E8"/>
            </a:solidFill>
            <a:prstDash val="solid"/>
          </a:ln>
        </p:spPr>
      </p:sp>
      <p:sp>
        <p:nvSpPr>
          <p:cNvPr id="12" name="Text 9"/>
          <p:cNvSpPr/>
          <p:nvPr/>
        </p:nvSpPr>
        <p:spPr>
          <a:xfrm>
            <a:off x="914400" y="2359152"/>
            <a:ext cx="7315200" cy="603504"/>
          </a:xfrm>
          <a:prstGeom prst="rect">
            <a:avLst/>
          </a:prstGeom>
          <a:noFill/>
          <a:ln/>
        </p:spPr>
        <p:txBody>
          <a:bodyPr wrap="square" rtlCol="0" anchor="ctr"/>
          <a:lstStyle/>
          <a:p>
            <a:pPr algn="ctr" indent="0" marL="0">
              <a:buNone/>
            </a:pPr>
            <a:r>
              <a:rPr lang="en-US" sz="1400" i="1" dirty="0">
                <a:solidFill>
                  <a:srgbClr val="D6F2FB"/>
                </a:solidFill>
                <a:latin typeface="Calibri" pitchFamily="34" charset="0"/>
                <a:ea typeface="Calibri" pitchFamily="34" charset="-122"/>
                <a:cs typeface="Calibri" pitchFamily="34" charset="-120"/>
              </a:rPr>
              <a:t>Was the Desert Southwest really too harsh for complex communities — or does the evidence show something the Herald missed?</a:t>
            </a:r>
            <a:endParaRPr lang="en-US" sz="1400" dirty="0"/>
          </a:p>
        </p:txBody>
      </p:sp>
      <p:sp>
        <p:nvSpPr>
          <p:cNvPr id="13" name="Text 10"/>
          <p:cNvSpPr/>
          <p:nvPr/>
        </p:nvSpPr>
        <p:spPr>
          <a:xfrm>
            <a:off x="365760" y="3127248"/>
            <a:ext cx="8412480" cy="256032"/>
          </a:xfrm>
          <a:prstGeom prst="rect">
            <a:avLst/>
          </a:prstGeom>
          <a:noFill/>
          <a:ln/>
        </p:spPr>
        <p:txBody>
          <a:bodyPr wrap="square" rtlCol="0" anchor="ctr"/>
          <a:lstStyle/>
          <a:p>
            <a:pPr algn="ctr" indent="0" marL="0">
              <a:buNone/>
            </a:pPr>
            <a:r>
              <a:rPr lang="en-US" sz="1200" dirty="0">
                <a:solidFill>
                  <a:srgbClr val="7A88A8"/>
                </a:solidFill>
                <a:latin typeface="Calibri" pitchFamily="34" charset="0"/>
                <a:ea typeface="Calibri" pitchFamily="34" charset="-122"/>
                <a:cs typeface="Calibri" pitchFamily="34" charset="-120"/>
              </a:rPr>
              <a:t>Week 8  ·  Q2  ·  Unit 4: Early American Civilizations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365760" y="137160"/>
            <a:ext cx="8412480" cy="411480"/>
          </a:xfrm>
          <a:prstGeom prst="rect">
            <a:avLst/>
          </a:prstGeom>
          <a:noFill/>
          <a:ln/>
        </p:spPr>
        <p:txBody>
          <a:bodyPr wrap="square" rtlCol="0" anchor="ctr"/>
          <a:lstStyle/>
          <a:p>
            <a:pPr algn="ctr" indent="0" marL="0">
              <a:buNone/>
            </a:pPr>
            <a:r>
              <a:rPr lang="en-US" sz="2800" b="1" spc="300" kern="0" dirty="0">
                <a:solidFill>
                  <a:srgbClr val="E8636B"/>
                </a:solidFill>
                <a:latin typeface="Cambria" pitchFamily="34" charset="0"/>
                <a:ea typeface="Cambria" pitchFamily="34" charset="-122"/>
                <a:cs typeface="Cambria" pitchFamily="34" charset="-120"/>
              </a:rPr>
              <a:t>BREAKING NEWS</a:t>
            </a:r>
            <a:endParaRPr lang="en-US" sz="2800" dirty="0"/>
          </a:p>
        </p:txBody>
      </p:sp>
      <p:sp>
        <p:nvSpPr>
          <p:cNvPr id="5" name="Shape 3"/>
          <p:cNvSpPr/>
          <p:nvPr/>
        </p:nvSpPr>
        <p:spPr>
          <a:xfrm>
            <a:off x="548640" y="621792"/>
            <a:ext cx="8046720" cy="1005840"/>
          </a:xfrm>
          <a:prstGeom prst="roundRect">
            <a:avLst>
              <a:gd name="adj" fmla="val 9091"/>
            </a:avLst>
          </a:prstGeom>
          <a:solidFill>
            <a:srgbClr val="FFFFFF"/>
          </a:solidFill>
          <a:ln w="31750">
            <a:solidFill>
              <a:srgbClr val="E8636B"/>
            </a:solidFill>
            <a:prstDash val="solid"/>
          </a:ln>
        </p:spPr>
      </p:sp>
      <p:sp>
        <p:nvSpPr>
          <p:cNvPr id="6" name="Text 4"/>
          <p:cNvSpPr/>
          <p:nvPr/>
        </p:nvSpPr>
        <p:spPr>
          <a:xfrm>
            <a:off x="731520" y="658368"/>
            <a:ext cx="7680960" cy="256032"/>
          </a:xfrm>
          <a:prstGeom prst="rect">
            <a:avLst/>
          </a:prstGeom>
          <a:noFill/>
          <a:ln/>
        </p:spPr>
        <p:txBody>
          <a:bodyPr wrap="square"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THE HASTY HERALD</a:t>
            </a:r>
            <a:endParaRPr lang="en-US" sz="1000" dirty="0"/>
          </a:p>
        </p:txBody>
      </p:sp>
      <p:sp>
        <p:nvSpPr>
          <p:cNvPr id="7" name="Text 5"/>
          <p:cNvSpPr/>
          <p:nvPr/>
        </p:nvSpPr>
        <p:spPr>
          <a:xfrm>
            <a:off x="731520" y="896112"/>
            <a:ext cx="7680960" cy="658368"/>
          </a:xfrm>
          <a:prstGeom prst="rect">
            <a:avLst/>
          </a:prstGeom>
          <a:noFill/>
          <a:ln/>
        </p:spPr>
        <p:txBody>
          <a:bodyPr wrap="square" rtlCol="0" anchor="ctr"/>
          <a:lstStyle/>
          <a:p>
            <a:pPr algn="ctr" indent="0" marL="0">
              <a:buNone/>
            </a:pPr>
            <a:r>
              <a:rPr lang="en-US" sz="2000" b="1" i="1" dirty="0">
                <a:solidFill>
                  <a:srgbClr val="0E1C42"/>
                </a:solidFill>
                <a:latin typeface="Cambria" pitchFamily="34" charset="0"/>
                <a:ea typeface="Cambria" pitchFamily="34" charset="-122"/>
                <a:cs typeface="Cambria" pitchFamily="34" charset="-120"/>
              </a:rPr>
              <a:t>"The Desert Southwest was too harsh for complex communities."</a:t>
            </a:r>
            <a:endParaRPr lang="en-US" sz="2000" dirty="0"/>
          </a:p>
        </p:txBody>
      </p:sp>
      <p:sp>
        <p:nvSpPr>
          <p:cNvPr id="8" name="Shape 6"/>
          <p:cNvSpPr/>
          <p:nvPr/>
        </p:nvSpPr>
        <p:spPr>
          <a:xfrm>
            <a:off x="7132320" y="658368"/>
            <a:ext cx="1188720" cy="310896"/>
          </a:xfrm>
          <a:prstGeom prst="roundRect">
            <a:avLst>
              <a:gd name="adj" fmla="val 17647"/>
            </a:avLst>
          </a:prstGeom>
          <a:solidFill>
            <a:srgbClr val="E8636B"/>
          </a:solidFill>
          <a:ln/>
        </p:spPr>
      </p:sp>
      <p:sp>
        <p:nvSpPr>
          <p:cNvPr id="9" name="Text 7"/>
          <p:cNvSpPr/>
          <p:nvPr/>
        </p:nvSpPr>
        <p:spPr>
          <a:xfrm>
            <a:off x="7150608" y="694944"/>
            <a:ext cx="1152144" cy="237744"/>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RUSHED TO PRINT!</a:t>
            </a:r>
            <a:endParaRPr lang="en-US" sz="850" dirty="0"/>
          </a:p>
        </p:txBody>
      </p:sp>
      <p:sp>
        <p:nvSpPr>
          <p:cNvPr id="10" name="Shape 8"/>
          <p:cNvSpPr/>
          <p:nvPr/>
        </p:nvSpPr>
        <p:spPr>
          <a:xfrm>
            <a:off x="274320" y="1719072"/>
            <a:ext cx="4846320" cy="1417320"/>
          </a:xfrm>
          <a:prstGeom prst="roundRect">
            <a:avLst>
              <a:gd name="adj" fmla="val 7742"/>
            </a:avLst>
          </a:prstGeom>
          <a:solidFill>
            <a:srgbClr val="1A2D5A"/>
          </a:solidFill>
          <a:ln w="12700">
            <a:solidFill>
              <a:srgbClr val="2A4070"/>
            </a:solidFill>
            <a:prstDash val="solid"/>
          </a:ln>
        </p:spPr>
      </p:sp>
      <p:sp>
        <p:nvSpPr>
          <p:cNvPr id="11" name="Text 9"/>
          <p:cNvSpPr/>
          <p:nvPr/>
        </p:nvSpPr>
        <p:spPr>
          <a:xfrm>
            <a:off x="411480" y="1773936"/>
            <a:ext cx="457200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457200" y="2039112"/>
            <a:ext cx="4480560" cy="10058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count as evidence that this claim is wrong?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'complex community' mean — how would you know if you found one?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might someone dismiss a people's achievements by pointing to their environment?</a:t>
            </a:r>
            <a:endParaRPr lang="en-US" sz="1100" dirty="0"/>
          </a:p>
        </p:txBody>
      </p:sp>
      <p:sp>
        <p:nvSpPr>
          <p:cNvPr id="13" name="Shape 11"/>
          <p:cNvSpPr/>
          <p:nvPr/>
        </p:nvSpPr>
        <p:spPr>
          <a:xfrm>
            <a:off x="5303520" y="1719072"/>
            <a:ext cx="3520440" cy="1417320"/>
          </a:xfrm>
          <a:prstGeom prst="roundRect">
            <a:avLst>
              <a:gd name="adj" fmla="val 7742"/>
            </a:avLst>
          </a:prstGeom>
          <a:solidFill>
            <a:srgbClr val="FFF3DC"/>
          </a:solidFill>
          <a:ln w="19050">
            <a:solidFill>
              <a:srgbClr val="F5E6C8"/>
            </a:solidFill>
            <a:prstDash val="solid"/>
          </a:ln>
        </p:spPr>
      </p:sp>
      <p:sp>
        <p:nvSpPr>
          <p:cNvPr id="14" name="Text 12"/>
          <p:cNvSpPr/>
          <p:nvPr/>
        </p:nvSpPr>
        <p:spPr>
          <a:xfrm>
            <a:off x="5440680" y="1773936"/>
            <a:ext cx="32461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5440680" y="1975104"/>
            <a:ext cx="324612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test this claim, I would need to find..."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might have missed..."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73152"/>
          </a:xfrm>
          <a:prstGeom prst="rect">
            <a:avLst/>
          </a:prstGeom>
          <a:solidFill>
            <a:srgbClr val="D4943A"/>
          </a:solidFill>
          <a:ln/>
        </p:spPr>
      </p:sp>
      <p:sp>
        <p:nvSpPr>
          <p:cNvPr id="4" name="Text 2"/>
          <p:cNvSpPr/>
          <p:nvPr/>
        </p:nvSpPr>
        <p:spPr>
          <a:xfrm>
            <a:off x="365760" y="137160"/>
            <a:ext cx="8412480" cy="329184"/>
          </a:xfrm>
          <a:prstGeom prst="rect">
            <a:avLst/>
          </a:prstGeom>
          <a:noFill/>
          <a:ln/>
        </p:spPr>
        <p:txBody>
          <a:bodyPr wrap="square" rtlCol="0" anchor="ctr"/>
          <a:lstStyle/>
          <a:p>
            <a:pPr algn="ctr" indent="0" marL="0">
              <a:buNone/>
            </a:pPr>
            <a:r>
              <a:rPr lang="en-US" sz="1100" b="1" spc="300" kern="0" dirty="0">
                <a:solidFill>
                  <a:srgbClr val="D4943A"/>
                </a:solidFill>
                <a:latin typeface="Calibri" pitchFamily="34" charset="0"/>
                <a:ea typeface="Calibri" pitchFamily="34" charset="-122"/>
                <a:cs typeface="Calibri" pitchFamily="34" charset="-120"/>
              </a:rPr>
              <a:t>DISPATCH  ·  ISSUE 16</a:t>
            </a:r>
            <a:endParaRPr lang="en-US" sz="1100" dirty="0"/>
          </a:p>
        </p:txBody>
      </p:sp>
      <p:sp>
        <p:nvSpPr>
          <p:cNvPr id="5" name="Shape 3"/>
          <p:cNvSpPr/>
          <p:nvPr/>
        </p:nvSpPr>
        <p:spPr>
          <a:xfrm>
            <a:off x="457200" y="548640"/>
            <a:ext cx="8229600" cy="1207008"/>
          </a:xfrm>
          <a:prstGeom prst="roundRect">
            <a:avLst>
              <a:gd name="adj" fmla="val 9091"/>
            </a:avLst>
          </a:prstGeom>
          <a:solidFill>
            <a:srgbClr val="1A2D5A"/>
          </a:solidFill>
          <a:ln w="12700">
            <a:solidFill>
              <a:srgbClr val="2A4070"/>
            </a:solidFill>
            <a:prstDash val="solid"/>
          </a:ln>
        </p:spPr>
      </p:sp>
      <p:sp>
        <p:nvSpPr>
          <p:cNvPr id="6" name="Text 4"/>
          <p:cNvSpPr/>
          <p:nvPr/>
        </p:nvSpPr>
        <p:spPr>
          <a:xfrm>
            <a:off x="640080" y="594360"/>
            <a:ext cx="7863840" cy="256032"/>
          </a:xfrm>
          <a:prstGeom prst="rect">
            <a:avLst/>
          </a:prstGeom>
          <a:noFill/>
          <a:ln/>
        </p:spPr>
        <p:txBody>
          <a:bodyPr wrap="square"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A Message from Ms. Avery, Editor-in-Chief</a:t>
            </a:r>
            <a:endParaRPr lang="en-US" sz="1000" dirty="0"/>
          </a:p>
        </p:txBody>
      </p:sp>
      <p:sp>
        <p:nvSpPr>
          <p:cNvPr id="7" name="Text 5"/>
          <p:cNvSpPr/>
          <p:nvPr/>
        </p:nvSpPr>
        <p:spPr>
          <a:xfrm>
            <a:off x="640080" y="868680"/>
            <a:ext cx="7863840" cy="804672"/>
          </a:xfrm>
          <a:prstGeom prst="rect">
            <a:avLst/>
          </a:prstGeom>
          <a:noFill/>
          <a:ln/>
        </p:spPr>
        <p:txBody>
          <a:bodyPr wrap="square" rtlCol="0" anchor="t"/>
          <a:lstStyle/>
          <a:p>
            <a:pPr indent="0" marL="0">
              <a:buNone/>
            </a:pPr>
            <a:r>
              <a:rPr lang="en-US" sz="1300" i="1" dirty="0">
                <a:solidFill>
                  <a:srgbClr val="F0F2F8"/>
                </a:solidFill>
                <a:latin typeface="Cambria" pitchFamily="34" charset="0"/>
                <a:ea typeface="Cambria" pitchFamily="34" charset="-122"/>
                <a:cs typeface="Cambria" pitchFamily="34" charset="-120"/>
              </a:rPr>
              <a:t>"Junior Editors — last issue, we mapped the full diversity of Native American regions. Today we zoom in. The Hasty Herald has made a sweeping claim about the Desert Southwest. Your job: examine the map and photograph evidence, and tell our readers what the Herald got wrong."</a:t>
            </a:r>
            <a:endParaRPr lang="en-US" sz="1300" dirty="0"/>
          </a:p>
        </p:txBody>
      </p:sp>
      <p:sp>
        <p:nvSpPr>
          <p:cNvPr id="8" name="Shape 6"/>
          <p:cNvSpPr/>
          <p:nvPr/>
        </p:nvSpPr>
        <p:spPr>
          <a:xfrm>
            <a:off x="457200" y="1874520"/>
            <a:ext cx="8229600" cy="749808"/>
          </a:xfrm>
          <a:prstGeom prst="roundRect">
            <a:avLst>
              <a:gd name="adj" fmla="val 12195"/>
            </a:avLst>
          </a:prstGeom>
          <a:solidFill>
            <a:srgbClr val="D4943A">
              <a:alpha val="15000"/>
            </a:srgbClr>
          </a:solidFill>
          <a:ln w="19050">
            <a:solidFill>
              <a:srgbClr val="D4943A"/>
            </a:solidFill>
            <a:prstDash val="solid"/>
          </a:ln>
        </p:spPr>
      </p:sp>
      <p:sp>
        <p:nvSpPr>
          <p:cNvPr id="9" name="Text 7"/>
          <p:cNvSpPr/>
          <p:nvPr/>
        </p:nvSpPr>
        <p:spPr>
          <a:xfrm>
            <a:off x="640080" y="1920240"/>
            <a:ext cx="7863840" cy="201168"/>
          </a:xfrm>
          <a:prstGeom prst="rect">
            <a:avLst/>
          </a:prstGeom>
          <a:noFill/>
          <a:ln/>
        </p:spPr>
        <p:txBody>
          <a:bodyPr wrap="square" rtlCol="0" anchor="ctr"/>
          <a:lstStyle/>
          <a:p>
            <a:pPr indent="0" marL="0">
              <a:buNone/>
            </a:pPr>
            <a:r>
              <a:rPr lang="en-US" sz="900" b="1" spc="200" kern="0" dirty="0">
                <a:solidFill>
                  <a:srgbClr val="D4943A"/>
                </a:solidFill>
                <a:latin typeface="Calibri" pitchFamily="34" charset="0"/>
                <a:ea typeface="Calibri" pitchFamily="34" charset="-122"/>
                <a:cs typeface="Calibri" pitchFamily="34" charset="-120"/>
              </a:rPr>
              <a:t>GUIDING QUESTION</a:t>
            </a:r>
            <a:endParaRPr lang="en-US" sz="900" dirty="0"/>
          </a:p>
        </p:txBody>
      </p:sp>
      <p:sp>
        <p:nvSpPr>
          <p:cNvPr id="10" name="Text 8"/>
          <p:cNvSpPr/>
          <p:nvPr/>
        </p:nvSpPr>
        <p:spPr>
          <a:xfrm>
            <a:off x="640080" y="2103120"/>
            <a:ext cx="7863840" cy="457200"/>
          </a:xfrm>
          <a:prstGeom prst="rect">
            <a:avLst/>
          </a:prstGeom>
          <a:noFill/>
          <a:ln/>
        </p:spPr>
        <p:txBody>
          <a:bodyPr wrap="square" rtlCol="0" anchor="ctr"/>
          <a:lstStyle/>
          <a:p>
            <a:pPr indent="0" marL="0">
              <a:buNone/>
            </a:pPr>
            <a:r>
              <a:rPr lang="en-US" sz="1300" i="1" dirty="0">
                <a:solidFill>
                  <a:srgbClr val="FFFFFF"/>
                </a:solidFill>
                <a:latin typeface="Cambria" pitchFamily="34" charset="0"/>
                <a:ea typeface="Cambria" pitchFamily="34" charset="-122"/>
                <a:cs typeface="Cambria" pitchFamily="34" charset="-120"/>
              </a:rPr>
              <a:t>"What does the map and photograph show about life in the Desert Southwest, how did peoples adapt to this environment, and what must we still question?"</a:t>
            </a:r>
            <a:endParaRPr lang="en-US" sz="1300" dirty="0"/>
          </a:p>
        </p:txBody>
      </p:sp>
      <p:sp>
        <p:nvSpPr>
          <p:cNvPr id="11" name="Shape 9"/>
          <p:cNvSpPr/>
          <p:nvPr/>
        </p:nvSpPr>
        <p:spPr>
          <a:xfrm>
            <a:off x="457200" y="2743200"/>
            <a:ext cx="3931920" cy="530352"/>
          </a:xfrm>
          <a:prstGeom prst="roundRect">
            <a:avLst>
              <a:gd name="adj" fmla="val 17241"/>
            </a:avLst>
          </a:prstGeom>
          <a:solidFill>
            <a:srgbClr val="1A2D5A"/>
          </a:solidFill>
          <a:ln w="12700">
            <a:solidFill>
              <a:srgbClr val="2A4070"/>
            </a:solidFill>
            <a:prstDash val="solid"/>
          </a:ln>
        </p:spPr>
      </p:sp>
      <p:sp>
        <p:nvSpPr>
          <p:cNvPr id="12" name="Text 10"/>
          <p:cNvSpPr/>
          <p:nvPr/>
        </p:nvSpPr>
        <p:spPr>
          <a:xfrm>
            <a:off x="640080" y="2788920"/>
            <a:ext cx="3749040"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Your role today:</a:t>
            </a:r>
            <a:endParaRPr lang="en-US" sz="900" dirty="0"/>
          </a:p>
        </p:txBody>
      </p:sp>
      <p:sp>
        <p:nvSpPr>
          <p:cNvPr id="13" name="Text 11"/>
          <p:cNvSpPr/>
          <p:nvPr/>
        </p:nvSpPr>
        <p:spPr>
          <a:xfrm>
            <a:off x="640080" y="2980944"/>
            <a:ext cx="3749040" cy="237744"/>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Junior Editor, Map Room</a:t>
            </a:r>
            <a:endParaRPr lang="en-US" sz="1400" dirty="0"/>
          </a:p>
        </p:txBody>
      </p:sp>
      <p:sp>
        <p:nvSpPr>
          <p:cNvPr id="14" name="Shape 12"/>
          <p:cNvSpPr/>
          <p:nvPr/>
        </p:nvSpPr>
        <p:spPr>
          <a:xfrm>
            <a:off x="4663440" y="2743200"/>
            <a:ext cx="4023360" cy="530352"/>
          </a:xfrm>
          <a:prstGeom prst="roundRect">
            <a:avLst>
              <a:gd name="adj" fmla="val 17241"/>
            </a:avLst>
          </a:prstGeom>
          <a:solidFill>
            <a:srgbClr val="1A2D5A"/>
          </a:solidFill>
          <a:ln w="12700">
            <a:solidFill>
              <a:srgbClr val="2A4070"/>
            </a:solidFill>
            <a:prstDash val="solid"/>
          </a:ln>
        </p:spPr>
      </p:sp>
      <p:sp>
        <p:nvSpPr>
          <p:cNvPr id="15" name="Text 13"/>
          <p:cNvSpPr/>
          <p:nvPr/>
        </p:nvSpPr>
        <p:spPr>
          <a:xfrm>
            <a:off x="4846320" y="2788920"/>
            <a:ext cx="3749040"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Connection to Issue 10:</a:t>
            </a:r>
            <a:endParaRPr lang="en-US" sz="900" dirty="0"/>
          </a:p>
        </p:txBody>
      </p:sp>
      <p:sp>
        <p:nvSpPr>
          <p:cNvPr id="16" name="Text 14"/>
          <p:cNvSpPr/>
          <p:nvPr/>
        </p:nvSpPr>
        <p:spPr>
          <a:xfrm>
            <a:off x="4846320" y="2980944"/>
            <a:ext cx="3749040" cy="237744"/>
          </a:xfrm>
          <a:prstGeom prst="rect">
            <a:avLst/>
          </a:prstGeom>
          <a:noFill/>
          <a:ln/>
        </p:spPr>
        <p:txBody>
          <a:bodyPr wrap="square" rtlCol="0" anchor="ctr"/>
          <a:lstStyle/>
          <a:p>
            <a:pPr indent="0" marL="0">
              <a:buNone/>
            </a:pPr>
            <a:r>
              <a:rPr lang="en-US" sz="1300" dirty="0">
                <a:solidFill>
                  <a:srgbClr val="F0F2F8"/>
                </a:solidFill>
                <a:latin typeface="Calibri" pitchFamily="34" charset="0"/>
                <a:ea typeface="Calibri" pitchFamily="34" charset="-122"/>
                <a:cs typeface="Calibri" pitchFamily="34" charset="-120"/>
              </a:rPr>
              <a:t>Ancestral Pueblo — covered in depth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365760" y="109728"/>
            <a:ext cx="8412480" cy="274320"/>
          </a:xfrm>
          <a:prstGeom prst="rect">
            <a:avLst/>
          </a:prstGeom>
          <a:noFill/>
          <a:ln/>
        </p:spPr>
        <p:txBody>
          <a:bodyPr wrap="square" rtlCol="0" anchor="ctr"/>
          <a:lstStyle/>
          <a:p>
            <a:pPr algn="ctr" indent="0" marL="0">
              <a:buNone/>
            </a:pPr>
            <a:r>
              <a:rPr lang="en-US" sz="900" b="1" spc="200" kern="0" dirty="0">
                <a:solidFill>
                  <a:srgbClr val="0E1C42"/>
                </a:solidFill>
                <a:latin typeface="Calibri" pitchFamily="34" charset="0"/>
                <a:ea typeface="Calibri" pitchFamily="34" charset="-122"/>
                <a:cs typeface="Calibri" pitchFamily="34" charset="-120"/>
              </a:rPr>
              <a:t>CLUE BOX  ·  THE MAP ROOM OPENS A NEW FILE</a:t>
            </a:r>
            <a:endParaRPr lang="en-US" sz="900" dirty="0"/>
          </a:p>
        </p:txBody>
      </p:sp>
      <p:sp>
        <p:nvSpPr>
          <p:cNvPr id="5" name="Text 3"/>
          <p:cNvSpPr/>
          <p:nvPr/>
        </p:nvSpPr>
        <p:spPr>
          <a:xfrm>
            <a:off x="274320" y="457200"/>
            <a:ext cx="8595360" cy="457200"/>
          </a:xfrm>
          <a:prstGeom prst="rect">
            <a:avLst/>
          </a:prstGeom>
          <a:noFill/>
          <a:ln/>
        </p:spPr>
        <p:txBody>
          <a:bodyPr wrap="square" rtlCol="0" anchor="ctr"/>
          <a:lstStyle/>
          <a:p>
            <a:pPr algn="ctr" indent="0" marL="0">
              <a:buNone/>
            </a:pPr>
            <a:r>
              <a:rPr lang="en-US" sz="2600" b="1" dirty="0">
                <a:solidFill>
                  <a:srgbClr val="0E1C42"/>
                </a:solidFill>
                <a:latin typeface="Cambria" pitchFamily="34" charset="0"/>
                <a:ea typeface="Cambria" pitchFamily="34" charset="-122"/>
                <a:cs typeface="Cambria" pitchFamily="34" charset="-120"/>
              </a:rPr>
              <a:t>The Desert Southwest</a:t>
            </a:r>
            <a:endParaRPr lang="en-US" sz="2600" dirty="0"/>
          </a:p>
        </p:txBody>
      </p:sp>
      <p:sp>
        <p:nvSpPr>
          <p:cNvPr id="6" name="Shape 4"/>
          <p:cNvSpPr/>
          <p:nvPr/>
        </p:nvSpPr>
        <p:spPr>
          <a:xfrm>
            <a:off x="365760" y="1005840"/>
            <a:ext cx="5120640" cy="292608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365760" y="1005840"/>
            <a:ext cx="51206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280160"/>
            <a:ext cx="484632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Desert Southwest landscape — canyons, mesas, dry scrubland under a blazing sun</a:t>
            </a:r>
            <a:endParaRPr lang="en-US" sz="1100" dirty="0"/>
          </a:p>
        </p:txBody>
      </p:sp>
      <p:sp>
        <p:nvSpPr>
          <p:cNvPr id="9" name="Shape 7"/>
          <p:cNvSpPr/>
          <p:nvPr/>
        </p:nvSpPr>
        <p:spPr>
          <a:xfrm>
            <a:off x="5669280" y="1005840"/>
            <a:ext cx="3017520" cy="640080"/>
          </a:xfrm>
          <a:prstGeom prst="roundRect">
            <a:avLst>
              <a:gd name="adj" fmla="val 14286"/>
            </a:avLst>
          </a:prstGeom>
          <a:solidFill>
            <a:srgbClr val="1A2D5A"/>
          </a:solidFill>
          <a:ln w="12700">
            <a:solidFill>
              <a:srgbClr val="2A4070"/>
            </a:solidFill>
            <a:prstDash val="solid"/>
          </a:ln>
        </p:spPr>
      </p:sp>
      <p:sp>
        <p:nvSpPr>
          <p:cNvPr id="10" name="Text 8"/>
          <p:cNvSpPr/>
          <p:nvPr/>
        </p:nvSpPr>
        <p:spPr>
          <a:xfrm>
            <a:off x="5806440" y="1042416"/>
            <a:ext cx="2743200"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SILENCE CUE</a:t>
            </a:r>
            <a:endParaRPr lang="en-US" sz="900" dirty="0"/>
          </a:p>
        </p:txBody>
      </p:sp>
      <p:sp>
        <p:nvSpPr>
          <p:cNvPr id="11" name="Text 9"/>
          <p:cNvSpPr/>
          <p:nvPr/>
        </p:nvSpPr>
        <p:spPr>
          <a:xfrm>
            <a:off x="5806440" y="1225296"/>
            <a:ext cx="2743200" cy="347472"/>
          </a:xfrm>
          <a:prstGeom prst="rect">
            <a:avLst/>
          </a:prstGeom>
          <a:noFill/>
          <a:ln/>
        </p:spPr>
        <p:txBody>
          <a:bodyPr wrap="square" rtlCol="0" anchor="ctr"/>
          <a:lstStyle/>
          <a:p>
            <a:pPr indent="0" marL="0">
              <a:buNone/>
            </a:pPr>
            <a:r>
              <a:rPr lang="en-US" sz="1200" i="1" dirty="0">
                <a:solidFill>
                  <a:srgbClr val="F0F2F8"/>
                </a:solidFill>
                <a:latin typeface="Cambria" pitchFamily="34" charset="0"/>
                <a:ea typeface="Cambria" pitchFamily="34" charset="-122"/>
                <a:cs typeface="Cambria" pitchFamily="34" charset="-120"/>
              </a:rPr>
              <a:t>Look carefully. Don't speak yet.</a:t>
            </a:r>
            <a:endParaRPr lang="en-US" sz="1200" dirty="0"/>
          </a:p>
        </p:txBody>
      </p:sp>
      <p:sp>
        <p:nvSpPr>
          <p:cNvPr id="12" name="Shape 10"/>
          <p:cNvSpPr/>
          <p:nvPr/>
        </p:nvSpPr>
        <p:spPr>
          <a:xfrm>
            <a:off x="5669280" y="1783080"/>
            <a:ext cx="3017520" cy="804672"/>
          </a:xfrm>
          <a:prstGeom prst="roundRect">
            <a:avLst>
              <a:gd name="adj" fmla="val 11364"/>
            </a:avLst>
          </a:prstGeom>
          <a:solidFill>
            <a:srgbClr val="FFFFFF"/>
          </a:solidFill>
          <a:ln w="12700">
            <a:solidFill>
              <a:srgbClr val="B0B8CC"/>
            </a:solidFill>
            <a:prstDash val="solid"/>
          </a:ln>
        </p:spPr>
      </p:sp>
      <p:sp>
        <p:nvSpPr>
          <p:cNvPr id="13" name="Text 11"/>
          <p:cNvSpPr/>
          <p:nvPr/>
        </p:nvSpPr>
        <p:spPr>
          <a:xfrm>
            <a:off x="5806440" y="1819656"/>
            <a:ext cx="2743200" cy="201168"/>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OBSERVATION PROMPT</a:t>
            </a:r>
            <a:endParaRPr lang="en-US" sz="900" dirty="0"/>
          </a:p>
        </p:txBody>
      </p:sp>
      <p:sp>
        <p:nvSpPr>
          <p:cNvPr id="14" name="Text 12"/>
          <p:cNvSpPr/>
          <p:nvPr/>
        </p:nvSpPr>
        <p:spPr>
          <a:xfrm>
            <a:off x="5806440" y="2011680"/>
            <a:ext cx="2743200" cy="512064"/>
          </a:xfrm>
          <a:prstGeom prst="rect">
            <a:avLst/>
          </a:prstGeom>
          <a:noFill/>
          <a:ln/>
        </p:spPr>
        <p:txBody>
          <a:bodyPr wrap="square" rtlCol="0" anchor="t"/>
          <a:lstStyle/>
          <a:p>
            <a:pPr indent="0" marL="0">
              <a:buNone/>
            </a:pPr>
            <a:r>
              <a:rPr lang="en-US" sz="1150" i="1" dirty="0">
                <a:solidFill>
                  <a:srgbClr val="0E1C42"/>
                </a:solidFill>
                <a:latin typeface="Cambria" pitchFamily="34" charset="0"/>
                <a:ea typeface="Cambria" pitchFamily="34" charset="-122"/>
                <a:cs typeface="Cambria" pitchFamily="34" charset="-120"/>
              </a:rPr>
              <a:t>What does this landscape tell you about the challenges of living here?</a:t>
            </a:r>
            <a:endParaRPr lang="en-US" sz="1150" dirty="0"/>
          </a:p>
        </p:txBody>
      </p:sp>
      <p:sp>
        <p:nvSpPr>
          <p:cNvPr id="15" name="Shape 13"/>
          <p:cNvSpPr/>
          <p:nvPr/>
        </p:nvSpPr>
        <p:spPr>
          <a:xfrm>
            <a:off x="5669280" y="2724912"/>
            <a:ext cx="3017520" cy="1207008"/>
          </a:xfrm>
          <a:prstGeom prst="roundRect">
            <a:avLst>
              <a:gd name="adj" fmla="val 9091"/>
            </a:avLst>
          </a:prstGeom>
          <a:solidFill>
            <a:srgbClr val="FFF3DC"/>
          </a:solidFill>
          <a:ln w="19050">
            <a:solidFill>
              <a:srgbClr val="F5E6C8"/>
            </a:solidFill>
            <a:prstDash val="solid"/>
          </a:ln>
        </p:spPr>
      </p:sp>
      <p:sp>
        <p:nvSpPr>
          <p:cNvPr id="16" name="Text 14"/>
          <p:cNvSpPr/>
          <p:nvPr/>
        </p:nvSpPr>
        <p:spPr>
          <a:xfrm>
            <a:off x="5806440" y="2779776"/>
            <a:ext cx="274320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806440" y="2980944"/>
            <a:ext cx="274320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landscape..."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"I'm wondering how people could..."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37160"/>
            <a:ext cx="8595360" cy="438912"/>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The Challenge: Desert Geography</a:t>
            </a:r>
            <a:endParaRPr lang="en-US" sz="2400" dirty="0"/>
          </a:p>
        </p:txBody>
      </p:sp>
      <p:sp>
        <p:nvSpPr>
          <p:cNvPr id="5" name="Shape 3"/>
          <p:cNvSpPr/>
          <p:nvPr/>
        </p:nvSpPr>
        <p:spPr>
          <a:xfrm>
            <a:off x="274320" y="658368"/>
            <a:ext cx="3200400" cy="2194560"/>
          </a:xfrm>
          <a:prstGeom prst="roundRect">
            <a:avLst>
              <a:gd name="adj" fmla="val 5000"/>
            </a:avLst>
          </a:prstGeom>
          <a:solidFill>
            <a:srgbClr val="E2E8F4"/>
          </a:solidFill>
          <a:ln w="19050">
            <a:solidFill>
              <a:srgbClr val="B0B8CC"/>
            </a:solidFill>
            <a:prstDash val="dash"/>
          </a:ln>
        </p:spPr>
      </p:sp>
      <p:sp>
        <p:nvSpPr>
          <p:cNvPr id="6" name="Text 4"/>
          <p:cNvSpPr/>
          <p:nvPr/>
        </p:nvSpPr>
        <p:spPr>
          <a:xfrm>
            <a:off x="274320" y="658368"/>
            <a:ext cx="3200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932688"/>
            <a:ext cx="2926080" cy="1828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Desert Southwest map — Arizona, New Mexico, Utah, Colorado region highlighted</a:t>
            </a:r>
            <a:endParaRPr lang="en-US" sz="1100" dirty="0"/>
          </a:p>
        </p:txBody>
      </p:sp>
      <p:sp>
        <p:nvSpPr>
          <p:cNvPr id="8" name="Shape 6"/>
          <p:cNvSpPr/>
          <p:nvPr/>
        </p:nvSpPr>
        <p:spPr>
          <a:xfrm>
            <a:off x="3657600" y="658368"/>
            <a:ext cx="5029200" cy="1024128"/>
          </a:xfrm>
          <a:prstGeom prst="roundRect">
            <a:avLst>
              <a:gd name="adj" fmla="val 8929"/>
            </a:avLst>
          </a:prstGeom>
          <a:solidFill>
            <a:srgbClr val="0E1C42"/>
          </a:solidFill>
          <a:ln w="19050">
            <a:solidFill>
              <a:srgbClr val="D4943A"/>
            </a:solidFill>
            <a:prstDash val="solid"/>
          </a:ln>
        </p:spPr>
      </p:sp>
      <p:sp>
        <p:nvSpPr>
          <p:cNvPr id="9" name="Text 7"/>
          <p:cNvSpPr/>
          <p:nvPr/>
        </p:nvSpPr>
        <p:spPr>
          <a:xfrm>
            <a:off x="3840480" y="694944"/>
            <a:ext cx="466344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KEY GEOGRAPHIC FACTS</a:t>
            </a:r>
            <a:endParaRPr lang="en-US" sz="900" dirty="0"/>
          </a:p>
        </p:txBody>
      </p:sp>
      <p:sp>
        <p:nvSpPr>
          <p:cNvPr id="10" name="Text 8"/>
          <p:cNvSpPr/>
          <p:nvPr/>
        </p:nvSpPr>
        <p:spPr>
          <a:xfrm>
            <a:off x="3794760" y="914400"/>
            <a:ext cx="4754880" cy="713232"/>
          </a:xfrm>
          <a:prstGeom prst="rect">
            <a:avLst/>
          </a:prstGeom>
          <a:noFill/>
          <a:ln/>
        </p:spPr>
        <p:txBody>
          <a:bodyPr wrap="square" lIns="0" tIns="0" rIns="0" bIns="0" rtlCol="0" anchor="t"/>
          <a:lstStyle/>
          <a:p>
            <a:pPr>
              <a:spcAft>
                <a:spcPts val="300"/>
              </a:spcAft>
            </a:pPr>
            <a:r>
              <a:rPr lang="en-US" sz="1200" dirty="0">
                <a:solidFill>
                  <a:srgbClr val="F0F2F8"/>
                </a:solidFill>
                <a:latin typeface="Calibri" pitchFamily="34" charset="0"/>
                <a:ea typeface="Calibri" pitchFamily="34" charset="-122"/>
                <a:cs typeface="Calibri" pitchFamily="34" charset="-120"/>
              </a:rPr>
              <a:t>Summer temperatures over 100°F</a:t>
            </a:r>
            <a:endParaRPr lang="en-US" sz="1200" dirty="0"/>
          </a:p>
          <a:p>
            <a:pPr>
              <a:spcAft>
                <a:spcPts val="300"/>
              </a:spcAft>
            </a:pPr>
            <a:r>
              <a:rPr lang="en-US" sz="1200" dirty="0">
                <a:solidFill>
                  <a:srgbClr val="F0F2F8"/>
                </a:solidFill>
                <a:latin typeface="Calibri" pitchFamily="34" charset="0"/>
                <a:ea typeface="Calibri" pitchFamily="34" charset="-122"/>
                <a:cs typeface="Calibri" pitchFamily="34" charset="-120"/>
              </a:rPr>
              <a:t>Scarce rainfall · Limited surface water</a:t>
            </a:r>
            <a:endParaRPr lang="en-US" sz="1200" dirty="0"/>
          </a:p>
          <a:p>
            <a:r>
              <a:rPr lang="en-US" sz="1200" dirty="0">
                <a:solidFill>
                  <a:srgbClr val="F0F2F8"/>
                </a:solidFill>
                <a:latin typeface="Calibri" pitchFamily="34" charset="0"/>
                <a:ea typeface="Calibri" pitchFamily="34" charset="-122"/>
                <a:cs typeface="Calibri" pitchFamily="34" charset="-120"/>
              </a:rPr>
              <a:t>Rocky canyons and mesas dominate the landscape</a:t>
            </a:r>
            <a:endParaRPr lang="en-US" sz="1200" dirty="0"/>
          </a:p>
        </p:txBody>
      </p:sp>
      <p:sp>
        <p:nvSpPr>
          <p:cNvPr id="11" name="Shape 9"/>
          <p:cNvSpPr/>
          <p:nvPr/>
        </p:nvSpPr>
        <p:spPr>
          <a:xfrm>
            <a:off x="274320" y="2971800"/>
            <a:ext cx="5029200" cy="1481328"/>
          </a:xfrm>
          <a:prstGeom prst="roundRect">
            <a:avLst>
              <a:gd name="adj" fmla="val 7407"/>
            </a:avLst>
          </a:prstGeom>
          <a:solidFill>
            <a:srgbClr val="1A2D5A"/>
          </a:solidFill>
          <a:ln w="12700">
            <a:solidFill>
              <a:srgbClr val="2A4070"/>
            </a:solidFill>
            <a:prstDash val="solid"/>
          </a:ln>
        </p:spPr>
      </p:sp>
      <p:sp>
        <p:nvSpPr>
          <p:cNvPr id="12" name="Text 10"/>
          <p:cNvSpPr/>
          <p:nvPr/>
        </p:nvSpPr>
        <p:spPr>
          <a:xfrm>
            <a:off x="411480" y="3026664"/>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457200" y="3291840"/>
            <a:ext cx="4663440" cy="106984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Which of these challenges would be hardest to solve?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YOU need to survive here for even one week?</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'difficult environment' mean 'impossible environment'?</a:t>
            </a:r>
            <a:endParaRPr lang="en-US" sz="1100" dirty="0"/>
          </a:p>
        </p:txBody>
      </p:sp>
      <p:sp>
        <p:nvSpPr>
          <p:cNvPr id="14" name="Shape 12"/>
          <p:cNvSpPr/>
          <p:nvPr/>
        </p:nvSpPr>
        <p:spPr>
          <a:xfrm>
            <a:off x="5486400" y="2971800"/>
            <a:ext cx="3200400" cy="1481328"/>
          </a:xfrm>
          <a:prstGeom prst="roundRect">
            <a:avLst>
              <a:gd name="adj" fmla="val 7407"/>
            </a:avLst>
          </a:prstGeom>
          <a:solidFill>
            <a:srgbClr val="FFF3DC"/>
          </a:solidFill>
          <a:ln w="19050">
            <a:solidFill>
              <a:srgbClr val="F5E6C8"/>
            </a:solidFill>
            <a:prstDash val="solid"/>
          </a:ln>
        </p:spPr>
      </p:sp>
      <p:sp>
        <p:nvSpPr>
          <p:cNvPr id="15" name="Text 13"/>
          <p:cNvSpPr/>
          <p:nvPr/>
        </p:nvSpPr>
        <p:spPr>
          <a:xfrm>
            <a:off x="5623560" y="30266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623560" y="3227832"/>
            <a:ext cx="2926080" cy="11612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hardest challenge would be...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 survive here, you would need to..."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92608"/>
            <a:ext cx="8229600" cy="347472"/>
          </a:xfrm>
          <a:prstGeom prst="rect">
            <a:avLst/>
          </a:prstGeom>
          <a:noFill/>
          <a:ln/>
        </p:spPr>
        <p:txBody>
          <a:bodyPr wrap="square" rtlCol="0" anchor="ctr"/>
          <a:lstStyle/>
          <a:p>
            <a:pPr algn="ctr" indent="0" marL="0">
              <a:buNone/>
            </a:pPr>
            <a:r>
              <a:rPr lang="en-US" sz="1400" b="1" spc="300" kern="0" dirty="0">
                <a:solidFill>
                  <a:srgbClr val="D4943A"/>
                </a:solidFill>
                <a:latin typeface="Calibri" pitchFamily="34" charset="0"/>
                <a:ea typeface="Calibri" pitchFamily="34" charset="-122"/>
                <a:cs typeface="Calibri" pitchFamily="34" charset="-120"/>
              </a:rPr>
              <a:t>YOU DISCOVERED:</a:t>
            </a:r>
            <a:endParaRPr lang="en-US" sz="1400" dirty="0"/>
          </a:p>
        </p:txBody>
      </p:sp>
      <p:sp>
        <p:nvSpPr>
          <p:cNvPr id="6" name="Text 3"/>
          <p:cNvSpPr/>
          <p:nvPr/>
        </p:nvSpPr>
        <p:spPr>
          <a:xfrm>
            <a:off x="457200" y="713232"/>
            <a:ext cx="8229600" cy="475488"/>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Desert Southwest was challenging —</a:t>
            </a:r>
            <a:endParaRPr lang="en-US" sz="2600" dirty="0"/>
          </a:p>
        </p:txBody>
      </p:sp>
      <p:sp>
        <p:nvSpPr>
          <p:cNvPr id="7" name="Text 4"/>
          <p:cNvSpPr/>
          <p:nvPr/>
        </p:nvSpPr>
        <p:spPr>
          <a:xfrm>
            <a:off x="457200" y="1188720"/>
            <a:ext cx="8229600" cy="475488"/>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but the Pueblo peoples didn't just survive.</a:t>
            </a:r>
            <a:endParaRPr lang="en-US" sz="2600" dirty="0"/>
          </a:p>
        </p:txBody>
      </p:sp>
      <p:sp>
        <p:nvSpPr>
          <p:cNvPr id="8" name="Text 5"/>
          <p:cNvSpPr/>
          <p:nvPr/>
        </p:nvSpPr>
        <p:spPr>
          <a:xfrm>
            <a:off x="457200" y="1664208"/>
            <a:ext cx="8229600" cy="530352"/>
          </a:xfrm>
          <a:prstGeom prst="rect">
            <a:avLst/>
          </a:prstGeom>
          <a:noFill/>
          <a:ln/>
        </p:spPr>
        <p:txBody>
          <a:bodyPr wrap="square"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They THRIVED.</a:t>
            </a:r>
            <a:endParaRPr lang="en-US" sz="3600" dirty="0"/>
          </a:p>
        </p:txBody>
      </p:sp>
      <p:sp>
        <p:nvSpPr>
          <p:cNvPr id="9" name="Shape 6"/>
          <p:cNvSpPr/>
          <p:nvPr/>
        </p:nvSpPr>
        <p:spPr>
          <a:xfrm>
            <a:off x="274320" y="2331720"/>
            <a:ext cx="4114800" cy="804672"/>
          </a:xfrm>
          <a:prstGeom prst="roundRect">
            <a:avLst>
              <a:gd name="adj" fmla="val 11364"/>
            </a:avLst>
          </a:prstGeom>
          <a:solidFill>
            <a:srgbClr val="1A2D5A">
              <a:alpha val="80000"/>
            </a:srgbClr>
          </a:solidFill>
          <a:ln w="12700">
            <a:solidFill>
              <a:srgbClr val="55C8E8"/>
            </a:solidFill>
            <a:prstDash val="solid"/>
          </a:ln>
        </p:spPr>
      </p:sp>
      <p:sp>
        <p:nvSpPr>
          <p:cNvPr id="10" name="Text 7"/>
          <p:cNvSpPr/>
          <p:nvPr/>
        </p:nvSpPr>
        <p:spPr>
          <a:xfrm>
            <a:off x="411480" y="2404872"/>
            <a:ext cx="384048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Cliff dwellings:</a:t>
            </a:r>
            <a:endParaRPr lang="en-US" sz="1100" dirty="0"/>
          </a:p>
        </p:txBody>
      </p:sp>
      <p:sp>
        <p:nvSpPr>
          <p:cNvPr id="11" name="Text 8"/>
          <p:cNvSpPr/>
          <p:nvPr/>
        </p:nvSpPr>
        <p:spPr>
          <a:xfrm>
            <a:off x="411480" y="2660904"/>
            <a:ext cx="3840480" cy="402336"/>
          </a:xfrm>
          <a:prstGeom prst="rect">
            <a:avLst/>
          </a:prstGeom>
          <a:noFill/>
          <a:ln/>
        </p:spPr>
        <p:txBody>
          <a:bodyPr wrap="square" rtlCol="0" anchor="t"/>
          <a:lstStyle/>
          <a:p>
            <a:pPr indent="0" marL="0">
              <a:buNone/>
            </a:pPr>
            <a:r>
              <a:rPr lang="en-US" sz="1300" i="1" dirty="0">
                <a:solidFill>
                  <a:srgbClr val="F0F2F8"/>
                </a:solidFill>
                <a:latin typeface="Cambria" pitchFamily="34" charset="0"/>
                <a:ea typeface="Cambria" pitchFamily="34" charset="-122"/>
                <a:cs typeface="Cambria" pitchFamily="34" charset="-120"/>
              </a:rPr>
              <a:t>cool in summer, warm in winter</a:t>
            </a:r>
            <a:endParaRPr lang="en-US" sz="1300" dirty="0"/>
          </a:p>
        </p:txBody>
      </p:sp>
      <p:sp>
        <p:nvSpPr>
          <p:cNvPr id="12" name="Shape 9"/>
          <p:cNvSpPr/>
          <p:nvPr/>
        </p:nvSpPr>
        <p:spPr>
          <a:xfrm>
            <a:off x="4663440" y="2331720"/>
            <a:ext cx="4114800" cy="804672"/>
          </a:xfrm>
          <a:prstGeom prst="roundRect">
            <a:avLst>
              <a:gd name="adj" fmla="val 11364"/>
            </a:avLst>
          </a:prstGeom>
          <a:solidFill>
            <a:srgbClr val="1A2D5A">
              <a:alpha val="80000"/>
            </a:srgbClr>
          </a:solidFill>
          <a:ln w="12700">
            <a:solidFill>
              <a:srgbClr val="55C8E8"/>
            </a:solidFill>
            <a:prstDash val="solid"/>
          </a:ln>
        </p:spPr>
      </p:sp>
      <p:sp>
        <p:nvSpPr>
          <p:cNvPr id="13" name="Text 10"/>
          <p:cNvSpPr/>
          <p:nvPr/>
        </p:nvSpPr>
        <p:spPr>
          <a:xfrm>
            <a:off x="4800600" y="2404872"/>
            <a:ext cx="384048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Irrigation canals:</a:t>
            </a:r>
            <a:endParaRPr lang="en-US" sz="1100" dirty="0"/>
          </a:p>
        </p:txBody>
      </p:sp>
      <p:sp>
        <p:nvSpPr>
          <p:cNvPr id="14" name="Text 11"/>
          <p:cNvSpPr/>
          <p:nvPr/>
        </p:nvSpPr>
        <p:spPr>
          <a:xfrm>
            <a:off x="4800600" y="2660904"/>
            <a:ext cx="3840480" cy="402336"/>
          </a:xfrm>
          <a:prstGeom prst="rect">
            <a:avLst/>
          </a:prstGeom>
          <a:noFill/>
          <a:ln/>
        </p:spPr>
        <p:txBody>
          <a:bodyPr wrap="square" rtlCol="0" anchor="t"/>
          <a:lstStyle/>
          <a:p>
            <a:pPr indent="0" marL="0">
              <a:buNone/>
            </a:pPr>
            <a:r>
              <a:rPr lang="en-US" sz="1300" i="1" dirty="0">
                <a:solidFill>
                  <a:srgbClr val="F0F2F8"/>
                </a:solidFill>
                <a:latin typeface="Cambria" pitchFamily="34" charset="0"/>
                <a:ea typeface="Cambria" pitchFamily="34" charset="-122"/>
                <a:cs typeface="Cambria" pitchFamily="34" charset="-120"/>
              </a:rPr>
              <a:t>captured scarce rain</a:t>
            </a:r>
            <a:endParaRPr lang="en-US" sz="1300" dirty="0"/>
          </a:p>
        </p:txBody>
      </p:sp>
      <p:sp>
        <p:nvSpPr>
          <p:cNvPr id="15" name="Shape 12"/>
          <p:cNvSpPr/>
          <p:nvPr/>
        </p:nvSpPr>
        <p:spPr>
          <a:xfrm>
            <a:off x="274320" y="3337560"/>
            <a:ext cx="4114800" cy="804672"/>
          </a:xfrm>
          <a:prstGeom prst="roundRect">
            <a:avLst>
              <a:gd name="adj" fmla="val 11364"/>
            </a:avLst>
          </a:prstGeom>
          <a:solidFill>
            <a:srgbClr val="1A2D5A">
              <a:alpha val="80000"/>
            </a:srgbClr>
          </a:solidFill>
          <a:ln w="12700">
            <a:solidFill>
              <a:srgbClr val="55C8E8"/>
            </a:solidFill>
            <a:prstDash val="solid"/>
          </a:ln>
        </p:spPr>
      </p:sp>
      <p:sp>
        <p:nvSpPr>
          <p:cNvPr id="16" name="Text 13"/>
          <p:cNvSpPr/>
          <p:nvPr/>
        </p:nvSpPr>
        <p:spPr>
          <a:xfrm>
            <a:off x="411480" y="3410712"/>
            <a:ext cx="384048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Adobe multi-story villages:</a:t>
            </a:r>
            <a:endParaRPr lang="en-US" sz="1100" dirty="0"/>
          </a:p>
        </p:txBody>
      </p:sp>
      <p:sp>
        <p:nvSpPr>
          <p:cNvPr id="17" name="Text 14"/>
          <p:cNvSpPr/>
          <p:nvPr/>
        </p:nvSpPr>
        <p:spPr>
          <a:xfrm>
            <a:off x="411480" y="3666744"/>
            <a:ext cx="3840480" cy="402336"/>
          </a:xfrm>
          <a:prstGeom prst="rect">
            <a:avLst/>
          </a:prstGeom>
          <a:noFill/>
          <a:ln/>
        </p:spPr>
        <p:txBody>
          <a:bodyPr wrap="square" rtlCol="0" anchor="t"/>
          <a:lstStyle/>
          <a:p>
            <a:pPr indent="0" marL="0">
              <a:buNone/>
            </a:pPr>
            <a:r>
              <a:rPr lang="en-US" sz="1300" i="1" dirty="0">
                <a:solidFill>
                  <a:srgbClr val="F0F2F8"/>
                </a:solidFill>
                <a:latin typeface="Cambria" pitchFamily="34" charset="0"/>
                <a:ea typeface="Cambria" pitchFamily="34" charset="-122"/>
                <a:cs typeface="Cambria" pitchFamily="34" charset="-120"/>
              </a:rPr>
              <a:t>housed hundreds of families</a:t>
            </a:r>
            <a:endParaRPr lang="en-US" sz="1300" dirty="0"/>
          </a:p>
        </p:txBody>
      </p:sp>
      <p:sp>
        <p:nvSpPr>
          <p:cNvPr id="18" name="Shape 15"/>
          <p:cNvSpPr/>
          <p:nvPr/>
        </p:nvSpPr>
        <p:spPr>
          <a:xfrm>
            <a:off x="4663440" y="3337560"/>
            <a:ext cx="4114800" cy="804672"/>
          </a:xfrm>
          <a:prstGeom prst="roundRect">
            <a:avLst>
              <a:gd name="adj" fmla="val 11364"/>
            </a:avLst>
          </a:prstGeom>
          <a:solidFill>
            <a:srgbClr val="1A2D5A">
              <a:alpha val="80000"/>
            </a:srgbClr>
          </a:solidFill>
          <a:ln w="12700">
            <a:solidFill>
              <a:srgbClr val="55C8E8"/>
            </a:solidFill>
            <a:prstDash val="solid"/>
          </a:ln>
        </p:spPr>
      </p:sp>
      <p:sp>
        <p:nvSpPr>
          <p:cNvPr id="19" name="Text 16"/>
          <p:cNvSpPr/>
          <p:nvPr/>
        </p:nvSpPr>
        <p:spPr>
          <a:xfrm>
            <a:off x="4800600" y="3410712"/>
            <a:ext cx="384048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Three Sisters farming:</a:t>
            </a:r>
            <a:endParaRPr lang="en-US" sz="1100" dirty="0"/>
          </a:p>
        </p:txBody>
      </p:sp>
      <p:sp>
        <p:nvSpPr>
          <p:cNvPr id="20" name="Text 17"/>
          <p:cNvSpPr/>
          <p:nvPr/>
        </p:nvSpPr>
        <p:spPr>
          <a:xfrm>
            <a:off x="4800600" y="3666744"/>
            <a:ext cx="3840480" cy="402336"/>
          </a:xfrm>
          <a:prstGeom prst="rect">
            <a:avLst/>
          </a:prstGeom>
          <a:noFill/>
          <a:ln/>
        </p:spPr>
        <p:txBody>
          <a:bodyPr wrap="square" rtlCol="0" anchor="t"/>
          <a:lstStyle/>
          <a:p>
            <a:pPr indent="0" marL="0">
              <a:buNone/>
            </a:pPr>
            <a:r>
              <a:rPr lang="en-US" sz="1300" i="1" dirty="0">
                <a:solidFill>
                  <a:srgbClr val="F0F2F8"/>
                </a:solidFill>
                <a:latin typeface="Cambria" pitchFamily="34" charset="0"/>
                <a:ea typeface="Cambria" pitchFamily="34" charset="-122"/>
                <a:cs typeface="Cambria" pitchFamily="34" charset="-120"/>
              </a:rPr>
              <a:t>corn, beans, squash</a:t>
            </a:r>
            <a:endParaRPr lang="en-US" sz="1300" dirty="0"/>
          </a:p>
        </p:txBody>
      </p:sp>
      <p:sp>
        <p:nvSpPr>
          <p:cNvPr id="21" name="Shape 18"/>
          <p:cNvSpPr/>
          <p:nvPr/>
        </p:nvSpPr>
        <p:spPr>
          <a:xfrm>
            <a:off x="1371600" y="4251960"/>
            <a:ext cx="6400800" cy="475488"/>
          </a:xfrm>
          <a:prstGeom prst="roundRect">
            <a:avLst>
              <a:gd name="adj" fmla="val 19231"/>
            </a:avLst>
          </a:prstGeom>
          <a:solidFill>
            <a:srgbClr val="D4943A">
              <a:alpha val="85000"/>
            </a:srgbClr>
          </a:solidFill>
          <a:ln w="12700">
            <a:solidFill>
              <a:srgbClr val="D4943A"/>
            </a:solidFill>
            <a:prstDash val="solid"/>
          </a:ln>
        </p:spPr>
      </p:sp>
      <p:sp>
        <p:nvSpPr>
          <p:cNvPr id="22" name="Text 19"/>
          <p:cNvSpPr/>
          <p:nvPr/>
        </p:nvSpPr>
        <p:spPr>
          <a:xfrm>
            <a:off x="1554480" y="4279392"/>
            <a:ext cx="6035040" cy="40233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RETRIEVAL: Cover the screen. Name three specific adaptations from memory.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37160"/>
            <a:ext cx="8595360" cy="438912"/>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CLUE BOX: What Do You See?</a:t>
            </a:r>
            <a:endParaRPr lang="en-US" sz="2400" dirty="0"/>
          </a:p>
        </p:txBody>
      </p:sp>
      <p:sp>
        <p:nvSpPr>
          <p:cNvPr id="5" name="Shape 3"/>
          <p:cNvSpPr/>
          <p:nvPr/>
        </p:nvSpPr>
        <p:spPr>
          <a:xfrm>
            <a:off x="274320" y="658368"/>
            <a:ext cx="8321040" cy="2743200"/>
          </a:xfrm>
          <a:prstGeom prst="roundRect">
            <a:avLst>
              <a:gd name="adj" fmla="val 4000"/>
            </a:avLst>
          </a:prstGeom>
          <a:solidFill>
            <a:srgbClr val="E2E8F4"/>
          </a:solidFill>
          <a:ln w="19050">
            <a:solidFill>
              <a:srgbClr val="B0B8CC"/>
            </a:solidFill>
            <a:prstDash val="dash"/>
          </a:ln>
        </p:spPr>
      </p:sp>
      <p:sp>
        <p:nvSpPr>
          <p:cNvPr id="6" name="Text 4"/>
          <p:cNvSpPr/>
          <p:nvPr/>
        </p:nvSpPr>
        <p:spPr>
          <a:xfrm>
            <a:off x="274320" y="658368"/>
            <a:ext cx="832104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932688"/>
            <a:ext cx="8046720" cy="23774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Ancestral Pueblo cliff dwellings — stone rooms built into canyon walls at Mesa Verde or similar site</a:t>
            </a:r>
            <a:endParaRPr lang="en-US" sz="1100" dirty="0"/>
          </a:p>
        </p:txBody>
      </p:sp>
      <p:sp>
        <p:nvSpPr>
          <p:cNvPr id="8" name="Shape 6"/>
          <p:cNvSpPr/>
          <p:nvPr/>
        </p:nvSpPr>
        <p:spPr>
          <a:xfrm>
            <a:off x="274320" y="3493008"/>
            <a:ext cx="3474720" cy="566928"/>
          </a:xfrm>
          <a:prstGeom prst="roundRect">
            <a:avLst>
              <a:gd name="adj" fmla="val 16129"/>
            </a:avLst>
          </a:prstGeom>
          <a:solidFill>
            <a:srgbClr val="1A2D5A"/>
          </a:solidFill>
          <a:ln w="12700">
            <a:solidFill>
              <a:srgbClr val="2A4070"/>
            </a:solidFill>
            <a:prstDash val="solid"/>
          </a:ln>
        </p:spPr>
      </p:sp>
      <p:sp>
        <p:nvSpPr>
          <p:cNvPr id="9" name="Text 7"/>
          <p:cNvSpPr/>
          <p:nvPr/>
        </p:nvSpPr>
        <p:spPr>
          <a:xfrm>
            <a:off x="438912" y="3529584"/>
            <a:ext cx="3145536"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SILENCE CUE</a:t>
            </a:r>
            <a:endParaRPr lang="en-US" sz="900" dirty="0"/>
          </a:p>
        </p:txBody>
      </p:sp>
      <p:sp>
        <p:nvSpPr>
          <p:cNvPr id="10" name="Text 8"/>
          <p:cNvSpPr/>
          <p:nvPr/>
        </p:nvSpPr>
        <p:spPr>
          <a:xfrm>
            <a:off x="438912" y="3721608"/>
            <a:ext cx="3145536" cy="274320"/>
          </a:xfrm>
          <a:prstGeom prst="rect">
            <a:avLst/>
          </a:prstGeom>
          <a:noFill/>
          <a:ln/>
        </p:spPr>
        <p:txBody>
          <a:bodyPr wrap="square" rtlCol="0" anchor="ctr"/>
          <a:lstStyle/>
          <a:p>
            <a:pPr indent="0" marL="0">
              <a:buNone/>
            </a:pPr>
            <a:r>
              <a:rPr lang="en-US" sz="1200" i="1" dirty="0">
                <a:solidFill>
                  <a:srgbClr val="F0F2F8"/>
                </a:solidFill>
                <a:latin typeface="Cambria" pitchFamily="34" charset="0"/>
                <a:ea typeface="Cambria" pitchFamily="34" charset="-122"/>
                <a:cs typeface="Cambria" pitchFamily="34" charset="-120"/>
              </a:rPr>
              <a:t>Observe for 30 seconds before chatting.</a:t>
            </a:r>
            <a:endParaRPr lang="en-US" sz="1200" dirty="0"/>
          </a:p>
        </p:txBody>
      </p:sp>
      <p:sp>
        <p:nvSpPr>
          <p:cNvPr id="11" name="Shape 9"/>
          <p:cNvSpPr/>
          <p:nvPr/>
        </p:nvSpPr>
        <p:spPr>
          <a:xfrm>
            <a:off x="3931920" y="3493008"/>
            <a:ext cx="4937760" cy="566928"/>
          </a:xfrm>
          <a:prstGeom prst="roundRect">
            <a:avLst>
              <a:gd name="adj" fmla="val 16129"/>
            </a:avLst>
          </a:prstGeom>
          <a:solidFill>
            <a:srgbClr val="FFFFFF"/>
          </a:solidFill>
          <a:ln w="12700">
            <a:solidFill>
              <a:srgbClr val="B0B8CC"/>
            </a:solidFill>
            <a:prstDash val="solid"/>
          </a:ln>
        </p:spPr>
      </p:sp>
      <p:sp>
        <p:nvSpPr>
          <p:cNvPr id="12" name="Text 10"/>
          <p:cNvSpPr/>
          <p:nvPr/>
        </p:nvSpPr>
        <p:spPr>
          <a:xfrm>
            <a:off x="4096512" y="3529584"/>
            <a:ext cx="4608576" cy="201168"/>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OBSERVATION PROMPT</a:t>
            </a:r>
            <a:endParaRPr lang="en-US" sz="900" dirty="0"/>
          </a:p>
        </p:txBody>
      </p:sp>
      <p:sp>
        <p:nvSpPr>
          <p:cNvPr id="13" name="Text 11"/>
          <p:cNvSpPr/>
          <p:nvPr/>
        </p:nvSpPr>
        <p:spPr>
          <a:xfrm>
            <a:off x="4096512" y="3721608"/>
            <a:ext cx="4608576" cy="274320"/>
          </a:xfrm>
          <a:prstGeom prst="rect">
            <a:avLst/>
          </a:prstGeom>
          <a:noFill/>
          <a:ln/>
        </p:spPr>
        <p:txBody>
          <a:bodyPr wrap="square" rtlCol="0" anchor="ctr"/>
          <a:lstStyle/>
          <a:p>
            <a:pPr indent="0" marL="0">
              <a:buNone/>
            </a:pPr>
            <a:r>
              <a:rPr lang="en-US" sz="1250" i="1" dirty="0">
                <a:solidFill>
                  <a:srgbClr val="0E1C42"/>
                </a:solidFill>
                <a:latin typeface="Cambria" pitchFamily="34" charset="0"/>
                <a:ea typeface="Cambria" pitchFamily="34" charset="-122"/>
                <a:cs typeface="Cambria" pitchFamily="34" charset="-120"/>
              </a:rPr>
              <a:t>What problems might this architecture solve?</a:t>
            </a:r>
            <a:endParaRPr lang="en-US" sz="1250" dirty="0"/>
          </a:p>
        </p:txBody>
      </p:sp>
      <p:sp>
        <p:nvSpPr>
          <p:cNvPr id="14" name="Shape 12"/>
          <p:cNvSpPr/>
          <p:nvPr/>
        </p:nvSpPr>
        <p:spPr>
          <a:xfrm>
            <a:off x="274320" y="4133088"/>
            <a:ext cx="8321040" cy="804672"/>
          </a:xfrm>
          <a:prstGeom prst="roundRect">
            <a:avLst>
              <a:gd name="adj" fmla="val 13636"/>
            </a:avLst>
          </a:prstGeom>
          <a:solidFill>
            <a:srgbClr val="FFF3DC"/>
          </a:solidFill>
          <a:ln w="19050">
            <a:solidFill>
              <a:srgbClr val="F5E6C8"/>
            </a:solidFill>
            <a:prstDash val="solid"/>
          </a:ln>
        </p:spPr>
      </p:sp>
      <p:sp>
        <p:nvSpPr>
          <p:cNvPr id="15" name="Text 13"/>
          <p:cNvSpPr/>
          <p:nvPr/>
        </p:nvSpPr>
        <p:spPr>
          <a:xfrm>
            <a:off x="411480" y="4187952"/>
            <a:ext cx="80467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11480" y="4389120"/>
            <a:ext cx="8046720" cy="4846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buildings are built into..."</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location might have been chosen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37160"/>
            <a:ext cx="8595360" cy="438912"/>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Architecture Is Evidence</a:t>
            </a:r>
            <a:endParaRPr lang="en-US" sz="2400" dirty="0"/>
          </a:p>
        </p:txBody>
      </p:sp>
      <p:sp>
        <p:nvSpPr>
          <p:cNvPr id="5" name="Shape 3"/>
          <p:cNvSpPr/>
          <p:nvPr/>
        </p:nvSpPr>
        <p:spPr>
          <a:xfrm>
            <a:off x="274320" y="658368"/>
            <a:ext cx="3200400" cy="2395728"/>
          </a:xfrm>
          <a:prstGeom prst="roundRect">
            <a:avLst>
              <a:gd name="adj" fmla="val 4580"/>
            </a:avLst>
          </a:prstGeom>
          <a:solidFill>
            <a:srgbClr val="E2E8F4"/>
          </a:solidFill>
          <a:ln w="19050">
            <a:solidFill>
              <a:srgbClr val="B0B8CC"/>
            </a:solidFill>
            <a:prstDash val="dash"/>
          </a:ln>
        </p:spPr>
      </p:sp>
      <p:sp>
        <p:nvSpPr>
          <p:cNvPr id="6" name="Text 4"/>
          <p:cNvSpPr/>
          <p:nvPr/>
        </p:nvSpPr>
        <p:spPr>
          <a:xfrm>
            <a:off x="274320" y="658368"/>
            <a:ext cx="32004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932688"/>
            <a:ext cx="2926080" cy="202996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Cliff dwelling close-up showing stone construction and doorway scale with a person for reference</a:t>
            </a:r>
            <a:endParaRPr lang="en-US" sz="1100" dirty="0"/>
          </a:p>
        </p:txBody>
      </p:sp>
      <p:sp>
        <p:nvSpPr>
          <p:cNvPr id="8" name="Shape 6"/>
          <p:cNvSpPr/>
          <p:nvPr/>
        </p:nvSpPr>
        <p:spPr>
          <a:xfrm>
            <a:off x="3657600" y="658368"/>
            <a:ext cx="5029200" cy="1481328"/>
          </a:xfrm>
          <a:prstGeom prst="roundRect">
            <a:avLst>
              <a:gd name="adj" fmla="val 7407"/>
            </a:avLst>
          </a:prstGeom>
          <a:solidFill>
            <a:srgbClr val="1A2D5A"/>
          </a:solidFill>
          <a:ln w="12700">
            <a:solidFill>
              <a:srgbClr val="2A4070"/>
            </a:solidFill>
            <a:prstDash val="solid"/>
          </a:ln>
        </p:spPr>
      </p:sp>
      <p:sp>
        <p:nvSpPr>
          <p:cNvPr id="9" name="Text 7"/>
          <p:cNvSpPr/>
          <p:nvPr/>
        </p:nvSpPr>
        <p:spPr>
          <a:xfrm>
            <a:off x="3794760" y="713232"/>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3840480" y="978408"/>
            <a:ext cx="4663440" cy="106984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building INTO the canyon wall tell you about what these people valued?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is this different from just 'surviving' in the desert?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this structure tell you about community organization?</a:t>
            </a:r>
            <a:endParaRPr lang="en-US" sz="1100" dirty="0"/>
          </a:p>
        </p:txBody>
      </p:sp>
      <p:sp>
        <p:nvSpPr>
          <p:cNvPr id="11" name="Shape 9"/>
          <p:cNvSpPr/>
          <p:nvPr/>
        </p:nvSpPr>
        <p:spPr>
          <a:xfrm>
            <a:off x="3657600" y="2267712"/>
            <a:ext cx="5029200" cy="1097280"/>
          </a:xfrm>
          <a:prstGeom prst="roundRect">
            <a:avLst>
              <a:gd name="adj" fmla="val 10000"/>
            </a:avLst>
          </a:prstGeom>
          <a:solidFill>
            <a:srgbClr val="FFF3DC"/>
          </a:solidFill>
          <a:ln w="19050">
            <a:solidFill>
              <a:srgbClr val="F5E6C8"/>
            </a:solidFill>
            <a:prstDash val="solid"/>
          </a:ln>
        </p:spPr>
      </p:sp>
      <p:sp>
        <p:nvSpPr>
          <p:cNvPr id="12" name="Text 10"/>
          <p:cNvSpPr/>
          <p:nvPr/>
        </p:nvSpPr>
        <p:spPr>
          <a:xfrm>
            <a:off x="3794760" y="2322576"/>
            <a:ext cx="4754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3794760" y="2523744"/>
            <a:ext cx="4754880" cy="777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cliff dwelling is evidence of resourcefulness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"Building here required knowledge of..."</a:t>
            </a:r>
            <a:endParaRPr lang="en-US" sz="1200" dirty="0"/>
          </a:p>
        </p:txBody>
      </p:sp>
      <p:sp>
        <p:nvSpPr>
          <p:cNvPr id="14" name="Shape 12"/>
          <p:cNvSpPr/>
          <p:nvPr/>
        </p:nvSpPr>
        <p:spPr>
          <a:xfrm>
            <a:off x="274320" y="3154680"/>
            <a:ext cx="8595360" cy="1389888"/>
          </a:xfrm>
          <a:prstGeom prst="roundRect">
            <a:avLst>
              <a:gd name="adj" fmla="val 6579"/>
            </a:avLst>
          </a:prstGeom>
          <a:solidFill>
            <a:srgbClr val="0E1C42"/>
          </a:solidFill>
          <a:ln w="19050">
            <a:solidFill>
              <a:srgbClr val="D4943A"/>
            </a:solidFill>
            <a:prstDash val="solid"/>
          </a:ln>
        </p:spPr>
      </p:sp>
      <p:sp>
        <p:nvSpPr>
          <p:cNvPr id="15" name="Text 13"/>
          <p:cNvSpPr/>
          <p:nvPr/>
        </p:nvSpPr>
        <p:spPr>
          <a:xfrm>
            <a:off x="457200" y="3200400"/>
            <a:ext cx="822960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KEY INSIGHT</a:t>
            </a:r>
            <a:endParaRPr lang="en-US" sz="900" dirty="0"/>
          </a:p>
        </p:txBody>
      </p:sp>
      <p:sp>
        <p:nvSpPr>
          <p:cNvPr id="16" name="Text 14"/>
          <p:cNvSpPr/>
          <p:nvPr/>
        </p:nvSpPr>
        <p:spPr>
          <a:xfrm>
            <a:off x="457200" y="3419856"/>
            <a:ext cx="8229600" cy="1060704"/>
          </a:xfrm>
          <a:prstGeom prst="rect">
            <a:avLst/>
          </a:prstGeom>
          <a:noFill/>
          <a:ln/>
        </p:spPr>
        <p:txBody>
          <a:bodyPr wrap="square" rtlCol="0" anchor="t"/>
          <a:lstStyle/>
          <a:p>
            <a:pPr indent="0" marL="0">
              <a:buNone/>
            </a:pPr>
            <a:r>
              <a:rPr lang="en-US" sz="1250" dirty="0">
                <a:solidFill>
                  <a:srgbClr val="F0F2F8"/>
                </a:solidFill>
                <a:latin typeface="Calibri" pitchFamily="34" charset="0"/>
                <a:ea typeface="Calibri" pitchFamily="34" charset="-122"/>
                <a:cs typeface="Calibri" pitchFamily="34" charset="-120"/>
              </a:rPr>
              <a:t>Cliff dwellings were not just shelter — they were engineering solutions. Built into canyon walls, they stayed cool in the blazing summer heat and warm in cold winters. Hundreds of rooms. Community spaces. Kivas for ceremony. This is not survival. This is civilization.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18872"/>
            <a:ext cx="8595360" cy="27432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Editor's Notebook  ·  Question 1</a:t>
            </a:r>
            <a:endParaRPr lang="en-US" sz="1000" dirty="0"/>
          </a:p>
        </p:txBody>
      </p:sp>
      <p:sp>
        <p:nvSpPr>
          <p:cNvPr id="5" name="Shape 3"/>
          <p:cNvSpPr/>
          <p:nvPr/>
        </p:nvSpPr>
        <p:spPr>
          <a:xfrm>
            <a:off x="274320" y="457200"/>
            <a:ext cx="8595360" cy="731520"/>
          </a:xfrm>
          <a:prstGeom prst="roundRect">
            <a:avLst>
              <a:gd name="adj" fmla="val 12500"/>
            </a:avLst>
          </a:prstGeom>
          <a:solidFill>
            <a:srgbClr val="FFFFFF"/>
          </a:solidFill>
          <a:ln w="19050">
            <a:solidFill>
              <a:srgbClr val="0E1C42"/>
            </a:solidFill>
            <a:prstDash val="solid"/>
          </a:ln>
        </p:spPr>
      </p:sp>
      <p:sp>
        <p:nvSpPr>
          <p:cNvPr id="6" name="Text 4"/>
          <p:cNvSpPr/>
          <p:nvPr/>
        </p:nvSpPr>
        <p:spPr>
          <a:xfrm>
            <a:off x="457200" y="512064"/>
            <a:ext cx="8229600" cy="621792"/>
          </a:xfrm>
          <a:prstGeom prst="rect">
            <a:avLst/>
          </a:prstGeom>
          <a:noFill/>
          <a:ln/>
        </p:spPr>
        <p:txBody>
          <a:bodyPr wrap="square"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"Name two challenges of living in the Desert Southwest and one way Pueblo peoples adapted to each."</a:t>
            </a:r>
            <a:endParaRPr lang="en-US" sz="1500" dirty="0"/>
          </a:p>
        </p:txBody>
      </p:sp>
      <p:sp>
        <p:nvSpPr>
          <p:cNvPr id="7" name="Shape 5"/>
          <p:cNvSpPr/>
          <p:nvPr/>
        </p:nvSpPr>
        <p:spPr>
          <a:xfrm>
            <a:off x="274320" y="1298448"/>
            <a:ext cx="8595360" cy="1078992"/>
          </a:xfrm>
          <a:prstGeom prst="roundRect">
            <a:avLst>
              <a:gd name="adj" fmla="val 8475"/>
            </a:avLst>
          </a:prstGeom>
          <a:solidFill>
            <a:srgbClr val="FFFFFF"/>
          </a:solidFill>
          <a:ln w="12700">
            <a:solidFill>
              <a:srgbClr val="B0B8CC"/>
            </a:solidFill>
            <a:prstDash val="solid"/>
          </a:ln>
        </p:spPr>
      </p:sp>
      <p:sp>
        <p:nvSpPr>
          <p:cNvPr id="8" name="Text 6"/>
          <p:cNvSpPr/>
          <p:nvPr/>
        </p:nvSpPr>
        <p:spPr>
          <a:xfrm>
            <a:off x="457200" y="1335024"/>
            <a:ext cx="8229600" cy="201168"/>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SCAFFOLD</a:t>
            </a:r>
            <a:endParaRPr lang="en-US" sz="900" dirty="0"/>
          </a:p>
        </p:txBody>
      </p:sp>
      <p:sp>
        <p:nvSpPr>
          <p:cNvPr id="9" name="Text 7"/>
          <p:cNvSpPr/>
          <p:nvPr/>
        </p:nvSpPr>
        <p:spPr>
          <a:xfrm>
            <a:off x="457200" y="1554480"/>
            <a:ext cx="8229600" cy="256032"/>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Challenge 1: ________________________________  |  Pueblo adaptation: ________________________________</a:t>
            </a:r>
            <a:endParaRPr lang="en-US" sz="1200" dirty="0"/>
          </a:p>
        </p:txBody>
      </p:sp>
      <p:sp>
        <p:nvSpPr>
          <p:cNvPr id="10" name="Text 8"/>
          <p:cNvSpPr/>
          <p:nvPr/>
        </p:nvSpPr>
        <p:spPr>
          <a:xfrm>
            <a:off x="457200" y="1865376"/>
            <a:ext cx="8229600" cy="256032"/>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Challenge 2: ________________________________  |  Pueblo adaptation: ________________________________</a:t>
            </a:r>
            <a:endParaRPr lang="en-US" sz="1200" dirty="0"/>
          </a:p>
        </p:txBody>
      </p:sp>
      <p:sp>
        <p:nvSpPr>
          <p:cNvPr id="11" name="Shape 9"/>
          <p:cNvSpPr/>
          <p:nvPr/>
        </p:nvSpPr>
        <p:spPr>
          <a:xfrm>
            <a:off x="457200" y="1792224"/>
            <a:ext cx="3840480" cy="0"/>
          </a:xfrm>
          <a:prstGeom prst="line">
            <a:avLst/>
          </a:prstGeom>
          <a:noFill/>
          <a:ln w="9525">
            <a:solidFill>
              <a:srgbClr val="B0B8CC"/>
            </a:solidFill>
            <a:prstDash val="solid"/>
          </a:ln>
        </p:spPr>
      </p:sp>
      <p:sp>
        <p:nvSpPr>
          <p:cNvPr id="12" name="Shape 10"/>
          <p:cNvSpPr/>
          <p:nvPr/>
        </p:nvSpPr>
        <p:spPr>
          <a:xfrm>
            <a:off x="4572000" y="1792224"/>
            <a:ext cx="4114800" cy="0"/>
          </a:xfrm>
          <a:prstGeom prst="line">
            <a:avLst/>
          </a:prstGeom>
          <a:noFill/>
          <a:ln w="9525">
            <a:solidFill>
              <a:srgbClr val="B0B8CC"/>
            </a:solidFill>
            <a:prstDash val="solid"/>
          </a:ln>
        </p:spPr>
      </p:sp>
      <p:sp>
        <p:nvSpPr>
          <p:cNvPr id="13" name="Shape 11"/>
          <p:cNvSpPr/>
          <p:nvPr/>
        </p:nvSpPr>
        <p:spPr>
          <a:xfrm>
            <a:off x="457200" y="2103120"/>
            <a:ext cx="3840480" cy="0"/>
          </a:xfrm>
          <a:prstGeom prst="line">
            <a:avLst/>
          </a:prstGeom>
          <a:noFill/>
          <a:ln w="9525">
            <a:solidFill>
              <a:srgbClr val="B0B8CC"/>
            </a:solidFill>
            <a:prstDash val="solid"/>
          </a:ln>
        </p:spPr>
      </p:sp>
      <p:sp>
        <p:nvSpPr>
          <p:cNvPr id="14" name="Shape 12"/>
          <p:cNvSpPr/>
          <p:nvPr/>
        </p:nvSpPr>
        <p:spPr>
          <a:xfrm>
            <a:off x="4572000" y="2103120"/>
            <a:ext cx="4114800" cy="0"/>
          </a:xfrm>
          <a:prstGeom prst="line">
            <a:avLst/>
          </a:prstGeom>
          <a:noFill/>
          <a:ln w="9525">
            <a:solidFill>
              <a:srgbClr val="B0B8CC"/>
            </a:solidFill>
            <a:prstDash val="solid"/>
          </a:ln>
        </p:spPr>
      </p:sp>
      <p:sp>
        <p:nvSpPr>
          <p:cNvPr id="15" name="Shape 13"/>
          <p:cNvSpPr/>
          <p:nvPr/>
        </p:nvSpPr>
        <p:spPr>
          <a:xfrm>
            <a:off x="274320" y="2487168"/>
            <a:ext cx="5029200" cy="1417320"/>
          </a:xfrm>
          <a:prstGeom prst="roundRect">
            <a:avLst>
              <a:gd name="adj" fmla="val 7742"/>
            </a:avLst>
          </a:prstGeom>
          <a:solidFill>
            <a:srgbClr val="1A2D5A"/>
          </a:solidFill>
          <a:ln w="12700">
            <a:solidFill>
              <a:srgbClr val="2A4070"/>
            </a:solidFill>
            <a:prstDash val="solid"/>
          </a:ln>
        </p:spPr>
      </p:sp>
      <p:sp>
        <p:nvSpPr>
          <p:cNvPr id="16" name="Text 14"/>
          <p:cNvSpPr/>
          <p:nvPr/>
        </p:nvSpPr>
        <p:spPr>
          <a:xfrm>
            <a:off x="411480" y="2542032"/>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7" name="Text 15"/>
          <p:cNvSpPr/>
          <p:nvPr/>
        </p:nvSpPr>
        <p:spPr>
          <a:xfrm>
            <a:off x="457200" y="2807208"/>
            <a:ext cx="4663440" cy="10058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Is 'it was hot' a strong enough challenge — or do you need to be specific?</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your adaptation directly SOLVE the challenge you named?</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Can you use specific evidence from today's lesson?</a:t>
            </a:r>
            <a:endParaRPr lang="en-US" sz="1100" dirty="0"/>
          </a:p>
        </p:txBody>
      </p:sp>
      <p:sp>
        <p:nvSpPr>
          <p:cNvPr id="18" name="Shape 16"/>
          <p:cNvSpPr/>
          <p:nvPr/>
        </p:nvSpPr>
        <p:spPr>
          <a:xfrm>
            <a:off x="5440680" y="2487168"/>
            <a:ext cx="3429000" cy="1417320"/>
          </a:xfrm>
          <a:prstGeom prst="roundRect">
            <a:avLst>
              <a:gd name="adj" fmla="val 7742"/>
            </a:avLst>
          </a:prstGeom>
          <a:solidFill>
            <a:srgbClr val="FFF3DC"/>
          </a:solidFill>
          <a:ln w="19050">
            <a:solidFill>
              <a:srgbClr val="F5E6C8"/>
            </a:solidFill>
            <a:prstDash val="solid"/>
          </a:ln>
        </p:spPr>
      </p:sp>
      <p:sp>
        <p:nvSpPr>
          <p:cNvPr id="19" name="Text 17"/>
          <p:cNvSpPr/>
          <p:nvPr/>
        </p:nvSpPr>
        <p:spPr>
          <a:xfrm>
            <a:off x="5577840" y="2542032"/>
            <a:ext cx="3154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5577840" y="2743200"/>
            <a:ext cx="31546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challenge was... Pueblo peoples solved this by..."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37160"/>
            <a:ext cx="8595360" cy="438912"/>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The Photograph Is Evidence</a:t>
            </a:r>
            <a:endParaRPr lang="en-US" sz="2400" dirty="0"/>
          </a:p>
        </p:txBody>
      </p:sp>
      <p:sp>
        <p:nvSpPr>
          <p:cNvPr id="5" name="Shape 3"/>
          <p:cNvSpPr/>
          <p:nvPr/>
        </p:nvSpPr>
        <p:spPr>
          <a:xfrm>
            <a:off x="274320" y="658368"/>
            <a:ext cx="5029200" cy="2633472"/>
          </a:xfrm>
          <a:prstGeom prst="roundRect">
            <a:avLst>
              <a:gd name="adj" fmla="val 4167"/>
            </a:avLst>
          </a:prstGeom>
          <a:solidFill>
            <a:srgbClr val="E2E8F4"/>
          </a:solidFill>
          <a:ln w="19050">
            <a:solidFill>
              <a:srgbClr val="B0B8CC"/>
            </a:solidFill>
            <a:prstDash val="dash"/>
          </a:ln>
        </p:spPr>
      </p:sp>
      <p:sp>
        <p:nvSpPr>
          <p:cNvPr id="6" name="Text 4"/>
          <p:cNvSpPr/>
          <p:nvPr/>
        </p:nvSpPr>
        <p:spPr>
          <a:xfrm>
            <a:off x="274320" y="658368"/>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932688"/>
            <a:ext cx="4754880" cy="2267712"/>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Photograph of Pueblo architecture showing adobe construction, multi-story design, desert landscape context</a:t>
            </a:r>
            <a:endParaRPr lang="en-US" sz="1100" dirty="0"/>
          </a:p>
        </p:txBody>
      </p:sp>
      <p:sp>
        <p:nvSpPr>
          <p:cNvPr id="8" name="Shape 6"/>
          <p:cNvSpPr/>
          <p:nvPr/>
        </p:nvSpPr>
        <p:spPr>
          <a:xfrm>
            <a:off x="5486400" y="658368"/>
            <a:ext cx="3383280" cy="749808"/>
          </a:xfrm>
          <a:prstGeom prst="roundRect">
            <a:avLst>
              <a:gd name="adj" fmla="val 12195"/>
            </a:avLst>
          </a:prstGeom>
          <a:solidFill>
            <a:srgbClr val="FFFFFF"/>
          </a:solidFill>
          <a:ln w="12700">
            <a:solidFill>
              <a:srgbClr val="B0B8CC"/>
            </a:solidFill>
            <a:prstDash val="solid"/>
          </a:ln>
        </p:spPr>
      </p:sp>
      <p:sp>
        <p:nvSpPr>
          <p:cNvPr id="9" name="Text 7"/>
          <p:cNvSpPr/>
          <p:nvPr/>
        </p:nvSpPr>
        <p:spPr>
          <a:xfrm>
            <a:off x="5623560" y="694944"/>
            <a:ext cx="3108960" cy="201168"/>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NOTEBOOK QUESTION 2 PROMPT</a:t>
            </a:r>
            <a:endParaRPr lang="en-US" sz="900" dirty="0"/>
          </a:p>
        </p:txBody>
      </p:sp>
      <p:sp>
        <p:nvSpPr>
          <p:cNvPr id="10" name="Text 8"/>
          <p:cNvSpPr/>
          <p:nvPr/>
        </p:nvSpPr>
        <p:spPr>
          <a:xfrm>
            <a:off x="5623560" y="886968"/>
            <a:ext cx="3108960" cy="457200"/>
          </a:xfrm>
          <a:prstGeom prst="rect">
            <a:avLst/>
          </a:prstGeom>
          <a:noFill/>
          <a:ln/>
        </p:spPr>
        <p:txBody>
          <a:bodyPr wrap="square" rtlCol="0" anchor="t"/>
          <a:lstStyle/>
          <a:p>
            <a:pPr indent="0" marL="0">
              <a:buNone/>
            </a:pPr>
            <a:r>
              <a:rPr lang="en-US" sz="1100" i="1" dirty="0">
                <a:solidFill>
                  <a:srgbClr val="0E1C42"/>
                </a:solidFill>
                <a:latin typeface="Cambria" pitchFamily="34" charset="0"/>
                <a:ea typeface="Cambria" pitchFamily="34" charset="-122"/>
                <a:cs typeface="Cambria" pitchFamily="34" charset="-120"/>
              </a:rPr>
              <a:t>"How does the photograph support the idea that these peoples were resourceful, not limited by their environment?"</a:t>
            </a:r>
            <a:endParaRPr lang="en-US" sz="1100" dirty="0"/>
          </a:p>
        </p:txBody>
      </p:sp>
      <p:sp>
        <p:nvSpPr>
          <p:cNvPr id="11" name="Shape 9"/>
          <p:cNvSpPr/>
          <p:nvPr/>
        </p:nvSpPr>
        <p:spPr>
          <a:xfrm>
            <a:off x="5486400" y="1517904"/>
            <a:ext cx="3383280" cy="1572768"/>
          </a:xfrm>
          <a:prstGeom prst="roundRect">
            <a:avLst>
              <a:gd name="adj" fmla="val 6977"/>
            </a:avLst>
          </a:prstGeom>
          <a:solidFill>
            <a:srgbClr val="1A2D5A"/>
          </a:solidFill>
          <a:ln w="12700">
            <a:solidFill>
              <a:srgbClr val="2A4070"/>
            </a:solidFill>
            <a:prstDash val="solid"/>
          </a:ln>
        </p:spPr>
      </p:sp>
      <p:sp>
        <p:nvSpPr>
          <p:cNvPr id="12" name="Text 10"/>
          <p:cNvSpPr/>
          <p:nvPr/>
        </p:nvSpPr>
        <p:spPr>
          <a:xfrm>
            <a:off x="5623560" y="1572768"/>
            <a:ext cx="31089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669280" y="1837944"/>
            <a:ext cx="3017520" cy="116128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specific details in the photograph show skill and planning?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Could you build this without engineering knowledge?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this photograph tell us that the Herald's claim doesn't?</a:t>
            </a:r>
            <a:endParaRPr lang="en-US" sz="1100" dirty="0"/>
          </a:p>
        </p:txBody>
      </p:sp>
      <p:sp>
        <p:nvSpPr>
          <p:cNvPr id="14" name="Shape 12"/>
          <p:cNvSpPr/>
          <p:nvPr/>
        </p:nvSpPr>
        <p:spPr>
          <a:xfrm>
            <a:off x="274320" y="3401568"/>
            <a:ext cx="8595360" cy="1261872"/>
          </a:xfrm>
          <a:prstGeom prst="roundRect">
            <a:avLst>
              <a:gd name="adj" fmla="val 8696"/>
            </a:avLst>
          </a:prstGeom>
          <a:solidFill>
            <a:srgbClr val="FFF3DC"/>
          </a:solidFill>
          <a:ln w="19050">
            <a:solidFill>
              <a:srgbClr val="F5E6C8"/>
            </a:solidFill>
            <a:prstDash val="solid"/>
          </a:ln>
        </p:spPr>
      </p:sp>
      <p:sp>
        <p:nvSpPr>
          <p:cNvPr id="15" name="Text 13"/>
          <p:cNvSpPr/>
          <p:nvPr/>
        </p:nvSpPr>
        <p:spPr>
          <a:xfrm>
            <a:off x="411480" y="3456432"/>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411480" y="3657600"/>
            <a:ext cx="8321040" cy="94183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photograph supports the idea of resourcefulness because I can see..."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Herald's claim doesn't explain..."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37160"/>
            <a:ext cx="8595360" cy="438912"/>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Water and Food: Desert Solutions</a:t>
            </a:r>
            <a:endParaRPr lang="en-US" sz="2400" dirty="0"/>
          </a:p>
        </p:txBody>
      </p:sp>
      <p:sp>
        <p:nvSpPr>
          <p:cNvPr id="5" name="Shape 3"/>
          <p:cNvSpPr/>
          <p:nvPr/>
        </p:nvSpPr>
        <p:spPr>
          <a:xfrm>
            <a:off x="274320" y="658368"/>
            <a:ext cx="4114800" cy="1828800"/>
          </a:xfrm>
          <a:prstGeom prst="roundRect">
            <a:avLst>
              <a:gd name="adj" fmla="val 6000"/>
            </a:avLst>
          </a:prstGeom>
          <a:solidFill>
            <a:srgbClr val="E2E8F4"/>
          </a:solidFill>
          <a:ln w="19050">
            <a:solidFill>
              <a:srgbClr val="B0B8CC"/>
            </a:solidFill>
            <a:prstDash val="dash"/>
          </a:ln>
        </p:spPr>
      </p:sp>
      <p:sp>
        <p:nvSpPr>
          <p:cNvPr id="6" name="Text 4"/>
          <p:cNvSpPr/>
          <p:nvPr/>
        </p:nvSpPr>
        <p:spPr>
          <a:xfrm>
            <a:off x="274320" y="658368"/>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411480" y="932688"/>
            <a:ext cx="384048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Diagram of Pueblo irrigation canal and check dam system directing water across a desert field</a:t>
            </a:r>
            <a:endParaRPr lang="en-US" sz="1100" dirty="0"/>
          </a:p>
        </p:txBody>
      </p:sp>
      <p:sp>
        <p:nvSpPr>
          <p:cNvPr id="8" name="Shape 6"/>
          <p:cNvSpPr/>
          <p:nvPr/>
        </p:nvSpPr>
        <p:spPr>
          <a:xfrm>
            <a:off x="4572000" y="658368"/>
            <a:ext cx="4114800" cy="1828800"/>
          </a:xfrm>
          <a:prstGeom prst="roundRect">
            <a:avLst>
              <a:gd name="adj" fmla="val 6000"/>
            </a:avLst>
          </a:prstGeom>
          <a:solidFill>
            <a:srgbClr val="E2E8F4"/>
          </a:solidFill>
          <a:ln w="19050">
            <a:solidFill>
              <a:srgbClr val="B0B8CC"/>
            </a:solidFill>
            <a:prstDash val="dash"/>
          </a:ln>
        </p:spPr>
      </p:sp>
      <p:sp>
        <p:nvSpPr>
          <p:cNvPr id="9" name="Text 7"/>
          <p:cNvSpPr/>
          <p:nvPr/>
        </p:nvSpPr>
        <p:spPr>
          <a:xfrm>
            <a:off x="4572000" y="658368"/>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4709160" y="932688"/>
            <a:ext cx="3840480" cy="14630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Three Sisters planting — tall corn stalks with beans climbing up and squash spreading at the base</a:t>
            </a:r>
            <a:endParaRPr lang="en-US" sz="1100" dirty="0"/>
          </a:p>
        </p:txBody>
      </p:sp>
      <p:sp>
        <p:nvSpPr>
          <p:cNvPr id="11" name="Shape 9"/>
          <p:cNvSpPr/>
          <p:nvPr/>
        </p:nvSpPr>
        <p:spPr>
          <a:xfrm>
            <a:off x="274320" y="2578608"/>
            <a:ext cx="8595360" cy="804672"/>
          </a:xfrm>
          <a:prstGeom prst="roundRect">
            <a:avLst>
              <a:gd name="adj" fmla="val 11364"/>
            </a:avLst>
          </a:prstGeom>
          <a:solidFill>
            <a:srgbClr val="0E1C42"/>
          </a:solidFill>
          <a:ln w="19050">
            <a:solidFill>
              <a:srgbClr val="34B76F"/>
            </a:solidFill>
            <a:prstDash val="solid"/>
          </a:ln>
        </p:spPr>
      </p:sp>
      <p:sp>
        <p:nvSpPr>
          <p:cNvPr id="12" name="Text 10"/>
          <p:cNvSpPr/>
          <p:nvPr/>
        </p:nvSpPr>
        <p:spPr>
          <a:xfrm>
            <a:off x="457200" y="2615184"/>
            <a:ext cx="8229600" cy="201168"/>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KEY INFORMATION</a:t>
            </a:r>
            <a:endParaRPr lang="en-US" sz="900" dirty="0"/>
          </a:p>
        </p:txBody>
      </p:sp>
      <p:sp>
        <p:nvSpPr>
          <p:cNvPr id="13" name="Text 11"/>
          <p:cNvSpPr/>
          <p:nvPr/>
        </p:nvSpPr>
        <p:spPr>
          <a:xfrm>
            <a:off x="457200" y="2816352"/>
            <a:ext cx="8229600" cy="502920"/>
          </a:xfrm>
          <a:prstGeom prst="rect">
            <a:avLst/>
          </a:prstGeom>
          <a:noFill/>
          <a:ln/>
        </p:spPr>
        <p:txBody>
          <a:bodyPr wrap="square" rtlCol="0" anchor="t"/>
          <a:lstStyle/>
          <a:p>
            <a:pPr indent="0" marL="0">
              <a:buNone/>
            </a:pPr>
            <a:r>
              <a:rPr lang="en-US" sz="1200" dirty="0">
                <a:solidFill>
                  <a:srgbClr val="F0F2F8"/>
                </a:solidFill>
                <a:latin typeface="Calibri" pitchFamily="34" charset="0"/>
                <a:ea typeface="Calibri" pitchFamily="34" charset="-122"/>
                <a:cs typeface="Calibri" pitchFamily="34" charset="-120"/>
              </a:rPr>
              <a:t>Irrigation canals directed precious rainwater  ·  Check dams slowed runoff to fill fields  ·  Three Sisters: corn provides structure, beans fix nitrogen, squash shades soil — a complete system of knowledge</a:t>
            </a:r>
            <a:endParaRPr lang="en-US" sz="1200" dirty="0"/>
          </a:p>
        </p:txBody>
      </p:sp>
      <p:sp>
        <p:nvSpPr>
          <p:cNvPr id="14" name="Shape 12"/>
          <p:cNvSpPr/>
          <p:nvPr/>
        </p:nvSpPr>
        <p:spPr>
          <a:xfrm>
            <a:off x="274320" y="3474720"/>
            <a:ext cx="5029200" cy="1207008"/>
          </a:xfrm>
          <a:prstGeom prst="roundRect">
            <a:avLst>
              <a:gd name="adj" fmla="val 9091"/>
            </a:avLst>
          </a:prstGeom>
          <a:solidFill>
            <a:srgbClr val="1A2D5A"/>
          </a:solidFill>
          <a:ln w="12700">
            <a:solidFill>
              <a:srgbClr val="2A4070"/>
            </a:solidFill>
            <a:prstDash val="solid"/>
          </a:ln>
        </p:spPr>
      </p:sp>
      <p:sp>
        <p:nvSpPr>
          <p:cNvPr id="15" name="Text 13"/>
          <p:cNvSpPr/>
          <p:nvPr/>
        </p:nvSpPr>
        <p:spPr>
          <a:xfrm>
            <a:off x="411480" y="3529584"/>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457200" y="3794760"/>
            <a:ext cx="4663440" cy="79552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does irrigation turn a desert challenge into an OPPORTUNITY?</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Three Sisters farming tell you about Pueblo knowledge of ecology?</a:t>
            </a:r>
            <a:endParaRPr lang="en-US" sz="1100" dirty="0"/>
          </a:p>
        </p:txBody>
      </p:sp>
      <p:sp>
        <p:nvSpPr>
          <p:cNvPr id="17" name="Shape 15"/>
          <p:cNvSpPr/>
          <p:nvPr/>
        </p:nvSpPr>
        <p:spPr>
          <a:xfrm>
            <a:off x="5440680" y="3474720"/>
            <a:ext cx="3429000" cy="1207008"/>
          </a:xfrm>
          <a:prstGeom prst="roundRect">
            <a:avLst>
              <a:gd name="adj" fmla="val 9091"/>
            </a:avLst>
          </a:prstGeom>
          <a:solidFill>
            <a:srgbClr val="FFF3DC"/>
          </a:solidFill>
          <a:ln w="19050">
            <a:solidFill>
              <a:srgbClr val="F5E6C8"/>
            </a:solidFill>
            <a:prstDash val="solid"/>
          </a:ln>
        </p:spPr>
      </p:sp>
      <p:sp>
        <p:nvSpPr>
          <p:cNvPr id="18" name="Text 16"/>
          <p:cNvSpPr/>
          <p:nvPr/>
        </p:nvSpPr>
        <p:spPr>
          <a:xfrm>
            <a:off x="5577840" y="3529584"/>
            <a:ext cx="3154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9" name="Text 17"/>
          <p:cNvSpPr/>
          <p:nvPr/>
        </p:nvSpPr>
        <p:spPr>
          <a:xfrm>
            <a:off x="5577840" y="3730752"/>
            <a:ext cx="315468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"Three Sisters farming is clever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"Irrigation shows that Pueblo peoples understood..."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18872"/>
            <a:ext cx="8595360" cy="27432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Editor's Notebook  ·  Question 2</a:t>
            </a:r>
            <a:endParaRPr lang="en-US" sz="1000" dirty="0"/>
          </a:p>
        </p:txBody>
      </p:sp>
      <p:sp>
        <p:nvSpPr>
          <p:cNvPr id="5" name="Shape 3"/>
          <p:cNvSpPr/>
          <p:nvPr/>
        </p:nvSpPr>
        <p:spPr>
          <a:xfrm>
            <a:off x="274320" y="457200"/>
            <a:ext cx="8595360" cy="841248"/>
          </a:xfrm>
          <a:prstGeom prst="roundRect">
            <a:avLst>
              <a:gd name="adj" fmla="val 10870"/>
            </a:avLst>
          </a:prstGeom>
          <a:solidFill>
            <a:srgbClr val="FFFFFF"/>
          </a:solidFill>
          <a:ln w="19050">
            <a:solidFill>
              <a:srgbClr val="0E1C42"/>
            </a:solidFill>
            <a:prstDash val="solid"/>
          </a:ln>
        </p:spPr>
      </p:sp>
      <p:sp>
        <p:nvSpPr>
          <p:cNvPr id="6" name="Text 4"/>
          <p:cNvSpPr/>
          <p:nvPr/>
        </p:nvSpPr>
        <p:spPr>
          <a:xfrm>
            <a:off x="457200" y="512064"/>
            <a:ext cx="8229600" cy="731520"/>
          </a:xfrm>
          <a:prstGeom prst="rect">
            <a:avLst/>
          </a:prstGeom>
          <a:noFill/>
          <a:ln/>
        </p:spPr>
        <p:txBody>
          <a:bodyPr wrap="square"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"How does the photograph support the idea that the Desert Southwest peoples were resourceful, not limited by their environment?"</a:t>
            </a:r>
            <a:endParaRPr lang="en-US" sz="1500" dirty="0"/>
          </a:p>
        </p:txBody>
      </p:sp>
      <p:sp>
        <p:nvSpPr>
          <p:cNvPr id="7" name="Shape 5"/>
          <p:cNvSpPr/>
          <p:nvPr/>
        </p:nvSpPr>
        <p:spPr>
          <a:xfrm>
            <a:off x="274320" y="1389888"/>
            <a:ext cx="8595360" cy="1005840"/>
          </a:xfrm>
          <a:prstGeom prst="roundRect">
            <a:avLst>
              <a:gd name="adj" fmla="val 9091"/>
            </a:avLst>
          </a:prstGeom>
          <a:solidFill>
            <a:srgbClr val="FFFFFF"/>
          </a:solidFill>
          <a:ln w="12700">
            <a:solidFill>
              <a:srgbClr val="B0B8CC"/>
            </a:solidFill>
            <a:prstDash val="solid"/>
          </a:ln>
        </p:spPr>
      </p:sp>
      <p:sp>
        <p:nvSpPr>
          <p:cNvPr id="8" name="Text 6"/>
          <p:cNvSpPr/>
          <p:nvPr/>
        </p:nvSpPr>
        <p:spPr>
          <a:xfrm>
            <a:off x="457200" y="1426464"/>
            <a:ext cx="8229600" cy="201168"/>
          </a:xfrm>
          <a:prstGeom prst="rect">
            <a:avLst/>
          </a:prstGeom>
          <a:noFill/>
          <a:ln/>
        </p:spPr>
        <p:txBody>
          <a:bodyPr wrap="square"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SCAFFOLD</a:t>
            </a:r>
            <a:endParaRPr lang="en-US" sz="900" dirty="0"/>
          </a:p>
        </p:txBody>
      </p:sp>
      <p:sp>
        <p:nvSpPr>
          <p:cNvPr id="9" name="Text 7"/>
          <p:cNvSpPr/>
          <p:nvPr/>
        </p:nvSpPr>
        <p:spPr>
          <a:xfrm>
            <a:off x="457200" y="1645920"/>
            <a:ext cx="8229600" cy="2743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Specific detail I see in the photograph: ________________________________________</a:t>
            </a:r>
            <a:endParaRPr lang="en-US" sz="1200" dirty="0"/>
          </a:p>
        </p:txBody>
      </p:sp>
      <p:sp>
        <p:nvSpPr>
          <p:cNvPr id="10" name="Text 8"/>
          <p:cNvSpPr/>
          <p:nvPr/>
        </p:nvSpPr>
        <p:spPr>
          <a:xfrm>
            <a:off x="457200" y="1956816"/>
            <a:ext cx="8229600" cy="2743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What it proves about resourcefulness: ________________________________________</a:t>
            </a:r>
            <a:endParaRPr lang="en-US" sz="1200" dirty="0"/>
          </a:p>
        </p:txBody>
      </p:sp>
      <p:sp>
        <p:nvSpPr>
          <p:cNvPr id="11" name="Shape 9"/>
          <p:cNvSpPr/>
          <p:nvPr/>
        </p:nvSpPr>
        <p:spPr>
          <a:xfrm>
            <a:off x="274320" y="2487168"/>
            <a:ext cx="5029200" cy="1417320"/>
          </a:xfrm>
          <a:prstGeom prst="roundRect">
            <a:avLst>
              <a:gd name="adj" fmla="val 7742"/>
            </a:avLst>
          </a:prstGeom>
          <a:solidFill>
            <a:srgbClr val="1A2D5A"/>
          </a:solidFill>
          <a:ln w="12700">
            <a:solidFill>
              <a:srgbClr val="2A4070"/>
            </a:solidFill>
            <a:prstDash val="solid"/>
          </a:ln>
        </p:spPr>
      </p:sp>
      <p:sp>
        <p:nvSpPr>
          <p:cNvPr id="12" name="Text 10"/>
          <p:cNvSpPr/>
          <p:nvPr/>
        </p:nvSpPr>
        <p:spPr>
          <a:xfrm>
            <a:off x="411480" y="2542032"/>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457200" y="2807208"/>
            <a:ext cx="4663440" cy="10058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Evidence must be SPECIFIC — which detail are you using?</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do you explain the CONNECTION between that detail and the conclusion?</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a skeptic say — and how would you respond?</a:t>
            </a:r>
            <a:endParaRPr lang="en-US" sz="1100" dirty="0"/>
          </a:p>
        </p:txBody>
      </p:sp>
      <p:sp>
        <p:nvSpPr>
          <p:cNvPr id="14" name="Shape 12"/>
          <p:cNvSpPr/>
          <p:nvPr/>
        </p:nvSpPr>
        <p:spPr>
          <a:xfrm>
            <a:off x="5440680" y="2487168"/>
            <a:ext cx="3429000" cy="1417320"/>
          </a:xfrm>
          <a:prstGeom prst="roundRect">
            <a:avLst>
              <a:gd name="adj" fmla="val 7742"/>
            </a:avLst>
          </a:prstGeom>
          <a:solidFill>
            <a:srgbClr val="FFF3DC"/>
          </a:solidFill>
          <a:ln w="19050">
            <a:solidFill>
              <a:srgbClr val="F5E6C8"/>
            </a:solidFill>
            <a:prstDash val="solid"/>
          </a:ln>
        </p:spPr>
      </p:sp>
      <p:sp>
        <p:nvSpPr>
          <p:cNvPr id="15" name="Text 13"/>
          <p:cNvSpPr/>
          <p:nvPr/>
        </p:nvSpPr>
        <p:spPr>
          <a:xfrm>
            <a:off x="5577840" y="2542032"/>
            <a:ext cx="3154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577840" y="2743200"/>
            <a:ext cx="31546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photograph shows [specific detail], which proves resourcefulness because..."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18872"/>
            <a:ext cx="8595360" cy="274320"/>
          </a:xfrm>
          <a:prstGeom prst="rect">
            <a:avLst/>
          </a:prstGeom>
          <a:noFill/>
          <a:ln/>
        </p:spPr>
        <p:txBody>
          <a:bodyPr wrap="square"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HERALD FACT-CHECK</a:t>
            </a:r>
            <a:endParaRPr lang="en-US" sz="1000" dirty="0"/>
          </a:p>
        </p:txBody>
      </p:sp>
      <p:sp>
        <p:nvSpPr>
          <p:cNvPr id="5" name="Shape 3"/>
          <p:cNvSpPr/>
          <p:nvPr/>
        </p:nvSpPr>
        <p:spPr>
          <a:xfrm>
            <a:off x="274320" y="457200"/>
            <a:ext cx="8595360" cy="621792"/>
          </a:xfrm>
          <a:prstGeom prst="roundRect">
            <a:avLst>
              <a:gd name="adj" fmla="val 14706"/>
            </a:avLst>
          </a:prstGeom>
          <a:solidFill>
            <a:srgbClr val="FFFFFF"/>
          </a:solidFill>
          <a:ln w="25400">
            <a:solidFill>
              <a:srgbClr val="E8636B"/>
            </a:solidFill>
            <a:prstDash val="solid"/>
          </a:ln>
        </p:spPr>
      </p:sp>
      <p:sp>
        <p:nvSpPr>
          <p:cNvPr id="6" name="Text 4"/>
          <p:cNvSpPr/>
          <p:nvPr/>
        </p:nvSpPr>
        <p:spPr>
          <a:xfrm>
            <a:off x="457200" y="521208"/>
            <a:ext cx="8229600" cy="493776"/>
          </a:xfrm>
          <a:prstGeom prst="rect">
            <a:avLst/>
          </a:prstGeom>
          <a:noFill/>
          <a:ln/>
        </p:spPr>
        <p:txBody>
          <a:bodyPr wrap="square" rtlCol="0" anchor="ctr"/>
          <a:lstStyle/>
          <a:p>
            <a:pPr indent="0" marL="0">
              <a:buNone/>
            </a:pPr>
            <a:r>
              <a:rPr lang="en-US" sz="1400" b="1" i="1" dirty="0">
                <a:solidFill>
                  <a:srgbClr val="E8636B"/>
                </a:solidFill>
                <a:latin typeface="Cambria" pitchFamily="34" charset="0"/>
                <a:ea typeface="Cambria" pitchFamily="34" charset="-122"/>
                <a:cs typeface="Cambria" pitchFamily="34" charset="-120"/>
              </a:rPr>
              <a:t>"The Desert Southwest was too harsh for complex communities."  — The Hasty Herald</a:t>
            </a:r>
            <a:endParaRPr lang="en-US" sz="1400" dirty="0"/>
          </a:p>
        </p:txBody>
      </p:sp>
      <p:sp>
        <p:nvSpPr>
          <p:cNvPr id="7" name="Shape 5"/>
          <p:cNvSpPr/>
          <p:nvPr/>
        </p:nvSpPr>
        <p:spPr>
          <a:xfrm>
            <a:off x="274320" y="1170432"/>
            <a:ext cx="4114800" cy="1417320"/>
          </a:xfrm>
          <a:prstGeom prst="roundRect">
            <a:avLst>
              <a:gd name="adj" fmla="val 6452"/>
            </a:avLst>
          </a:prstGeom>
          <a:solidFill>
            <a:srgbClr val="FFF3DC"/>
          </a:solidFill>
          <a:ln w="19050">
            <a:solidFill>
              <a:srgbClr val="D4943A"/>
            </a:solidFill>
            <a:prstDash val="solid"/>
          </a:ln>
        </p:spPr>
      </p:sp>
      <p:sp>
        <p:nvSpPr>
          <p:cNvPr id="8" name="Text 6"/>
          <p:cNvSpPr/>
          <p:nvPr/>
        </p:nvSpPr>
        <p:spPr>
          <a:xfrm>
            <a:off x="457200" y="1207008"/>
            <a:ext cx="3749040" cy="256032"/>
          </a:xfrm>
          <a:prstGeom prst="rect">
            <a:avLst/>
          </a:prstGeom>
          <a:noFill/>
          <a:ln/>
        </p:spPr>
        <p:txBody>
          <a:bodyPr wrap="square"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What's PARTLY right?</a:t>
            </a:r>
            <a:endParaRPr lang="en-US" sz="1100" dirty="0"/>
          </a:p>
        </p:txBody>
      </p:sp>
      <p:sp>
        <p:nvSpPr>
          <p:cNvPr id="9" name="Text 7"/>
          <p:cNvSpPr/>
          <p:nvPr/>
        </p:nvSpPr>
        <p:spPr>
          <a:xfrm>
            <a:off x="457200" y="1481328"/>
            <a:ext cx="3749040" cy="1042416"/>
          </a:xfrm>
          <a:prstGeom prst="rect">
            <a:avLst/>
          </a:prstGeom>
          <a:noFill/>
          <a:ln/>
        </p:spPr>
        <p:txBody>
          <a:bodyPr wrap="square" rtlCol="0" anchor="t"/>
          <a:lstStyle/>
          <a:p>
            <a:pPr indent="0" marL="0">
              <a:buNone/>
            </a:pPr>
            <a:r>
              <a:rPr lang="en-US" sz="1200" dirty="0">
                <a:solidFill>
                  <a:srgbClr val="5A4A3A"/>
                </a:solidFill>
                <a:latin typeface="Calibri" pitchFamily="34" charset="0"/>
                <a:ea typeface="Calibri" pitchFamily="34" charset="-122"/>
                <a:cs typeface="Calibri" pitchFamily="34" charset="-120"/>
              </a:rPr>
              <a:t>The environment WAS genuinely challenging — high heat, scarce water, limited rainfall. The Herald isn't wrong that this was a difficult place to live.</a:t>
            </a:r>
            <a:endParaRPr lang="en-US" sz="1200" dirty="0"/>
          </a:p>
        </p:txBody>
      </p:sp>
      <p:sp>
        <p:nvSpPr>
          <p:cNvPr id="10" name="Shape 8"/>
          <p:cNvSpPr/>
          <p:nvPr/>
        </p:nvSpPr>
        <p:spPr>
          <a:xfrm>
            <a:off x="4617720" y="1170432"/>
            <a:ext cx="4160520" cy="1417320"/>
          </a:xfrm>
          <a:prstGeom prst="roundRect">
            <a:avLst>
              <a:gd name="adj" fmla="val 6452"/>
            </a:avLst>
          </a:prstGeom>
          <a:solidFill>
            <a:srgbClr val="FFFFFF"/>
          </a:solidFill>
          <a:ln w="19050">
            <a:solidFill>
              <a:srgbClr val="E8636B"/>
            </a:solidFill>
            <a:prstDash val="solid"/>
          </a:ln>
        </p:spPr>
      </p:sp>
      <p:sp>
        <p:nvSpPr>
          <p:cNvPr id="11" name="Text 9"/>
          <p:cNvSpPr/>
          <p:nvPr/>
        </p:nvSpPr>
        <p:spPr>
          <a:xfrm>
            <a:off x="4800600" y="1207008"/>
            <a:ext cx="3794760" cy="256032"/>
          </a:xfrm>
          <a:prstGeom prst="rect">
            <a:avLst/>
          </a:prstGeom>
          <a:noFill/>
          <a:ln/>
        </p:spPr>
        <p:txBody>
          <a:bodyPr wrap="square"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What's COMPLETELY wrong?</a:t>
            </a:r>
            <a:endParaRPr lang="en-US" sz="1100" dirty="0"/>
          </a:p>
        </p:txBody>
      </p:sp>
      <p:sp>
        <p:nvSpPr>
          <p:cNvPr id="12" name="Text 10"/>
          <p:cNvSpPr/>
          <p:nvPr/>
        </p:nvSpPr>
        <p:spPr>
          <a:xfrm>
            <a:off x="4800600" y="1481328"/>
            <a:ext cx="3794760" cy="1042416"/>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Challenging ≠ impossible. The evidence shows brilliant adaptation — cliff dwellings, irrigation, Three Sisters farming. These peoples built complex communities IN SPITE OF the environment, using it creatively.</a:t>
            </a:r>
            <a:endParaRPr lang="en-US" sz="1200" dirty="0"/>
          </a:p>
        </p:txBody>
      </p:sp>
      <p:sp>
        <p:nvSpPr>
          <p:cNvPr id="13" name="Shape 11"/>
          <p:cNvSpPr/>
          <p:nvPr/>
        </p:nvSpPr>
        <p:spPr>
          <a:xfrm>
            <a:off x="274320" y="2697480"/>
            <a:ext cx="5029200" cy="1417320"/>
          </a:xfrm>
          <a:prstGeom prst="roundRect">
            <a:avLst>
              <a:gd name="adj" fmla="val 7742"/>
            </a:avLst>
          </a:prstGeom>
          <a:solidFill>
            <a:srgbClr val="1A2D5A"/>
          </a:solidFill>
          <a:ln w="12700">
            <a:solidFill>
              <a:srgbClr val="2A4070"/>
            </a:solidFill>
            <a:prstDash val="solid"/>
          </a:ln>
        </p:spPr>
      </p:sp>
      <p:sp>
        <p:nvSpPr>
          <p:cNvPr id="14" name="Text 12"/>
          <p:cNvSpPr/>
          <p:nvPr/>
        </p:nvSpPr>
        <p:spPr>
          <a:xfrm>
            <a:off x="411480" y="2752344"/>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57200" y="3017520"/>
            <a:ext cx="4663440" cy="100584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Why does the Herald's framing matter — what impression does 'too harsh' give readers?</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does 'complex community' require — and does the evidence meet that bar?</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What's the journalist's responsibility here?</a:t>
            </a:r>
            <a:endParaRPr lang="en-US" sz="1100" dirty="0"/>
          </a:p>
        </p:txBody>
      </p:sp>
      <p:sp>
        <p:nvSpPr>
          <p:cNvPr id="16" name="Shape 14"/>
          <p:cNvSpPr/>
          <p:nvPr/>
        </p:nvSpPr>
        <p:spPr>
          <a:xfrm>
            <a:off x="5440680" y="2697480"/>
            <a:ext cx="3429000" cy="1417320"/>
          </a:xfrm>
          <a:prstGeom prst="roundRect">
            <a:avLst>
              <a:gd name="adj" fmla="val 7742"/>
            </a:avLst>
          </a:prstGeom>
          <a:solidFill>
            <a:srgbClr val="FFF3DC"/>
          </a:solidFill>
          <a:ln w="19050">
            <a:solidFill>
              <a:srgbClr val="F5E6C8"/>
            </a:solidFill>
            <a:prstDash val="solid"/>
          </a:ln>
        </p:spPr>
      </p:sp>
      <p:sp>
        <p:nvSpPr>
          <p:cNvPr id="17" name="Text 15"/>
          <p:cNvSpPr/>
          <p:nvPr/>
        </p:nvSpPr>
        <p:spPr>
          <a:xfrm>
            <a:off x="5577840" y="2752344"/>
            <a:ext cx="3154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577840" y="2953512"/>
            <a:ext cx="3154680" cy="10972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Herald got ___ right, but the missing piece is... because..."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384048"/>
            <a:ext cx="8229600" cy="347472"/>
          </a:xfrm>
          <a:prstGeom prst="rect">
            <a:avLst/>
          </a:prstGeom>
          <a:noFill/>
          <a:ln/>
        </p:spPr>
        <p:txBody>
          <a:bodyPr wrap="square" rtlCol="0" anchor="ctr"/>
          <a:lstStyle/>
          <a:p>
            <a:pPr algn="ctr" indent="0" marL="0">
              <a:buNone/>
            </a:pPr>
            <a:r>
              <a:rPr lang="en-US" sz="1200" b="1" spc="300" kern="0" dirty="0">
                <a:solidFill>
                  <a:srgbClr val="D4943A"/>
                </a:solidFill>
                <a:latin typeface="Calibri" pitchFamily="34" charset="0"/>
                <a:ea typeface="Calibri" pitchFamily="34" charset="-122"/>
                <a:cs typeface="Calibri" pitchFamily="34" charset="-120"/>
              </a:rPr>
              <a:t>VIRTUE LENS</a:t>
            </a:r>
            <a:endParaRPr lang="en-US" sz="1200" dirty="0"/>
          </a:p>
        </p:txBody>
      </p:sp>
      <p:sp>
        <p:nvSpPr>
          <p:cNvPr id="6" name="Text 3"/>
          <p:cNvSpPr/>
          <p:nvPr/>
        </p:nvSpPr>
        <p:spPr>
          <a:xfrm>
            <a:off x="457200" y="804672"/>
            <a:ext cx="8229600" cy="749808"/>
          </a:xfrm>
          <a:prstGeom prst="rect">
            <a:avLst/>
          </a:prstGeom>
          <a:noFill/>
          <a:ln/>
        </p:spPr>
        <p:txBody>
          <a:bodyPr wrap="square" rtlCol="0" anchor="ctr"/>
          <a:lstStyle/>
          <a:p>
            <a:pPr algn="ctr" indent="0" marL="0">
              <a:buNone/>
            </a:pPr>
            <a:r>
              <a:rPr lang="en-US" sz="5200" b="1" dirty="0">
                <a:solidFill>
                  <a:srgbClr val="FFFFFF"/>
                </a:solidFill>
                <a:latin typeface="Cambria" pitchFamily="34" charset="0"/>
                <a:ea typeface="Cambria" pitchFamily="34" charset="-122"/>
                <a:cs typeface="Cambria" pitchFamily="34" charset="-120"/>
              </a:rPr>
              <a:t>Courtesy</a:t>
            </a:r>
            <a:endParaRPr lang="en-US" sz="5200" dirty="0"/>
          </a:p>
        </p:txBody>
      </p:sp>
      <p:sp>
        <p:nvSpPr>
          <p:cNvPr id="7" name="Shape 4"/>
          <p:cNvSpPr/>
          <p:nvPr/>
        </p:nvSpPr>
        <p:spPr>
          <a:xfrm>
            <a:off x="2286000" y="1627632"/>
            <a:ext cx="4572000" cy="45720"/>
          </a:xfrm>
          <a:prstGeom prst="rect">
            <a:avLst/>
          </a:prstGeom>
          <a:solidFill>
            <a:srgbClr val="D4943A"/>
          </a:solidFill>
          <a:ln/>
        </p:spPr>
      </p:sp>
      <p:sp>
        <p:nvSpPr>
          <p:cNvPr id="8" name="Shape 5"/>
          <p:cNvSpPr/>
          <p:nvPr/>
        </p:nvSpPr>
        <p:spPr>
          <a:xfrm>
            <a:off x="548640" y="1755648"/>
            <a:ext cx="8046720" cy="1170432"/>
          </a:xfrm>
          <a:prstGeom prst="roundRect">
            <a:avLst>
              <a:gd name="adj" fmla="val 9375"/>
            </a:avLst>
          </a:prstGeom>
          <a:solidFill>
            <a:srgbClr val="1A2D5A">
              <a:alpha val="80000"/>
            </a:srgbClr>
          </a:solidFill>
          <a:ln w="12700">
            <a:solidFill>
              <a:srgbClr val="55C8E8"/>
            </a:solidFill>
            <a:prstDash val="solid"/>
          </a:ln>
        </p:spPr>
      </p:sp>
      <p:sp>
        <p:nvSpPr>
          <p:cNvPr id="9" name="Text 6"/>
          <p:cNvSpPr/>
          <p:nvPr/>
        </p:nvSpPr>
        <p:spPr>
          <a:xfrm>
            <a:off x="731520" y="1828800"/>
            <a:ext cx="7680960" cy="1005840"/>
          </a:xfrm>
          <a:prstGeom prst="rect">
            <a:avLst/>
          </a:prstGeom>
          <a:noFill/>
          <a:ln/>
        </p:spPr>
        <p:txBody>
          <a:bodyPr wrap="square" rtlCol="0" anchor="ctr"/>
          <a:lstStyle/>
          <a:p>
            <a:pPr algn="ctr" indent="0" marL="0">
              <a:buNone/>
            </a:pPr>
            <a:r>
              <a:rPr lang="en-US" sz="1600" i="1" dirty="0">
                <a:solidFill>
                  <a:srgbClr val="D6F2FB"/>
                </a:solidFill>
                <a:latin typeface="Cambria" pitchFamily="34" charset="0"/>
                <a:ea typeface="Cambria" pitchFamily="34" charset="-122"/>
                <a:cs typeface="Cambria" pitchFamily="34" charset="-120"/>
              </a:rPr>
              <a:t>"A courteous editor respects the ingenuity of peoples who solved difficult problems — instead of dismissing their environment as 'too harsh.'"</a:t>
            </a:r>
            <a:endParaRPr lang="en-US" sz="1600" dirty="0"/>
          </a:p>
        </p:txBody>
      </p:sp>
      <p:sp>
        <p:nvSpPr>
          <p:cNvPr id="10" name="Shape 7"/>
          <p:cNvSpPr/>
          <p:nvPr/>
        </p:nvSpPr>
        <p:spPr>
          <a:xfrm>
            <a:off x="548640" y="3035808"/>
            <a:ext cx="8046720" cy="658368"/>
          </a:xfrm>
          <a:prstGeom prst="roundRect">
            <a:avLst>
              <a:gd name="adj" fmla="val 13889"/>
            </a:avLst>
          </a:prstGeom>
          <a:solidFill>
            <a:srgbClr val="D4943A">
              <a:alpha val="18000"/>
            </a:srgbClr>
          </a:solidFill>
          <a:ln w="12700">
            <a:solidFill>
              <a:srgbClr val="D4943A"/>
            </a:solidFill>
            <a:prstDash val="solid"/>
          </a:ln>
        </p:spPr>
      </p:sp>
      <p:sp>
        <p:nvSpPr>
          <p:cNvPr id="11" name="Text 8"/>
          <p:cNvSpPr/>
          <p:nvPr/>
        </p:nvSpPr>
        <p:spPr>
          <a:xfrm>
            <a:off x="731520" y="3090672"/>
            <a:ext cx="7680960" cy="54864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Today, courtesy means recognizing the skill and knowledge it took to build communities in the desert.</a:t>
            </a:r>
            <a:endParaRPr lang="en-US" sz="1400" dirty="0"/>
          </a:p>
        </p:txBody>
      </p:sp>
      <p:sp>
        <p:nvSpPr>
          <p:cNvPr id="12" name="Shape 9"/>
          <p:cNvSpPr/>
          <p:nvPr/>
        </p:nvSpPr>
        <p:spPr>
          <a:xfrm>
            <a:off x="1371600" y="3822192"/>
            <a:ext cx="6400800" cy="566928"/>
          </a:xfrm>
          <a:prstGeom prst="roundRect">
            <a:avLst>
              <a:gd name="adj" fmla="val 16129"/>
            </a:avLst>
          </a:prstGeom>
          <a:solidFill>
            <a:srgbClr val="1A2D5A">
              <a:alpha val="70000"/>
            </a:srgbClr>
          </a:solidFill>
          <a:ln w="12700">
            <a:solidFill>
              <a:srgbClr val="D4943A"/>
            </a:solidFill>
            <a:prstDash val="solid"/>
          </a:ln>
        </p:spPr>
      </p:sp>
      <p:sp>
        <p:nvSpPr>
          <p:cNvPr id="13" name="Text 10"/>
          <p:cNvSpPr/>
          <p:nvPr/>
        </p:nvSpPr>
        <p:spPr>
          <a:xfrm>
            <a:off x="1554480" y="3877056"/>
            <a:ext cx="6035040" cy="457200"/>
          </a:xfrm>
          <a:prstGeom prst="rect">
            <a:avLst/>
          </a:prstGeom>
          <a:noFill/>
          <a:ln/>
        </p:spPr>
        <p:txBody>
          <a:bodyPr wrap="square" rtlCol="0" anchor="ctr"/>
          <a:lstStyle/>
          <a:p>
            <a:pPr algn="ctr" indent="0" marL="0">
              <a:buNone/>
            </a:pPr>
            <a:r>
              <a:rPr lang="en-US" sz="1300" b="1" dirty="0">
                <a:solidFill>
                  <a:srgbClr val="D4943A"/>
                </a:solidFill>
                <a:latin typeface="Calibri" pitchFamily="34" charset="0"/>
                <a:ea typeface="Calibri" pitchFamily="34" charset="-122"/>
                <a:cs typeface="Calibri" pitchFamily="34" charset="-120"/>
              </a:rPr>
              <a:t>RETRIEVAL: How did you practice courtesy today as a Junior Editor?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18872"/>
            <a:ext cx="8595360" cy="274320"/>
          </a:xfrm>
          <a:prstGeom prst="rect">
            <a:avLst/>
          </a:prstGeom>
          <a:noFill/>
          <a:ln/>
        </p:spPr>
        <p:txBody>
          <a:bodyPr wrap="square" rtlCol="0" anchor="ctr"/>
          <a:lstStyle/>
          <a:p>
            <a:pPr indent="0" marL="0">
              <a:buNone/>
            </a:pPr>
            <a:r>
              <a:rPr lang="en-US" sz="1000" b="1" spc="200" kern="0" dirty="0">
                <a:solidFill>
                  <a:srgbClr val="1A8A7D"/>
                </a:solidFill>
                <a:latin typeface="Calibri" pitchFamily="34" charset="0"/>
                <a:ea typeface="Calibri" pitchFamily="34" charset="-122"/>
                <a:cs typeface="Calibri" pitchFamily="34" charset="-120"/>
              </a:rPr>
              <a:t>GUIDED PRACTICE  ·  I DO</a:t>
            </a:r>
            <a:endParaRPr lang="en-US" sz="1000" dirty="0"/>
          </a:p>
        </p:txBody>
      </p:sp>
      <p:sp>
        <p:nvSpPr>
          <p:cNvPr id="5" name="Text 3"/>
          <p:cNvSpPr/>
          <p:nvPr/>
        </p:nvSpPr>
        <p:spPr>
          <a:xfrm>
            <a:off x="274320" y="438912"/>
            <a:ext cx="8595360" cy="438912"/>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Teacher Models</a:t>
            </a:r>
            <a:endParaRPr lang="en-US" sz="2600" dirty="0"/>
          </a:p>
        </p:txBody>
      </p:sp>
      <p:sp>
        <p:nvSpPr>
          <p:cNvPr id="6" name="Shape 4"/>
          <p:cNvSpPr/>
          <p:nvPr/>
        </p:nvSpPr>
        <p:spPr>
          <a:xfrm>
            <a:off x="274320" y="960120"/>
            <a:ext cx="3200400" cy="347472"/>
          </a:xfrm>
          <a:prstGeom prst="roundRect">
            <a:avLst>
              <a:gd name="adj" fmla="val 21053"/>
            </a:avLst>
          </a:prstGeom>
          <a:solidFill>
            <a:srgbClr val="1A8A7D"/>
          </a:solidFill>
          <a:ln w="12700">
            <a:solidFill>
              <a:srgbClr val="1A8A7D"/>
            </a:solidFill>
            <a:prstDash val="solid"/>
          </a:ln>
        </p:spPr>
      </p:sp>
      <p:sp>
        <p:nvSpPr>
          <p:cNvPr id="7" name="Text 5"/>
          <p:cNvSpPr/>
          <p:nvPr/>
        </p:nvSpPr>
        <p:spPr>
          <a:xfrm>
            <a:off x="411480" y="987552"/>
            <a:ext cx="292608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Step 1: Name a SPECIFIC challenge.</a:t>
            </a:r>
            <a:endParaRPr lang="en-US" sz="1150" dirty="0"/>
          </a:p>
        </p:txBody>
      </p:sp>
      <p:sp>
        <p:nvSpPr>
          <p:cNvPr id="8" name="Shape 6"/>
          <p:cNvSpPr/>
          <p:nvPr/>
        </p:nvSpPr>
        <p:spPr>
          <a:xfrm>
            <a:off x="274320" y="1371600"/>
            <a:ext cx="3200400" cy="347472"/>
          </a:xfrm>
          <a:prstGeom prst="roundRect">
            <a:avLst>
              <a:gd name="adj" fmla="val 21053"/>
            </a:avLst>
          </a:prstGeom>
          <a:solidFill>
            <a:srgbClr val="1A8A7D"/>
          </a:solidFill>
          <a:ln w="12700">
            <a:solidFill>
              <a:srgbClr val="1A8A7D"/>
            </a:solidFill>
            <a:prstDash val="solid"/>
          </a:ln>
        </p:spPr>
      </p:sp>
      <p:sp>
        <p:nvSpPr>
          <p:cNvPr id="9" name="Text 7"/>
          <p:cNvSpPr/>
          <p:nvPr/>
        </p:nvSpPr>
        <p:spPr>
          <a:xfrm>
            <a:off x="411480" y="1399032"/>
            <a:ext cx="292608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Step 2: Name a SPECIFIC adaptation.</a:t>
            </a:r>
            <a:endParaRPr lang="en-US" sz="1150" dirty="0"/>
          </a:p>
        </p:txBody>
      </p:sp>
      <p:sp>
        <p:nvSpPr>
          <p:cNvPr id="10" name="Shape 8"/>
          <p:cNvSpPr/>
          <p:nvPr/>
        </p:nvSpPr>
        <p:spPr>
          <a:xfrm>
            <a:off x="274320" y="1783080"/>
            <a:ext cx="3200400" cy="347472"/>
          </a:xfrm>
          <a:prstGeom prst="roundRect">
            <a:avLst>
              <a:gd name="adj" fmla="val 21053"/>
            </a:avLst>
          </a:prstGeom>
          <a:solidFill>
            <a:srgbClr val="1A8A7D"/>
          </a:solidFill>
          <a:ln w="12700">
            <a:solidFill>
              <a:srgbClr val="1A8A7D"/>
            </a:solidFill>
            <a:prstDash val="solid"/>
          </a:ln>
        </p:spPr>
      </p:sp>
      <p:sp>
        <p:nvSpPr>
          <p:cNvPr id="11" name="Text 9"/>
          <p:cNvSpPr/>
          <p:nvPr/>
        </p:nvSpPr>
        <p:spPr>
          <a:xfrm>
            <a:off x="411480" y="1810512"/>
            <a:ext cx="2926080" cy="292608"/>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Step 3: Explain HOW the adaptation solved the challenge.</a:t>
            </a:r>
            <a:endParaRPr lang="en-US" sz="1150" dirty="0"/>
          </a:p>
        </p:txBody>
      </p:sp>
      <p:sp>
        <p:nvSpPr>
          <p:cNvPr id="12" name="Shape 10"/>
          <p:cNvSpPr/>
          <p:nvPr/>
        </p:nvSpPr>
        <p:spPr>
          <a:xfrm>
            <a:off x="3611880" y="914400"/>
            <a:ext cx="5257800" cy="1920240"/>
          </a:xfrm>
          <a:prstGeom prst="roundRect">
            <a:avLst>
              <a:gd name="adj" fmla="val 5714"/>
            </a:avLst>
          </a:prstGeom>
          <a:solidFill>
            <a:srgbClr val="FFFFFF"/>
          </a:solidFill>
          <a:ln w="25400">
            <a:solidFill>
              <a:srgbClr val="1A8A7D"/>
            </a:solidFill>
            <a:prstDash val="solid"/>
          </a:ln>
        </p:spPr>
      </p:sp>
      <p:sp>
        <p:nvSpPr>
          <p:cNvPr id="13" name="Text 11"/>
          <p:cNvSpPr/>
          <p:nvPr/>
        </p:nvSpPr>
        <p:spPr>
          <a:xfrm>
            <a:off x="3794760" y="950976"/>
            <a:ext cx="4892040" cy="219456"/>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WORKED EXAMPLE</a:t>
            </a:r>
            <a:endParaRPr lang="en-US" sz="900" dirty="0"/>
          </a:p>
        </p:txBody>
      </p:sp>
      <p:sp>
        <p:nvSpPr>
          <p:cNvPr id="14" name="Text 12"/>
          <p:cNvSpPr/>
          <p:nvPr/>
        </p:nvSpPr>
        <p:spPr>
          <a:xfrm>
            <a:off x="3794760" y="1188720"/>
            <a:ext cx="4892040" cy="1572768"/>
          </a:xfrm>
          <a:prstGeom prst="rect">
            <a:avLst/>
          </a:prstGeom>
          <a:noFill/>
          <a:ln/>
        </p:spPr>
        <p:txBody>
          <a:bodyPr wrap="square" lIns="0" tIns="0" rIns="0" bIns="0" rtlCol="0" anchor="t"/>
          <a:lstStyle/>
          <a:p>
            <a:pPr indent="0" marL="0">
              <a:spcAft>
                <a:spcPts val="300"/>
              </a:spcAft>
              <a:buNone/>
            </a:pPr>
            <a:r>
              <a:rPr lang="en-US" sz="1300" b="1" dirty="0">
                <a:solidFill>
                  <a:srgbClr val="0E1C42"/>
                </a:solidFill>
                <a:latin typeface="Calibri" pitchFamily="34" charset="0"/>
                <a:ea typeface="Calibri" pitchFamily="34" charset="-122"/>
                <a:cs typeface="Calibri" pitchFamily="34" charset="-120"/>
              </a:rPr>
              <a:t>Challenge: </a:t>
            </a:r>
            <a:pPr indent="0" marL="0">
              <a:spcAft>
                <a:spcPts val="300"/>
              </a:spcAft>
              <a:buNone/>
            </a:pPr>
            <a:r>
              <a:rPr lang="en-US" sz="1300" dirty="0">
                <a:solidFill>
                  <a:srgbClr val="0E1C42"/>
                </a:solidFill>
                <a:latin typeface="Calibri" pitchFamily="34" charset="0"/>
                <a:ea typeface="Calibri" pitchFamily="34" charset="-122"/>
                <a:cs typeface="Calibri" pitchFamily="34" charset="-120"/>
              </a:rPr>
              <a:t>Scarce water in the desert
</a:t>
            </a:r>
            <a:endParaRPr lang="en-US" sz="1300" dirty="0"/>
          </a:p>
          <a:p>
            <a:pPr indent="0" marL="0">
              <a:spcAft>
                <a:spcPts val="300"/>
              </a:spcAft>
              <a:buNone/>
            </a:pPr>
            <a:r>
              <a:rPr lang="en-US" sz="1300" b="1" dirty="0">
                <a:solidFill>
                  <a:srgbClr val="0E1C42"/>
                </a:solidFill>
                <a:latin typeface="Calibri" pitchFamily="34" charset="0"/>
                <a:ea typeface="Calibri" pitchFamily="34" charset="-122"/>
                <a:cs typeface="Calibri" pitchFamily="34" charset="-120"/>
              </a:rPr>
              <a:t>Adaptation: </a:t>
            </a:r>
            <a:pPr indent="0" marL="0">
              <a:spcAft>
                <a:spcPts val="300"/>
              </a:spcAft>
              <a:buNone/>
            </a:pPr>
            <a:r>
              <a:rPr lang="en-US" sz="1300" dirty="0">
                <a:solidFill>
                  <a:srgbClr val="0E1C42"/>
                </a:solidFill>
                <a:latin typeface="Calibri" pitchFamily="34" charset="0"/>
                <a:ea typeface="Calibri" pitchFamily="34" charset="-122"/>
                <a:cs typeface="Calibri" pitchFamily="34" charset="-120"/>
              </a:rPr>
              <a:t>Irrigation canals and check dams
</a:t>
            </a:r>
            <a:endParaRPr lang="en-US" sz="1300" dirty="0"/>
          </a:p>
          <a:p>
            <a:pPr indent="0" marL="0">
              <a:spcAft>
                <a:spcPts val="300"/>
              </a:spcAft>
              <a:buNone/>
            </a:pPr>
            <a:r>
              <a:rPr lang="en-US" sz="1300" b="1" dirty="0">
                <a:solidFill>
                  <a:srgbClr val="0E1C42"/>
                </a:solidFill>
                <a:latin typeface="Calibri" pitchFamily="34" charset="0"/>
                <a:ea typeface="Calibri" pitchFamily="34" charset="-122"/>
                <a:cs typeface="Calibri" pitchFamily="34" charset="-120"/>
              </a:rPr>
              <a:t>How it solved the challenge: </a:t>
            </a:r>
            <a:pPr indent="0" marL="0">
              <a:spcAft>
                <a:spcPts val="300"/>
              </a:spcAft>
              <a:buNone/>
            </a:pPr>
            <a:r>
              <a:rPr lang="en-US" sz="1300" dirty="0">
                <a:solidFill>
                  <a:srgbClr val="0E1C42"/>
                </a:solidFill>
                <a:latin typeface="Calibri" pitchFamily="34" charset="0"/>
                <a:ea typeface="Calibri" pitchFamily="34" charset="-122"/>
                <a:cs typeface="Calibri" pitchFamily="34" charset="-120"/>
              </a:rPr>
              <a:t>Canals directed scarce rainfall to fields; check dams slowed runoff and filled reservoirs — turning an unreliable water source into a managed system for farming.</a:t>
            </a:r>
            <a:endParaRPr lang="en-US" sz="1300" dirty="0"/>
          </a:p>
        </p:txBody>
      </p:sp>
      <p:sp>
        <p:nvSpPr>
          <p:cNvPr id="15" name="Shape 13"/>
          <p:cNvSpPr/>
          <p:nvPr/>
        </p:nvSpPr>
        <p:spPr>
          <a:xfrm>
            <a:off x="274320" y="2971800"/>
            <a:ext cx="8595360" cy="1664208"/>
          </a:xfrm>
          <a:prstGeom prst="roundRect">
            <a:avLst>
              <a:gd name="adj" fmla="val 5495"/>
            </a:avLst>
          </a:prstGeom>
          <a:solidFill>
            <a:srgbClr val="0E1C42"/>
          </a:solidFill>
          <a:ln w="12700">
            <a:solidFill>
              <a:srgbClr val="55C8E8"/>
            </a:solidFill>
            <a:prstDash val="solid"/>
          </a:ln>
        </p:spPr>
      </p:sp>
      <p:sp>
        <p:nvSpPr>
          <p:cNvPr id="16" name="Text 14"/>
          <p:cNvSpPr/>
          <p:nvPr/>
        </p:nvSpPr>
        <p:spPr>
          <a:xfrm>
            <a:off x="457200" y="3017520"/>
            <a:ext cx="8229600" cy="1554480"/>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THINK-ALOUD: Watch the teacher work through each step aloud — naming the challenge, choosing the adaptation, then EXPLAINING the connection with the word 'because.' Pause after each step before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18872"/>
            <a:ext cx="8595360" cy="274320"/>
          </a:xfrm>
          <a:prstGeom prst="rect">
            <a:avLst/>
          </a:prstGeom>
          <a:noFill/>
          <a:ln/>
        </p:spPr>
        <p:txBody>
          <a:bodyPr wrap="square" rtlCol="0" anchor="ctr"/>
          <a:lstStyle/>
          <a:p>
            <a:pPr indent="0" marL="0">
              <a:buNone/>
            </a:pPr>
            <a:r>
              <a:rPr lang="en-US" sz="1000" b="1" spc="200" kern="0" dirty="0">
                <a:solidFill>
                  <a:srgbClr val="D4943A"/>
                </a:solidFill>
                <a:latin typeface="Calibri" pitchFamily="34" charset="0"/>
                <a:ea typeface="Calibri" pitchFamily="34" charset="-122"/>
                <a:cs typeface="Calibri" pitchFamily="34" charset="-120"/>
              </a:rPr>
              <a:t>GUIDED PRACTICE  ·  WE DO</a:t>
            </a:r>
            <a:endParaRPr lang="en-US" sz="1000" dirty="0"/>
          </a:p>
        </p:txBody>
      </p:sp>
      <p:sp>
        <p:nvSpPr>
          <p:cNvPr id="5" name="Text 3"/>
          <p:cNvSpPr/>
          <p:nvPr/>
        </p:nvSpPr>
        <p:spPr>
          <a:xfrm>
            <a:off x="274320" y="438912"/>
            <a:ext cx="8595360" cy="438912"/>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Extreme Heat — Together</a:t>
            </a:r>
            <a:endParaRPr lang="en-US" sz="2600" dirty="0"/>
          </a:p>
        </p:txBody>
      </p:sp>
      <p:sp>
        <p:nvSpPr>
          <p:cNvPr id="6" name="Shape 4"/>
          <p:cNvSpPr/>
          <p:nvPr/>
        </p:nvSpPr>
        <p:spPr>
          <a:xfrm>
            <a:off x="274320" y="960120"/>
            <a:ext cx="3840480" cy="2542032"/>
          </a:xfrm>
          <a:prstGeom prst="roundRect">
            <a:avLst>
              <a:gd name="adj" fmla="val 4317"/>
            </a:avLst>
          </a:prstGeom>
          <a:solidFill>
            <a:srgbClr val="E2E8F4"/>
          </a:solidFill>
          <a:ln w="19050">
            <a:solidFill>
              <a:srgbClr val="B0B8CC"/>
            </a:solidFill>
            <a:prstDash val="dash"/>
          </a:ln>
        </p:spPr>
      </p:sp>
      <p:sp>
        <p:nvSpPr>
          <p:cNvPr id="7" name="Text 5"/>
          <p:cNvSpPr/>
          <p:nvPr/>
        </p:nvSpPr>
        <p:spPr>
          <a:xfrm>
            <a:off x="274320" y="96012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411480" y="1234440"/>
            <a:ext cx="3566160" cy="2176272"/>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Cliff dwelling built into canyon wall showing multiple stone rooms sheltered from direct sun</a:t>
            </a:r>
            <a:endParaRPr lang="en-US" sz="1100" dirty="0"/>
          </a:p>
        </p:txBody>
      </p:sp>
      <p:sp>
        <p:nvSpPr>
          <p:cNvPr id="9" name="Shape 7"/>
          <p:cNvSpPr/>
          <p:nvPr/>
        </p:nvSpPr>
        <p:spPr>
          <a:xfrm>
            <a:off x="4251960" y="960120"/>
            <a:ext cx="4526280" cy="1481328"/>
          </a:xfrm>
          <a:prstGeom prst="roundRect">
            <a:avLst>
              <a:gd name="adj" fmla="val 7407"/>
            </a:avLst>
          </a:prstGeom>
          <a:solidFill>
            <a:srgbClr val="1A2D5A"/>
          </a:solidFill>
          <a:ln w="12700">
            <a:solidFill>
              <a:srgbClr val="2A4070"/>
            </a:solidFill>
            <a:prstDash val="solid"/>
          </a:ln>
        </p:spPr>
      </p:sp>
      <p:sp>
        <p:nvSpPr>
          <p:cNvPr id="10" name="Text 8"/>
          <p:cNvSpPr/>
          <p:nvPr/>
        </p:nvSpPr>
        <p:spPr>
          <a:xfrm>
            <a:off x="4389120" y="1014984"/>
            <a:ext cx="425196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4434840" y="1280160"/>
            <a:ext cx="4160520" cy="1069848"/>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What's the specific challenge here?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does building INTO the canyon wall solve the temperature problem?</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evidence in the image supports our answer?</a:t>
            </a:r>
            <a:endParaRPr lang="en-US" sz="1100" dirty="0"/>
          </a:p>
        </p:txBody>
      </p:sp>
      <p:sp>
        <p:nvSpPr>
          <p:cNvPr id="12" name="Shape 10"/>
          <p:cNvSpPr/>
          <p:nvPr/>
        </p:nvSpPr>
        <p:spPr>
          <a:xfrm>
            <a:off x="4251960" y="2560320"/>
            <a:ext cx="4526280" cy="914400"/>
          </a:xfrm>
          <a:prstGeom prst="roundRect">
            <a:avLst>
              <a:gd name="adj" fmla="val 12000"/>
            </a:avLst>
          </a:prstGeom>
          <a:solidFill>
            <a:srgbClr val="FFF3DC"/>
          </a:solidFill>
          <a:ln w="19050">
            <a:solidFill>
              <a:srgbClr val="F5E6C8"/>
            </a:solidFill>
            <a:prstDash val="solid"/>
          </a:ln>
        </p:spPr>
      </p:sp>
      <p:sp>
        <p:nvSpPr>
          <p:cNvPr id="13" name="Text 11"/>
          <p:cNvSpPr/>
          <p:nvPr/>
        </p:nvSpPr>
        <p:spPr>
          <a:xfrm>
            <a:off x="4389120" y="2615184"/>
            <a:ext cx="42519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389120" y="2816352"/>
            <a:ext cx="42519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challenge of extreme heat was solved by... because..."</a:t>
            </a:r>
            <a:endParaRPr lang="en-US" sz="1200" dirty="0"/>
          </a:p>
        </p:txBody>
      </p:sp>
      <p:sp>
        <p:nvSpPr>
          <p:cNvPr id="15" name="Shape 13"/>
          <p:cNvSpPr/>
          <p:nvPr/>
        </p:nvSpPr>
        <p:spPr>
          <a:xfrm>
            <a:off x="274320" y="3611880"/>
            <a:ext cx="8595360" cy="731520"/>
          </a:xfrm>
          <a:prstGeom prst="roundRect">
            <a:avLst>
              <a:gd name="adj" fmla="val 12500"/>
            </a:avLst>
          </a:prstGeom>
          <a:solidFill>
            <a:srgbClr val="1A8A7D">
              <a:alpha val="15000"/>
            </a:srgbClr>
          </a:solidFill>
          <a:ln w="19050">
            <a:solidFill>
              <a:srgbClr val="1A8A7D"/>
            </a:solidFill>
            <a:prstDash val="solid"/>
          </a:ln>
        </p:spPr>
      </p:sp>
      <p:sp>
        <p:nvSpPr>
          <p:cNvPr id="16" name="Text 14"/>
          <p:cNvSpPr/>
          <p:nvPr/>
        </p:nvSpPr>
        <p:spPr>
          <a:xfrm>
            <a:off x="457200" y="3657600"/>
            <a:ext cx="8229600" cy="621792"/>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Build our answer together in the chat — then we'll write it as a class before you try on your own.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18872"/>
            <a:ext cx="8595360" cy="274320"/>
          </a:xfrm>
          <a:prstGeom prst="rect">
            <a:avLst/>
          </a:prstGeom>
          <a:noFill/>
          <a:ln/>
        </p:spPr>
        <p:txBody>
          <a:bodyPr wrap="square" rtlCol="0" anchor="ctr"/>
          <a:lstStyle/>
          <a:p>
            <a:pPr indent="0" marL="0">
              <a:buNone/>
            </a:pPr>
            <a:r>
              <a:rPr lang="en-US" sz="1000" b="1" spc="200" kern="0" dirty="0">
                <a:solidFill>
                  <a:srgbClr val="8B6FC0"/>
                </a:solidFill>
                <a:latin typeface="Calibri" pitchFamily="34" charset="0"/>
                <a:ea typeface="Calibri" pitchFamily="34" charset="-122"/>
                <a:cs typeface="Calibri" pitchFamily="34" charset="-120"/>
              </a:rPr>
              <a:t>GUIDED PRACTICE  ·  YOU DO</a:t>
            </a:r>
            <a:endParaRPr lang="en-US" sz="1000" dirty="0"/>
          </a:p>
        </p:txBody>
      </p:sp>
      <p:sp>
        <p:nvSpPr>
          <p:cNvPr id="5" name="Text 3"/>
          <p:cNvSpPr/>
          <p:nvPr/>
        </p:nvSpPr>
        <p:spPr>
          <a:xfrm>
            <a:off x="274320" y="438912"/>
            <a:ext cx="8595360" cy="438912"/>
          </a:xfrm>
          <a:prstGeom prst="rect">
            <a:avLst/>
          </a:prstGeom>
          <a:noFill/>
          <a:ln/>
        </p:spPr>
        <p:txBody>
          <a:bodyPr wrap="square"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Choose a Different Challenge</a:t>
            </a:r>
            <a:endParaRPr lang="en-US" sz="2600" dirty="0"/>
          </a:p>
        </p:txBody>
      </p:sp>
      <p:sp>
        <p:nvSpPr>
          <p:cNvPr id="6" name="Shape 4"/>
          <p:cNvSpPr/>
          <p:nvPr/>
        </p:nvSpPr>
        <p:spPr>
          <a:xfrm>
            <a:off x="274320" y="1005840"/>
            <a:ext cx="8595360" cy="713232"/>
          </a:xfrm>
          <a:prstGeom prst="roundRect">
            <a:avLst>
              <a:gd name="adj" fmla="val 12821"/>
            </a:avLst>
          </a:prstGeom>
          <a:solidFill>
            <a:srgbClr val="FFFFFF"/>
          </a:solidFill>
          <a:ln w="12700">
            <a:solidFill>
              <a:srgbClr val="B0B8CC"/>
            </a:solidFill>
            <a:prstDash val="solid"/>
          </a:ln>
        </p:spPr>
      </p:sp>
      <p:sp>
        <p:nvSpPr>
          <p:cNvPr id="7" name="Shape 5"/>
          <p:cNvSpPr/>
          <p:nvPr/>
        </p:nvSpPr>
        <p:spPr>
          <a:xfrm>
            <a:off x="274320" y="1005840"/>
            <a:ext cx="1097280" cy="713232"/>
          </a:xfrm>
          <a:prstGeom prst="roundRect">
            <a:avLst>
              <a:gd name="adj" fmla="val 10256"/>
            </a:avLst>
          </a:prstGeom>
          <a:solidFill>
            <a:srgbClr val="8B6FC0"/>
          </a:solidFill>
          <a:ln/>
        </p:spPr>
      </p:sp>
      <p:sp>
        <p:nvSpPr>
          <p:cNvPr id="8" name="Text 6"/>
          <p:cNvSpPr/>
          <p:nvPr/>
        </p:nvSpPr>
        <p:spPr>
          <a:xfrm>
            <a:off x="274320" y="1188720"/>
            <a:ext cx="109728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Step 1</a:t>
            </a:r>
            <a:endParaRPr lang="en-US" sz="1300" dirty="0"/>
          </a:p>
        </p:txBody>
      </p:sp>
      <p:sp>
        <p:nvSpPr>
          <p:cNvPr id="9" name="Text 7"/>
          <p:cNvSpPr/>
          <p:nvPr/>
        </p:nvSpPr>
        <p:spPr>
          <a:xfrm>
            <a:off x="1508760" y="1170432"/>
            <a:ext cx="7132320" cy="402336"/>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Choose a challenge you haven't used yet</a:t>
            </a:r>
            <a:endParaRPr lang="en-US" sz="1400" dirty="0"/>
          </a:p>
        </p:txBody>
      </p:sp>
      <p:sp>
        <p:nvSpPr>
          <p:cNvPr id="10" name="Shape 8"/>
          <p:cNvSpPr/>
          <p:nvPr/>
        </p:nvSpPr>
        <p:spPr>
          <a:xfrm>
            <a:off x="274320" y="1810512"/>
            <a:ext cx="8595360" cy="713232"/>
          </a:xfrm>
          <a:prstGeom prst="roundRect">
            <a:avLst>
              <a:gd name="adj" fmla="val 12821"/>
            </a:avLst>
          </a:prstGeom>
          <a:solidFill>
            <a:srgbClr val="FFFFFF"/>
          </a:solidFill>
          <a:ln w="12700">
            <a:solidFill>
              <a:srgbClr val="B0B8CC"/>
            </a:solidFill>
            <a:prstDash val="solid"/>
          </a:ln>
        </p:spPr>
      </p:sp>
      <p:sp>
        <p:nvSpPr>
          <p:cNvPr id="11" name="Shape 9"/>
          <p:cNvSpPr/>
          <p:nvPr/>
        </p:nvSpPr>
        <p:spPr>
          <a:xfrm>
            <a:off x="274320" y="1810512"/>
            <a:ext cx="1097280" cy="713232"/>
          </a:xfrm>
          <a:prstGeom prst="roundRect">
            <a:avLst>
              <a:gd name="adj" fmla="val 10256"/>
            </a:avLst>
          </a:prstGeom>
          <a:solidFill>
            <a:srgbClr val="8B6FC0"/>
          </a:solidFill>
          <a:ln/>
        </p:spPr>
      </p:sp>
      <p:sp>
        <p:nvSpPr>
          <p:cNvPr id="12" name="Text 10"/>
          <p:cNvSpPr/>
          <p:nvPr/>
        </p:nvSpPr>
        <p:spPr>
          <a:xfrm>
            <a:off x="274320" y="1993392"/>
            <a:ext cx="109728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Step 2</a:t>
            </a:r>
            <a:endParaRPr lang="en-US" sz="1300" dirty="0"/>
          </a:p>
        </p:txBody>
      </p:sp>
      <p:sp>
        <p:nvSpPr>
          <p:cNvPr id="13" name="Text 11"/>
          <p:cNvSpPr/>
          <p:nvPr/>
        </p:nvSpPr>
        <p:spPr>
          <a:xfrm>
            <a:off x="1508760" y="1975104"/>
            <a:ext cx="7132320" cy="402336"/>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Name the specific Pueblo adaptation</a:t>
            </a:r>
            <a:endParaRPr lang="en-US" sz="1400" dirty="0"/>
          </a:p>
        </p:txBody>
      </p:sp>
      <p:sp>
        <p:nvSpPr>
          <p:cNvPr id="14" name="Shape 12"/>
          <p:cNvSpPr/>
          <p:nvPr/>
        </p:nvSpPr>
        <p:spPr>
          <a:xfrm>
            <a:off x="274320" y="2615184"/>
            <a:ext cx="8595360" cy="713232"/>
          </a:xfrm>
          <a:prstGeom prst="roundRect">
            <a:avLst>
              <a:gd name="adj" fmla="val 12821"/>
            </a:avLst>
          </a:prstGeom>
          <a:solidFill>
            <a:srgbClr val="FFFFFF"/>
          </a:solidFill>
          <a:ln w="12700">
            <a:solidFill>
              <a:srgbClr val="B0B8CC"/>
            </a:solidFill>
            <a:prstDash val="solid"/>
          </a:ln>
        </p:spPr>
      </p:sp>
      <p:sp>
        <p:nvSpPr>
          <p:cNvPr id="15" name="Shape 13"/>
          <p:cNvSpPr/>
          <p:nvPr/>
        </p:nvSpPr>
        <p:spPr>
          <a:xfrm>
            <a:off x="274320" y="2615184"/>
            <a:ext cx="1097280" cy="713232"/>
          </a:xfrm>
          <a:prstGeom prst="roundRect">
            <a:avLst>
              <a:gd name="adj" fmla="val 10256"/>
            </a:avLst>
          </a:prstGeom>
          <a:solidFill>
            <a:srgbClr val="8B6FC0"/>
          </a:solidFill>
          <a:ln/>
        </p:spPr>
      </p:sp>
      <p:sp>
        <p:nvSpPr>
          <p:cNvPr id="16" name="Text 14"/>
          <p:cNvSpPr/>
          <p:nvPr/>
        </p:nvSpPr>
        <p:spPr>
          <a:xfrm>
            <a:off x="274320" y="2798064"/>
            <a:ext cx="109728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Step 3</a:t>
            </a:r>
            <a:endParaRPr lang="en-US" sz="1300" dirty="0"/>
          </a:p>
        </p:txBody>
      </p:sp>
      <p:sp>
        <p:nvSpPr>
          <p:cNvPr id="17" name="Text 15"/>
          <p:cNvSpPr/>
          <p:nvPr/>
        </p:nvSpPr>
        <p:spPr>
          <a:xfrm>
            <a:off x="1508760" y="2779776"/>
            <a:ext cx="7132320" cy="402336"/>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Explain HOW it solved the challenge</a:t>
            </a:r>
            <a:endParaRPr lang="en-US" sz="1400" dirty="0"/>
          </a:p>
        </p:txBody>
      </p:sp>
      <p:sp>
        <p:nvSpPr>
          <p:cNvPr id="18" name="Shape 16"/>
          <p:cNvSpPr/>
          <p:nvPr/>
        </p:nvSpPr>
        <p:spPr>
          <a:xfrm>
            <a:off x="274320" y="3419856"/>
            <a:ext cx="8595360" cy="713232"/>
          </a:xfrm>
          <a:prstGeom prst="roundRect">
            <a:avLst>
              <a:gd name="adj" fmla="val 12821"/>
            </a:avLst>
          </a:prstGeom>
          <a:solidFill>
            <a:srgbClr val="FFF3DC"/>
          </a:solidFill>
          <a:ln w="19050">
            <a:solidFill>
              <a:srgbClr val="D4943A"/>
            </a:solidFill>
            <a:prstDash val="solid"/>
          </a:ln>
        </p:spPr>
      </p:sp>
      <p:sp>
        <p:nvSpPr>
          <p:cNvPr id="19" name="Shape 17"/>
          <p:cNvSpPr/>
          <p:nvPr/>
        </p:nvSpPr>
        <p:spPr>
          <a:xfrm>
            <a:off x="274320" y="3419856"/>
            <a:ext cx="1097280" cy="713232"/>
          </a:xfrm>
          <a:prstGeom prst="roundRect">
            <a:avLst>
              <a:gd name="adj" fmla="val 10256"/>
            </a:avLst>
          </a:prstGeom>
          <a:solidFill>
            <a:srgbClr val="8B6FC0"/>
          </a:solidFill>
          <a:ln/>
        </p:spPr>
      </p:sp>
      <p:sp>
        <p:nvSpPr>
          <p:cNvPr id="20" name="Text 18"/>
          <p:cNvSpPr/>
          <p:nvPr/>
        </p:nvSpPr>
        <p:spPr>
          <a:xfrm>
            <a:off x="274320" y="3602736"/>
            <a:ext cx="109728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Step 4</a:t>
            </a:r>
            <a:endParaRPr lang="en-US" sz="1300" dirty="0"/>
          </a:p>
        </p:txBody>
      </p:sp>
      <p:sp>
        <p:nvSpPr>
          <p:cNvPr id="21" name="Text 19"/>
          <p:cNvSpPr/>
          <p:nvPr/>
        </p:nvSpPr>
        <p:spPr>
          <a:xfrm>
            <a:off x="1508760" y="3584448"/>
            <a:ext cx="7132320" cy="402336"/>
          </a:xfrm>
          <a:prstGeom prst="rect">
            <a:avLst/>
          </a:prstGeom>
          <a:noFill/>
          <a:ln/>
        </p:spPr>
        <p:txBody>
          <a:bodyPr wrap="square" rtlCol="0" anchor="ctr"/>
          <a:lstStyle/>
          <a:p>
            <a:pPr indent="0" marL="0">
              <a:buNone/>
            </a:pPr>
            <a:r>
              <a:rPr lang="en-US" sz="1400" dirty="0">
                <a:solidFill>
                  <a:srgbClr val="0E1C42"/>
                </a:solidFill>
                <a:latin typeface="Calibri" pitchFamily="34" charset="0"/>
                <a:ea typeface="Calibri" pitchFamily="34" charset="-122"/>
                <a:cs typeface="Calibri" pitchFamily="34" charset="-120"/>
              </a:rPr>
              <a:t>Check: is your response specific, or could it be about ANY desert people?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18872"/>
            <a:ext cx="8595360" cy="274320"/>
          </a:xfrm>
          <a:prstGeom prst="rect">
            <a:avLst/>
          </a:prstGeom>
          <a:noFill/>
          <a:ln/>
        </p:spPr>
        <p:txBody>
          <a:bodyPr wrap="square" rtlCol="0" anchor="ctr"/>
          <a:lstStyle/>
          <a:p>
            <a:pPr indent="0" marL="0">
              <a:buNone/>
            </a:pPr>
            <a:r>
              <a:rPr lang="en-US" sz="1000" b="1" spc="200" kern="0" dirty="0">
                <a:solidFill>
                  <a:srgbClr val="E8636B"/>
                </a:solidFill>
                <a:latin typeface="Calibri" pitchFamily="34" charset="0"/>
                <a:ea typeface="Calibri" pitchFamily="34" charset="-122"/>
                <a:cs typeface="Calibri" pitchFamily="34" charset="-120"/>
              </a:rPr>
              <a:t>ERROR ANALYSIS  ·  FIND THE MISTAKE</a:t>
            </a:r>
            <a:endParaRPr lang="en-US" sz="1000" dirty="0"/>
          </a:p>
        </p:txBody>
      </p:sp>
      <p:sp>
        <p:nvSpPr>
          <p:cNvPr id="5" name="Shape 3"/>
          <p:cNvSpPr/>
          <p:nvPr/>
        </p:nvSpPr>
        <p:spPr>
          <a:xfrm>
            <a:off x="274320" y="475488"/>
            <a:ext cx="8595360" cy="1170432"/>
          </a:xfrm>
          <a:prstGeom prst="roundRect">
            <a:avLst>
              <a:gd name="adj" fmla="val 9375"/>
            </a:avLst>
          </a:prstGeom>
          <a:solidFill>
            <a:srgbClr val="FFFFFF"/>
          </a:solidFill>
          <a:ln w="25400">
            <a:solidFill>
              <a:srgbClr val="E8636B"/>
            </a:solidFill>
            <a:prstDash val="solid"/>
          </a:ln>
        </p:spPr>
      </p:sp>
      <p:sp>
        <p:nvSpPr>
          <p:cNvPr id="6" name="Text 4"/>
          <p:cNvSpPr/>
          <p:nvPr/>
        </p:nvSpPr>
        <p:spPr>
          <a:xfrm>
            <a:off x="457200" y="512064"/>
            <a:ext cx="8229600" cy="219456"/>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SAMPLE RESPONSE — FIND WHAT'S MISSING</a:t>
            </a:r>
            <a:endParaRPr lang="en-US" sz="900" dirty="0"/>
          </a:p>
        </p:txBody>
      </p:sp>
      <p:sp>
        <p:nvSpPr>
          <p:cNvPr id="7" name="Text 5"/>
          <p:cNvSpPr/>
          <p:nvPr/>
        </p:nvSpPr>
        <p:spPr>
          <a:xfrm>
            <a:off x="457200" y="749808"/>
            <a:ext cx="8229600" cy="822960"/>
          </a:xfrm>
          <a:prstGeom prst="rect">
            <a:avLst/>
          </a:prstGeom>
          <a:noFill/>
          <a:ln/>
        </p:spPr>
        <p:txBody>
          <a:bodyPr wrap="square" rtlCol="0" anchor="ctr"/>
          <a:lstStyle/>
          <a:p>
            <a:pPr indent="0" marL="0">
              <a:buNone/>
            </a:pPr>
            <a:r>
              <a:rPr lang="en-US" sz="1600" i="1" dirty="0">
                <a:solidFill>
                  <a:srgbClr val="0E1C42"/>
                </a:solidFill>
                <a:latin typeface="Cambria" pitchFamily="34" charset="0"/>
                <a:ea typeface="Cambria" pitchFamily="34" charset="-122"/>
                <a:cs typeface="Cambria" pitchFamily="34" charset="-120"/>
              </a:rPr>
              <a:t>"The Desert Southwest was hot and dry. Pueblo peoples built cliff dwellings. They also farmed corn and beans."</a:t>
            </a:r>
            <a:endParaRPr lang="en-US" sz="1600" dirty="0"/>
          </a:p>
        </p:txBody>
      </p:sp>
      <p:sp>
        <p:nvSpPr>
          <p:cNvPr id="8" name="Shape 6"/>
          <p:cNvSpPr/>
          <p:nvPr/>
        </p:nvSpPr>
        <p:spPr>
          <a:xfrm>
            <a:off x="274320" y="1737360"/>
            <a:ext cx="5029200" cy="1600200"/>
          </a:xfrm>
          <a:prstGeom prst="roundRect">
            <a:avLst>
              <a:gd name="adj" fmla="val 6857"/>
            </a:avLst>
          </a:prstGeom>
          <a:solidFill>
            <a:srgbClr val="1A2D5A"/>
          </a:solidFill>
          <a:ln w="12700">
            <a:solidFill>
              <a:srgbClr val="2A4070"/>
            </a:solidFill>
            <a:prstDash val="solid"/>
          </a:ln>
        </p:spPr>
      </p:sp>
      <p:sp>
        <p:nvSpPr>
          <p:cNvPr id="9" name="Text 7"/>
          <p:cNvSpPr/>
          <p:nvPr/>
        </p:nvSpPr>
        <p:spPr>
          <a:xfrm>
            <a:off x="411480" y="1792224"/>
            <a:ext cx="4754880" cy="201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57200" y="2057400"/>
            <a:ext cx="4663440" cy="1188720"/>
          </a:xfrm>
          <a:prstGeom prst="rect">
            <a:avLst/>
          </a:prstGeom>
          <a:noFill/>
          <a:ln/>
        </p:spPr>
        <p:txBody>
          <a:bodyPr wrap="square" lIns="0" tIns="0" rIns="0" bIns="0"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What's missing from this response?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it explain HOW the adaptation solved the challenge?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Does it use the word 'because' — and should it?</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How would you revise it to earn full credit?</a:t>
            </a:r>
            <a:endParaRPr lang="en-US" sz="1100" dirty="0"/>
          </a:p>
        </p:txBody>
      </p:sp>
      <p:sp>
        <p:nvSpPr>
          <p:cNvPr id="11" name="Shape 9"/>
          <p:cNvSpPr/>
          <p:nvPr/>
        </p:nvSpPr>
        <p:spPr>
          <a:xfrm>
            <a:off x="5440680" y="1737360"/>
            <a:ext cx="3429000" cy="1600200"/>
          </a:xfrm>
          <a:prstGeom prst="roundRect">
            <a:avLst>
              <a:gd name="adj" fmla="val 6857"/>
            </a:avLst>
          </a:prstGeom>
          <a:solidFill>
            <a:srgbClr val="FFF3DC"/>
          </a:solidFill>
          <a:ln w="19050">
            <a:solidFill>
              <a:srgbClr val="F5E6C8"/>
            </a:solidFill>
            <a:prstDash val="solid"/>
          </a:ln>
        </p:spPr>
      </p:sp>
      <p:sp>
        <p:nvSpPr>
          <p:cNvPr id="12" name="Text 10"/>
          <p:cNvSpPr/>
          <p:nvPr/>
        </p:nvSpPr>
        <p:spPr>
          <a:xfrm>
            <a:off x="5577840" y="1792224"/>
            <a:ext cx="31546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577840" y="1993392"/>
            <a:ext cx="315468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response is missing... I would revise it to say..."</a:t>
            </a:r>
            <a:endParaRPr lang="en-US" sz="1200" dirty="0"/>
          </a:p>
        </p:txBody>
      </p:sp>
      <p:sp>
        <p:nvSpPr>
          <p:cNvPr id="14" name="Shape 12"/>
          <p:cNvSpPr/>
          <p:nvPr/>
        </p:nvSpPr>
        <p:spPr>
          <a:xfrm>
            <a:off x="274320" y="3456432"/>
            <a:ext cx="8595360" cy="1234440"/>
          </a:xfrm>
          <a:prstGeom prst="roundRect">
            <a:avLst>
              <a:gd name="adj" fmla="val 8889"/>
            </a:avLst>
          </a:prstGeom>
          <a:solidFill>
            <a:srgbClr val="0E1C42"/>
          </a:solidFill>
          <a:ln w="19050">
            <a:solidFill>
              <a:srgbClr val="34B76F"/>
            </a:solidFill>
            <a:prstDash val="solid"/>
          </a:ln>
        </p:spPr>
      </p:sp>
      <p:sp>
        <p:nvSpPr>
          <p:cNvPr id="15" name="Text 13"/>
          <p:cNvSpPr/>
          <p:nvPr/>
        </p:nvSpPr>
        <p:spPr>
          <a:xfrm>
            <a:off x="457200" y="3493008"/>
            <a:ext cx="8229600" cy="237744"/>
          </a:xfrm>
          <a:prstGeom prst="rect">
            <a:avLst/>
          </a:prstGeom>
          <a:noFill/>
          <a:ln/>
        </p:spPr>
        <p:txBody>
          <a:bodyPr wrap="square"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WHAT A FULL-CREDIT ANSWER DOES:</a:t>
            </a:r>
            <a:endParaRPr lang="en-US" sz="900" dirty="0"/>
          </a:p>
        </p:txBody>
      </p:sp>
      <p:sp>
        <p:nvSpPr>
          <p:cNvPr id="16" name="Text 14"/>
          <p:cNvSpPr/>
          <p:nvPr/>
        </p:nvSpPr>
        <p:spPr>
          <a:xfrm>
            <a:off x="457200" y="3749040"/>
            <a:ext cx="8229600" cy="877824"/>
          </a:xfrm>
          <a:prstGeom prst="rect">
            <a:avLst/>
          </a:prstGeom>
          <a:noFill/>
          <a:ln/>
        </p:spPr>
        <p:txBody>
          <a:bodyPr wrap="square" rtlCol="0" anchor="t"/>
          <a:lstStyle/>
          <a:p>
            <a:pPr indent="0" marL="0">
              <a:buNone/>
            </a:pPr>
            <a:r>
              <a:rPr lang="en-US" sz="1300" dirty="0">
                <a:solidFill>
                  <a:srgbClr val="F0F2F8"/>
                </a:solidFill>
                <a:latin typeface="Calibri" pitchFamily="34" charset="0"/>
                <a:ea typeface="Calibri" pitchFamily="34" charset="-122"/>
                <a:cs typeface="Calibri" pitchFamily="34" charset="-120"/>
              </a:rPr>
              <a:t>Names a SPECIFIC challenge  ·  Names a SPECIFIC adaptation  ·  Explains HOW with a 'because' clause  ·  Uses evidence from the lesson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Text 2"/>
          <p:cNvSpPr/>
          <p:nvPr/>
        </p:nvSpPr>
        <p:spPr>
          <a:xfrm>
            <a:off x="274320" y="109728"/>
            <a:ext cx="8595360" cy="274320"/>
          </a:xfrm>
          <a:prstGeom prst="rect">
            <a:avLst/>
          </a:prstGeom>
          <a:noFill/>
          <a:ln/>
        </p:spPr>
        <p:txBody>
          <a:bodyPr wrap="square" rtlCol="0" anchor="ctr"/>
          <a:lstStyle/>
          <a:p>
            <a:pPr indent="0" marL="0">
              <a:buNone/>
            </a:pPr>
            <a:r>
              <a:rPr lang="en-US" sz="950" b="1" spc="150" kern="0" dirty="0">
                <a:solidFill>
                  <a:srgbClr val="7A88A8"/>
                </a:solidFill>
                <a:latin typeface="Calibri" pitchFamily="34" charset="0"/>
                <a:ea typeface="Calibri" pitchFamily="34" charset="-122"/>
                <a:cs typeface="Calibri" pitchFamily="34" charset="-120"/>
              </a:rPr>
              <a:t>THE REPUBLIC GAZETTE  ·  Honest Reporting · Evidence First</a:t>
            </a:r>
            <a:endParaRPr lang="en-US" sz="950" dirty="0"/>
          </a:p>
        </p:txBody>
      </p:sp>
      <p:sp>
        <p:nvSpPr>
          <p:cNvPr id="5" name="Text 3"/>
          <p:cNvSpPr/>
          <p:nvPr/>
        </p:nvSpPr>
        <p:spPr>
          <a:xfrm>
            <a:off x="274320" y="438912"/>
            <a:ext cx="8595360" cy="438912"/>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GAZETTE MAP NOTE — Issue 16</a:t>
            </a:r>
            <a:endParaRPr lang="en-US" sz="2400" dirty="0"/>
          </a:p>
        </p:txBody>
      </p:sp>
      <p:sp>
        <p:nvSpPr>
          <p:cNvPr id="6" name="Shape 4"/>
          <p:cNvSpPr/>
          <p:nvPr/>
        </p:nvSpPr>
        <p:spPr>
          <a:xfrm>
            <a:off x="274320" y="932688"/>
            <a:ext cx="5303520" cy="2267712"/>
          </a:xfrm>
          <a:prstGeom prst="roundRect">
            <a:avLst>
              <a:gd name="adj" fmla="val 4032"/>
            </a:avLst>
          </a:prstGeom>
          <a:solidFill>
            <a:srgbClr val="FFFFFF"/>
          </a:solidFill>
          <a:ln w="19050">
            <a:solidFill>
              <a:srgbClr val="0E1C42"/>
            </a:solidFill>
            <a:prstDash val="solid"/>
          </a:ln>
        </p:spPr>
      </p:sp>
      <p:sp>
        <p:nvSpPr>
          <p:cNvPr id="7" name="Text 5"/>
          <p:cNvSpPr/>
          <p:nvPr/>
        </p:nvSpPr>
        <p:spPr>
          <a:xfrm>
            <a:off x="457200" y="969264"/>
            <a:ext cx="4937760" cy="219456"/>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EDITOR'S NOTEBOOK QUESTIONS</a:t>
            </a:r>
            <a:endParaRPr lang="en-US" sz="900" dirty="0"/>
          </a:p>
        </p:txBody>
      </p:sp>
      <p:sp>
        <p:nvSpPr>
          <p:cNvPr id="8" name="Text 6"/>
          <p:cNvSpPr/>
          <p:nvPr/>
        </p:nvSpPr>
        <p:spPr>
          <a:xfrm>
            <a:off x="457200" y="1207008"/>
            <a:ext cx="4937760" cy="594360"/>
          </a:xfrm>
          <a:prstGeom prst="rect">
            <a:avLst/>
          </a:prstGeom>
          <a:noFill/>
          <a:ln/>
        </p:spPr>
        <p:txBody>
          <a:bodyPr wrap="square" rtlCol="0" anchor="t"/>
          <a:lstStyle/>
          <a:p>
            <a:pPr indent="0" marL="0">
              <a:spcAft>
                <a:spcPts val="200"/>
              </a:spcAft>
              <a:buNone/>
            </a:pPr>
            <a:r>
              <a:rPr lang="en-US" sz="1200" dirty="0">
                <a:solidFill>
                  <a:srgbClr val="0E1C42"/>
                </a:solidFill>
                <a:latin typeface="Calibri" pitchFamily="34" charset="0"/>
                <a:ea typeface="Calibri" pitchFamily="34" charset="-122"/>
                <a:cs typeface="Calibri" pitchFamily="34" charset="-120"/>
              </a:rPr>
              <a:t>1. Name two challenges of living in the Desert Southwest and one way Pueblo peoples adapted to each.</a:t>
            </a:r>
            <a:endParaRPr lang="en-US" sz="1200" dirty="0"/>
          </a:p>
        </p:txBody>
      </p:sp>
      <p:sp>
        <p:nvSpPr>
          <p:cNvPr id="9" name="Text 7"/>
          <p:cNvSpPr/>
          <p:nvPr/>
        </p:nvSpPr>
        <p:spPr>
          <a:xfrm>
            <a:off x="457200" y="1865376"/>
            <a:ext cx="4937760" cy="594360"/>
          </a:xfrm>
          <a:prstGeom prst="rect">
            <a:avLst/>
          </a:prstGeom>
          <a:noFill/>
          <a:ln/>
        </p:spPr>
        <p:txBody>
          <a:bodyPr wrap="square" rtlCol="0" anchor="t"/>
          <a:lstStyle/>
          <a:p>
            <a:pPr indent="0" marL="0">
              <a:spcAft>
                <a:spcPts val="200"/>
              </a:spcAft>
              <a:buNone/>
            </a:pPr>
            <a:r>
              <a:rPr lang="en-US" sz="1200" dirty="0">
                <a:solidFill>
                  <a:srgbClr val="0E1C42"/>
                </a:solidFill>
                <a:latin typeface="Calibri" pitchFamily="34" charset="0"/>
                <a:ea typeface="Calibri" pitchFamily="34" charset="-122"/>
                <a:cs typeface="Calibri" pitchFamily="34" charset="-120"/>
              </a:rPr>
              <a:t>2. How does the photograph support the idea that the Desert Southwest peoples were resourceful, not limited by their environment?</a:t>
            </a:r>
            <a:endParaRPr lang="en-US" sz="1200" dirty="0"/>
          </a:p>
        </p:txBody>
      </p:sp>
      <p:sp>
        <p:nvSpPr>
          <p:cNvPr id="10" name="Text 8"/>
          <p:cNvSpPr/>
          <p:nvPr/>
        </p:nvSpPr>
        <p:spPr>
          <a:xfrm>
            <a:off x="457200" y="2523744"/>
            <a:ext cx="4937760" cy="594360"/>
          </a:xfrm>
          <a:prstGeom prst="rect">
            <a:avLst/>
          </a:prstGeom>
          <a:noFill/>
          <a:ln/>
        </p:spPr>
        <p:txBody>
          <a:bodyPr wrap="square" rtlCol="0" anchor="t"/>
          <a:lstStyle/>
          <a:p>
            <a:pPr indent="0" marL="0">
              <a:spcAft>
                <a:spcPts val="200"/>
              </a:spcAft>
              <a:buNone/>
            </a:pPr>
            <a:r>
              <a:rPr lang="en-US" sz="1200" dirty="0">
                <a:solidFill>
                  <a:srgbClr val="0E1C42"/>
                </a:solidFill>
                <a:latin typeface="Calibri" pitchFamily="34" charset="0"/>
                <a:ea typeface="Calibri" pitchFamily="34" charset="-122"/>
                <a:cs typeface="Calibri" pitchFamily="34" charset="-120"/>
              </a:rPr>
              <a:t>3. The Hasty Herald said "the Desert Southwest was too harsh for complex communities." What's partly right about that? What's missing?</a:t>
            </a:r>
            <a:endParaRPr lang="en-US" sz="1200" dirty="0"/>
          </a:p>
        </p:txBody>
      </p:sp>
      <p:sp>
        <p:nvSpPr>
          <p:cNvPr id="11" name="Shape 9"/>
          <p:cNvSpPr/>
          <p:nvPr/>
        </p:nvSpPr>
        <p:spPr>
          <a:xfrm>
            <a:off x="5760720" y="932688"/>
            <a:ext cx="3108960" cy="1389888"/>
          </a:xfrm>
          <a:prstGeom prst="roundRect">
            <a:avLst>
              <a:gd name="adj" fmla="val 6579"/>
            </a:avLst>
          </a:prstGeom>
          <a:solidFill>
            <a:srgbClr val="1A2D5A"/>
          </a:solidFill>
          <a:ln w="12700">
            <a:solidFill>
              <a:srgbClr val="2A4070"/>
            </a:solidFill>
            <a:prstDash val="solid"/>
          </a:ln>
        </p:spPr>
      </p:sp>
      <p:sp>
        <p:nvSpPr>
          <p:cNvPr id="12" name="Text 10"/>
          <p:cNvSpPr/>
          <p:nvPr/>
        </p:nvSpPr>
        <p:spPr>
          <a:xfrm>
            <a:off x="5925312" y="969264"/>
            <a:ext cx="2779776" cy="219456"/>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GAZETTE MAP NOTE STRUCTURE</a:t>
            </a:r>
            <a:endParaRPr lang="en-US" sz="900" dirty="0"/>
          </a:p>
        </p:txBody>
      </p:sp>
      <p:sp>
        <p:nvSpPr>
          <p:cNvPr id="13" name="Text 11"/>
          <p:cNvSpPr/>
          <p:nvPr/>
        </p:nvSpPr>
        <p:spPr>
          <a:xfrm>
            <a:off x="5925312" y="1207008"/>
            <a:ext cx="2779776" cy="1042416"/>
          </a:xfrm>
          <a:prstGeom prst="rect">
            <a:avLst/>
          </a:prstGeom>
          <a:noFill/>
          <a:ln/>
        </p:spPr>
        <p:txBody>
          <a:bodyPr wrap="square" rtlCol="0" anchor="t"/>
          <a:lstStyle/>
          <a:p>
            <a:pPr indent="0" marL="0">
              <a:spcAft>
                <a:spcPts val="400"/>
              </a:spcAft>
              <a:buNone/>
            </a:pPr>
            <a:r>
              <a:rPr lang="en-US" sz="1150" dirty="0">
                <a:solidFill>
                  <a:srgbClr val="D6F2FB"/>
                </a:solidFill>
                <a:latin typeface="Calibri" pitchFamily="34" charset="0"/>
                <a:ea typeface="Calibri" pitchFamily="34" charset="-122"/>
                <a:cs typeface="Calibri" pitchFamily="34" charset="-120"/>
              </a:rPr>
              <a:t>(1) Describe the Desert Southwest environment.</a:t>
            </a:r>
            <a:endParaRPr lang="en-US" sz="1150" dirty="0"/>
          </a:p>
          <a:p>
            <a:pPr indent="0" marL="0">
              <a:spcAft>
                <a:spcPts val="400"/>
              </a:spcAft>
              <a:buNone/>
            </a:pPr>
            <a:r>
              <a:rPr lang="en-US" sz="1150" dirty="0">
                <a:solidFill>
                  <a:srgbClr val="D6F2FB"/>
                </a:solidFill>
                <a:latin typeface="Calibri" pitchFamily="34" charset="0"/>
                <a:ea typeface="Calibri" pitchFamily="34" charset="-122"/>
                <a:cs typeface="Calibri" pitchFamily="34" charset="-120"/>
              </a:rPr>
              <a:t>(2) Explain how Pueblo peoples adapted — one specific example.</a:t>
            </a:r>
            <a:endParaRPr lang="en-US" sz="1150" dirty="0"/>
          </a:p>
          <a:p>
            <a:pPr indent="0" marL="0">
              <a:spcAft>
                <a:spcPts val="400"/>
              </a:spcAft>
              <a:buNone/>
            </a:pPr>
            <a:r>
              <a:rPr lang="en-US" sz="1150" dirty="0">
                <a:solidFill>
                  <a:srgbClr val="D6F2FB"/>
                </a:solidFill>
                <a:latin typeface="Calibri" pitchFamily="34" charset="0"/>
                <a:ea typeface="Calibri" pitchFamily="34" charset="-122"/>
                <a:cs typeface="Calibri" pitchFamily="34" charset="-120"/>
              </a:rPr>
              <a:t>(3) Revise the Herald's claim using map evidence.</a:t>
            </a:r>
            <a:endParaRPr lang="en-US" sz="1150" dirty="0"/>
          </a:p>
        </p:txBody>
      </p:sp>
      <p:sp>
        <p:nvSpPr>
          <p:cNvPr id="14" name="Shape 12"/>
          <p:cNvSpPr/>
          <p:nvPr/>
        </p:nvSpPr>
        <p:spPr>
          <a:xfrm>
            <a:off x="5760720" y="2423160"/>
            <a:ext cx="3108960" cy="804672"/>
          </a:xfrm>
          <a:prstGeom prst="roundRect">
            <a:avLst>
              <a:gd name="adj" fmla="val 11364"/>
            </a:avLst>
          </a:prstGeom>
          <a:solidFill>
            <a:srgbClr val="D4943A">
              <a:alpha val="18000"/>
            </a:srgbClr>
          </a:solidFill>
          <a:ln w="19050">
            <a:solidFill>
              <a:srgbClr val="D4943A"/>
            </a:solidFill>
            <a:prstDash val="solid"/>
          </a:ln>
        </p:spPr>
      </p:sp>
      <p:sp>
        <p:nvSpPr>
          <p:cNvPr id="15" name="Text 13"/>
          <p:cNvSpPr/>
          <p:nvPr/>
        </p:nvSpPr>
        <p:spPr>
          <a:xfrm>
            <a:off x="5925312" y="2459736"/>
            <a:ext cx="2779776" cy="201168"/>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ARCHIVE LINE</a:t>
            </a:r>
            <a:endParaRPr lang="en-US" sz="900" dirty="0"/>
          </a:p>
        </p:txBody>
      </p:sp>
      <p:sp>
        <p:nvSpPr>
          <p:cNvPr id="16" name="Text 14"/>
          <p:cNvSpPr/>
          <p:nvPr/>
        </p:nvSpPr>
        <p:spPr>
          <a:xfrm>
            <a:off x="5925312" y="2651760"/>
            <a:ext cx="2779776" cy="512064"/>
          </a:xfrm>
          <a:prstGeom prst="rect">
            <a:avLst/>
          </a:prstGeom>
          <a:noFill/>
          <a:ln/>
        </p:spPr>
        <p:txBody>
          <a:bodyPr wrap="square" rtlCol="0" anchor="t"/>
          <a:lstStyle/>
          <a:p>
            <a:pPr indent="0" marL="0">
              <a:buNone/>
            </a:pPr>
            <a:r>
              <a:rPr lang="en-US" sz="1050" i="1" dirty="0">
                <a:solidFill>
                  <a:srgbClr val="5A4A3A"/>
                </a:solidFill>
                <a:latin typeface="Cambria" pitchFamily="34" charset="0"/>
                <a:ea typeface="Cambria" pitchFamily="34" charset="-122"/>
                <a:cs typeface="Cambria" pitchFamily="34" charset="-120"/>
              </a:rPr>
              <a:t>"In one careful sentence, write what future citizens should remember about Desert Southwest: Cliff Dwellers and Pueblo Peoples."</a:t>
            </a:r>
            <a:endParaRPr lang="en-US" sz="1050" dirty="0"/>
          </a:p>
        </p:txBody>
      </p:sp>
      <p:sp>
        <p:nvSpPr>
          <p:cNvPr id="17" name="Shape 15"/>
          <p:cNvSpPr/>
          <p:nvPr/>
        </p:nvSpPr>
        <p:spPr>
          <a:xfrm>
            <a:off x="274320" y="3310128"/>
            <a:ext cx="8595360" cy="1463040"/>
          </a:xfrm>
          <a:prstGeom prst="roundRect">
            <a:avLst>
              <a:gd name="adj" fmla="val 6250"/>
            </a:avLst>
          </a:prstGeom>
          <a:solidFill>
            <a:srgbClr val="0E1C42"/>
          </a:solidFill>
          <a:ln w="12700">
            <a:solidFill>
              <a:srgbClr val="55C8E8"/>
            </a:solidFill>
            <a:prstDash val="solid"/>
          </a:ln>
        </p:spPr>
      </p:sp>
      <p:sp>
        <p:nvSpPr>
          <p:cNvPr id="18" name="Text 16"/>
          <p:cNvSpPr/>
          <p:nvPr/>
        </p:nvSpPr>
        <p:spPr>
          <a:xfrm>
            <a:off x="457200" y="3346704"/>
            <a:ext cx="8229600" cy="219456"/>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TURN-IN CHECKLIST</a:t>
            </a:r>
            <a:endParaRPr lang="en-US" sz="900" dirty="0"/>
          </a:p>
        </p:txBody>
      </p:sp>
      <p:sp>
        <p:nvSpPr>
          <p:cNvPr id="19" name="Text 17"/>
          <p:cNvSpPr/>
          <p:nvPr/>
        </p:nvSpPr>
        <p:spPr>
          <a:xfrm>
            <a:off x="457200" y="3584448"/>
            <a:ext cx="4114800" cy="237744"/>
          </a:xfrm>
          <a:prstGeom prst="rect">
            <a:avLst/>
          </a:prstGeom>
          <a:noFill/>
          <a:ln/>
        </p:spPr>
        <p:txBody>
          <a:bodyPr wrap="square" rtlCol="0" anchor="ctr"/>
          <a:lstStyle/>
          <a:p>
            <a:pPr indent="0" marL="0">
              <a:buNone/>
            </a:pPr>
            <a:r>
              <a:rPr lang="en-US" sz="1100" dirty="0">
                <a:solidFill>
                  <a:srgbClr val="F0F2F8"/>
                </a:solidFill>
                <a:latin typeface="Calibri" pitchFamily="34" charset="0"/>
                <a:ea typeface="Calibri" pitchFamily="34" charset="-122"/>
                <a:cs typeface="Calibri" pitchFamily="34" charset="-120"/>
              </a:rPr>
              <a:t>☐ Answered all 3 questions in the Editor's Notebook</a:t>
            </a:r>
            <a:endParaRPr lang="en-US" sz="1100" dirty="0"/>
          </a:p>
        </p:txBody>
      </p:sp>
      <p:sp>
        <p:nvSpPr>
          <p:cNvPr id="20" name="Text 18"/>
          <p:cNvSpPr/>
          <p:nvPr/>
        </p:nvSpPr>
        <p:spPr>
          <a:xfrm>
            <a:off x="457200" y="3858768"/>
            <a:ext cx="4114800" cy="237744"/>
          </a:xfrm>
          <a:prstGeom prst="rect">
            <a:avLst/>
          </a:prstGeom>
          <a:noFill/>
          <a:ln/>
        </p:spPr>
        <p:txBody>
          <a:bodyPr wrap="square" rtlCol="0" anchor="ctr"/>
          <a:lstStyle/>
          <a:p>
            <a:pPr indent="0" marL="0">
              <a:buNone/>
            </a:pPr>
            <a:r>
              <a:rPr lang="en-US" sz="1100" dirty="0">
                <a:solidFill>
                  <a:srgbClr val="F0F2F8"/>
                </a:solidFill>
                <a:latin typeface="Calibri" pitchFamily="34" charset="0"/>
                <a:ea typeface="Calibri" pitchFamily="34" charset="-122"/>
                <a:cs typeface="Calibri" pitchFamily="34" charset="-120"/>
              </a:rPr>
              <a:t>☐ Completed the Fact-Check questions</a:t>
            </a:r>
            <a:endParaRPr lang="en-US" sz="1100" dirty="0"/>
          </a:p>
        </p:txBody>
      </p:sp>
      <p:sp>
        <p:nvSpPr>
          <p:cNvPr id="21" name="Text 19"/>
          <p:cNvSpPr/>
          <p:nvPr/>
        </p:nvSpPr>
        <p:spPr>
          <a:xfrm>
            <a:off x="457200" y="4133088"/>
            <a:ext cx="4114800" cy="237744"/>
          </a:xfrm>
          <a:prstGeom prst="rect">
            <a:avLst/>
          </a:prstGeom>
          <a:noFill/>
          <a:ln/>
        </p:spPr>
        <p:txBody>
          <a:bodyPr wrap="square" rtlCol="0" anchor="ctr"/>
          <a:lstStyle/>
          <a:p>
            <a:pPr indent="0" marL="0">
              <a:buNone/>
            </a:pPr>
            <a:r>
              <a:rPr lang="en-US" sz="1100" dirty="0">
                <a:solidFill>
                  <a:srgbClr val="F0F2F8"/>
                </a:solidFill>
                <a:latin typeface="Calibri" pitchFamily="34" charset="0"/>
                <a:ea typeface="Calibri" pitchFamily="34" charset="-122"/>
                <a:cs typeface="Calibri" pitchFamily="34" charset="-120"/>
              </a:rPr>
              <a:t>☐ Wrote a headline and Gazette Map Note</a:t>
            </a:r>
            <a:endParaRPr lang="en-US" sz="1100" dirty="0"/>
          </a:p>
        </p:txBody>
      </p:sp>
      <p:sp>
        <p:nvSpPr>
          <p:cNvPr id="22" name="Text 20"/>
          <p:cNvSpPr/>
          <p:nvPr/>
        </p:nvSpPr>
        <p:spPr>
          <a:xfrm>
            <a:off x="4754880" y="3584448"/>
            <a:ext cx="4023360" cy="237744"/>
          </a:xfrm>
          <a:prstGeom prst="rect">
            <a:avLst/>
          </a:prstGeom>
          <a:noFill/>
          <a:ln/>
        </p:spPr>
        <p:txBody>
          <a:bodyPr wrap="square" rtlCol="0" anchor="ctr"/>
          <a:lstStyle/>
          <a:p>
            <a:pPr indent="0" marL="0">
              <a:buNone/>
            </a:pPr>
            <a:r>
              <a:rPr lang="en-US" sz="1100" dirty="0">
                <a:solidFill>
                  <a:srgbClr val="F0F2F8"/>
                </a:solidFill>
                <a:latin typeface="Calibri" pitchFamily="34" charset="0"/>
                <a:ea typeface="Calibri" pitchFamily="34" charset="-122"/>
                <a:cs typeface="Calibri" pitchFamily="34" charset="-120"/>
              </a:rPr>
              <a:t>☐ Added your name to the byline</a:t>
            </a:r>
            <a:endParaRPr lang="en-US" sz="1100" dirty="0"/>
          </a:p>
        </p:txBody>
      </p:sp>
      <p:sp>
        <p:nvSpPr>
          <p:cNvPr id="23" name="Text 21"/>
          <p:cNvSpPr/>
          <p:nvPr/>
        </p:nvSpPr>
        <p:spPr>
          <a:xfrm>
            <a:off x="4754880" y="3858768"/>
            <a:ext cx="4023360" cy="237744"/>
          </a:xfrm>
          <a:prstGeom prst="rect">
            <a:avLst/>
          </a:prstGeom>
          <a:noFill/>
          <a:ln/>
        </p:spPr>
        <p:txBody>
          <a:bodyPr wrap="square" rtlCol="0" anchor="ctr"/>
          <a:lstStyle/>
          <a:p>
            <a:pPr indent="0" marL="0">
              <a:buNone/>
            </a:pPr>
            <a:r>
              <a:rPr lang="en-US" sz="1100" dirty="0">
                <a:solidFill>
                  <a:srgbClr val="F0F2F8"/>
                </a:solidFill>
                <a:latin typeface="Calibri" pitchFamily="34" charset="0"/>
                <a:ea typeface="Calibri" pitchFamily="34" charset="-122"/>
                <a:cs typeface="Calibri" pitchFamily="34" charset="-120"/>
              </a:rPr>
              <a:t>☐ Wrote one careful Archive Line sentence</a:t>
            </a:r>
            <a:endParaRPr lang="en-US" sz="1100" dirty="0"/>
          </a:p>
        </p:txBody>
      </p:sp>
      <p:sp>
        <p:nvSpPr>
          <p:cNvPr id="24" name="Text 22"/>
          <p:cNvSpPr/>
          <p:nvPr/>
        </p:nvSpPr>
        <p:spPr>
          <a:xfrm>
            <a:off x="4754880" y="4133088"/>
            <a:ext cx="4023360" cy="237744"/>
          </a:xfrm>
          <a:prstGeom prst="rect">
            <a:avLst/>
          </a:prstGeom>
          <a:noFill/>
          <a:ln/>
        </p:spPr>
        <p:txBody>
          <a:bodyPr wrap="square" rtlCol="0" anchor="ctr"/>
          <a:lstStyle/>
          <a:p>
            <a:pPr indent="0" marL="0">
              <a:buNone/>
            </a:pPr>
            <a:r>
              <a:rPr lang="en-US" sz="1100" dirty="0">
                <a:solidFill>
                  <a:srgbClr val="F0F2F8"/>
                </a:solidFill>
                <a:latin typeface="Calibri" pitchFamily="34" charset="0"/>
                <a:ea typeface="Calibri" pitchFamily="34" charset="-122"/>
                <a:cs typeface="Calibri" pitchFamily="34" charset="-120"/>
              </a:rPr>
              <a:t>☐ Copied or downloaded the Gathered Answers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365760"/>
            <a:ext cx="8229600" cy="438912"/>
          </a:xfrm>
          <a:prstGeom prst="rect">
            <a:avLst/>
          </a:prstGeom>
          <a:noFill/>
          <a:ln/>
        </p:spPr>
        <p:txBody>
          <a:bodyPr wrap="square" rtlCol="0" anchor="ctr"/>
          <a:lstStyle/>
          <a:p>
            <a:pPr algn="ctr" indent="0" marL="0">
              <a:buNone/>
            </a:pPr>
            <a:r>
              <a:rPr lang="en-US" sz="1600" b="1" spc="300" kern="0" dirty="0">
                <a:solidFill>
                  <a:srgbClr val="D4943A"/>
                </a:solidFill>
                <a:latin typeface="Calibri" pitchFamily="34" charset="0"/>
                <a:ea typeface="Calibri" pitchFamily="34" charset="-122"/>
                <a:cs typeface="Calibri" pitchFamily="34" charset="-120"/>
              </a:rPr>
              <a:t>ISSUE 16 FILED</a:t>
            </a:r>
            <a:endParaRPr lang="en-US" sz="1600" dirty="0"/>
          </a:p>
        </p:txBody>
      </p:sp>
      <p:sp>
        <p:nvSpPr>
          <p:cNvPr id="6" name="Text 3"/>
          <p:cNvSpPr/>
          <p:nvPr/>
        </p:nvSpPr>
        <p:spPr>
          <a:xfrm>
            <a:off x="457200" y="877824"/>
            <a:ext cx="8229600" cy="566928"/>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Well done, Junior Editor.</a:t>
            </a:r>
            <a:endParaRPr lang="en-US" sz="3600" dirty="0"/>
          </a:p>
        </p:txBody>
      </p:sp>
      <p:sp>
        <p:nvSpPr>
          <p:cNvPr id="7" name="Shape 4"/>
          <p:cNvSpPr/>
          <p:nvPr/>
        </p:nvSpPr>
        <p:spPr>
          <a:xfrm>
            <a:off x="731520" y="1536192"/>
            <a:ext cx="7680960" cy="658368"/>
          </a:xfrm>
          <a:prstGeom prst="roundRect">
            <a:avLst>
              <a:gd name="adj" fmla="val 13889"/>
            </a:avLst>
          </a:prstGeom>
          <a:solidFill>
            <a:srgbClr val="1A2D5A">
              <a:alpha val="75000"/>
            </a:srgbClr>
          </a:solidFill>
          <a:ln w="12700">
            <a:solidFill>
              <a:srgbClr val="55C8E8"/>
            </a:solidFill>
            <a:prstDash val="solid"/>
          </a:ln>
        </p:spPr>
      </p:sp>
      <p:sp>
        <p:nvSpPr>
          <p:cNvPr id="8" name="Text 5"/>
          <p:cNvSpPr/>
          <p:nvPr/>
        </p:nvSpPr>
        <p:spPr>
          <a:xfrm>
            <a:off x="914400" y="1591056"/>
            <a:ext cx="7315200" cy="548640"/>
          </a:xfrm>
          <a:prstGeom prst="rect">
            <a:avLst/>
          </a:prstGeom>
          <a:noFill/>
          <a:ln/>
        </p:spPr>
        <p:txBody>
          <a:bodyPr wrap="square" rtlCol="0" anchor="ctr"/>
          <a:lstStyle/>
          <a:p>
            <a:pPr algn="ctr" indent="0" marL="0">
              <a:buNone/>
            </a:pPr>
            <a:r>
              <a:rPr lang="en-US" sz="1450" i="1" dirty="0">
                <a:solidFill>
                  <a:srgbClr val="D6F2FB"/>
                </a:solidFill>
                <a:latin typeface="Cambria" pitchFamily="34" charset="0"/>
                <a:ea typeface="Cambria" pitchFamily="34" charset="-122"/>
                <a:cs typeface="Cambria" pitchFamily="34" charset="-120"/>
              </a:rPr>
              <a:t>You used map and photograph evidence to show how Desert Southwest peoples turned challenges into solutions.</a:t>
            </a:r>
            <a:endParaRPr lang="en-US" sz="1450" dirty="0"/>
          </a:p>
        </p:txBody>
      </p:sp>
      <p:sp>
        <p:nvSpPr>
          <p:cNvPr id="9" name="Shape 6"/>
          <p:cNvSpPr/>
          <p:nvPr/>
        </p:nvSpPr>
        <p:spPr>
          <a:xfrm>
            <a:off x="1371600" y="2331720"/>
            <a:ext cx="6400800" cy="45720"/>
          </a:xfrm>
          <a:prstGeom prst="rect">
            <a:avLst/>
          </a:prstGeom>
          <a:solidFill>
            <a:srgbClr val="D4943A"/>
          </a:solidFill>
          <a:ln/>
        </p:spPr>
      </p:sp>
      <p:sp>
        <p:nvSpPr>
          <p:cNvPr id="10" name="Text 7"/>
          <p:cNvSpPr/>
          <p:nvPr/>
        </p:nvSpPr>
        <p:spPr>
          <a:xfrm>
            <a:off x="457200" y="2468880"/>
            <a:ext cx="8229600" cy="329184"/>
          </a:xfrm>
          <a:prstGeom prst="rect">
            <a:avLst/>
          </a:prstGeom>
          <a:noFill/>
          <a:ln/>
        </p:spPr>
        <p:txBody>
          <a:bodyPr wrap="square" rtlCol="0" anchor="ctr"/>
          <a:lstStyle/>
          <a:p>
            <a:pPr algn="ctr" indent="0" marL="0">
              <a:buNone/>
            </a:pPr>
            <a:r>
              <a:rPr lang="en-US" sz="1300" b="1" spc="200" kern="0" dirty="0">
                <a:solidFill>
                  <a:srgbClr val="D4943A"/>
                </a:solidFill>
                <a:latin typeface="Calibri" pitchFamily="34" charset="0"/>
                <a:ea typeface="Calibri" pitchFamily="34" charset="-122"/>
                <a:cs typeface="Calibri" pitchFamily="34" charset="-120"/>
              </a:rPr>
              <a:t>COMING IN ISSUE 17:</a:t>
            </a:r>
            <a:endParaRPr lang="en-US" sz="1300" dirty="0"/>
          </a:p>
        </p:txBody>
      </p:sp>
      <p:sp>
        <p:nvSpPr>
          <p:cNvPr id="11" name="Text 8"/>
          <p:cNvSpPr/>
          <p:nvPr/>
        </p:nvSpPr>
        <p:spPr>
          <a:xfrm>
            <a:off x="457200" y="2816352"/>
            <a:ext cx="8229600" cy="475488"/>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Pacific Northwest Coastal Tribes</a:t>
            </a:r>
            <a:endParaRPr lang="en-US" sz="2800" dirty="0"/>
          </a:p>
        </p:txBody>
      </p:sp>
      <p:sp>
        <p:nvSpPr>
          <p:cNvPr id="12" name="Shape 9"/>
          <p:cNvSpPr/>
          <p:nvPr/>
        </p:nvSpPr>
        <p:spPr>
          <a:xfrm>
            <a:off x="731520" y="3383280"/>
            <a:ext cx="7680960" cy="914400"/>
          </a:xfrm>
          <a:prstGeom prst="roundRect">
            <a:avLst>
              <a:gd name="adj" fmla="val 10000"/>
            </a:avLst>
          </a:prstGeom>
          <a:solidFill>
            <a:srgbClr val="0B1835">
              <a:alpha val="70000"/>
            </a:srgbClr>
          </a:solidFill>
          <a:ln w="12700">
            <a:solidFill>
              <a:srgbClr val="3A5080"/>
            </a:solidFill>
            <a:prstDash val="solid"/>
          </a:ln>
        </p:spPr>
      </p:sp>
      <p:sp>
        <p:nvSpPr>
          <p:cNvPr id="13" name="Text 10"/>
          <p:cNvSpPr/>
          <p:nvPr/>
        </p:nvSpPr>
        <p:spPr>
          <a:xfrm>
            <a:off x="914400" y="3438144"/>
            <a:ext cx="7315200" cy="804672"/>
          </a:xfrm>
          <a:prstGeom prst="rect">
            <a:avLst/>
          </a:prstGeom>
          <a:noFill/>
          <a:ln/>
        </p:spPr>
        <p:txBody>
          <a:bodyPr wrap="square" rtlCol="0" anchor="ctr"/>
          <a:lstStyle/>
          <a:p>
            <a:pPr algn="ctr" indent="0" marL="0">
              <a:buNone/>
            </a:pPr>
            <a:r>
              <a:rPr lang="en-US" sz="1300" i="1" dirty="0">
                <a:solidFill>
                  <a:srgbClr val="F0F2F8"/>
                </a:solidFill>
                <a:latin typeface="Cambria" pitchFamily="34" charset="0"/>
                <a:ea typeface="Cambria" pitchFamily="34" charset="-122"/>
                <a:cs typeface="Cambria" pitchFamily="34" charset="-120"/>
              </a:rPr>
              <a:t>"The Hasty Herald has already rushed to print a claim that Pacific Northwest peoples lived as they did only because the ocean was nearby. Editors, sharpen your pencils."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2026-07-16T17:36:33Z</dcterms:created>
  <dcterms:modified xsi:type="dcterms:W3CDTF">2026-07-16T17:36:33Z</dcterms:modified>
</cp:coreProperties>
</file>