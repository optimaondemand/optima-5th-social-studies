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aerial photograph of the Appalachian Mountains seen from above — rolling ridgelines stretching to the horizon, autumn colors, suggesting a barrier and a story — editorial newspaper feelIMAGE TO INSERT: Dramatic aerial of Appalachian Mountains from above, autumn colors, barrier feel. Welcome back to the Map Room. Recap Issue 5 in one sentence: coordinates are evidence, not just numbers. Today the Herald is at it again — this time calling mountains, rivers, and plains 'just scenery.' Let's find out what the Map Room says about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Herald's claim. Get first reactions. The Herald's view is actually understandable — mountains and rivers DO look like scenery on a map if you're not asking historical questions. That's the productive tension. Validate the question before demolishing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close-up of a physical relief map of the United States — mountains shown in brown relief, rivers in blue, plains in green — dramatic lighting suggesting geographic powerRead Ms. Avery's charge. The detective metaphor is key: every ridge, every river is evidence. Students aren't just reading a map today — they're reading the land as a historical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Silence first. Then: What do you see? Where are the barriers? Where would you want to settle? No labels yet. Just observation. Students should notice: the Appalachians form a clear wall on the east, the Mississippi runs north-south, the plains look flat and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feature. For each one, name the ONE historical impact. The goal is not memorization — it's understanding the CONNECTION between the feature and the historical pattern it shaped. Ask students after each: 'Does that sound like scenery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scaffolds Notebook Question 2: 'Why do you think so many early settlements were near rivers or coastlines instead of in the mountains? Use evidence from the map.' Push students to use the specific features — not just say 'rivers are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aerial view of the Mississippi River winding through flat farmland, late afternoon golden light — suggests movement, trade, life — not 'just scenery'Big reveal moment. The Herald said scenery. We found evidence. Run the retrieval challenge — cover the screen, name all six from memory. This is the moment to celebrate the discovery before moving to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map — two different questions. The Herald describes. The Gazette explains. Ask: what's the difference between describing a mountain and using it as evidence? Same information, completely different thinking. This is the core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scaffold together. The structure: name the feature, identify what type it is, then complete the impact sentence. This ensures the answer has both description AND explanation — the Gazette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cartographer at work — drawing rivers and mountain ranges on a large map, careful detailed work by candlelight — historical, responsible, meticulousResponsibility today = the discipline to go deeper than description. The Herald described. The Gazette explained. That extra step of connecting the feature to historical choices is what responsibility looks like in historical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Show the transformation from Herald description to Gazette evidence. The key move is Step 2 — asking the historical question 'how did this shape what people DID?' That question is what separates description from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them through the four steps for the Mississippi. They've seen the Appalachians modeled — now they try with a different type of feature (river vs. mountain). The Mississippi is a corridor, not a barrier. Make sure they name that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 (1) Calls Appalachians 'just pretty mountains' — contradicts everything just learned. (2) 'Boring' and 'long' are descriptions, not evidence. (3) No historical impact mentioned for any feature. (4) 'Scenery AND evidence' is a weak concession — the Gazette standard is evidence ONLY. The map note needs specific historical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 don't resolve this into a single answer. The takeaway: physical features shaped conditions and influenced decisions, but determined nothing. Technology, political will, and economic incentives eventually overcame geographic barriers. Geography explains the PATTERN but not every individual decision. Reasonable people can hold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notebook questions were scaffolded today. Q1: feature + impact structure practiced in I Do and We Do. Q2: barrier/corridor discussion on slide 6. Q3: Herald correction scaffold implicit throughout. Remind students: check every box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three fact-check questions. Students respond first, then reveal. These are from the lesson HTML. The Appalachian + Mississippi pairing question is critical — it tests whether students understand both barrier AND corridor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Fresh newspaper pages rolling off a printing press, headline visible: 'MAP ROOM PROVES: PHYSICAL FEATURES SHAPED AMERICAN HISTORY' — celebratory, warm light, proud editorial toneCelebrate the team. Restate the central finding: Mountains blocked, rivers connected, plains invited — every feature is evidence. Tomorrow the Map Room takes on a new challenge: what's the difference between a state, a territory, and one of the original thirteen colonies? The Herald has already called state borders 'random.' See you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THE REPUBLIC GAZETTE  ·  Vol. 1, Issue 6  ·  Map Room Edition</a:t>
            </a:r>
            <a:endParaRPr lang="en-US" sz="1100" dirty="0"/>
          </a:p>
        </p:txBody>
      </p:sp>
      <p:sp>
        <p:nvSpPr>
          <p:cNvPr id="7" name="Text 4"/>
          <p:cNvSpPr/>
          <p:nvPr/>
        </p:nvSpPr>
        <p:spPr>
          <a:xfrm>
            <a:off x="457200" y="658368"/>
            <a:ext cx="8229600" cy="59436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MAJOR PHYSICAL FEATURES</a:t>
            </a:r>
            <a:endParaRPr lang="en-US" sz="3800" dirty="0"/>
          </a:p>
        </p:txBody>
      </p:sp>
      <p:sp>
        <p:nvSpPr>
          <p:cNvPr id="8" name="Text 5"/>
          <p:cNvSpPr/>
          <p:nvPr/>
        </p:nvSpPr>
        <p:spPr>
          <a:xfrm>
            <a:off x="457200" y="1261872"/>
            <a:ext cx="8229600" cy="411480"/>
          </a:xfrm>
          <a:prstGeom prst="rect">
            <a:avLst/>
          </a:prstGeom>
          <a:noFill/>
          <a:ln/>
        </p:spPr>
        <p:txBody>
          <a:bodyPr wrap="square" rtlCol="0" anchor="ctr"/>
          <a:lstStyle/>
          <a:p>
            <a:pPr algn="ctr" indent="0" marL="0">
              <a:buNone/>
            </a:pPr>
            <a:r>
              <a:rPr lang="en-US" sz="2600" b="1" dirty="0">
                <a:solidFill>
                  <a:srgbClr val="55C8E8"/>
                </a:solidFill>
                <a:latin typeface="Cambria" pitchFamily="34" charset="0"/>
                <a:ea typeface="Cambria" pitchFamily="34" charset="-122"/>
                <a:cs typeface="Cambria" pitchFamily="34" charset="-120"/>
              </a:rPr>
              <a:t>OF THE UNITED STATES</a:t>
            </a:r>
            <a:endParaRPr lang="en-US" sz="2600" dirty="0"/>
          </a:p>
        </p:txBody>
      </p:sp>
      <p:sp>
        <p:nvSpPr>
          <p:cNvPr id="9" name="Text 6"/>
          <p:cNvSpPr/>
          <p:nvPr/>
        </p:nvSpPr>
        <p:spPr>
          <a:xfrm>
            <a:off x="457200" y="1719072"/>
            <a:ext cx="8229600" cy="292608"/>
          </a:xfrm>
          <a:prstGeom prst="rect">
            <a:avLst/>
          </a:prstGeom>
          <a:noFill/>
          <a:ln/>
        </p:spPr>
        <p:txBody>
          <a:bodyPr wrap="square" rtlCol="0" anchor="ctr"/>
          <a:lstStyle/>
          <a:p>
            <a:pPr algn="ctr" indent="0" marL="0">
              <a:buNone/>
            </a:pPr>
            <a:r>
              <a:rPr lang="en-US" sz="1300" dirty="0">
                <a:solidFill>
                  <a:srgbClr val="7A88A8"/>
                </a:solidFill>
                <a:latin typeface="Calibri" pitchFamily="34" charset="0"/>
                <a:ea typeface="Calibri" pitchFamily="34" charset="-122"/>
                <a:cs typeface="Calibri" pitchFamily="34" charset="-120"/>
              </a:rPr>
              <a:t>Lesson 5.02.02  ·  Week 3, Q1  ·  Unit 2: Geography of North America</a:t>
            </a:r>
            <a:endParaRPr lang="en-US" sz="1300" dirty="0"/>
          </a:p>
        </p:txBody>
      </p:sp>
      <p:sp>
        <p:nvSpPr>
          <p:cNvPr id="10" name="Shape 7"/>
          <p:cNvSpPr/>
          <p:nvPr/>
        </p:nvSpPr>
        <p:spPr>
          <a:xfrm>
            <a:off x="1097280" y="2121408"/>
            <a:ext cx="6949440" cy="685800"/>
          </a:xfrm>
          <a:prstGeom prst="roundRect">
            <a:avLst>
              <a:gd name="adj" fmla="val 16000"/>
            </a:avLst>
          </a:prstGeom>
          <a:solidFill>
            <a:srgbClr val="1A2D5A"/>
          </a:solidFill>
          <a:ln w="19050">
            <a:solidFill>
              <a:srgbClr val="55C8E8"/>
            </a:solidFill>
            <a:prstDash val="solid"/>
          </a:ln>
        </p:spPr>
      </p:sp>
      <p:sp>
        <p:nvSpPr>
          <p:cNvPr id="11" name="Text 8"/>
          <p:cNvSpPr/>
          <p:nvPr/>
        </p:nvSpPr>
        <p:spPr>
          <a:xfrm>
            <a:off x="1280160" y="2176272"/>
            <a:ext cx="6583680" cy="576072"/>
          </a:xfrm>
          <a:prstGeom prst="rect">
            <a:avLst/>
          </a:prstGeom>
          <a:noFill/>
          <a:ln/>
        </p:spPr>
        <p:txBody>
          <a:bodyPr wrap="square"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Are mountains, rivers, and plains just scenery — or did they shape where Americans settled, traveled, and built their country?</a:t>
            </a:r>
            <a:endParaRPr lang="en-US" sz="1400" dirty="0"/>
          </a:p>
        </p:txBody>
      </p:sp>
      <p:sp>
        <p:nvSpPr>
          <p:cNvPr id="12" name="Shape 9"/>
          <p:cNvSpPr/>
          <p:nvPr/>
        </p:nvSpPr>
        <p:spPr>
          <a:xfrm>
            <a:off x="1097280" y="2926080"/>
            <a:ext cx="6949440" cy="594360"/>
          </a:xfrm>
          <a:prstGeom prst="roundRect">
            <a:avLst>
              <a:gd name="adj" fmla="val 15385"/>
            </a:avLst>
          </a:prstGeom>
          <a:solidFill>
            <a:srgbClr val="E8636B">
              <a:alpha val="80000"/>
            </a:srgbClr>
          </a:solidFill>
          <a:ln w="19050">
            <a:solidFill>
              <a:srgbClr val="E8636B"/>
            </a:solidFill>
            <a:prstDash val="solid"/>
          </a:ln>
        </p:spPr>
      </p:sp>
      <p:sp>
        <p:nvSpPr>
          <p:cNvPr id="13" name="Text 10"/>
          <p:cNvSpPr/>
          <p:nvPr/>
        </p:nvSpPr>
        <p:spPr>
          <a:xfrm>
            <a:off x="1280160" y="2980944"/>
            <a:ext cx="6583680" cy="4846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HASTY HERALD CLAIMS: "Mountains, rivers, and plains are scenery, not historical evidence."</a:t>
            </a:r>
            <a:endParaRPr lang="en-US" sz="1300" dirty="0"/>
          </a:p>
        </p:txBody>
      </p:sp>
      <p:sp>
        <p:nvSpPr>
          <p:cNvPr id="14" name="Text 11"/>
          <p:cNvSpPr/>
          <p:nvPr/>
        </p:nvSpPr>
        <p:spPr>
          <a:xfrm>
            <a:off x="457200" y="3657600"/>
            <a:ext cx="8229600" cy="27432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Junior Editors  ·  The Map Room  ·  Virtue: Responsibility  ·  SS.5.G.1.1 · 1.2 · 2.1 · 3.1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640080"/>
          </a:xfrm>
          <a:prstGeom prst="rect">
            <a:avLst/>
          </a:prstGeom>
          <a:solidFill>
            <a:srgbClr val="E8636B"/>
          </a:solidFill>
          <a:ln/>
        </p:spPr>
      </p:sp>
      <p:sp>
        <p:nvSpPr>
          <p:cNvPr id="4" name="Text 2"/>
          <p:cNvSpPr/>
          <p:nvPr/>
        </p:nvSpPr>
        <p:spPr>
          <a:xfrm>
            <a:off x="182880" y="109728"/>
            <a:ext cx="8778240" cy="41148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THE HASTY HERALD  ·  Today's News · Yesterday · Maybe</a:t>
            </a:r>
            <a:endParaRPr lang="en-US" sz="1400" dirty="0"/>
          </a:p>
        </p:txBody>
      </p:sp>
      <p:sp>
        <p:nvSpPr>
          <p:cNvPr id="5" name="Shape 3"/>
          <p:cNvSpPr/>
          <p:nvPr/>
        </p:nvSpPr>
        <p:spPr>
          <a:xfrm>
            <a:off x="457200" y="777240"/>
            <a:ext cx="8229600" cy="960120"/>
          </a:xfrm>
          <a:prstGeom prst="roundRect">
            <a:avLst>
              <a:gd name="adj" fmla="val 9524"/>
            </a:avLst>
          </a:prstGeom>
          <a:solidFill>
            <a:srgbClr val="FFFFFF"/>
          </a:solidFill>
          <a:ln w="25400">
            <a:solidFill>
              <a:srgbClr val="E8636B"/>
            </a:solidFill>
            <a:prstDash val="solid"/>
          </a:ln>
        </p:spPr>
      </p:sp>
      <p:sp>
        <p:nvSpPr>
          <p:cNvPr id="6" name="Text 4"/>
          <p:cNvSpPr/>
          <p:nvPr/>
        </p:nvSpPr>
        <p:spPr>
          <a:xfrm>
            <a:off x="594360" y="841248"/>
            <a:ext cx="7955280" cy="411480"/>
          </a:xfrm>
          <a:prstGeom prst="rect">
            <a:avLst/>
          </a:prstGeom>
          <a:noFill/>
          <a:ln/>
        </p:spPr>
        <p:txBody>
          <a:bodyPr wrap="square" rtlCol="0" anchor="ctr"/>
          <a:lstStyle/>
          <a:p>
            <a:pPr algn="ctr" indent="0" marL="0">
              <a:buNone/>
            </a:pPr>
            <a:r>
              <a:rPr lang="en-US" sz="2400" b="1" dirty="0">
                <a:solidFill>
                  <a:srgbClr val="E8636B"/>
                </a:solidFill>
                <a:latin typeface="Cambria" pitchFamily="34" charset="0"/>
                <a:ea typeface="Cambria" pitchFamily="34" charset="-122"/>
                <a:cs typeface="Cambria" pitchFamily="34" charset="-120"/>
              </a:rPr>
              <a:t>MOUNTAINS AND RIVERS? JUST SCENERY!</a:t>
            </a:r>
            <a:endParaRPr lang="en-US" sz="2400" dirty="0"/>
          </a:p>
        </p:txBody>
      </p:sp>
      <p:sp>
        <p:nvSpPr>
          <p:cNvPr id="7" name="Text 5"/>
          <p:cNvSpPr/>
          <p:nvPr/>
        </p:nvSpPr>
        <p:spPr>
          <a:xfrm>
            <a:off x="594360" y="1280160"/>
            <a:ext cx="7955280" cy="347472"/>
          </a:xfrm>
          <a:prstGeom prst="rect">
            <a:avLst/>
          </a:prstGeom>
          <a:noFill/>
          <a:ln/>
        </p:spPr>
        <p:txBody>
          <a:bodyPr wrap="square" rtlCol="0" anchor="ctr"/>
          <a:lstStyle/>
          <a:p>
            <a:pPr algn="ctr" indent="0" marL="0">
              <a:buNone/>
            </a:pPr>
            <a:r>
              <a:rPr lang="en-US" sz="1300" i="1" dirty="0">
                <a:solidFill>
                  <a:srgbClr val="5A4A3A"/>
                </a:solidFill>
                <a:latin typeface="Calibri" pitchFamily="34" charset="0"/>
                <a:ea typeface="Calibri" pitchFamily="34" charset="-122"/>
                <a:cs typeface="Calibri" pitchFamily="34" charset="-120"/>
              </a:rPr>
              <a:t>"Mountains, rivers, and plains are scenery, not historical evidence."  — Filed by The Herald, minutes ago</a:t>
            </a:r>
            <a:endParaRPr lang="en-US" sz="1300" dirty="0"/>
          </a:p>
        </p:txBody>
      </p:sp>
      <p:sp>
        <p:nvSpPr>
          <p:cNvPr id="8" name="Shape 6"/>
          <p:cNvSpPr/>
          <p:nvPr/>
        </p:nvSpPr>
        <p:spPr>
          <a:xfrm>
            <a:off x="3474720" y="1874520"/>
            <a:ext cx="2194560" cy="365760"/>
          </a:xfrm>
          <a:prstGeom prst="roundRect">
            <a:avLst>
              <a:gd name="adj" fmla="val 25000"/>
            </a:avLst>
          </a:prstGeom>
          <a:solidFill>
            <a:srgbClr val="E8636B"/>
          </a:solidFill>
          <a:ln/>
        </p:spPr>
      </p:sp>
      <p:sp>
        <p:nvSpPr>
          <p:cNvPr id="9" name="Text 7"/>
          <p:cNvSpPr/>
          <p:nvPr/>
        </p:nvSpPr>
        <p:spPr>
          <a:xfrm>
            <a:off x="3520440" y="1920240"/>
            <a:ext cx="2103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RUSHED TO PRINT!</a:t>
            </a:r>
            <a:endParaRPr lang="en-US" sz="1000" dirty="0"/>
          </a:p>
        </p:txBody>
      </p:sp>
      <p:sp>
        <p:nvSpPr>
          <p:cNvPr id="10" name="Shape 8"/>
          <p:cNvSpPr/>
          <p:nvPr/>
        </p:nvSpPr>
        <p:spPr>
          <a:xfrm>
            <a:off x="274320" y="2377440"/>
            <a:ext cx="4297680" cy="2514600"/>
          </a:xfrm>
          <a:prstGeom prst="roundRect">
            <a:avLst>
              <a:gd name="adj" fmla="val 4364"/>
            </a:avLst>
          </a:prstGeom>
          <a:solidFill>
            <a:srgbClr val="1A2D5A"/>
          </a:solidFill>
          <a:ln w="12700">
            <a:solidFill>
              <a:srgbClr val="2A4070"/>
            </a:solidFill>
            <a:prstDash val="solid"/>
          </a:ln>
        </p:spPr>
      </p:sp>
      <p:sp>
        <p:nvSpPr>
          <p:cNvPr id="11" name="Text 9"/>
          <p:cNvSpPr/>
          <p:nvPr/>
        </p:nvSpPr>
        <p:spPr>
          <a:xfrm>
            <a:off x="411480" y="2432304"/>
            <a:ext cx="40233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457200" y="2697480"/>
            <a:ext cx="3931920" cy="21031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Herald calls physical features 'scenery.' What would make someone think that?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you think of a mountain or river that DID affect history? How?</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evidence would change the Herald's mind — if anything?</a:t>
            </a:r>
            <a:endParaRPr lang="en-US" sz="1100" dirty="0"/>
          </a:p>
        </p:txBody>
      </p:sp>
      <p:sp>
        <p:nvSpPr>
          <p:cNvPr id="13" name="Shape 11"/>
          <p:cNvSpPr/>
          <p:nvPr/>
        </p:nvSpPr>
        <p:spPr>
          <a:xfrm>
            <a:off x="4754880" y="2377440"/>
            <a:ext cx="4114800" cy="2514600"/>
          </a:xfrm>
          <a:prstGeom prst="roundRect">
            <a:avLst>
              <a:gd name="adj" fmla="val 4364"/>
            </a:avLst>
          </a:prstGeom>
          <a:solidFill>
            <a:srgbClr val="FFF3DC"/>
          </a:solidFill>
          <a:ln w="19050">
            <a:solidFill>
              <a:srgbClr val="F5E6C8"/>
            </a:solidFill>
            <a:prstDash val="solid"/>
          </a:ln>
        </p:spPr>
      </p:sp>
      <p:sp>
        <p:nvSpPr>
          <p:cNvPr id="14" name="Text 12"/>
          <p:cNvSpPr/>
          <p:nvPr/>
        </p:nvSpPr>
        <p:spPr>
          <a:xfrm>
            <a:off x="4892040" y="243230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892040" y="2633472"/>
            <a:ext cx="3840480" cy="2194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physical features matter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example that proves the Herald wrong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might be right IF..."</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DISPATCH 5.02.02  ·  BACK IN THE MAP ROOM</a:t>
            </a:r>
            <a:endParaRPr lang="en-US" sz="1100" dirty="0"/>
          </a:p>
        </p:txBody>
      </p:sp>
      <p:sp>
        <p:nvSpPr>
          <p:cNvPr id="7" name="Text 4"/>
          <p:cNvSpPr/>
          <p:nvPr/>
        </p:nvSpPr>
        <p:spPr>
          <a:xfrm>
            <a:off x="457200" y="640080"/>
            <a:ext cx="8229600" cy="54864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The Land Has a Story to Tell</a:t>
            </a:r>
            <a:endParaRPr lang="en-US" sz="3000" dirty="0"/>
          </a:p>
        </p:txBody>
      </p:sp>
      <p:sp>
        <p:nvSpPr>
          <p:cNvPr id="8" name="Shape 5"/>
          <p:cNvSpPr/>
          <p:nvPr/>
        </p:nvSpPr>
        <p:spPr>
          <a:xfrm>
            <a:off x="457200" y="1325880"/>
            <a:ext cx="8229600" cy="1051560"/>
          </a:xfrm>
          <a:prstGeom prst="roundRect">
            <a:avLst>
              <a:gd name="adj" fmla="val 10435"/>
            </a:avLst>
          </a:prstGeom>
          <a:solidFill>
            <a:srgbClr val="1A2D5A"/>
          </a:solidFill>
          <a:ln w="25400">
            <a:solidFill>
              <a:srgbClr val="D4943A"/>
            </a:solidFill>
            <a:prstDash val="solid"/>
          </a:ln>
        </p:spPr>
      </p:sp>
      <p:sp>
        <p:nvSpPr>
          <p:cNvPr id="9" name="Text 6"/>
          <p:cNvSpPr/>
          <p:nvPr/>
        </p:nvSpPr>
        <p:spPr>
          <a:xfrm>
            <a:off x="640080" y="1389888"/>
            <a:ext cx="7863840" cy="27432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 Ms. Avery, Editor-in-Chief</a:t>
            </a:r>
            <a:endParaRPr lang="en-US" sz="1000" dirty="0"/>
          </a:p>
        </p:txBody>
      </p:sp>
      <p:sp>
        <p:nvSpPr>
          <p:cNvPr id="10" name="Text 7"/>
          <p:cNvSpPr/>
          <p:nvPr/>
        </p:nvSpPr>
        <p:spPr>
          <a:xfrm>
            <a:off x="640080" y="1664208"/>
            <a:ext cx="7863840" cy="621792"/>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"A responsible editor reads the land the way a detective reads a crime scene — every ridge, every river, every flat stretch tells a part of the story. What does this map show, and what does it help us explain?"</a:t>
            </a:r>
            <a:endParaRPr lang="en-US" sz="1300" dirty="0"/>
          </a:p>
        </p:txBody>
      </p:sp>
      <p:sp>
        <p:nvSpPr>
          <p:cNvPr id="11" name="Shape 8"/>
          <p:cNvSpPr/>
          <p:nvPr/>
        </p:nvSpPr>
        <p:spPr>
          <a:xfrm>
            <a:off x="457200" y="2514600"/>
            <a:ext cx="8229600" cy="2194560"/>
          </a:xfrm>
          <a:prstGeom prst="roundRect">
            <a:avLst>
              <a:gd name="adj" fmla="val 5000"/>
            </a:avLst>
          </a:prstGeom>
          <a:solidFill>
            <a:srgbClr val="FFFFFF">
              <a:alpha val="88000"/>
            </a:srgbClr>
          </a:solidFill>
          <a:ln w="12700">
            <a:solidFill>
              <a:srgbClr val="55C8E8"/>
            </a:solidFill>
            <a:prstDash val="solid"/>
          </a:ln>
        </p:spPr>
      </p:sp>
      <p:sp>
        <p:nvSpPr>
          <p:cNvPr id="12" name="Text 9"/>
          <p:cNvSpPr/>
          <p:nvPr/>
        </p:nvSpPr>
        <p:spPr>
          <a:xfrm>
            <a:off x="640080" y="2587752"/>
            <a:ext cx="3657600" cy="256032"/>
          </a:xfrm>
          <a:prstGeom prst="rect">
            <a:avLst/>
          </a:prstGeom>
          <a:noFill/>
          <a:ln/>
        </p:spPr>
        <p:txBody>
          <a:bodyPr wrap="square"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TODAY'S BEAT</a:t>
            </a:r>
            <a:endParaRPr lang="en-US" sz="1000" dirty="0"/>
          </a:p>
        </p:txBody>
      </p:sp>
      <p:sp>
        <p:nvSpPr>
          <p:cNvPr id="13" name="Text 10"/>
          <p:cNvSpPr/>
          <p:nvPr/>
        </p:nvSpPr>
        <p:spPr>
          <a:xfrm>
            <a:off x="4754880" y="2587752"/>
            <a:ext cx="3657600" cy="256032"/>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VIRTUE OF THE DAY</a:t>
            </a:r>
            <a:endParaRPr lang="en-US" sz="1000" dirty="0"/>
          </a:p>
        </p:txBody>
      </p:sp>
      <p:sp>
        <p:nvSpPr>
          <p:cNvPr id="14" name="Text 11"/>
          <p:cNvSpPr/>
          <p:nvPr/>
        </p:nvSpPr>
        <p:spPr>
          <a:xfrm>
            <a:off x="640080" y="2898648"/>
            <a:ext cx="384048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Name the Big Six physical features of the United States</a:t>
            </a:r>
            <a:endParaRPr lang="en-US" sz="1200" dirty="0"/>
          </a:p>
        </p:txBody>
      </p:sp>
      <p:sp>
        <p:nvSpPr>
          <p:cNvPr id="15" name="Text 12"/>
          <p:cNvSpPr/>
          <p:nvPr/>
        </p:nvSpPr>
        <p:spPr>
          <a:xfrm>
            <a:off x="640080" y="3401568"/>
            <a:ext cx="384048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Use a physical map to explain how features shaped settlement and movement</a:t>
            </a:r>
            <a:endParaRPr lang="en-US" sz="1200" dirty="0"/>
          </a:p>
        </p:txBody>
      </p:sp>
      <p:sp>
        <p:nvSpPr>
          <p:cNvPr id="16" name="Text 13"/>
          <p:cNvSpPr/>
          <p:nvPr/>
        </p:nvSpPr>
        <p:spPr>
          <a:xfrm>
            <a:off x="640080" y="3904488"/>
            <a:ext cx="384048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Publish a Gazette Map Note proving physical features are historical evidence</a:t>
            </a:r>
            <a:endParaRPr lang="en-US" sz="1200" dirty="0"/>
          </a:p>
        </p:txBody>
      </p:sp>
      <p:sp>
        <p:nvSpPr>
          <p:cNvPr id="17" name="Text 14"/>
          <p:cNvSpPr/>
          <p:nvPr/>
        </p:nvSpPr>
        <p:spPr>
          <a:xfrm>
            <a:off x="4754880" y="2898648"/>
            <a:ext cx="3840480" cy="160020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RESPONSIBILITY</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A responsible editor doesn't ignore the landscape — they explain how it shaped the story.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1A8A7D"/>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CLUE BOX  ·  READ THE LAND</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Before Any Definitions — What Do You See?</a:t>
            </a:r>
            <a:endParaRPr lang="en-US" sz="2200" dirty="0"/>
          </a:p>
        </p:txBody>
      </p:sp>
      <p:sp>
        <p:nvSpPr>
          <p:cNvPr id="6" name="Shape 4"/>
          <p:cNvSpPr/>
          <p:nvPr/>
        </p:nvSpPr>
        <p:spPr>
          <a:xfrm>
            <a:off x="274320" y="1143000"/>
            <a:ext cx="5303520" cy="3474720"/>
          </a:xfrm>
          <a:prstGeom prst="roundRect">
            <a:avLst>
              <a:gd name="adj" fmla="val 3158"/>
            </a:avLst>
          </a:prstGeom>
          <a:solidFill>
            <a:srgbClr val="E2E8F4"/>
          </a:solidFill>
          <a:ln w="19050">
            <a:solidFill>
              <a:srgbClr val="B0B8CC"/>
            </a:solidFill>
            <a:prstDash val="dash"/>
          </a:ln>
        </p:spPr>
      </p:sp>
      <p:sp>
        <p:nvSpPr>
          <p:cNvPr id="7" name="Text 5"/>
          <p:cNvSpPr/>
          <p:nvPr/>
        </p:nvSpPr>
        <p:spPr>
          <a:xfrm>
            <a:off x="274320" y="1143000"/>
            <a:ext cx="5303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11480" y="1417320"/>
            <a:ext cx="502920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Physical or topographic map of the United States showing elevation, mountain ranges (Appalachians, Rockies), Mississippi River system, Great Plains, Great Lakes, and both coastlines. Elevation shading ideal. Students should see how terrain creates barriers and corridors.</a:t>
            </a:r>
            <a:endParaRPr lang="en-US" sz="1100" dirty="0"/>
          </a:p>
        </p:txBody>
      </p:sp>
      <p:sp>
        <p:nvSpPr>
          <p:cNvPr id="9" name="Shape 7"/>
          <p:cNvSpPr/>
          <p:nvPr/>
        </p:nvSpPr>
        <p:spPr>
          <a:xfrm>
            <a:off x="5760720" y="1143000"/>
            <a:ext cx="3108960" cy="1600200"/>
          </a:xfrm>
          <a:prstGeom prst="roundRect">
            <a:avLst>
              <a:gd name="adj" fmla="val 5714"/>
            </a:avLst>
          </a:prstGeom>
          <a:solidFill>
            <a:srgbClr val="FFFFFF"/>
          </a:solidFill>
          <a:ln w="19050">
            <a:solidFill>
              <a:srgbClr val="1A8A7D"/>
            </a:solidFill>
            <a:prstDash val="solid"/>
          </a:ln>
        </p:spPr>
      </p:sp>
      <p:sp>
        <p:nvSpPr>
          <p:cNvPr id="10" name="Text 8"/>
          <p:cNvSpPr/>
          <p:nvPr/>
        </p:nvSpPr>
        <p:spPr>
          <a:xfrm>
            <a:off x="5897880" y="1207008"/>
            <a:ext cx="283464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OBSERVE</a:t>
            </a:r>
            <a:endParaRPr lang="en-US" sz="900" dirty="0"/>
          </a:p>
        </p:txBody>
      </p:sp>
      <p:sp>
        <p:nvSpPr>
          <p:cNvPr id="11" name="Text 9"/>
          <p:cNvSpPr/>
          <p:nvPr/>
        </p:nvSpPr>
        <p:spPr>
          <a:xfrm>
            <a:off x="5897880" y="1463040"/>
            <a:ext cx="2834640" cy="118872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at the colors and shapes on this map.</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Where are the barriers?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Where are the corridors?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Where would YOU want to settle?</a:t>
            </a:r>
            <a:endParaRPr lang="en-US" sz="1200" dirty="0"/>
          </a:p>
        </p:txBody>
      </p:sp>
      <p:sp>
        <p:nvSpPr>
          <p:cNvPr id="12" name="Shape 10"/>
          <p:cNvSpPr/>
          <p:nvPr/>
        </p:nvSpPr>
        <p:spPr>
          <a:xfrm>
            <a:off x="5760720" y="2834640"/>
            <a:ext cx="3108960" cy="548640"/>
          </a:xfrm>
          <a:prstGeom prst="roundRect">
            <a:avLst>
              <a:gd name="adj" fmla="val 16667"/>
            </a:avLst>
          </a:prstGeom>
          <a:solidFill>
            <a:srgbClr val="1A2D5A"/>
          </a:solidFill>
          <a:ln/>
        </p:spPr>
      </p:sp>
      <p:sp>
        <p:nvSpPr>
          <p:cNvPr id="13" name="Text 11"/>
          <p:cNvSpPr/>
          <p:nvPr/>
        </p:nvSpPr>
        <p:spPr>
          <a:xfrm>
            <a:off x="5852160" y="2926080"/>
            <a:ext cx="2926080" cy="365760"/>
          </a:xfrm>
          <a:prstGeom prst="rect">
            <a:avLst/>
          </a:prstGeom>
          <a:noFill/>
          <a:ln/>
        </p:spPr>
        <p:txBody>
          <a:bodyPr wrap="square" rtlCol="0" anchor="ctr"/>
          <a:lstStyle/>
          <a:p>
            <a:pPr algn="ctr" indent="0" marL="0">
              <a:buNone/>
            </a:pPr>
            <a:r>
              <a:rPr lang="en-US" sz="1100" i="1" dirty="0">
                <a:solidFill>
                  <a:srgbClr val="55C8E8"/>
                </a:solidFill>
                <a:latin typeface="Calibri" pitchFamily="34" charset="0"/>
                <a:ea typeface="Calibri" pitchFamily="34" charset="-122"/>
                <a:cs typeface="Calibri" pitchFamily="34" charset="-120"/>
              </a:rPr>
              <a:t>5 seconds of silence — look before we talk</a:t>
            </a:r>
            <a:endParaRPr lang="en-US" sz="1100" dirty="0"/>
          </a:p>
        </p:txBody>
      </p:sp>
      <p:sp>
        <p:nvSpPr>
          <p:cNvPr id="14" name="Shape 12"/>
          <p:cNvSpPr/>
          <p:nvPr/>
        </p:nvSpPr>
        <p:spPr>
          <a:xfrm>
            <a:off x="5760720" y="3493008"/>
            <a:ext cx="3108960" cy="1325880"/>
          </a:xfrm>
          <a:prstGeom prst="roundRect">
            <a:avLst>
              <a:gd name="adj" fmla="val 8276"/>
            </a:avLst>
          </a:prstGeom>
          <a:solidFill>
            <a:srgbClr val="FFF3DC"/>
          </a:solidFill>
          <a:ln w="19050">
            <a:solidFill>
              <a:srgbClr val="F5E6C8"/>
            </a:solidFill>
            <a:prstDash val="solid"/>
          </a:ln>
        </p:spPr>
      </p:sp>
      <p:sp>
        <p:nvSpPr>
          <p:cNvPr id="15" name="Text 13"/>
          <p:cNvSpPr/>
          <p:nvPr/>
        </p:nvSpPr>
        <p:spPr>
          <a:xfrm>
            <a:off x="5897880" y="3547872"/>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97880" y="3749040"/>
            <a:ext cx="2834640" cy="1005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barriers (things blocking movement) at..."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corridors (paths for travel) near..."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settle near...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MAP ROOM  ·  THE BIG SIX PHYSICAL FEATURES</a:t>
            </a:r>
            <a:endParaRPr lang="en-US" sz="1000" dirty="0"/>
          </a:p>
        </p:txBody>
      </p:sp>
      <p:sp>
        <p:nvSpPr>
          <p:cNvPr id="5" name="Text 3"/>
          <p:cNvSpPr/>
          <p:nvPr/>
        </p:nvSpPr>
        <p:spPr>
          <a:xfrm>
            <a:off x="274320" y="594360"/>
            <a:ext cx="859536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Six Features That Shaped American History</a:t>
            </a:r>
            <a:endParaRPr lang="en-US" sz="2200" dirty="0"/>
          </a:p>
        </p:txBody>
      </p:sp>
      <p:sp>
        <p:nvSpPr>
          <p:cNvPr id="6" name="Shape 4"/>
          <p:cNvSpPr/>
          <p:nvPr/>
        </p:nvSpPr>
        <p:spPr>
          <a:xfrm>
            <a:off x="274320" y="1143000"/>
            <a:ext cx="4114800" cy="1115568"/>
          </a:xfrm>
          <a:prstGeom prst="roundRect">
            <a:avLst>
              <a:gd name="adj" fmla="val 8197"/>
            </a:avLst>
          </a:prstGeom>
          <a:solidFill>
            <a:srgbClr val="E8636B">
              <a:alpha val="75000"/>
            </a:srgbClr>
          </a:solidFill>
          <a:ln w="19050">
            <a:solidFill>
              <a:srgbClr val="E8636B"/>
            </a:solidFill>
            <a:prstDash val="solid"/>
          </a:ln>
        </p:spPr>
      </p:sp>
      <p:sp>
        <p:nvSpPr>
          <p:cNvPr id="7" name="Text 5"/>
          <p:cNvSpPr/>
          <p:nvPr/>
        </p:nvSpPr>
        <p:spPr>
          <a:xfrm>
            <a:off x="411480" y="1216152"/>
            <a:ext cx="3840480" cy="274320"/>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Appalachian Mountains</a:t>
            </a:r>
            <a:endParaRPr lang="en-US" sz="1200" dirty="0"/>
          </a:p>
        </p:txBody>
      </p:sp>
      <p:sp>
        <p:nvSpPr>
          <p:cNvPr id="8" name="Text 6"/>
          <p:cNvSpPr/>
          <p:nvPr/>
        </p:nvSpPr>
        <p:spPr>
          <a:xfrm>
            <a:off x="411480" y="1527048"/>
            <a:ext cx="3840480" cy="65836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1,500-mile wall. Kept colonists on the eastern seaboard for over a century.</a:t>
            </a:r>
            <a:endParaRPr lang="en-US" sz="1200" dirty="0"/>
          </a:p>
        </p:txBody>
      </p:sp>
      <p:sp>
        <p:nvSpPr>
          <p:cNvPr id="9" name="Shape 7"/>
          <p:cNvSpPr/>
          <p:nvPr/>
        </p:nvSpPr>
        <p:spPr>
          <a:xfrm>
            <a:off x="274320" y="2404872"/>
            <a:ext cx="4114800" cy="1115568"/>
          </a:xfrm>
          <a:prstGeom prst="roundRect">
            <a:avLst>
              <a:gd name="adj" fmla="val 8197"/>
            </a:avLst>
          </a:prstGeom>
          <a:solidFill>
            <a:srgbClr val="8B6FC0">
              <a:alpha val="75000"/>
            </a:srgbClr>
          </a:solidFill>
          <a:ln w="19050">
            <a:solidFill>
              <a:srgbClr val="8B6FC0"/>
            </a:solidFill>
            <a:prstDash val="solid"/>
          </a:ln>
        </p:spPr>
      </p:sp>
      <p:sp>
        <p:nvSpPr>
          <p:cNvPr id="10" name="Text 8"/>
          <p:cNvSpPr/>
          <p:nvPr/>
        </p:nvSpPr>
        <p:spPr>
          <a:xfrm>
            <a:off x="411480" y="2478024"/>
            <a:ext cx="3840480" cy="274320"/>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Rocky Mountains</a:t>
            </a:r>
            <a:endParaRPr lang="en-US" sz="1200" dirty="0"/>
          </a:p>
        </p:txBody>
      </p:sp>
      <p:sp>
        <p:nvSpPr>
          <p:cNvPr id="11" name="Text 9"/>
          <p:cNvSpPr/>
          <p:nvPr/>
        </p:nvSpPr>
        <p:spPr>
          <a:xfrm>
            <a:off x="411480" y="2788920"/>
            <a:ext cx="3840480" cy="65836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Continental divide — everything west drains to the Pacific.</a:t>
            </a:r>
            <a:endParaRPr lang="en-US" sz="1200" dirty="0"/>
          </a:p>
        </p:txBody>
      </p:sp>
      <p:sp>
        <p:nvSpPr>
          <p:cNvPr id="12" name="Shape 10"/>
          <p:cNvSpPr/>
          <p:nvPr/>
        </p:nvSpPr>
        <p:spPr>
          <a:xfrm>
            <a:off x="274320" y="3666744"/>
            <a:ext cx="4114800" cy="1115568"/>
          </a:xfrm>
          <a:prstGeom prst="roundRect">
            <a:avLst>
              <a:gd name="adj" fmla="val 8197"/>
            </a:avLst>
          </a:prstGeom>
          <a:solidFill>
            <a:srgbClr val="1A8A7D">
              <a:alpha val="75000"/>
            </a:srgbClr>
          </a:solidFill>
          <a:ln w="19050">
            <a:solidFill>
              <a:srgbClr val="1A8A7D"/>
            </a:solidFill>
            <a:prstDash val="solid"/>
          </a:ln>
        </p:spPr>
      </p:sp>
      <p:sp>
        <p:nvSpPr>
          <p:cNvPr id="13" name="Text 11"/>
          <p:cNvSpPr/>
          <p:nvPr/>
        </p:nvSpPr>
        <p:spPr>
          <a:xfrm>
            <a:off x="411480" y="3739896"/>
            <a:ext cx="3840480" cy="274320"/>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Mississippi River</a:t>
            </a:r>
            <a:endParaRPr lang="en-US" sz="1200" dirty="0"/>
          </a:p>
        </p:txBody>
      </p:sp>
      <p:sp>
        <p:nvSpPr>
          <p:cNvPr id="14" name="Text 12"/>
          <p:cNvSpPr/>
          <p:nvPr/>
        </p:nvSpPr>
        <p:spPr>
          <a:xfrm>
            <a:off x="411480" y="4050792"/>
            <a:ext cx="3840480" cy="65836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nation's superhighway — goods from Minnesota to the Gulf.</a:t>
            </a:r>
            <a:endParaRPr lang="en-US" sz="1200" dirty="0"/>
          </a:p>
        </p:txBody>
      </p:sp>
      <p:sp>
        <p:nvSpPr>
          <p:cNvPr id="15" name="Shape 13"/>
          <p:cNvSpPr/>
          <p:nvPr/>
        </p:nvSpPr>
        <p:spPr>
          <a:xfrm>
            <a:off x="4617720" y="1143000"/>
            <a:ext cx="4114800" cy="1115568"/>
          </a:xfrm>
          <a:prstGeom prst="roundRect">
            <a:avLst>
              <a:gd name="adj" fmla="val 8197"/>
            </a:avLst>
          </a:prstGeom>
          <a:solidFill>
            <a:srgbClr val="34B76F">
              <a:alpha val="75000"/>
            </a:srgbClr>
          </a:solidFill>
          <a:ln w="19050">
            <a:solidFill>
              <a:srgbClr val="34B76F"/>
            </a:solidFill>
            <a:prstDash val="solid"/>
          </a:ln>
        </p:spPr>
      </p:sp>
      <p:sp>
        <p:nvSpPr>
          <p:cNvPr id="16" name="Text 14"/>
          <p:cNvSpPr/>
          <p:nvPr/>
        </p:nvSpPr>
        <p:spPr>
          <a:xfrm>
            <a:off x="4754880" y="1216152"/>
            <a:ext cx="3840480" cy="274320"/>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Great Plains</a:t>
            </a:r>
            <a:endParaRPr lang="en-US" sz="1200" dirty="0"/>
          </a:p>
        </p:txBody>
      </p:sp>
      <p:sp>
        <p:nvSpPr>
          <p:cNvPr id="17" name="Text 15"/>
          <p:cNvSpPr/>
          <p:nvPr/>
        </p:nvSpPr>
        <p:spPr>
          <a:xfrm>
            <a:off x="4754880" y="1527048"/>
            <a:ext cx="3840480" cy="65836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Flat, fertile grassland — drew millions of settlers westward.</a:t>
            </a:r>
            <a:endParaRPr lang="en-US" sz="1200" dirty="0"/>
          </a:p>
        </p:txBody>
      </p:sp>
      <p:sp>
        <p:nvSpPr>
          <p:cNvPr id="18" name="Shape 16"/>
          <p:cNvSpPr/>
          <p:nvPr/>
        </p:nvSpPr>
        <p:spPr>
          <a:xfrm>
            <a:off x="4617720" y="2404872"/>
            <a:ext cx="4114800" cy="1115568"/>
          </a:xfrm>
          <a:prstGeom prst="roundRect">
            <a:avLst>
              <a:gd name="adj" fmla="val 8197"/>
            </a:avLst>
          </a:prstGeom>
          <a:solidFill>
            <a:srgbClr val="55C8E8">
              <a:alpha val="75000"/>
            </a:srgbClr>
          </a:solidFill>
          <a:ln w="19050">
            <a:solidFill>
              <a:srgbClr val="55C8E8"/>
            </a:solidFill>
            <a:prstDash val="solid"/>
          </a:ln>
        </p:spPr>
      </p:sp>
      <p:sp>
        <p:nvSpPr>
          <p:cNvPr id="19" name="Text 17"/>
          <p:cNvSpPr/>
          <p:nvPr/>
        </p:nvSpPr>
        <p:spPr>
          <a:xfrm>
            <a:off x="4754880" y="2478024"/>
            <a:ext cx="3840480" cy="274320"/>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Great Lakes</a:t>
            </a:r>
            <a:endParaRPr lang="en-US" sz="1200" dirty="0"/>
          </a:p>
        </p:txBody>
      </p:sp>
      <p:sp>
        <p:nvSpPr>
          <p:cNvPr id="20" name="Text 18"/>
          <p:cNvSpPr/>
          <p:nvPr/>
        </p:nvSpPr>
        <p:spPr>
          <a:xfrm>
            <a:off x="4754880" y="2788920"/>
            <a:ext cx="3840480" cy="65836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Five connected lakes — made the Midwest a trade and transport hub.</a:t>
            </a:r>
            <a:endParaRPr lang="en-US" sz="1200" dirty="0"/>
          </a:p>
        </p:txBody>
      </p:sp>
      <p:sp>
        <p:nvSpPr>
          <p:cNvPr id="21" name="Shape 19"/>
          <p:cNvSpPr/>
          <p:nvPr/>
        </p:nvSpPr>
        <p:spPr>
          <a:xfrm>
            <a:off x="4617720" y="3666744"/>
            <a:ext cx="4114800" cy="1115568"/>
          </a:xfrm>
          <a:prstGeom prst="roundRect">
            <a:avLst>
              <a:gd name="adj" fmla="val 8197"/>
            </a:avLst>
          </a:prstGeom>
          <a:solidFill>
            <a:srgbClr val="D4943A">
              <a:alpha val="75000"/>
            </a:srgbClr>
          </a:solidFill>
          <a:ln w="19050">
            <a:solidFill>
              <a:srgbClr val="D4943A"/>
            </a:solidFill>
            <a:prstDash val="solid"/>
          </a:ln>
        </p:spPr>
      </p:sp>
      <p:sp>
        <p:nvSpPr>
          <p:cNvPr id="22" name="Text 20"/>
          <p:cNvSpPr/>
          <p:nvPr/>
        </p:nvSpPr>
        <p:spPr>
          <a:xfrm>
            <a:off x="4754880" y="3739896"/>
            <a:ext cx="3840480" cy="274320"/>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Coastlines (Atlantic + Pacific)</a:t>
            </a:r>
            <a:endParaRPr lang="en-US" sz="1200" dirty="0"/>
          </a:p>
        </p:txBody>
      </p:sp>
      <p:sp>
        <p:nvSpPr>
          <p:cNvPr id="23" name="Text 21"/>
          <p:cNvSpPr/>
          <p:nvPr/>
        </p:nvSpPr>
        <p:spPr>
          <a:xfrm>
            <a:off x="4754880" y="4050792"/>
            <a:ext cx="3840480" cy="65836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Starting and finishing lines of American expansion.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DISCUSSION  ·  BARRIERS AND CORRIDORS</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Did Mountains Block? What Did Rivers Open?</a:t>
            </a:r>
            <a:endParaRPr lang="en-US" sz="2200" dirty="0"/>
          </a:p>
        </p:txBody>
      </p:sp>
      <p:sp>
        <p:nvSpPr>
          <p:cNvPr id="6" name="Shape 4"/>
          <p:cNvSpPr/>
          <p:nvPr/>
        </p:nvSpPr>
        <p:spPr>
          <a:xfrm>
            <a:off x="274320" y="1188720"/>
            <a:ext cx="3931920" cy="1188720"/>
          </a:xfrm>
          <a:prstGeom prst="roundRect">
            <a:avLst>
              <a:gd name="adj" fmla="val 7692"/>
            </a:avLst>
          </a:prstGeom>
          <a:solidFill>
            <a:srgbClr val="E8636B">
              <a:alpha val="80000"/>
            </a:srgbClr>
          </a:solidFill>
          <a:ln w="19050">
            <a:solidFill>
              <a:srgbClr val="E8636B"/>
            </a:solidFill>
            <a:prstDash val="solid"/>
          </a:ln>
        </p:spPr>
      </p:sp>
      <p:sp>
        <p:nvSpPr>
          <p:cNvPr id="7" name="Text 5"/>
          <p:cNvSpPr/>
          <p:nvPr/>
        </p:nvSpPr>
        <p:spPr>
          <a:xfrm>
            <a:off x="457200" y="1261872"/>
            <a:ext cx="3566160" cy="256032"/>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BARRIERS (Mountains)</a:t>
            </a:r>
            <a:endParaRPr lang="en-US" sz="1000" dirty="0"/>
          </a:p>
        </p:txBody>
      </p:sp>
      <p:sp>
        <p:nvSpPr>
          <p:cNvPr id="8" name="Text 6"/>
          <p:cNvSpPr/>
          <p:nvPr/>
        </p:nvSpPr>
        <p:spPr>
          <a:xfrm>
            <a:off x="457200" y="1554480"/>
            <a:ext cx="3566160" cy="731520"/>
          </a:xfrm>
          <a:prstGeom prst="rect">
            <a:avLst/>
          </a:prstGeom>
          <a:noFill/>
          <a:ln/>
        </p:spPr>
        <p:txBody>
          <a:bodyPr wrap="square" rtlCol="0" anchor="t"/>
          <a:lstStyle/>
          <a:p>
            <a:pPr indent="0" marL="0">
              <a:buNone/>
            </a:pPr>
            <a:r>
              <a:rPr lang="en-US" sz="1200" dirty="0">
                <a:solidFill>
                  <a:srgbClr val="5A4A3A"/>
                </a:solidFill>
                <a:latin typeface="Calibri" pitchFamily="34" charset="0"/>
                <a:ea typeface="Calibri" pitchFamily="34" charset="-122"/>
                <a:cs typeface="Calibri" pitchFamily="34" charset="-120"/>
              </a:rPr>
              <a:t>Appalachians kept colonies east of the mountains for 100+ years.</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Expensive and dangerous to cross with wagons.</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Shaped WHERE colonies grew.</a:t>
            </a:r>
            <a:endParaRPr lang="en-US" sz="1200" dirty="0"/>
          </a:p>
        </p:txBody>
      </p:sp>
      <p:sp>
        <p:nvSpPr>
          <p:cNvPr id="9" name="Shape 7"/>
          <p:cNvSpPr/>
          <p:nvPr/>
        </p:nvSpPr>
        <p:spPr>
          <a:xfrm>
            <a:off x="4572000" y="1188720"/>
            <a:ext cx="4114800" cy="1188720"/>
          </a:xfrm>
          <a:prstGeom prst="roundRect">
            <a:avLst>
              <a:gd name="adj" fmla="val 7692"/>
            </a:avLst>
          </a:prstGeom>
          <a:solidFill>
            <a:srgbClr val="34B76F">
              <a:alpha val="80000"/>
            </a:srgbClr>
          </a:solidFill>
          <a:ln w="19050">
            <a:solidFill>
              <a:srgbClr val="34B76F"/>
            </a:solidFill>
            <a:prstDash val="solid"/>
          </a:ln>
        </p:spPr>
      </p:sp>
      <p:sp>
        <p:nvSpPr>
          <p:cNvPr id="10" name="Text 8"/>
          <p:cNvSpPr/>
          <p:nvPr/>
        </p:nvSpPr>
        <p:spPr>
          <a:xfrm>
            <a:off x="4754880" y="1261872"/>
            <a:ext cx="3749040" cy="256032"/>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CORRIDORS (Rivers)</a:t>
            </a:r>
            <a:endParaRPr lang="en-US" sz="1000" dirty="0"/>
          </a:p>
        </p:txBody>
      </p:sp>
      <p:sp>
        <p:nvSpPr>
          <p:cNvPr id="11" name="Text 9"/>
          <p:cNvSpPr/>
          <p:nvPr/>
        </p:nvSpPr>
        <p:spPr>
          <a:xfrm>
            <a:off x="4754880" y="1554480"/>
            <a:ext cx="3749040" cy="731520"/>
          </a:xfrm>
          <a:prstGeom prst="rect">
            <a:avLst/>
          </a:prstGeom>
          <a:noFill/>
          <a:ln/>
        </p:spPr>
        <p:txBody>
          <a:bodyPr wrap="square" rtlCol="0" anchor="t"/>
          <a:lstStyle/>
          <a:p>
            <a:pPr indent="0" marL="0">
              <a:buNone/>
            </a:pPr>
            <a:r>
              <a:rPr lang="en-US" sz="1200" dirty="0">
                <a:solidFill>
                  <a:srgbClr val="5A4A3A"/>
                </a:solidFill>
                <a:latin typeface="Calibri" pitchFamily="34" charset="0"/>
                <a:ea typeface="Calibri" pitchFamily="34" charset="-122"/>
                <a:cs typeface="Calibri" pitchFamily="34" charset="-120"/>
              </a:rPr>
              <a:t>Mississippi carried goods faster/cheaper than overland roads.</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River towns boomed as trade hubs.</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Shaped HOW people moved and traded.</a:t>
            </a:r>
            <a:endParaRPr lang="en-US" sz="1200" dirty="0"/>
          </a:p>
        </p:txBody>
      </p:sp>
      <p:sp>
        <p:nvSpPr>
          <p:cNvPr id="12" name="Shape 10"/>
          <p:cNvSpPr/>
          <p:nvPr/>
        </p:nvSpPr>
        <p:spPr>
          <a:xfrm>
            <a:off x="274320" y="2514600"/>
            <a:ext cx="4297680" cy="2286000"/>
          </a:xfrm>
          <a:prstGeom prst="roundRect">
            <a:avLst>
              <a:gd name="adj" fmla="val 4800"/>
            </a:avLst>
          </a:prstGeom>
          <a:solidFill>
            <a:srgbClr val="1A2D5A"/>
          </a:solidFill>
          <a:ln w="12700">
            <a:solidFill>
              <a:srgbClr val="2A4070"/>
            </a:solidFill>
            <a:prstDash val="solid"/>
          </a:ln>
        </p:spPr>
      </p:sp>
      <p:sp>
        <p:nvSpPr>
          <p:cNvPr id="13" name="Text 11"/>
          <p:cNvSpPr/>
          <p:nvPr/>
        </p:nvSpPr>
        <p:spPr>
          <a:xfrm>
            <a:off x="411480" y="2569464"/>
            <a:ext cx="40233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457200" y="2834640"/>
            <a:ext cx="3931920" cy="18745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did settlements cluster near rivers and coastlines instead of mountains?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evidence is stronger: the barrier effect of mountains or the corridor effect of rivers? Defend your choice.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someone argue settlers had REASONS to avoid rivers? What would they say?</a:t>
            </a:r>
            <a:endParaRPr lang="en-US" sz="1100" dirty="0"/>
          </a:p>
        </p:txBody>
      </p:sp>
      <p:sp>
        <p:nvSpPr>
          <p:cNvPr id="15" name="Shape 13"/>
          <p:cNvSpPr/>
          <p:nvPr/>
        </p:nvSpPr>
        <p:spPr>
          <a:xfrm>
            <a:off x="4754880" y="2514600"/>
            <a:ext cx="4114800" cy="2286000"/>
          </a:xfrm>
          <a:prstGeom prst="roundRect">
            <a:avLst>
              <a:gd name="adj" fmla="val 4800"/>
            </a:avLst>
          </a:prstGeom>
          <a:solidFill>
            <a:srgbClr val="FFF3DC"/>
          </a:solidFill>
          <a:ln w="19050">
            <a:solidFill>
              <a:srgbClr val="F5E6C8"/>
            </a:solidFill>
            <a:prstDash val="solid"/>
          </a:ln>
        </p:spPr>
      </p:sp>
      <p:sp>
        <p:nvSpPr>
          <p:cNvPr id="16" name="Text 14"/>
          <p:cNvSpPr/>
          <p:nvPr/>
        </p:nvSpPr>
        <p:spPr>
          <a:xfrm>
            <a:off x="4892040" y="256946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892040" y="2770632"/>
            <a:ext cx="384048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"Settlements were near water because... The evidence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"Mountains acted as barriers by... which meant settlers..."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stronger evidence is... because..."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000" b="1" spc="100" kern="0" dirty="0">
                <a:solidFill>
                  <a:srgbClr val="0E1C42"/>
                </a:solidFill>
                <a:latin typeface="Cambria" pitchFamily="34" charset="0"/>
                <a:ea typeface="Cambria" pitchFamily="34" charset="-122"/>
                <a:cs typeface="Cambria" pitchFamily="34" charset="-120"/>
              </a:rPr>
              <a:t>MAP ROOM REVEAL  ·  WHAT JUNIOR EDITORS DISCOVERED</a:t>
            </a:r>
            <a:endParaRPr lang="en-US" sz="1000" dirty="0"/>
          </a:p>
        </p:txBody>
      </p:sp>
      <p:sp>
        <p:nvSpPr>
          <p:cNvPr id="7" name="Text 4"/>
          <p:cNvSpPr/>
          <p:nvPr/>
        </p:nvSpPr>
        <p:spPr>
          <a:xfrm>
            <a:off x="457200" y="658368"/>
            <a:ext cx="8229600" cy="594360"/>
          </a:xfrm>
          <a:prstGeom prst="rect">
            <a:avLst/>
          </a:prstGeom>
          <a:noFill/>
          <a:ln/>
        </p:spPr>
        <p:txBody>
          <a:bodyPr wrap="square"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PHYSICAL FEATURES ARE HISTORICAL EVIDENCE</a:t>
            </a:r>
            <a:endParaRPr lang="en-US" sz="3000" dirty="0"/>
          </a:p>
        </p:txBody>
      </p:sp>
      <p:sp>
        <p:nvSpPr>
          <p:cNvPr id="8" name="Text 5"/>
          <p:cNvSpPr/>
          <p:nvPr/>
        </p:nvSpPr>
        <p:spPr>
          <a:xfrm>
            <a:off x="457200" y="1298448"/>
            <a:ext cx="8229600" cy="347472"/>
          </a:xfrm>
          <a:prstGeom prst="rect">
            <a:avLst/>
          </a:prstGeom>
          <a:noFill/>
          <a:ln/>
        </p:spPr>
        <p:txBody>
          <a:bodyPr wrap="square" rtlCol="0" anchor="ctr"/>
          <a:lstStyle/>
          <a:p>
            <a:pPr algn="ctr" indent="0" marL="0">
              <a:buNone/>
            </a:pPr>
            <a:r>
              <a:rPr lang="en-US" sz="1600" i="1" dirty="0">
                <a:solidFill>
                  <a:srgbClr val="55C8E8"/>
                </a:solidFill>
                <a:latin typeface="Cambria" pitchFamily="34" charset="0"/>
                <a:ea typeface="Cambria" pitchFamily="34" charset="-122"/>
                <a:cs typeface="Cambria" pitchFamily="34" charset="-120"/>
              </a:rPr>
              <a:t>Not scenery. Not decoration. Evidence that explains choices.</a:t>
            </a:r>
            <a:endParaRPr lang="en-US" sz="1600" dirty="0"/>
          </a:p>
        </p:txBody>
      </p:sp>
      <p:sp>
        <p:nvSpPr>
          <p:cNvPr id="9" name="Shape 6"/>
          <p:cNvSpPr/>
          <p:nvPr/>
        </p:nvSpPr>
        <p:spPr>
          <a:xfrm>
            <a:off x="274320" y="1828800"/>
            <a:ext cx="2743200" cy="2514600"/>
          </a:xfrm>
          <a:prstGeom prst="roundRect">
            <a:avLst>
              <a:gd name="adj" fmla="val 4364"/>
            </a:avLst>
          </a:prstGeom>
          <a:solidFill>
            <a:srgbClr val="1A2D5A"/>
          </a:solidFill>
          <a:ln w="19050">
            <a:solidFill>
              <a:srgbClr val="D4943A"/>
            </a:solidFill>
            <a:prstDash val="solid"/>
          </a:ln>
        </p:spPr>
      </p:sp>
      <p:sp>
        <p:nvSpPr>
          <p:cNvPr id="10" name="Text 7"/>
          <p:cNvSpPr/>
          <p:nvPr/>
        </p:nvSpPr>
        <p:spPr>
          <a:xfrm>
            <a:off x="411480" y="1901952"/>
            <a:ext cx="2468880" cy="320040"/>
          </a:xfrm>
          <a:prstGeom prst="rect">
            <a:avLst/>
          </a:prstGeom>
          <a:noFill/>
          <a:ln/>
        </p:spPr>
        <p:txBody>
          <a:bodyPr wrap="square" rtlCol="0" anchor="ctr"/>
          <a:lstStyle/>
          <a:p>
            <a:pPr algn="ctr" indent="0" marL="0">
              <a:buNone/>
            </a:pPr>
            <a:r>
              <a:rPr lang="en-US" sz="1300" b="1" dirty="0">
                <a:solidFill>
                  <a:srgbClr val="D4943A"/>
                </a:solidFill>
                <a:latin typeface="Cambria" pitchFamily="34" charset="0"/>
                <a:ea typeface="Cambria" pitchFamily="34" charset="-122"/>
                <a:cs typeface="Cambria" pitchFamily="34" charset="-120"/>
              </a:rPr>
              <a:t>Appalachians BLOCKED</a:t>
            </a:r>
            <a:endParaRPr lang="en-US" sz="1300" dirty="0"/>
          </a:p>
        </p:txBody>
      </p:sp>
      <p:sp>
        <p:nvSpPr>
          <p:cNvPr id="11" name="Text 8"/>
          <p:cNvSpPr/>
          <p:nvPr/>
        </p:nvSpPr>
        <p:spPr>
          <a:xfrm>
            <a:off x="411480" y="2267712"/>
            <a:ext cx="2468880" cy="192024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colonists east of the mountains for 100+ years — that barrier shaped the entire colonial economy.</a:t>
            </a:r>
            <a:endParaRPr lang="en-US" sz="1200" dirty="0"/>
          </a:p>
        </p:txBody>
      </p:sp>
      <p:sp>
        <p:nvSpPr>
          <p:cNvPr id="12" name="Shape 9"/>
          <p:cNvSpPr/>
          <p:nvPr/>
        </p:nvSpPr>
        <p:spPr>
          <a:xfrm>
            <a:off x="3200400" y="1828800"/>
            <a:ext cx="2743200" cy="2514600"/>
          </a:xfrm>
          <a:prstGeom prst="roundRect">
            <a:avLst>
              <a:gd name="adj" fmla="val 4364"/>
            </a:avLst>
          </a:prstGeom>
          <a:solidFill>
            <a:srgbClr val="1A2D5A"/>
          </a:solidFill>
          <a:ln w="19050">
            <a:solidFill>
              <a:srgbClr val="D4943A"/>
            </a:solidFill>
            <a:prstDash val="solid"/>
          </a:ln>
        </p:spPr>
      </p:sp>
      <p:sp>
        <p:nvSpPr>
          <p:cNvPr id="13" name="Text 10"/>
          <p:cNvSpPr/>
          <p:nvPr/>
        </p:nvSpPr>
        <p:spPr>
          <a:xfrm>
            <a:off x="3337560" y="1901952"/>
            <a:ext cx="2468880" cy="320040"/>
          </a:xfrm>
          <a:prstGeom prst="rect">
            <a:avLst/>
          </a:prstGeom>
          <a:noFill/>
          <a:ln/>
        </p:spPr>
        <p:txBody>
          <a:bodyPr wrap="square" rtlCol="0" anchor="ctr"/>
          <a:lstStyle/>
          <a:p>
            <a:pPr algn="ctr" indent="0" marL="0">
              <a:buNone/>
            </a:pPr>
            <a:r>
              <a:rPr lang="en-US" sz="1300" b="1" dirty="0">
                <a:solidFill>
                  <a:srgbClr val="D4943A"/>
                </a:solidFill>
                <a:latin typeface="Cambria" pitchFamily="34" charset="0"/>
                <a:ea typeface="Cambria" pitchFamily="34" charset="-122"/>
                <a:cs typeface="Cambria" pitchFamily="34" charset="-120"/>
              </a:rPr>
              <a:t>Mississippi CONNECTED</a:t>
            </a:r>
            <a:endParaRPr lang="en-US" sz="1300" dirty="0"/>
          </a:p>
        </p:txBody>
      </p:sp>
      <p:sp>
        <p:nvSpPr>
          <p:cNvPr id="14" name="Text 11"/>
          <p:cNvSpPr/>
          <p:nvPr/>
        </p:nvSpPr>
        <p:spPr>
          <a:xfrm>
            <a:off x="3337560" y="2267712"/>
            <a:ext cx="2468880" cy="192024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settlements from Minnesota to the Gulf — river towns boomed because water was the fastest highway.</a:t>
            </a:r>
            <a:endParaRPr lang="en-US" sz="1200" dirty="0"/>
          </a:p>
        </p:txBody>
      </p:sp>
      <p:sp>
        <p:nvSpPr>
          <p:cNvPr id="15" name="Shape 12"/>
          <p:cNvSpPr/>
          <p:nvPr/>
        </p:nvSpPr>
        <p:spPr>
          <a:xfrm>
            <a:off x="6126480" y="1828800"/>
            <a:ext cx="2743200" cy="2514600"/>
          </a:xfrm>
          <a:prstGeom prst="roundRect">
            <a:avLst>
              <a:gd name="adj" fmla="val 4364"/>
            </a:avLst>
          </a:prstGeom>
          <a:solidFill>
            <a:srgbClr val="1A2D5A"/>
          </a:solidFill>
          <a:ln w="19050">
            <a:solidFill>
              <a:srgbClr val="D4943A"/>
            </a:solidFill>
            <a:prstDash val="solid"/>
          </a:ln>
        </p:spPr>
      </p:sp>
      <p:sp>
        <p:nvSpPr>
          <p:cNvPr id="16" name="Text 13"/>
          <p:cNvSpPr/>
          <p:nvPr/>
        </p:nvSpPr>
        <p:spPr>
          <a:xfrm>
            <a:off x="6263640" y="1901952"/>
            <a:ext cx="2468880" cy="320040"/>
          </a:xfrm>
          <a:prstGeom prst="rect">
            <a:avLst/>
          </a:prstGeom>
          <a:noFill/>
          <a:ln/>
        </p:spPr>
        <p:txBody>
          <a:bodyPr wrap="square" rtlCol="0" anchor="ctr"/>
          <a:lstStyle/>
          <a:p>
            <a:pPr algn="ctr" indent="0" marL="0">
              <a:buNone/>
            </a:pPr>
            <a:r>
              <a:rPr lang="en-US" sz="1300" b="1" dirty="0">
                <a:solidFill>
                  <a:srgbClr val="D4943A"/>
                </a:solidFill>
                <a:latin typeface="Cambria" pitchFamily="34" charset="0"/>
                <a:ea typeface="Cambria" pitchFamily="34" charset="-122"/>
                <a:cs typeface="Cambria" pitchFamily="34" charset="-120"/>
              </a:rPr>
              <a:t>Plains INVITED</a:t>
            </a:r>
            <a:endParaRPr lang="en-US" sz="1300" dirty="0"/>
          </a:p>
        </p:txBody>
      </p:sp>
      <p:sp>
        <p:nvSpPr>
          <p:cNvPr id="17" name="Text 14"/>
          <p:cNvSpPr/>
          <p:nvPr/>
        </p:nvSpPr>
        <p:spPr>
          <a:xfrm>
            <a:off x="6263640" y="2267712"/>
            <a:ext cx="2468880" cy="192024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millions of settlers westward — flat, fertile land was exactly what 19th-century farmers needed.</a:t>
            </a:r>
            <a:endParaRPr lang="en-US" sz="1200" dirty="0"/>
          </a:p>
        </p:txBody>
      </p:sp>
      <p:sp>
        <p:nvSpPr>
          <p:cNvPr id="18" name="Shape 15"/>
          <p:cNvSpPr/>
          <p:nvPr/>
        </p:nvSpPr>
        <p:spPr>
          <a:xfrm>
            <a:off x="1371600" y="4480560"/>
            <a:ext cx="6400800" cy="384048"/>
          </a:xfrm>
          <a:prstGeom prst="roundRect">
            <a:avLst>
              <a:gd name="adj" fmla="val 23810"/>
            </a:avLst>
          </a:prstGeom>
          <a:solidFill>
            <a:srgbClr val="D4943A">
              <a:alpha val="80000"/>
            </a:srgbClr>
          </a:solidFill>
          <a:ln w="12700">
            <a:solidFill>
              <a:srgbClr val="D4943A"/>
            </a:solidFill>
            <a:prstDash val="solid"/>
          </a:ln>
        </p:spPr>
      </p:sp>
      <p:sp>
        <p:nvSpPr>
          <p:cNvPr id="19" name="Text 16"/>
          <p:cNvSpPr/>
          <p:nvPr/>
        </p:nvSpPr>
        <p:spPr>
          <a:xfrm>
            <a:off x="1508760" y="4507992"/>
            <a:ext cx="6126480" cy="329184"/>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RETRIEVAL: Cover your screen. Name all Big Six features from memory. What did each one do to American history?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8B6FC0"/>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COMPARE THE SOURCES  ·  TWO VIEWS OF THE SAME LANDSCAPE</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Two Editors, Same Physical Map — Different Questions</a:t>
            </a:r>
            <a:endParaRPr lang="en-US" sz="2200" dirty="0"/>
          </a:p>
        </p:txBody>
      </p:sp>
      <p:sp>
        <p:nvSpPr>
          <p:cNvPr id="6" name="Shape 4"/>
          <p:cNvSpPr/>
          <p:nvPr/>
        </p:nvSpPr>
        <p:spPr>
          <a:xfrm>
            <a:off x="274320" y="1143000"/>
            <a:ext cx="3931920" cy="3474720"/>
          </a:xfrm>
          <a:prstGeom prst="roundRect">
            <a:avLst>
              <a:gd name="adj" fmla="val 3158"/>
            </a:avLst>
          </a:prstGeom>
          <a:solidFill>
            <a:srgbClr val="E2E8F4"/>
          </a:solidFill>
          <a:ln w="19050">
            <a:solidFill>
              <a:srgbClr val="B0B8CC"/>
            </a:solidFill>
            <a:prstDash val="dash"/>
          </a:ln>
        </p:spPr>
      </p:sp>
      <p:sp>
        <p:nvSpPr>
          <p:cNvPr id="7" name="Text 5"/>
          <p:cNvSpPr/>
          <p:nvPr/>
        </p:nvSpPr>
        <p:spPr>
          <a:xfrm>
            <a:off x="274320" y="114300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11480" y="1417320"/>
            <a:ext cx="365760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Physical map of eastern United States showing Appalachian Mountains, major rivers, and colonial settlement locations — one half labeled 'Herald View' (just landscape features, no historical context)</a:t>
            </a:r>
            <a:endParaRPr lang="en-US" sz="1100" dirty="0"/>
          </a:p>
        </p:txBody>
      </p:sp>
      <p:sp>
        <p:nvSpPr>
          <p:cNvPr id="9" name="Shape 7"/>
          <p:cNvSpPr/>
          <p:nvPr/>
        </p:nvSpPr>
        <p:spPr>
          <a:xfrm>
            <a:off x="4663440" y="1143000"/>
            <a:ext cx="3931920" cy="3474720"/>
          </a:xfrm>
          <a:prstGeom prst="roundRect">
            <a:avLst>
              <a:gd name="adj" fmla="val 3158"/>
            </a:avLst>
          </a:prstGeom>
          <a:solidFill>
            <a:srgbClr val="E2E8F4"/>
          </a:solidFill>
          <a:ln w="19050">
            <a:solidFill>
              <a:srgbClr val="B0B8CC"/>
            </a:solidFill>
            <a:prstDash val="dash"/>
          </a:ln>
        </p:spPr>
      </p:sp>
      <p:sp>
        <p:nvSpPr>
          <p:cNvPr id="10" name="Text 8"/>
          <p:cNvSpPr/>
          <p:nvPr/>
        </p:nvSpPr>
        <p:spPr>
          <a:xfrm>
            <a:off x="4663440" y="114300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4800600" y="1417320"/>
            <a:ext cx="365760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physical map with historical annotations — arrows showing blocked westward movement at Appalachians, trade route arrows along Mississippi, settlement dots near rivers and coasts — labeled 'Gazette View'</a:t>
            </a:r>
            <a:endParaRPr lang="en-US" sz="1100" dirty="0"/>
          </a:p>
        </p:txBody>
      </p:sp>
      <p:sp>
        <p:nvSpPr>
          <p:cNvPr id="12" name="Text 10"/>
          <p:cNvSpPr/>
          <p:nvPr/>
        </p:nvSpPr>
        <p:spPr>
          <a:xfrm>
            <a:off x="274320" y="4681728"/>
            <a:ext cx="3931920" cy="292608"/>
          </a:xfrm>
          <a:prstGeom prst="rect">
            <a:avLst/>
          </a:prstGeom>
          <a:noFill/>
          <a:ln/>
        </p:spPr>
        <p:txBody>
          <a:bodyPr wrap="square" rtlCol="0" anchor="ctr"/>
          <a:lstStyle/>
          <a:p>
            <a:pPr algn="ctr" indent="0" marL="0">
              <a:buNone/>
            </a:pPr>
            <a:r>
              <a:rPr lang="en-US" sz="1100" i="1" dirty="0">
                <a:solidFill>
                  <a:srgbClr val="E8636B"/>
                </a:solidFill>
                <a:latin typeface="Calibri" pitchFamily="34" charset="0"/>
                <a:ea typeface="Calibri" pitchFamily="34" charset="-122"/>
                <a:cs typeface="Calibri" pitchFamily="34" charset="-120"/>
              </a:rPr>
              <a:t>HERALD VIEW: The Appalachians are 1,500 miles long. The Mississippi is wide.</a:t>
            </a:r>
            <a:endParaRPr lang="en-US" sz="1100" dirty="0"/>
          </a:p>
        </p:txBody>
      </p:sp>
      <p:sp>
        <p:nvSpPr>
          <p:cNvPr id="13" name="Text 11"/>
          <p:cNvSpPr/>
          <p:nvPr/>
        </p:nvSpPr>
        <p:spPr>
          <a:xfrm>
            <a:off x="4663440" y="4681728"/>
            <a:ext cx="3931920" cy="292608"/>
          </a:xfrm>
          <a:prstGeom prst="rect">
            <a:avLst/>
          </a:prstGeom>
          <a:noFill/>
          <a:ln/>
        </p:spPr>
        <p:txBody>
          <a:bodyPr wrap="square" rtlCol="0" anchor="ctr"/>
          <a:lstStyle/>
          <a:p>
            <a:pPr algn="ctr" indent="0" marL="0">
              <a:buNone/>
            </a:pPr>
            <a:r>
              <a:rPr lang="en-US" sz="1100" i="1" dirty="0">
                <a:solidFill>
                  <a:srgbClr val="1A8A7D"/>
                </a:solidFill>
                <a:latin typeface="Calibri" pitchFamily="34" charset="0"/>
                <a:ea typeface="Calibri" pitchFamily="34" charset="-122"/>
                <a:cs typeface="Calibri" pitchFamily="34" charset="-120"/>
              </a:rPr>
              <a:t>GAZETTE VIEW: The Appalachians blocked westward movement for 100 years. The Mississippi built river economies.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D4943A"/>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0E1C42"/>
                </a:solidFill>
                <a:latin typeface="Calibri" pitchFamily="34" charset="0"/>
                <a:ea typeface="Calibri" pitchFamily="34" charset="-122"/>
                <a:cs typeface="Calibri" pitchFamily="34" charset="-120"/>
              </a:rPr>
              <a:t>EDITOR'S NOTEBOOK  ·  QUESTION 1 SCAFFOLD</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Build Your Answer — Two Features, Two Impacts</a:t>
            </a:r>
            <a:endParaRPr lang="en-US" sz="2200" dirty="0"/>
          </a:p>
        </p:txBody>
      </p:sp>
      <p:sp>
        <p:nvSpPr>
          <p:cNvPr id="6" name="Shape 4"/>
          <p:cNvSpPr/>
          <p:nvPr/>
        </p:nvSpPr>
        <p:spPr>
          <a:xfrm>
            <a:off x="274320" y="1188720"/>
            <a:ext cx="8595360" cy="914400"/>
          </a:xfrm>
          <a:prstGeom prst="roundRect">
            <a:avLst>
              <a:gd name="adj" fmla="val 12000"/>
            </a:avLst>
          </a:prstGeom>
          <a:solidFill>
            <a:srgbClr val="FFFFFF"/>
          </a:solidFill>
          <a:ln w="25400">
            <a:solidFill>
              <a:srgbClr val="D4943A"/>
            </a:solidFill>
            <a:prstDash val="solid"/>
          </a:ln>
        </p:spPr>
      </p:sp>
      <p:sp>
        <p:nvSpPr>
          <p:cNvPr id="7" name="Text 5"/>
          <p:cNvSpPr/>
          <p:nvPr/>
        </p:nvSpPr>
        <p:spPr>
          <a:xfrm>
            <a:off x="457200" y="1261872"/>
            <a:ext cx="8229600" cy="25603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NOTEBOOK QUESTION 1:</a:t>
            </a:r>
            <a:endParaRPr lang="en-US" sz="1000" dirty="0"/>
          </a:p>
        </p:txBody>
      </p:sp>
      <p:sp>
        <p:nvSpPr>
          <p:cNvPr id="8" name="Text 6"/>
          <p:cNvSpPr/>
          <p:nvPr/>
        </p:nvSpPr>
        <p:spPr>
          <a:xfrm>
            <a:off x="457200" y="1536192"/>
            <a:ext cx="8229600" cy="502920"/>
          </a:xfrm>
          <a:prstGeom prst="rect">
            <a:avLst/>
          </a:prstGeom>
          <a:noFill/>
          <a:ln/>
        </p:spPr>
        <p:txBody>
          <a:bodyPr wrap="square"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"Name two major physical features of the United States and explain one way each feature shaped where people settled or how they traveled."</a:t>
            </a:r>
            <a:endParaRPr lang="en-US" sz="1400" dirty="0"/>
          </a:p>
        </p:txBody>
      </p:sp>
      <p:sp>
        <p:nvSpPr>
          <p:cNvPr id="9" name="Shape 7"/>
          <p:cNvSpPr/>
          <p:nvPr/>
        </p:nvSpPr>
        <p:spPr>
          <a:xfrm>
            <a:off x="274320" y="2240280"/>
            <a:ext cx="4206240" cy="2606040"/>
          </a:xfrm>
          <a:prstGeom prst="roundRect">
            <a:avLst>
              <a:gd name="adj" fmla="val 3509"/>
            </a:avLst>
          </a:prstGeom>
          <a:solidFill>
            <a:srgbClr val="FFFFFF"/>
          </a:solidFill>
          <a:ln w="19050">
            <a:solidFill>
              <a:srgbClr val="1A8A7D"/>
            </a:solidFill>
            <a:prstDash val="solid"/>
          </a:ln>
        </p:spPr>
      </p:sp>
      <p:sp>
        <p:nvSpPr>
          <p:cNvPr id="10" name="Text 8"/>
          <p:cNvSpPr/>
          <p:nvPr/>
        </p:nvSpPr>
        <p:spPr>
          <a:xfrm>
            <a:off x="457200" y="2313432"/>
            <a:ext cx="3840480" cy="274320"/>
          </a:xfrm>
          <a:prstGeom prst="rect">
            <a:avLst/>
          </a:prstGeom>
          <a:noFill/>
          <a:ln/>
        </p:spPr>
        <p:txBody>
          <a:bodyPr wrap="square"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FEATURE 1</a:t>
            </a:r>
            <a:endParaRPr lang="en-US" sz="1200" dirty="0"/>
          </a:p>
        </p:txBody>
      </p:sp>
      <p:sp>
        <p:nvSpPr>
          <p:cNvPr id="11" name="Text 9"/>
          <p:cNvSpPr/>
          <p:nvPr/>
        </p:nvSpPr>
        <p:spPr>
          <a:xfrm>
            <a:off x="457200" y="2633472"/>
            <a:ext cx="3840480" cy="2103120"/>
          </a:xfrm>
          <a:prstGeom prst="rect">
            <a:avLst/>
          </a:prstGeom>
          <a:noFill/>
          <a:ln/>
        </p:spPr>
        <p:txBody>
          <a:bodyPr wrap="square" rtlCol="0" anchor="t"/>
          <a:lstStyle/>
          <a:p>
            <a:pPr indent="0" marL="0">
              <a:buNone/>
            </a:pPr>
            <a:r>
              <a:rPr lang="en-US" sz="1200" i="1" dirty="0">
                <a:solidFill>
                  <a:srgbClr val="7A88A8"/>
                </a:solidFill>
                <a:latin typeface="Calibri" pitchFamily="34" charset="0"/>
                <a:ea typeface="Calibri" pitchFamily="34" charset="-122"/>
                <a:cs typeface="Calibri" pitchFamily="34" charset="-120"/>
              </a:rPr>
              <a:t>Name: ____________________</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Type (mountain/river/plain): ____</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Its historical impact was:</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"It ___ (blocked/connected/invited) ___</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because ___"</a:t>
            </a:r>
            <a:endParaRPr lang="en-US" sz="1200" dirty="0"/>
          </a:p>
        </p:txBody>
      </p:sp>
      <p:sp>
        <p:nvSpPr>
          <p:cNvPr id="12" name="Shape 10"/>
          <p:cNvSpPr/>
          <p:nvPr/>
        </p:nvSpPr>
        <p:spPr>
          <a:xfrm>
            <a:off x="4846320" y="2240280"/>
            <a:ext cx="4206240" cy="2606040"/>
          </a:xfrm>
          <a:prstGeom prst="roundRect">
            <a:avLst>
              <a:gd name="adj" fmla="val 3509"/>
            </a:avLst>
          </a:prstGeom>
          <a:solidFill>
            <a:srgbClr val="FFFFFF"/>
          </a:solidFill>
          <a:ln w="19050">
            <a:solidFill>
              <a:srgbClr val="1A8A7D"/>
            </a:solidFill>
            <a:prstDash val="solid"/>
          </a:ln>
        </p:spPr>
      </p:sp>
      <p:sp>
        <p:nvSpPr>
          <p:cNvPr id="13" name="Text 11"/>
          <p:cNvSpPr/>
          <p:nvPr/>
        </p:nvSpPr>
        <p:spPr>
          <a:xfrm>
            <a:off x="5029200" y="2313432"/>
            <a:ext cx="3840480" cy="274320"/>
          </a:xfrm>
          <a:prstGeom prst="rect">
            <a:avLst/>
          </a:prstGeom>
          <a:noFill/>
          <a:ln/>
        </p:spPr>
        <p:txBody>
          <a:bodyPr wrap="square"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FEATURE 2</a:t>
            </a:r>
            <a:endParaRPr lang="en-US" sz="1200" dirty="0"/>
          </a:p>
        </p:txBody>
      </p:sp>
      <p:sp>
        <p:nvSpPr>
          <p:cNvPr id="14" name="Text 12"/>
          <p:cNvSpPr/>
          <p:nvPr/>
        </p:nvSpPr>
        <p:spPr>
          <a:xfrm>
            <a:off x="5029200" y="2633472"/>
            <a:ext cx="3840480" cy="2103120"/>
          </a:xfrm>
          <a:prstGeom prst="rect">
            <a:avLst/>
          </a:prstGeom>
          <a:noFill/>
          <a:ln/>
        </p:spPr>
        <p:txBody>
          <a:bodyPr wrap="square" rtlCol="0" anchor="t"/>
          <a:lstStyle/>
          <a:p>
            <a:pPr indent="0" marL="0">
              <a:buNone/>
            </a:pPr>
            <a:r>
              <a:rPr lang="en-US" sz="1200" i="1" dirty="0">
                <a:solidFill>
                  <a:srgbClr val="7A88A8"/>
                </a:solidFill>
                <a:latin typeface="Calibri" pitchFamily="34" charset="0"/>
                <a:ea typeface="Calibri" pitchFamily="34" charset="-122"/>
                <a:cs typeface="Calibri" pitchFamily="34" charset="-120"/>
              </a:rPr>
              <a:t>Name: ____________________</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Type (mountain/river/plain): ____</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Its historical impact was:</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"It ___ (blocked/connected/invited) ___</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because ___"</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8B6FC0"/>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000" b="1" spc="150" kern="0" dirty="0">
                <a:solidFill>
                  <a:srgbClr val="FFFFFF"/>
                </a:solidFill>
                <a:latin typeface="Cambria" pitchFamily="34" charset="0"/>
                <a:ea typeface="Cambria" pitchFamily="34" charset="-122"/>
                <a:cs typeface="Cambria" pitchFamily="34" charset="-120"/>
              </a:rPr>
              <a:t>EDITOR'S LENS  ·  VIRTUE SPOTLIGHT</a:t>
            </a:r>
            <a:endParaRPr lang="en-US" sz="1000" dirty="0"/>
          </a:p>
        </p:txBody>
      </p:sp>
      <p:sp>
        <p:nvSpPr>
          <p:cNvPr id="7" name="Text 4"/>
          <p:cNvSpPr/>
          <p:nvPr/>
        </p:nvSpPr>
        <p:spPr>
          <a:xfrm>
            <a:off x="457200" y="640080"/>
            <a:ext cx="8229600" cy="64008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Responsibility</a:t>
            </a:r>
            <a:endParaRPr lang="en-US" sz="4000" dirty="0"/>
          </a:p>
        </p:txBody>
      </p:sp>
      <p:sp>
        <p:nvSpPr>
          <p:cNvPr id="8" name="Shape 5"/>
          <p:cNvSpPr/>
          <p:nvPr/>
        </p:nvSpPr>
        <p:spPr>
          <a:xfrm>
            <a:off x="731520" y="1417320"/>
            <a:ext cx="7680960" cy="685800"/>
          </a:xfrm>
          <a:prstGeom prst="roundRect">
            <a:avLst>
              <a:gd name="adj" fmla="val 13333"/>
            </a:avLst>
          </a:prstGeom>
          <a:solidFill>
            <a:srgbClr val="1A2D5A"/>
          </a:solidFill>
          <a:ln w="19050">
            <a:solidFill>
              <a:srgbClr val="8B6FC0"/>
            </a:solidFill>
            <a:prstDash val="solid"/>
          </a:ln>
        </p:spPr>
      </p:sp>
      <p:sp>
        <p:nvSpPr>
          <p:cNvPr id="9" name="Text 6"/>
          <p:cNvSpPr/>
          <p:nvPr/>
        </p:nvSpPr>
        <p:spPr>
          <a:xfrm>
            <a:off x="914400" y="1481328"/>
            <a:ext cx="7315200" cy="548640"/>
          </a:xfrm>
          <a:prstGeom prst="rect">
            <a:avLst/>
          </a:prstGeom>
          <a:noFill/>
          <a:ln/>
        </p:spPr>
        <p:txBody>
          <a:bodyPr wrap="square" rtlCol="0" anchor="ctr"/>
          <a:lstStyle/>
          <a:p>
            <a:pPr algn="ctr" indent="0" marL="0">
              <a:buNone/>
            </a:pPr>
            <a:r>
              <a:rPr lang="en-US" sz="1500" i="1" dirty="0">
                <a:solidFill>
                  <a:srgbClr val="D6F2FB"/>
                </a:solidFill>
                <a:latin typeface="Cambria" pitchFamily="34" charset="0"/>
                <a:ea typeface="Cambria" pitchFamily="34" charset="-122"/>
                <a:cs typeface="Cambria" pitchFamily="34" charset="-120"/>
              </a:rPr>
              <a:t>A responsible editor doesn't ignore the landscape — they explain how it shaped the story.</a:t>
            </a:r>
            <a:endParaRPr lang="en-US" sz="1500" dirty="0"/>
          </a:p>
        </p:txBody>
      </p:sp>
      <p:sp>
        <p:nvSpPr>
          <p:cNvPr id="10" name="Shape 7"/>
          <p:cNvSpPr/>
          <p:nvPr/>
        </p:nvSpPr>
        <p:spPr>
          <a:xfrm>
            <a:off x="274320" y="2286000"/>
            <a:ext cx="2743200" cy="2560320"/>
          </a:xfrm>
          <a:prstGeom prst="roundRect">
            <a:avLst>
              <a:gd name="adj" fmla="val 4286"/>
            </a:avLst>
          </a:prstGeom>
          <a:solidFill>
            <a:srgbClr val="E8636B">
              <a:alpha val="65000"/>
            </a:srgbClr>
          </a:solidFill>
          <a:ln w="19050">
            <a:solidFill>
              <a:srgbClr val="E8636B"/>
            </a:solidFill>
            <a:prstDash val="solid"/>
          </a:ln>
        </p:spPr>
      </p:sp>
      <p:sp>
        <p:nvSpPr>
          <p:cNvPr id="11" name="Text 8"/>
          <p:cNvSpPr/>
          <p:nvPr/>
        </p:nvSpPr>
        <p:spPr>
          <a:xfrm>
            <a:off x="41148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HERALD'S FAILURE</a:t>
            </a:r>
            <a:endParaRPr lang="en-US" sz="1000" dirty="0"/>
          </a:p>
        </p:txBody>
      </p:sp>
      <p:sp>
        <p:nvSpPr>
          <p:cNvPr id="12" name="Text 9"/>
          <p:cNvSpPr/>
          <p:nvPr/>
        </p:nvSpPr>
        <p:spPr>
          <a:xfrm>
            <a:off x="41148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Dismissed mountains and rivers as background decoration. Printed 'scenery' without checking whether features influenced history.</a:t>
            </a:r>
            <a:endParaRPr lang="en-US" sz="1200" dirty="0"/>
          </a:p>
        </p:txBody>
      </p:sp>
      <p:sp>
        <p:nvSpPr>
          <p:cNvPr id="13" name="Shape 10"/>
          <p:cNvSpPr/>
          <p:nvPr/>
        </p:nvSpPr>
        <p:spPr>
          <a:xfrm>
            <a:off x="3200400" y="2286000"/>
            <a:ext cx="2743200" cy="2560320"/>
          </a:xfrm>
          <a:prstGeom prst="roundRect">
            <a:avLst>
              <a:gd name="adj" fmla="val 4286"/>
            </a:avLst>
          </a:prstGeom>
          <a:solidFill>
            <a:srgbClr val="34B76F">
              <a:alpha val="65000"/>
            </a:srgbClr>
          </a:solidFill>
          <a:ln w="19050">
            <a:solidFill>
              <a:srgbClr val="34B76F"/>
            </a:solidFill>
            <a:prstDash val="solid"/>
          </a:ln>
        </p:spPr>
      </p:sp>
      <p:sp>
        <p:nvSpPr>
          <p:cNvPr id="14" name="Text 11"/>
          <p:cNvSpPr/>
          <p:nvPr/>
        </p:nvSpPr>
        <p:spPr>
          <a:xfrm>
            <a:off x="333756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GAZETTE'S STANDARD</a:t>
            </a:r>
            <a:endParaRPr lang="en-US" sz="1000" dirty="0"/>
          </a:p>
        </p:txBody>
      </p:sp>
      <p:sp>
        <p:nvSpPr>
          <p:cNvPr id="15" name="Text 12"/>
          <p:cNvSpPr/>
          <p:nvPr/>
        </p:nvSpPr>
        <p:spPr>
          <a:xfrm>
            <a:off x="333756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Traced how each feature shaped settlement, movement, and trade. Responsible reporting shows the connection between land and history.</a:t>
            </a:r>
            <a:endParaRPr lang="en-US" sz="1200" dirty="0"/>
          </a:p>
        </p:txBody>
      </p:sp>
      <p:sp>
        <p:nvSpPr>
          <p:cNvPr id="16" name="Shape 13"/>
          <p:cNvSpPr/>
          <p:nvPr/>
        </p:nvSpPr>
        <p:spPr>
          <a:xfrm>
            <a:off x="6126480" y="2286000"/>
            <a:ext cx="2743200" cy="2560320"/>
          </a:xfrm>
          <a:prstGeom prst="roundRect">
            <a:avLst>
              <a:gd name="adj" fmla="val 4286"/>
            </a:avLst>
          </a:prstGeom>
          <a:solidFill>
            <a:srgbClr val="D4943A">
              <a:alpha val="65000"/>
            </a:srgbClr>
          </a:solidFill>
          <a:ln w="19050">
            <a:solidFill>
              <a:srgbClr val="D4943A"/>
            </a:solidFill>
            <a:prstDash val="solid"/>
          </a:ln>
        </p:spPr>
      </p:sp>
      <p:sp>
        <p:nvSpPr>
          <p:cNvPr id="17" name="Text 14"/>
          <p:cNvSpPr/>
          <p:nvPr/>
        </p:nvSpPr>
        <p:spPr>
          <a:xfrm>
            <a:off x="626364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YOUR RESPONSIBILITY</a:t>
            </a:r>
            <a:endParaRPr lang="en-US" sz="1000" dirty="0"/>
          </a:p>
        </p:txBody>
      </p:sp>
      <p:sp>
        <p:nvSpPr>
          <p:cNvPr id="18" name="Text 15"/>
          <p:cNvSpPr/>
          <p:nvPr/>
        </p:nvSpPr>
        <p:spPr>
          <a:xfrm>
            <a:off x="626364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As Junior Editors: every time you use a physical feature as evidence — not just description — you practice responsible journalism.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34B76F"/>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GUIDED PRACTICE  ·  I DO — TEACHER MODELS</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How to Turn a Physical Feature Into Evidence</a:t>
            </a:r>
            <a:endParaRPr lang="en-US" sz="2200" dirty="0"/>
          </a:p>
        </p:txBody>
      </p:sp>
      <p:sp>
        <p:nvSpPr>
          <p:cNvPr id="6" name="Shape 4"/>
          <p:cNvSpPr/>
          <p:nvPr/>
        </p:nvSpPr>
        <p:spPr>
          <a:xfrm>
            <a:off x="274320" y="1188720"/>
            <a:ext cx="8595360" cy="640080"/>
          </a:xfrm>
          <a:prstGeom prst="roundRect">
            <a:avLst>
              <a:gd name="adj" fmla="val 14286"/>
            </a:avLst>
          </a:prstGeom>
          <a:solidFill>
            <a:srgbClr val="FFFFFF"/>
          </a:solidFill>
          <a:ln w="25400">
            <a:solidFill>
              <a:srgbClr val="34B76F"/>
            </a:solidFill>
            <a:prstDash val="solid"/>
          </a:ln>
        </p:spPr>
      </p:sp>
      <p:sp>
        <p:nvSpPr>
          <p:cNvPr id="7" name="Text 5"/>
          <p:cNvSpPr/>
          <p:nvPr/>
        </p:nvSpPr>
        <p:spPr>
          <a:xfrm>
            <a:off x="457200" y="1261872"/>
            <a:ext cx="8229600" cy="502920"/>
          </a:xfrm>
          <a:prstGeom prst="rect">
            <a:avLst/>
          </a:prstGeom>
          <a:noFill/>
          <a:ln/>
        </p:spPr>
        <p:txBody>
          <a:bodyPr wrap="square" rtlCol="0" anchor="ctr"/>
          <a:lstStyle/>
          <a:p>
            <a:pPr indent="0" marL="0">
              <a:buNone/>
            </a:pPr>
            <a:r>
              <a:rPr lang="en-US" sz="1300" i="1" dirty="0">
                <a:solidFill>
                  <a:srgbClr val="5A4A3A"/>
                </a:solidFill>
                <a:latin typeface="Calibri" pitchFamily="34" charset="0"/>
                <a:ea typeface="Calibri" pitchFamily="34" charset="-122"/>
                <a:cs typeface="Calibri" pitchFamily="34" charset="-120"/>
              </a:rPr>
              <a:t>HERALD DESCRIPTION: "The Appalachian Mountains are 1,500 miles long and run from Alabama to Maine."</a:t>
            </a:r>
            <a:endParaRPr lang="en-US" sz="1300" dirty="0"/>
          </a:p>
        </p:txBody>
      </p:sp>
      <p:sp>
        <p:nvSpPr>
          <p:cNvPr id="8" name="Shape 6"/>
          <p:cNvSpPr/>
          <p:nvPr/>
        </p:nvSpPr>
        <p:spPr>
          <a:xfrm>
            <a:off x="274320" y="1965960"/>
            <a:ext cx="4114800" cy="1261872"/>
          </a:xfrm>
          <a:prstGeom prst="roundRect">
            <a:avLst>
              <a:gd name="adj" fmla="val 7246"/>
            </a:avLst>
          </a:prstGeom>
          <a:solidFill>
            <a:srgbClr val="FFFFFF"/>
          </a:solidFill>
          <a:ln w="12700">
            <a:solidFill>
              <a:srgbClr val="34B76F"/>
            </a:solidFill>
            <a:prstDash val="solid"/>
          </a:ln>
        </p:spPr>
      </p:sp>
      <p:sp>
        <p:nvSpPr>
          <p:cNvPr id="9" name="Text 7"/>
          <p:cNvSpPr/>
          <p:nvPr/>
        </p:nvSpPr>
        <p:spPr>
          <a:xfrm>
            <a:off x="411480" y="202996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1: Describe the feature</a:t>
            </a:r>
            <a:endParaRPr lang="en-US" sz="1000" dirty="0"/>
          </a:p>
        </p:txBody>
      </p:sp>
      <p:sp>
        <p:nvSpPr>
          <p:cNvPr id="10" name="Text 8"/>
          <p:cNvSpPr/>
          <p:nvPr/>
        </p:nvSpPr>
        <p:spPr>
          <a:xfrm>
            <a:off x="411480" y="2322576"/>
            <a:ext cx="3840480" cy="80467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The Appalachian Mountains are 1,500 miles long, running from Alabama to Maine. That's a significant physical barrier.</a:t>
            </a:r>
            <a:endParaRPr lang="en-US" sz="1100" dirty="0"/>
          </a:p>
        </p:txBody>
      </p:sp>
      <p:sp>
        <p:nvSpPr>
          <p:cNvPr id="11" name="Shape 9"/>
          <p:cNvSpPr/>
          <p:nvPr/>
        </p:nvSpPr>
        <p:spPr>
          <a:xfrm>
            <a:off x="274320" y="3383280"/>
            <a:ext cx="4114800" cy="1261872"/>
          </a:xfrm>
          <a:prstGeom prst="roundRect">
            <a:avLst>
              <a:gd name="adj" fmla="val 7246"/>
            </a:avLst>
          </a:prstGeom>
          <a:solidFill>
            <a:srgbClr val="FFFFFF"/>
          </a:solidFill>
          <a:ln w="12700">
            <a:solidFill>
              <a:srgbClr val="34B76F"/>
            </a:solidFill>
            <a:prstDash val="solid"/>
          </a:ln>
        </p:spPr>
      </p:sp>
      <p:sp>
        <p:nvSpPr>
          <p:cNvPr id="12" name="Text 10"/>
          <p:cNvSpPr/>
          <p:nvPr/>
        </p:nvSpPr>
        <p:spPr>
          <a:xfrm>
            <a:off x="411480" y="344728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2: Ask the historical question</a:t>
            </a:r>
            <a:endParaRPr lang="en-US" sz="1000" dirty="0"/>
          </a:p>
        </p:txBody>
      </p:sp>
      <p:sp>
        <p:nvSpPr>
          <p:cNvPr id="13" name="Text 11"/>
          <p:cNvSpPr/>
          <p:nvPr/>
        </p:nvSpPr>
        <p:spPr>
          <a:xfrm>
            <a:off x="411480" y="3739896"/>
            <a:ext cx="3840480" cy="80467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How did this feature shape what people DID? What decisions did it force?</a:t>
            </a:r>
            <a:endParaRPr lang="en-US" sz="1100" dirty="0"/>
          </a:p>
        </p:txBody>
      </p:sp>
      <p:sp>
        <p:nvSpPr>
          <p:cNvPr id="14" name="Shape 12"/>
          <p:cNvSpPr/>
          <p:nvPr/>
        </p:nvSpPr>
        <p:spPr>
          <a:xfrm>
            <a:off x="4663440" y="1965960"/>
            <a:ext cx="4114800" cy="1261872"/>
          </a:xfrm>
          <a:prstGeom prst="roundRect">
            <a:avLst>
              <a:gd name="adj" fmla="val 7246"/>
            </a:avLst>
          </a:prstGeom>
          <a:solidFill>
            <a:srgbClr val="FFFFFF"/>
          </a:solidFill>
          <a:ln w="12700">
            <a:solidFill>
              <a:srgbClr val="34B76F"/>
            </a:solidFill>
            <a:prstDash val="solid"/>
          </a:ln>
        </p:spPr>
      </p:sp>
      <p:sp>
        <p:nvSpPr>
          <p:cNvPr id="15" name="Text 13"/>
          <p:cNvSpPr/>
          <p:nvPr/>
        </p:nvSpPr>
        <p:spPr>
          <a:xfrm>
            <a:off x="4800600" y="202996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3: Find the connection</a:t>
            </a:r>
            <a:endParaRPr lang="en-US" sz="1000" dirty="0"/>
          </a:p>
        </p:txBody>
      </p:sp>
      <p:sp>
        <p:nvSpPr>
          <p:cNvPr id="16" name="Text 14"/>
          <p:cNvSpPr/>
          <p:nvPr/>
        </p:nvSpPr>
        <p:spPr>
          <a:xfrm>
            <a:off x="4800600" y="2322576"/>
            <a:ext cx="3840480" cy="80467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Crossing the Appalachians with wagons, livestock, and families was dangerous and expensive. So most colonists stayed east.</a:t>
            </a:r>
            <a:endParaRPr lang="en-US" sz="1100" dirty="0"/>
          </a:p>
        </p:txBody>
      </p:sp>
      <p:sp>
        <p:nvSpPr>
          <p:cNvPr id="17" name="Shape 15"/>
          <p:cNvSpPr/>
          <p:nvPr/>
        </p:nvSpPr>
        <p:spPr>
          <a:xfrm>
            <a:off x="4663440" y="3383280"/>
            <a:ext cx="4114800" cy="1261872"/>
          </a:xfrm>
          <a:prstGeom prst="roundRect">
            <a:avLst>
              <a:gd name="adj" fmla="val 7246"/>
            </a:avLst>
          </a:prstGeom>
          <a:solidFill>
            <a:srgbClr val="FFFFFF"/>
          </a:solidFill>
          <a:ln w="12700">
            <a:solidFill>
              <a:srgbClr val="34B76F"/>
            </a:solidFill>
            <a:prstDash val="solid"/>
          </a:ln>
        </p:spPr>
      </p:sp>
      <p:sp>
        <p:nvSpPr>
          <p:cNvPr id="18" name="Text 16"/>
          <p:cNvSpPr/>
          <p:nvPr/>
        </p:nvSpPr>
        <p:spPr>
          <a:xfrm>
            <a:off x="4800600" y="344728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4: Write the claim</a:t>
            </a:r>
            <a:endParaRPr lang="en-US" sz="1000" dirty="0"/>
          </a:p>
        </p:txBody>
      </p:sp>
      <p:sp>
        <p:nvSpPr>
          <p:cNvPr id="19" name="Text 17"/>
          <p:cNvSpPr/>
          <p:nvPr/>
        </p:nvSpPr>
        <p:spPr>
          <a:xfrm>
            <a:off x="4800600" y="3739896"/>
            <a:ext cx="3840480" cy="80467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"The Appalachian Mountains blocked westward movement for over a century, shaping the colonial economy east of the mountains."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34B76F"/>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GUIDED PRACTICE  ·  WE DO — TRY TOGETHER</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Now You Try: The Mississippi River</a:t>
            </a:r>
            <a:endParaRPr lang="en-US" sz="2400" dirty="0"/>
          </a:p>
        </p:txBody>
      </p:sp>
      <p:sp>
        <p:nvSpPr>
          <p:cNvPr id="6" name="Shape 4"/>
          <p:cNvSpPr/>
          <p:nvPr/>
        </p:nvSpPr>
        <p:spPr>
          <a:xfrm>
            <a:off x="274320" y="1188720"/>
            <a:ext cx="8595360" cy="594360"/>
          </a:xfrm>
          <a:prstGeom prst="roundRect">
            <a:avLst>
              <a:gd name="adj" fmla="val 15385"/>
            </a:avLst>
          </a:prstGeom>
          <a:solidFill>
            <a:srgbClr val="1A2D5A"/>
          </a:solidFill>
          <a:ln/>
        </p:spPr>
      </p:sp>
      <p:sp>
        <p:nvSpPr>
          <p:cNvPr id="7" name="Text 5"/>
          <p:cNvSpPr/>
          <p:nvPr/>
        </p:nvSpPr>
        <p:spPr>
          <a:xfrm>
            <a:off x="457200" y="1261872"/>
            <a:ext cx="822960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MISSISSIPPI RIVER: 2,340 miles long, runs north-south through the middle of the continent, connects to the Missouri and Ohio Rivers. Now use the four-step process.</a:t>
            </a:r>
            <a:endParaRPr lang="en-US" sz="1300" dirty="0"/>
          </a:p>
        </p:txBody>
      </p:sp>
      <p:sp>
        <p:nvSpPr>
          <p:cNvPr id="8" name="Shape 6"/>
          <p:cNvSpPr/>
          <p:nvPr/>
        </p:nvSpPr>
        <p:spPr>
          <a:xfrm>
            <a:off x="274320" y="1920240"/>
            <a:ext cx="4480560" cy="2834640"/>
          </a:xfrm>
          <a:prstGeom prst="roundRect">
            <a:avLst>
              <a:gd name="adj" fmla="val 3871"/>
            </a:avLst>
          </a:prstGeom>
          <a:solidFill>
            <a:srgbClr val="1A2D5A"/>
          </a:solidFill>
          <a:ln w="12700">
            <a:solidFill>
              <a:srgbClr val="2A4070"/>
            </a:solidFill>
            <a:prstDash val="solid"/>
          </a:ln>
        </p:spPr>
      </p:sp>
      <p:sp>
        <p:nvSpPr>
          <p:cNvPr id="9" name="Text 7"/>
          <p:cNvSpPr/>
          <p:nvPr/>
        </p:nvSpPr>
        <p:spPr>
          <a:xfrm>
            <a:off x="411480" y="1975104"/>
            <a:ext cx="420624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57200" y="2240280"/>
            <a:ext cx="4114800" cy="24231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2: What historical question should you ask about a river this size?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3: What would carrying goods by river mean compared to overland roads in 1800?</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4: How would you write the claim? What specific impact would it state?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there a way the river created PROBLEMS as well as opportunities?</a:t>
            </a:r>
            <a:endParaRPr lang="en-US" sz="1100" dirty="0"/>
          </a:p>
        </p:txBody>
      </p:sp>
      <p:sp>
        <p:nvSpPr>
          <p:cNvPr id="11" name="Shape 9"/>
          <p:cNvSpPr/>
          <p:nvPr/>
        </p:nvSpPr>
        <p:spPr>
          <a:xfrm>
            <a:off x="4937760" y="1920240"/>
            <a:ext cx="3931920" cy="2834640"/>
          </a:xfrm>
          <a:prstGeom prst="roundRect">
            <a:avLst>
              <a:gd name="adj" fmla="val 3871"/>
            </a:avLst>
          </a:prstGeom>
          <a:solidFill>
            <a:srgbClr val="FFF3DC"/>
          </a:solidFill>
          <a:ln w="19050">
            <a:solidFill>
              <a:srgbClr val="F5E6C8"/>
            </a:solidFill>
            <a:prstDash val="solid"/>
          </a:ln>
        </p:spPr>
      </p:sp>
      <p:sp>
        <p:nvSpPr>
          <p:cNvPr id="12" name="Text 10"/>
          <p:cNvSpPr/>
          <p:nvPr/>
        </p:nvSpPr>
        <p:spPr>
          <a:xfrm>
            <a:off x="5074920" y="1975104"/>
            <a:ext cx="3657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74920" y="2176272"/>
            <a:ext cx="3657600" cy="2514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Mississippi River shaped history because... The evidence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"River towns boomed because... compared to overland roads..."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claim: The Mississippi River ___ (action word) ___ (who/what) by ___"</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E8636B"/>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ERROR ANALYSIS  ·  FIND THE MISTAKE</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Did This Junior Editor Get Wrong?</a:t>
            </a:r>
            <a:endParaRPr lang="en-US" sz="2400" dirty="0"/>
          </a:p>
        </p:txBody>
      </p:sp>
      <p:sp>
        <p:nvSpPr>
          <p:cNvPr id="6" name="Shape 4"/>
          <p:cNvSpPr/>
          <p:nvPr/>
        </p:nvSpPr>
        <p:spPr>
          <a:xfrm>
            <a:off x="274320" y="1188720"/>
            <a:ext cx="8595360" cy="1463040"/>
          </a:xfrm>
          <a:prstGeom prst="roundRect">
            <a:avLst>
              <a:gd name="adj" fmla="val 7500"/>
            </a:avLst>
          </a:prstGeom>
          <a:solidFill>
            <a:srgbClr val="FFFFFF"/>
          </a:solidFill>
          <a:ln w="25400">
            <a:solidFill>
              <a:srgbClr val="E8636B"/>
            </a:solidFill>
            <a:prstDash val="dash"/>
          </a:ln>
        </p:spPr>
      </p:sp>
      <p:sp>
        <p:nvSpPr>
          <p:cNvPr id="7" name="Text 5"/>
          <p:cNvSpPr/>
          <p:nvPr/>
        </p:nvSpPr>
        <p:spPr>
          <a:xfrm>
            <a:off x="457200" y="1261872"/>
            <a:ext cx="8229600" cy="256032"/>
          </a:xfrm>
          <a:prstGeom prst="rect">
            <a:avLst/>
          </a:prstGeom>
          <a:noFill/>
          <a:ln/>
        </p:spPr>
        <p:txBody>
          <a:bodyPr wrap="square" rtlCol="0" anchor="ctr"/>
          <a:lstStyle/>
          <a:p>
            <a:pPr indent="0" marL="0">
              <a:buNone/>
            </a:pPr>
            <a:r>
              <a:rPr lang="en-US" sz="1000" b="1" dirty="0">
                <a:solidFill>
                  <a:srgbClr val="E8636B"/>
                </a:solidFill>
                <a:latin typeface="Calibri" pitchFamily="34" charset="0"/>
                <a:ea typeface="Calibri" pitchFamily="34" charset="-122"/>
                <a:cs typeface="Calibri" pitchFamily="34" charset="-120"/>
              </a:rPr>
              <a:t>SAMPLE MAP NOTE (contains errors):</a:t>
            </a:r>
            <a:endParaRPr lang="en-US" sz="1000" dirty="0"/>
          </a:p>
        </p:txBody>
      </p:sp>
      <p:sp>
        <p:nvSpPr>
          <p:cNvPr id="8" name="Text 6"/>
          <p:cNvSpPr/>
          <p:nvPr/>
        </p:nvSpPr>
        <p:spPr>
          <a:xfrm>
            <a:off x="457200" y="1536192"/>
            <a:ext cx="8229600" cy="1005840"/>
          </a:xfrm>
          <a:prstGeom prst="rect">
            <a:avLst/>
          </a:prstGeom>
          <a:noFill/>
          <a:ln/>
        </p:spPr>
        <p:txBody>
          <a:bodyPr wrap="square"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"The Herald is partly right — the Appalachians are just pretty mountains in the east. They are tall and have forests. The Great Plains are flat and boring. The Mississippi River flows south and is very long. Physical features are scenery AND evidence."</a:t>
            </a:r>
            <a:endParaRPr lang="en-US" sz="1300" dirty="0"/>
          </a:p>
        </p:txBody>
      </p:sp>
      <p:sp>
        <p:nvSpPr>
          <p:cNvPr id="9" name="Shape 7"/>
          <p:cNvSpPr/>
          <p:nvPr/>
        </p:nvSpPr>
        <p:spPr>
          <a:xfrm>
            <a:off x="274320" y="2788920"/>
            <a:ext cx="4297680" cy="2011680"/>
          </a:xfrm>
          <a:prstGeom prst="roundRect">
            <a:avLst>
              <a:gd name="adj" fmla="val 5455"/>
            </a:avLst>
          </a:prstGeom>
          <a:solidFill>
            <a:srgbClr val="1A2D5A"/>
          </a:solidFill>
          <a:ln w="12700">
            <a:solidFill>
              <a:srgbClr val="2A4070"/>
            </a:solidFill>
            <a:prstDash val="solid"/>
          </a:ln>
        </p:spPr>
      </p:sp>
      <p:sp>
        <p:nvSpPr>
          <p:cNvPr id="10" name="Text 8"/>
          <p:cNvSpPr/>
          <p:nvPr/>
        </p:nvSpPr>
        <p:spPr>
          <a:xfrm>
            <a:off x="411480" y="2843784"/>
            <a:ext cx="40233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457200" y="3108960"/>
            <a:ext cx="3931920" cy="16002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errors does this Map Note make? How many can you find?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the last sentence ('physical features are scenery AND evidence') accurate? Is it strong enough?</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specific historical evidence is missing from this note?</a:t>
            </a:r>
            <a:endParaRPr lang="en-US" sz="1100" dirty="0"/>
          </a:p>
        </p:txBody>
      </p:sp>
      <p:sp>
        <p:nvSpPr>
          <p:cNvPr id="12" name="Shape 10"/>
          <p:cNvSpPr/>
          <p:nvPr/>
        </p:nvSpPr>
        <p:spPr>
          <a:xfrm>
            <a:off x="4754880" y="2788920"/>
            <a:ext cx="4114800" cy="2011680"/>
          </a:xfrm>
          <a:prstGeom prst="roundRect">
            <a:avLst>
              <a:gd name="adj" fmla="val 5455"/>
            </a:avLst>
          </a:prstGeom>
          <a:solidFill>
            <a:srgbClr val="FFF3DC"/>
          </a:solidFill>
          <a:ln w="19050">
            <a:solidFill>
              <a:srgbClr val="F5E6C8"/>
            </a:solidFill>
            <a:prstDash val="solid"/>
          </a:ln>
        </p:spPr>
      </p:sp>
      <p:sp>
        <p:nvSpPr>
          <p:cNvPr id="13" name="Text 11"/>
          <p:cNvSpPr/>
          <p:nvPr/>
        </p:nvSpPr>
        <p:spPr>
          <a:xfrm>
            <a:off x="4892040" y="284378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892040" y="3044952"/>
            <a:ext cx="384048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found __ errors. The most important one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note says physical features are evidence but never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version would include evidence like..."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8B6FC0"/>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THE TRICKY ONE  ·  DEBATE THIS</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Did Geography CAUSE History — or Just Influence It?</a:t>
            </a:r>
            <a:endParaRPr lang="en-US" sz="2200" dirty="0"/>
          </a:p>
        </p:txBody>
      </p:sp>
      <p:sp>
        <p:nvSpPr>
          <p:cNvPr id="6" name="Shape 4"/>
          <p:cNvSpPr/>
          <p:nvPr/>
        </p:nvSpPr>
        <p:spPr>
          <a:xfrm>
            <a:off x="274320" y="1188720"/>
            <a:ext cx="8595360" cy="822960"/>
          </a:xfrm>
          <a:prstGeom prst="roundRect">
            <a:avLst>
              <a:gd name="adj" fmla="val 11111"/>
            </a:avLst>
          </a:prstGeom>
          <a:solidFill>
            <a:srgbClr val="8B6FC0">
              <a:alpha val="80000"/>
            </a:srgbClr>
          </a:solidFill>
          <a:ln w="19050">
            <a:solidFill>
              <a:srgbClr val="8B6FC0"/>
            </a:solidFill>
            <a:prstDash val="solid"/>
          </a:ln>
        </p:spPr>
      </p:sp>
      <p:sp>
        <p:nvSpPr>
          <p:cNvPr id="7" name="Text 5"/>
          <p:cNvSpPr/>
          <p:nvPr/>
        </p:nvSpPr>
        <p:spPr>
          <a:xfrm>
            <a:off x="457200" y="1261872"/>
            <a:ext cx="8229600" cy="676656"/>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Consider: Many historians note that by the 1800s, Americans DID cross the Appalachians — using the Cumberland Gap, building canals, eventually the National Road. If mountains 'caused' colonists to stay east, how do we explain eventually moving west anyway?</a:t>
            </a:r>
            <a:endParaRPr lang="en-US" sz="1300" dirty="0"/>
          </a:p>
        </p:txBody>
      </p:sp>
      <p:sp>
        <p:nvSpPr>
          <p:cNvPr id="8" name="Shape 6"/>
          <p:cNvSpPr/>
          <p:nvPr/>
        </p:nvSpPr>
        <p:spPr>
          <a:xfrm>
            <a:off x="274320" y="2148840"/>
            <a:ext cx="4572000" cy="2606040"/>
          </a:xfrm>
          <a:prstGeom prst="roundRect">
            <a:avLst>
              <a:gd name="adj" fmla="val 4211"/>
            </a:avLst>
          </a:prstGeom>
          <a:solidFill>
            <a:srgbClr val="1A2D5A"/>
          </a:solidFill>
          <a:ln w="12700">
            <a:solidFill>
              <a:srgbClr val="2A4070"/>
            </a:solidFill>
            <a:prstDash val="solid"/>
          </a:ln>
        </p:spPr>
      </p:sp>
      <p:sp>
        <p:nvSpPr>
          <p:cNvPr id="9" name="Text 7"/>
          <p:cNvSpPr/>
          <p:nvPr/>
        </p:nvSpPr>
        <p:spPr>
          <a:xfrm>
            <a:off x="411480" y="2203704"/>
            <a:ext cx="42976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57200" y="2468880"/>
            <a:ext cx="4206240" cy="21945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westward expansion prove geography didn't matter — or that technology eventually overcame it?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changed that made crossing the Appalachians possible in 1800 but hard in 1700?</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geography 'influence' history without 'determining' it? Is that distinction meaningful?</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Reasonable historians disagree here. What's the strongest case on each side?</a:t>
            </a:r>
            <a:endParaRPr lang="en-US" sz="1100" dirty="0"/>
          </a:p>
        </p:txBody>
      </p:sp>
      <p:sp>
        <p:nvSpPr>
          <p:cNvPr id="11" name="Shape 9"/>
          <p:cNvSpPr/>
          <p:nvPr/>
        </p:nvSpPr>
        <p:spPr>
          <a:xfrm>
            <a:off x="5029200" y="2148840"/>
            <a:ext cx="3840480" cy="2606040"/>
          </a:xfrm>
          <a:prstGeom prst="roundRect">
            <a:avLst>
              <a:gd name="adj" fmla="val 4211"/>
            </a:avLst>
          </a:prstGeom>
          <a:solidFill>
            <a:srgbClr val="FFF3DC"/>
          </a:solidFill>
          <a:ln w="19050">
            <a:solidFill>
              <a:srgbClr val="F5E6C8"/>
            </a:solidFill>
            <a:prstDash val="solid"/>
          </a:ln>
        </p:spPr>
      </p:sp>
      <p:sp>
        <p:nvSpPr>
          <p:cNvPr id="12" name="Text 10"/>
          <p:cNvSpPr/>
          <p:nvPr/>
        </p:nvSpPr>
        <p:spPr>
          <a:xfrm>
            <a:off x="5166360" y="220370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166360" y="2404872"/>
            <a:ext cx="3566160" cy="2286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fact that people eventually crossed the mountains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"Geography still mattered because... even though people eventually..."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strongest evidence for geography's role is... because..."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182880" y="91440"/>
            <a:ext cx="8778240" cy="32004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GO TO PRESS  ·  VOL. 1, ISSUE 6  ·  GAZETTE MAP NOTE</a:t>
            </a:r>
            <a:endParaRPr lang="en-US" sz="1000" dirty="0"/>
          </a:p>
        </p:txBody>
      </p:sp>
      <p:sp>
        <p:nvSpPr>
          <p:cNvPr id="5" name="Text 3"/>
          <p:cNvSpPr/>
          <p:nvPr/>
        </p:nvSpPr>
        <p:spPr>
          <a:xfrm>
            <a:off x="274320" y="640080"/>
            <a:ext cx="859536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Your Assignment: The Gazette Map Note</a:t>
            </a:r>
            <a:endParaRPr lang="en-US" sz="2400" dirty="0"/>
          </a:p>
        </p:txBody>
      </p:sp>
      <p:sp>
        <p:nvSpPr>
          <p:cNvPr id="6" name="Shape 4"/>
          <p:cNvSpPr/>
          <p:nvPr/>
        </p:nvSpPr>
        <p:spPr>
          <a:xfrm>
            <a:off x="274320" y="1188720"/>
            <a:ext cx="8595360" cy="2194560"/>
          </a:xfrm>
          <a:prstGeom prst="roundRect">
            <a:avLst>
              <a:gd name="adj" fmla="val 5000"/>
            </a:avLst>
          </a:prstGeom>
          <a:solidFill>
            <a:srgbClr val="FFFFFF"/>
          </a:solidFill>
          <a:ln w="19050">
            <a:solidFill>
              <a:srgbClr val="1A8A7D"/>
            </a:solidFill>
            <a:prstDash val="solid"/>
          </a:ln>
        </p:spPr>
      </p:sp>
      <p:sp>
        <p:nvSpPr>
          <p:cNvPr id="7" name="Text 5"/>
          <p:cNvSpPr/>
          <p:nvPr/>
        </p:nvSpPr>
        <p:spPr>
          <a:xfrm>
            <a:off x="457200" y="1261872"/>
            <a:ext cx="8229600" cy="256032"/>
          </a:xfrm>
          <a:prstGeom prst="rect">
            <a:avLst/>
          </a:prstGeom>
          <a:noFill/>
          <a:ln/>
        </p:spPr>
        <p:txBody>
          <a:bodyPr wrap="square" rtlCol="0" anchor="ctr"/>
          <a:lstStyle/>
          <a:p>
            <a:pPr indent="0" marL="0">
              <a:buNone/>
            </a:pPr>
            <a:r>
              <a:rPr lang="en-US" sz="1000" b="1" spc="100" kern="0" dirty="0">
                <a:solidFill>
                  <a:srgbClr val="1A8A7D"/>
                </a:solidFill>
                <a:latin typeface="Calibri" pitchFamily="34" charset="0"/>
                <a:ea typeface="Calibri" pitchFamily="34" charset="-122"/>
                <a:cs typeface="Calibri" pitchFamily="34" charset="-120"/>
              </a:rPr>
              <a:t>EDITOR'S NOTEBOOK — Answer all three:</a:t>
            </a:r>
            <a:endParaRPr lang="en-US" sz="1000" dirty="0"/>
          </a:p>
        </p:txBody>
      </p:sp>
      <p:sp>
        <p:nvSpPr>
          <p:cNvPr id="8" name="Text 6"/>
          <p:cNvSpPr/>
          <p:nvPr/>
        </p:nvSpPr>
        <p:spPr>
          <a:xfrm>
            <a:off x="457200" y="1554480"/>
            <a:ext cx="8229600" cy="5486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1. Name two major physical features of the United States and explain one way each feature shaped where people settled or how they traveled.</a:t>
            </a:r>
            <a:endParaRPr lang="en-US" sz="1200" dirty="0"/>
          </a:p>
        </p:txBody>
      </p:sp>
      <p:sp>
        <p:nvSpPr>
          <p:cNvPr id="9" name="Text 7"/>
          <p:cNvSpPr/>
          <p:nvPr/>
        </p:nvSpPr>
        <p:spPr>
          <a:xfrm>
            <a:off x="457200" y="2176272"/>
            <a:ext cx="8229600" cy="5486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2. Look at the physical map. Why do you think so many early settlements were near rivers or coastlines instead of in the mountains? Use evidence from the map.</a:t>
            </a:r>
            <a:endParaRPr lang="en-US" sz="1200" dirty="0"/>
          </a:p>
        </p:txBody>
      </p:sp>
      <p:sp>
        <p:nvSpPr>
          <p:cNvPr id="10" name="Text 8"/>
          <p:cNvSpPr/>
          <p:nvPr/>
        </p:nvSpPr>
        <p:spPr>
          <a:xfrm>
            <a:off x="457200" y="2798064"/>
            <a:ext cx="8229600" cy="5486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3. The Hasty Herald said "Mountains, rivers, and plains are scenery, not historical evidence." What's partly right about that? What's missing?</a:t>
            </a:r>
            <a:endParaRPr lang="en-US" sz="1200" dirty="0"/>
          </a:p>
        </p:txBody>
      </p:sp>
      <p:sp>
        <p:nvSpPr>
          <p:cNvPr id="11" name="Shape 9"/>
          <p:cNvSpPr/>
          <p:nvPr/>
        </p:nvSpPr>
        <p:spPr>
          <a:xfrm>
            <a:off x="274320" y="3520440"/>
            <a:ext cx="5029200" cy="1143000"/>
          </a:xfrm>
          <a:prstGeom prst="roundRect">
            <a:avLst>
              <a:gd name="adj" fmla="val 8000"/>
            </a:avLst>
          </a:prstGeom>
          <a:solidFill>
            <a:srgbClr val="1A2D5A"/>
          </a:solidFill>
          <a:ln w="19050">
            <a:solidFill>
              <a:srgbClr val="D4943A"/>
            </a:solidFill>
            <a:prstDash val="solid"/>
          </a:ln>
        </p:spPr>
      </p:sp>
      <p:sp>
        <p:nvSpPr>
          <p:cNvPr id="12" name="Text 10"/>
          <p:cNvSpPr/>
          <p:nvPr/>
        </p:nvSpPr>
        <p:spPr>
          <a:xfrm>
            <a:off x="457200" y="3593592"/>
            <a:ext cx="4663440" cy="228600"/>
          </a:xfrm>
          <a:prstGeom prst="rect">
            <a:avLst/>
          </a:prstGeom>
          <a:noFill/>
          <a:ln/>
        </p:spPr>
        <p:txBody>
          <a:bodyPr wrap="square"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GAZETTE MAP NOTE STRUCTURE:</a:t>
            </a:r>
            <a:endParaRPr lang="en-US" sz="900" dirty="0"/>
          </a:p>
        </p:txBody>
      </p:sp>
      <p:sp>
        <p:nvSpPr>
          <p:cNvPr id="13" name="Text 11"/>
          <p:cNvSpPr/>
          <p:nvPr/>
        </p:nvSpPr>
        <p:spPr>
          <a:xfrm>
            <a:off x="457200" y="3849624"/>
            <a:ext cx="4663440" cy="713232"/>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(1) What Herald got partly right  ·  (2) Two sentences of map evidence for specific features  ·  (3) Gazette's corrected claim</a:t>
            </a:r>
            <a:endParaRPr lang="en-US" sz="1200" dirty="0"/>
          </a:p>
        </p:txBody>
      </p:sp>
      <p:sp>
        <p:nvSpPr>
          <p:cNvPr id="14" name="Shape 12"/>
          <p:cNvSpPr/>
          <p:nvPr/>
        </p:nvSpPr>
        <p:spPr>
          <a:xfrm>
            <a:off x="5486400" y="3520440"/>
            <a:ext cx="3383280" cy="1143000"/>
          </a:xfrm>
          <a:prstGeom prst="roundRect">
            <a:avLst>
              <a:gd name="adj" fmla="val 8000"/>
            </a:avLst>
          </a:prstGeom>
          <a:solidFill>
            <a:srgbClr val="D4943A">
              <a:alpha val="85000"/>
            </a:srgbClr>
          </a:solidFill>
          <a:ln w="19050">
            <a:solidFill>
              <a:srgbClr val="D4943A"/>
            </a:solidFill>
            <a:prstDash val="solid"/>
          </a:ln>
        </p:spPr>
      </p:sp>
      <p:sp>
        <p:nvSpPr>
          <p:cNvPr id="15" name="Text 13"/>
          <p:cNvSpPr/>
          <p:nvPr/>
        </p:nvSpPr>
        <p:spPr>
          <a:xfrm>
            <a:off x="5623560" y="3593592"/>
            <a:ext cx="3108960" cy="228600"/>
          </a:xfrm>
          <a:prstGeom prst="rect">
            <a:avLst/>
          </a:prstGeom>
          <a:noFill/>
          <a:ln/>
        </p:spPr>
        <p:txBody>
          <a:bodyPr wrap="square"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ARCHIVE LINE:</a:t>
            </a:r>
            <a:endParaRPr lang="en-US" sz="900" dirty="0"/>
          </a:p>
        </p:txBody>
      </p:sp>
      <p:sp>
        <p:nvSpPr>
          <p:cNvPr id="16" name="Text 14"/>
          <p:cNvSpPr/>
          <p:nvPr/>
        </p:nvSpPr>
        <p:spPr>
          <a:xfrm>
            <a:off x="5623560" y="3849624"/>
            <a:ext cx="3108960" cy="713232"/>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One careful sentence: what should future citizens remember about major physical features as historical evidence?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1A8A7D"/>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FACT-CHECK ROOM  ·  THREE QUICK CHECKS</a:t>
            </a:r>
            <a:endParaRPr lang="en-US" sz="1000" dirty="0"/>
          </a:p>
        </p:txBody>
      </p:sp>
      <p:sp>
        <p:nvSpPr>
          <p:cNvPr id="5" name="Text 3"/>
          <p:cNvSpPr/>
          <p:nvPr/>
        </p:nvSpPr>
        <p:spPr>
          <a:xfrm>
            <a:off x="274320" y="594360"/>
            <a:ext cx="8595360" cy="41148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Can You Answer These Before Publishing?</a:t>
            </a:r>
            <a:endParaRPr lang="en-US" sz="2400" dirty="0"/>
          </a:p>
        </p:txBody>
      </p:sp>
      <p:sp>
        <p:nvSpPr>
          <p:cNvPr id="6" name="Shape 4"/>
          <p:cNvSpPr/>
          <p:nvPr/>
        </p:nvSpPr>
        <p:spPr>
          <a:xfrm>
            <a:off x="274320" y="1143000"/>
            <a:ext cx="8595360" cy="1097280"/>
          </a:xfrm>
          <a:prstGeom prst="roundRect">
            <a:avLst>
              <a:gd name="adj" fmla="val 8333"/>
            </a:avLst>
          </a:prstGeom>
          <a:solidFill>
            <a:srgbClr val="FFFFFF"/>
          </a:solidFill>
          <a:ln w="12700">
            <a:solidFill>
              <a:srgbClr val="1A8A7D"/>
            </a:solidFill>
            <a:prstDash val="solid"/>
          </a:ln>
        </p:spPr>
      </p:sp>
      <p:sp>
        <p:nvSpPr>
          <p:cNvPr id="7" name="Text 5"/>
          <p:cNvSpPr/>
          <p:nvPr/>
        </p:nvSpPr>
        <p:spPr>
          <a:xfrm>
            <a:off x="457200" y="120700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Q1: Which pair of physical features acted as both a barrier AND a corridor for early Americans?</a:t>
            </a:r>
            <a:endParaRPr lang="en-US" sz="1200" dirty="0"/>
          </a:p>
        </p:txBody>
      </p:sp>
      <p:sp>
        <p:nvSpPr>
          <p:cNvPr id="8" name="Text 6"/>
          <p:cNvSpPr/>
          <p:nvPr/>
        </p:nvSpPr>
        <p:spPr>
          <a:xfrm>
            <a:off x="457200" y="155448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The Appalachian Mountains (barrier) and the Mississippi River (corridor).</a:t>
            </a:r>
            <a:endParaRPr lang="en-US" sz="1200" dirty="0"/>
          </a:p>
        </p:txBody>
      </p:sp>
      <p:sp>
        <p:nvSpPr>
          <p:cNvPr id="9" name="Shape 7"/>
          <p:cNvSpPr/>
          <p:nvPr/>
        </p:nvSpPr>
        <p:spPr>
          <a:xfrm>
            <a:off x="274320" y="2377440"/>
            <a:ext cx="8595360" cy="1097280"/>
          </a:xfrm>
          <a:prstGeom prst="roundRect">
            <a:avLst>
              <a:gd name="adj" fmla="val 8333"/>
            </a:avLst>
          </a:prstGeom>
          <a:solidFill>
            <a:srgbClr val="FFFFFF"/>
          </a:solidFill>
          <a:ln w="12700">
            <a:solidFill>
              <a:srgbClr val="1A8A7D"/>
            </a:solidFill>
            <a:prstDash val="solid"/>
          </a:ln>
        </p:spPr>
      </p:sp>
      <p:sp>
        <p:nvSpPr>
          <p:cNvPr id="10" name="Text 8"/>
          <p:cNvSpPr/>
          <p:nvPr/>
        </p:nvSpPr>
        <p:spPr>
          <a:xfrm>
            <a:off x="457200" y="244144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Q2: A responsible editor studying why settlers avoided crossing the Appalachians for over a century would use:</a:t>
            </a:r>
            <a:endParaRPr lang="en-US" sz="1200" dirty="0"/>
          </a:p>
        </p:txBody>
      </p:sp>
      <p:sp>
        <p:nvSpPr>
          <p:cNvPr id="11" name="Text 9"/>
          <p:cNvSpPr/>
          <p:nvPr/>
        </p:nvSpPr>
        <p:spPr>
          <a:xfrm>
            <a:off x="457200" y="278892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A physical map showing elevation and terrain as evidence.</a:t>
            </a:r>
            <a:endParaRPr lang="en-US" sz="1200" dirty="0"/>
          </a:p>
        </p:txBody>
      </p:sp>
      <p:sp>
        <p:nvSpPr>
          <p:cNvPr id="12" name="Shape 10"/>
          <p:cNvSpPr/>
          <p:nvPr/>
        </p:nvSpPr>
        <p:spPr>
          <a:xfrm>
            <a:off x="274320" y="3611880"/>
            <a:ext cx="8595360" cy="1097280"/>
          </a:xfrm>
          <a:prstGeom prst="roundRect">
            <a:avLst>
              <a:gd name="adj" fmla="val 8333"/>
            </a:avLst>
          </a:prstGeom>
          <a:solidFill>
            <a:srgbClr val="FFFFFF"/>
          </a:solidFill>
          <a:ln w="12700">
            <a:solidFill>
              <a:srgbClr val="1A8A7D"/>
            </a:solidFill>
            <a:prstDash val="solid"/>
          </a:ln>
        </p:spPr>
      </p:sp>
      <p:sp>
        <p:nvSpPr>
          <p:cNvPr id="13" name="Text 11"/>
          <p:cNvSpPr/>
          <p:nvPr/>
        </p:nvSpPr>
        <p:spPr>
          <a:xfrm>
            <a:off x="457200" y="367588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Q3: The Hasty Herald calls physical features 'scenery.' A responsible editor would:</a:t>
            </a:r>
            <a:endParaRPr lang="en-US" sz="1200" dirty="0"/>
          </a:p>
        </p:txBody>
      </p:sp>
      <p:sp>
        <p:nvSpPr>
          <p:cNvPr id="14" name="Text 12"/>
          <p:cNvSpPr/>
          <p:nvPr/>
        </p:nvSpPr>
        <p:spPr>
          <a:xfrm>
            <a:off x="457200" y="402336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Check whether physical features actually influenced where people lived and how they moved.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THE REPUBLIC GAZETTE  ·  ISSUE 6 PUBLISHED</a:t>
            </a:r>
            <a:endParaRPr lang="en-US" sz="1100" dirty="0"/>
          </a:p>
        </p:txBody>
      </p:sp>
      <p:sp>
        <p:nvSpPr>
          <p:cNvPr id="7" name="Text 4"/>
          <p:cNvSpPr/>
          <p:nvPr/>
        </p:nvSpPr>
        <p:spPr>
          <a:xfrm>
            <a:off x="457200" y="640080"/>
            <a:ext cx="8229600" cy="548640"/>
          </a:xfrm>
          <a:prstGeom prst="rect">
            <a:avLst/>
          </a:prstGeom>
          <a:noFill/>
          <a:ln/>
        </p:spPr>
        <p:txBody>
          <a:bodyPr wrap="square"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The Land Told Its Story.</a:t>
            </a:r>
            <a:endParaRPr lang="en-US" sz="3400" dirty="0"/>
          </a:p>
        </p:txBody>
      </p:sp>
      <p:sp>
        <p:nvSpPr>
          <p:cNvPr id="8" name="Text 5"/>
          <p:cNvSpPr/>
          <p:nvPr/>
        </p:nvSpPr>
        <p:spPr>
          <a:xfrm>
            <a:off x="457200" y="1234440"/>
            <a:ext cx="8229600" cy="365760"/>
          </a:xfrm>
          <a:prstGeom prst="rect">
            <a:avLst/>
          </a:prstGeom>
          <a:noFill/>
          <a:ln/>
        </p:spPr>
        <p:txBody>
          <a:bodyPr wrap="square" rtlCol="0" anchor="ctr"/>
          <a:lstStyle/>
          <a:p>
            <a:pPr algn="ctr" indent="0" marL="0">
              <a:buNone/>
            </a:pPr>
            <a:r>
              <a:rPr lang="en-US" sz="1500" i="1" dirty="0">
                <a:solidFill>
                  <a:srgbClr val="FFFFFF"/>
                </a:solidFill>
                <a:latin typeface="Cambria" pitchFamily="34" charset="0"/>
                <a:ea typeface="Cambria" pitchFamily="34" charset="-122"/>
                <a:cs typeface="Cambria" pitchFamily="34" charset="-120"/>
              </a:rPr>
              <a:t>You proved that every mountain, river, and plain tells a part of the American story.</a:t>
            </a:r>
            <a:endParaRPr lang="en-US" sz="1500" dirty="0"/>
          </a:p>
        </p:txBody>
      </p:sp>
      <p:sp>
        <p:nvSpPr>
          <p:cNvPr id="9" name="Shape 6"/>
          <p:cNvSpPr/>
          <p:nvPr/>
        </p:nvSpPr>
        <p:spPr>
          <a:xfrm>
            <a:off x="1097280" y="1737360"/>
            <a:ext cx="6949440" cy="777240"/>
          </a:xfrm>
          <a:prstGeom prst="roundRect">
            <a:avLst>
              <a:gd name="adj" fmla="val 14118"/>
            </a:avLst>
          </a:prstGeom>
          <a:solidFill>
            <a:srgbClr val="1A2D5A"/>
          </a:solidFill>
          <a:ln w="19050">
            <a:solidFill>
              <a:srgbClr val="55C8E8"/>
            </a:solidFill>
            <a:prstDash val="solid"/>
          </a:ln>
        </p:spPr>
      </p:sp>
      <p:sp>
        <p:nvSpPr>
          <p:cNvPr id="10" name="Text 7"/>
          <p:cNvSpPr/>
          <p:nvPr/>
        </p:nvSpPr>
        <p:spPr>
          <a:xfrm>
            <a:off x="1280160" y="1801368"/>
            <a:ext cx="6583680" cy="649224"/>
          </a:xfrm>
          <a:prstGeom prst="rect">
            <a:avLst/>
          </a:prstGeom>
          <a:noFill/>
          <a:ln/>
        </p:spPr>
        <p:txBody>
          <a:bodyPr wrap="square" rtlCol="0" anchor="ctr"/>
          <a:lstStyle/>
          <a:p>
            <a:pPr algn="ctr" indent="0" marL="0">
              <a:buNone/>
            </a:pPr>
            <a:r>
              <a:rPr lang="en-US" sz="1400" i="1" dirty="0">
                <a:solidFill>
                  <a:srgbClr val="D6F2FB"/>
                </a:solidFill>
                <a:latin typeface="Cambria" pitchFamily="34" charset="0"/>
                <a:ea typeface="Cambria" pitchFamily="34" charset="-122"/>
                <a:cs typeface="Cambria" pitchFamily="34" charset="-120"/>
              </a:rPr>
              <a:t>"The major physical features of the United States are historical evidence — mountains blocked paths, rivers opened them, and plains invited settlement."</a:t>
            </a:r>
            <a:endParaRPr lang="en-US" sz="1400" dirty="0"/>
          </a:p>
        </p:txBody>
      </p:sp>
      <p:sp>
        <p:nvSpPr>
          <p:cNvPr id="11" name="Shape 8"/>
          <p:cNvSpPr/>
          <p:nvPr/>
        </p:nvSpPr>
        <p:spPr>
          <a:xfrm>
            <a:off x="457200" y="2670048"/>
            <a:ext cx="8229600" cy="2011680"/>
          </a:xfrm>
          <a:prstGeom prst="roundRect">
            <a:avLst>
              <a:gd name="adj" fmla="val 5455"/>
            </a:avLst>
          </a:prstGeom>
          <a:solidFill>
            <a:srgbClr val="E8636B">
              <a:alpha val="75000"/>
            </a:srgbClr>
          </a:solidFill>
          <a:ln w="25400">
            <a:solidFill>
              <a:srgbClr val="E8636B"/>
            </a:solidFill>
            <a:prstDash val="solid"/>
          </a:ln>
        </p:spPr>
      </p:sp>
      <p:sp>
        <p:nvSpPr>
          <p:cNvPr id="12" name="Text 9"/>
          <p:cNvSpPr/>
          <p:nvPr/>
        </p:nvSpPr>
        <p:spPr>
          <a:xfrm>
            <a:off x="640080" y="2743200"/>
            <a:ext cx="7863840" cy="274320"/>
          </a:xfrm>
          <a:prstGeom prst="rect">
            <a:avLst/>
          </a:prstGeom>
          <a:noFill/>
          <a:ln/>
        </p:spPr>
        <p:txBody>
          <a:bodyPr wrap="square"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IN THE NEXT ISSUE: 5.02.03</a:t>
            </a:r>
            <a:endParaRPr lang="en-US" sz="1000" dirty="0"/>
          </a:p>
        </p:txBody>
      </p:sp>
      <p:sp>
        <p:nvSpPr>
          <p:cNvPr id="13" name="Text 10"/>
          <p:cNvSpPr/>
          <p:nvPr/>
        </p:nvSpPr>
        <p:spPr>
          <a:xfrm>
            <a:off x="640080" y="3063240"/>
            <a:ext cx="7863840" cy="36576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States, Capitals, Territories, and the Thirteen Colonies</a:t>
            </a:r>
            <a:endParaRPr lang="en-US" sz="2000" dirty="0"/>
          </a:p>
        </p:txBody>
      </p:sp>
      <p:sp>
        <p:nvSpPr>
          <p:cNvPr id="14" name="Text 11"/>
          <p:cNvSpPr/>
          <p:nvPr/>
        </p:nvSpPr>
        <p:spPr>
          <a:xfrm>
            <a:off x="640080" y="3465576"/>
            <a:ext cx="7863840" cy="1005840"/>
          </a:xfrm>
          <a:prstGeom prst="rect">
            <a:avLst/>
          </a:prstGeom>
          <a:noFill/>
          <a:ln/>
        </p:spPr>
        <p:txBody>
          <a:bodyPr wrap="square" rtlCol="0" anchor="ctr"/>
          <a:lstStyle/>
          <a:p>
            <a:pPr indent="0" marL="0">
              <a:buNone/>
            </a:pPr>
            <a:r>
              <a:rPr lang="en-US" sz="1300" i="1" dirty="0">
                <a:solidFill>
                  <a:srgbClr val="D6F2FB"/>
                </a:solidFill>
                <a:latin typeface="Calibri" pitchFamily="34" charset="0"/>
                <a:ea typeface="Calibri" pitchFamily="34" charset="-122"/>
                <a:cs typeface="Calibri" pitchFamily="34" charset="-120"/>
              </a:rPr>
              <a:t>A new dispatch arrives at the Map Room — and The Hasty Herald has already rushed to print the claim that state borders were drawn at random. An honest editor knows the difference between a state, a territory, and a colony. Editors, sharpen your pencils.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2026-07-16T17:16:14Z</dcterms:created>
  <dcterms:modified xsi:type="dcterms:W3CDTF">2026-07-16T17:16:14Z</dcterms:modified>
</cp:coreProperties>
</file>