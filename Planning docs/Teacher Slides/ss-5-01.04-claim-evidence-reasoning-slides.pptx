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Lst>
  <p:notesMasterIdLst>
    <p:notesMasterId r:id="rId24"/>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notesMaster" Target="notesMasters/notesMaster1.xml"/><Relationship Id="rId25" Type="http://schemas.openxmlformats.org/officeDocument/2006/relationships/presProps" Target="presProps.xml"/><Relationship Id="rId26" Type="http://schemas.openxmlformats.org/officeDocument/2006/relationships/viewProps" Target="viewProps.xml"/><Relationship Id="rId27" Type="http://schemas.openxmlformats.org/officeDocument/2006/relationships/theme" Target="theme/theme1.xml"/><Relationship Id="rId28"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IMAGE TO INSERT: Grand colonial printing press interior — warm candlelight, ink-stained broadside on the press table, early American newspaper setting, dramatic and inviting moodWelcome Junior Editors to the Republic Gazette newsroom. Today's lesson is 5.01.04 — Claim, Evidence, and Reasoning in Social Studies. The Hasty Herald has made a bold claim. Our job as editors is to investigate whether they're right.
IMAGE TO INSERT: Grand colonial printing press interior — warm candlelight, ink-stained broadside on the press table, early American newspaper setting, dramatic and inviting mood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Give students 30 seconds to read the Herald headline. Then open the Chat Frame. Do NOT tell them what is wrong yet. The Herald is not entirely wrong — a strong opinion is often where claims START. The problem is stopping there. Let students sense this tension before naming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 the dispatch aloud or have a student read it. Pause after 'three things' — do not name them yet. Say: 'Ms. Avery mentioned three things the Gazette always checks. Just notice — do you already have a guess about what they might be?'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Give 30 seconds of silent reading. Students type their chat frame response. Do NOT reveal CER yet. Listen for students who sense that Argument B has something Argument A is missing. The words 'evidence' and 'reasoning' do not need to come from you yet.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first real conceptual turn. Push hard on the confidence question — many students conflate confidence with correctness. The key distinction: both start with a position, but a claim goes further. Students who sense this are ready for the CER reveal.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IMAGE TO INSERT: Clean dark editorial desk with three labeled folders labeled Claim, Evidence, Reasoning — arranged side by side, dramatic overhead candlelight, early American newspaper aestheticThe big reveal. Students named the three parts — now they see it has a name: CER. Read the rule at the bottom aloud slowly. Ask: which of those three errors is the Herald making? (Reasoning without evidence — a hunch.) This connects back to Slide 2.
IMAGE TO INSERT: Clean dark editorial desk with three labeled folders: Claim, Evidence, Reasoning — arranged side by side, dramatic overhead candlelight, early American newspaper aesthetic</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Walk through each row. Ask students which part does the heavy lifting — most will say Evidence, but push them: without Reasoning, the evidence just sits there. The Reasoning is the editor's voice connecting the dots.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IMAGE TO INSERT: Early American newspaper editorial broadside (1770s-1830s). Political argument — taxation, representation, or colonial rights. The broadside has a visible claim and some factual evidence, but the reasoning (the 'why this evidence proves the claim' link) is absent or very weak. Aged paper texture, colonial typeface, printed in black ink.
Give 45 seconds of silent observation. After the timer: 'What is this document doing? What is it trying to argue?' Do not use the word CER yet.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Students are doing source evaluation here, not just classification. Push them: 'Where exactly in the broadside do you see the reasoning? If you can not point to it, it may be missing.' This prepares students for Notebook Q2 — they will answer this question in writing on the assignment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Direct preparation for Notebook Q1. The exact question wording will appear again on the assignment slide. Students who engage with this discussion now will write much stronger notebook answers. After the chat frame, ask: 'What would a Hasty Herald editor say if they only had an opinion?' to keep the story frame alive.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Students are rehearsing the answer to Notebook Q2 here. After discussion, say: 'In a few minutes you'll write this down — so make sure you can say WHICH part is weak and HOW you know.' Strong chat responses here become strong notebook entries.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intellectual core of the lesson. Students should reach: 'The Herald is right that you start with a position, but wrong that that's enough.' This is steelman reasoning — a higher-order skill. Celebrate students who can defend the Herald's partial correctness. The Herald's claim is wrong, but it's not stupid.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Bridge from concept to practice. The transferable pattern: students can apply CER in history, geography, economics, and civics. Ask: 'Where else might this rule apply beyond newspapers? Where do people need to prove claims with evidence and reasoning?'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IMAGE TO INSERT: Simple quill pen resting on a blank broadside — candlelight, contemplative mood, the moment before an editor decides whether to print a story. Dark, honest, quiet. No dramatic action.Pause here. Ask: 'What is the connection between honesty and CER?' Let students answer. Key idea: you can be completely sincere and still be dishonest in print if you skip evidence or reasoning. Honesty in journalism means accountability to the evidence, not just to your own belief.
IMAGE TO INSERT: Simple quill pen resting on a blank broadside — candlelight, contemplative mood, the moment before an editor decides whether to print a story. Dark, honest, quiet.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Think aloud through each row. For Claim: 'I answered the question directly.' For Evidence: 'I named a specific source and specific detail.' For Reasoning: 'I told the reader WHY that evidence proves my claim.' After each row, pause and ask: 'What did I just do?'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Collect chat responses and build a class CER response together. Write the class claim in the chat or whiteboard. Then push for evidence: 'What specific event or source could we use?' Then reasoning: 'Why does that prove what we said?' Build all three before moving 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Students should identify: no specific claim (just 'geography is important'), no specific evidence (just 'maps show'), no reasoning at all ('that tells us something' is not reasoning). All three CER parts are vague or absent. Do not tell them — let them find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Give 2 minutes for students to write a revised version in the chat. Look for: specific arguable claim; named source or specific detail; genuine 'because' statement connecting evidence to claim. Read 2-3 examples aloud — ask the class 'Is this Gazette-ready?'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answer here is legitimately both — and that is the point. Reasoning always involves judgment, which is why it can be evaluated and challenged. Celebrate students who hold both positions simultaneously. This is an honest reflection of how historical interpretation works.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Ask students to unmute and answer each question before revealing the answer box. Pause after each question for 10 seconds. This is a low-stakes retrieval check — celebrate correct answers and gently correct misconceptions before the assignment.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Walk through each notebook question and remind students: 'You've already talked through all three of these today — now you write your answers.' Point to the Gazette Correction: 'This is where you correct the Herald using all three CER parts.' Read the Archive Line prompt aloud — make it feel important. This goes in the Gazette archive.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IMAGE TO INSERT: A colonial printing press rolling off the final copy of The Republic Gazette — candlelight, satisfied editor reviewing the proof, triumphant mood. Warm gold tones with deep navy shadows.Celebrate the class. Say: 'The Herald printed without checking. We checked. That is the difference between the Herald and the Gazette.' Read the teaser aloud and build suspense: 'What do YOU think -- are latitude and longitude just numbers? Come ready to debate the Herald next time.'
IMAGE TO INSERT: A colonial printing press rolling off the final copy of The Republic Gazette — candlelight, satisfied editor reviewing the proof, triumphant mood. Warm gold tones with deep navy shadows.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0B1835"/>
          </a:solidFill>
          <a:ln w="19050">
            <a:solidFill>
              <a:srgbClr val="3A5080"/>
            </a:solidFill>
            <a:prstDash val="dash"/>
          </a:ln>
        </p:spPr>
      </p:sp>
      <p:sp>
        <p:nvSpPr>
          <p:cNvPr id="3" name="Shape 1"/>
          <p:cNvSpPr/>
          <p:nvPr/>
        </p:nvSpPr>
        <p:spPr>
          <a:xfrm>
            <a:off x="0" y="0"/>
            <a:ext cx="9144000" cy="5143500"/>
          </a:xfrm>
          <a:prstGeom prst="rect">
            <a:avLst/>
          </a:prstGeom>
          <a:solidFill>
            <a:srgbClr val="0E1C42">
              <a:alpha val="62000"/>
            </a:srgbClr>
          </a:solidFill>
          <a:ln/>
        </p:spPr>
      </p:sp>
      <p:sp>
        <p:nvSpPr>
          <p:cNvPr id="5" name="Shape 2"/>
          <p:cNvSpPr/>
          <p:nvPr/>
        </p:nvSpPr>
        <p:spPr>
          <a:xfrm>
            <a:off x="457200" y="274320"/>
            <a:ext cx="8229600" cy="594360"/>
          </a:xfrm>
          <a:prstGeom prst="rect">
            <a:avLst/>
          </a:prstGeom>
          <a:solidFill>
            <a:srgbClr val="D4943A">
              <a:alpha val="90000"/>
            </a:srgbClr>
          </a:solidFill>
          <a:ln w="12700">
            <a:solidFill>
              <a:srgbClr val="D4943A"/>
            </a:solidFill>
            <a:prstDash val="solid"/>
          </a:ln>
        </p:spPr>
      </p:sp>
      <p:sp>
        <p:nvSpPr>
          <p:cNvPr id="6" name="Text 3"/>
          <p:cNvSpPr/>
          <p:nvPr/>
        </p:nvSpPr>
        <p:spPr>
          <a:xfrm>
            <a:off x="457200" y="274320"/>
            <a:ext cx="8229600" cy="594360"/>
          </a:xfrm>
          <a:prstGeom prst="rect">
            <a:avLst/>
          </a:prstGeom>
          <a:noFill/>
          <a:ln/>
        </p:spPr>
        <p:txBody>
          <a:bodyPr wrap="square" rtlCol="0" anchor="ctr"/>
          <a:lstStyle/>
          <a:p>
            <a:pPr algn="ctr" indent="0" marL="0">
              <a:buNone/>
            </a:pPr>
            <a:r>
              <a:rPr lang="en-US" sz="1800" b="1" spc="200" kern="0" dirty="0">
                <a:solidFill>
                  <a:srgbClr val="FFFFFF"/>
                </a:solidFill>
                <a:latin typeface="Cambria" pitchFamily="34" charset="0"/>
                <a:ea typeface="Cambria" pitchFamily="34" charset="-122"/>
                <a:cs typeface="Cambria" pitchFamily="34" charset="-120"/>
              </a:rPr>
              <a:t>THE REPUBLIC GAZETTE  |  Vol. 1 - Issue 4</a:t>
            </a:r>
            <a:endParaRPr lang="en-US" sz="1800" dirty="0"/>
          </a:p>
        </p:txBody>
      </p:sp>
      <p:sp>
        <p:nvSpPr>
          <p:cNvPr id="7" name="Text 4"/>
          <p:cNvSpPr/>
          <p:nvPr/>
        </p:nvSpPr>
        <p:spPr>
          <a:xfrm>
            <a:off x="640080" y="1005840"/>
            <a:ext cx="7863840" cy="1188720"/>
          </a:xfrm>
          <a:prstGeom prst="rect">
            <a:avLst/>
          </a:prstGeom>
          <a:noFill/>
          <a:ln/>
        </p:spPr>
        <p:txBody>
          <a:bodyPr wrap="square" rtlCol="0" anchor="ctr"/>
          <a:lstStyle/>
          <a:p>
            <a:pPr algn="ctr" indent="0" marL="0">
              <a:buNone/>
            </a:pPr>
            <a:r>
              <a:rPr lang="en-US" sz="3200" b="1" dirty="0">
                <a:solidFill>
                  <a:srgbClr val="FFFFFF"/>
                </a:solidFill>
                <a:latin typeface="Cambria" pitchFamily="34" charset="0"/>
                <a:ea typeface="Cambria" pitchFamily="34" charset="-122"/>
                <a:cs typeface="Cambria" pitchFamily="34" charset="-120"/>
              </a:rPr>
              <a:t>Claim, Evidence, and Reasoning</a:t>
            </a:r>
            <a:endParaRPr lang="en-US" sz="3200" dirty="0"/>
          </a:p>
          <a:p>
            <a:pPr algn="ctr" indent="0" marL="0">
              <a:buNone/>
            </a:pPr>
            <a:r>
              <a:rPr lang="en-US" sz="3200" b="1" dirty="0">
                <a:solidFill>
                  <a:srgbClr val="FFFFFF"/>
                </a:solidFill>
                <a:latin typeface="Cambria" pitchFamily="34" charset="0"/>
                <a:ea typeface="Cambria" pitchFamily="34" charset="-122"/>
                <a:cs typeface="Cambria" pitchFamily="34" charset="-120"/>
              </a:rPr>
              <a:t>in Social Studies</a:t>
            </a:r>
            <a:endParaRPr lang="en-US" sz="3200" dirty="0"/>
          </a:p>
        </p:txBody>
      </p:sp>
      <p:sp>
        <p:nvSpPr>
          <p:cNvPr id="8" name="Shape 5"/>
          <p:cNvSpPr/>
          <p:nvPr/>
        </p:nvSpPr>
        <p:spPr>
          <a:xfrm>
            <a:off x="2286000" y="2286000"/>
            <a:ext cx="4572000" cy="45720"/>
          </a:xfrm>
          <a:prstGeom prst="rect">
            <a:avLst/>
          </a:prstGeom>
          <a:solidFill>
            <a:srgbClr val="D4943A"/>
          </a:solidFill>
          <a:ln w="12700">
            <a:solidFill>
              <a:srgbClr val="D4943A"/>
            </a:solidFill>
            <a:prstDash val="solid"/>
          </a:ln>
        </p:spPr>
      </p:sp>
      <p:sp>
        <p:nvSpPr>
          <p:cNvPr id="9" name="Shape 6"/>
          <p:cNvSpPr/>
          <p:nvPr/>
        </p:nvSpPr>
        <p:spPr>
          <a:xfrm>
            <a:off x="1097280" y="2423160"/>
            <a:ext cx="6949440" cy="822960"/>
          </a:xfrm>
          <a:prstGeom prst="roundRect">
            <a:avLst>
              <a:gd name="adj" fmla="val 11111"/>
            </a:avLst>
          </a:prstGeom>
          <a:solidFill>
            <a:srgbClr val="1A2D5A">
              <a:alpha val="80000"/>
            </a:srgbClr>
          </a:solidFill>
          <a:ln w="19050">
            <a:solidFill>
              <a:srgbClr val="55C8E8"/>
            </a:solidFill>
            <a:prstDash val="solid"/>
          </a:ln>
        </p:spPr>
      </p:sp>
      <p:sp>
        <p:nvSpPr>
          <p:cNvPr id="10" name="Text 7"/>
          <p:cNvSpPr/>
          <p:nvPr/>
        </p:nvSpPr>
        <p:spPr>
          <a:xfrm>
            <a:off x="1280160" y="2487168"/>
            <a:ext cx="6583680" cy="228600"/>
          </a:xfrm>
          <a:prstGeom prst="rect">
            <a:avLst/>
          </a:prstGeom>
          <a:noFill/>
          <a:ln/>
        </p:spPr>
        <p:txBody>
          <a:bodyPr wrap="square" rtlCol="0" anchor="ctr"/>
          <a:lstStyle/>
          <a:p>
            <a:pPr indent="0" marL="0">
              <a:buNone/>
            </a:pPr>
            <a:r>
              <a:rPr lang="en-US" sz="900" b="1" spc="150" kern="0" dirty="0">
                <a:solidFill>
                  <a:srgbClr val="55C8E8"/>
                </a:solidFill>
                <a:latin typeface="Calibri" pitchFamily="34" charset="0"/>
                <a:ea typeface="Calibri" pitchFamily="34" charset="-122"/>
                <a:cs typeface="Calibri" pitchFamily="34" charset="-120"/>
              </a:rPr>
              <a:t>THE HASTY HERALD CLAIMS:</a:t>
            </a:r>
            <a:endParaRPr lang="en-US" sz="900" dirty="0"/>
          </a:p>
        </p:txBody>
      </p:sp>
      <p:sp>
        <p:nvSpPr>
          <p:cNvPr id="11" name="Text 8"/>
          <p:cNvSpPr/>
          <p:nvPr/>
        </p:nvSpPr>
        <p:spPr>
          <a:xfrm>
            <a:off x="1280160" y="2715768"/>
            <a:ext cx="6583680" cy="457200"/>
          </a:xfrm>
          <a:prstGeom prst="rect">
            <a:avLst/>
          </a:prstGeom>
          <a:noFill/>
          <a:ln/>
        </p:spPr>
        <p:txBody>
          <a:bodyPr wrap="square" rtlCol="0" anchor="ctr"/>
          <a:lstStyle/>
          <a:p>
            <a:pPr indent="0" marL="0">
              <a:buNone/>
            </a:pPr>
            <a:r>
              <a:rPr lang="en-US" sz="1300" i="1" dirty="0">
                <a:solidFill>
                  <a:srgbClr val="FFF3DC"/>
                </a:solidFill>
                <a:latin typeface="Cambria" pitchFamily="34" charset="0"/>
                <a:ea typeface="Cambria" pitchFamily="34" charset="-122"/>
                <a:cs typeface="Cambria" pitchFamily="34" charset="-120"/>
              </a:rPr>
              <a:t>"Opinion Is All You Need! A strong opinion is enough for a newspaper claim."</a:t>
            </a:r>
            <a:endParaRPr lang="en-US" sz="1300" dirty="0"/>
          </a:p>
        </p:txBody>
      </p:sp>
      <p:sp>
        <p:nvSpPr>
          <p:cNvPr id="12" name="Shape 9"/>
          <p:cNvSpPr/>
          <p:nvPr/>
        </p:nvSpPr>
        <p:spPr>
          <a:xfrm>
            <a:off x="731520" y="3383280"/>
            <a:ext cx="7680960" cy="685800"/>
          </a:xfrm>
          <a:prstGeom prst="roundRect">
            <a:avLst>
              <a:gd name="adj" fmla="val 13333"/>
            </a:avLst>
          </a:prstGeom>
          <a:solidFill>
            <a:srgbClr val="0B1835">
              <a:alpha val="70000"/>
            </a:srgbClr>
          </a:solidFill>
          <a:ln w="12700">
            <a:solidFill>
              <a:srgbClr val="D4943A"/>
            </a:solidFill>
            <a:prstDash val="solid"/>
          </a:ln>
        </p:spPr>
      </p:sp>
      <p:sp>
        <p:nvSpPr>
          <p:cNvPr id="13" name="Text 10"/>
          <p:cNvSpPr/>
          <p:nvPr/>
        </p:nvSpPr>
        <p:spPr>
          <a:xfrm>
            <a:off x="914400" y="3383280"/>
            <a:ext cx="7315200" cy="685800"/>
          </a:xfrm>
          <a:prstGeom prst="rect">
            <a:avLst/>
          </a:prstGeom>
          <a:noFill/>
          <a:ln/>
        </p:spPr>
        <p:txBody>
          <a:bodyPr wrap="square" rtlCol="0" anchor="ctr"/>
          <a:lstStyle/>
          <a:p>
            <a:pPr indent="0" marL="0">
              <a:buNone/>
            </a:pPr>
            <a:r>
              <a:rPr lang="en-US" sz="1300" dirty="0">
                <a:solidFill>
                  <a:srgbClr val="F0F2F8"/>
                </a:solidFill>
                <a:latin typeface="Calibri" pitchFamily="34" charset="0"/>
                <a:ea typeface="Calibri" pitchFamily="34" charset="-122"/>
                <a:cs typeface="Calibri" pitchFamily="34" charset="-120"/>
              </a:rPr>
              <a:t>GUIDING QUESTION  What turns a strong opinion into a real claim a newspaper can stand behind?</a:t>
            </a:r>
            <a:endParaRPr lang="en-US" sz="1300" dirty="0"/>
          </a:p>
        </p:txBody>
      </p:sp>
      <p:sp>
        <p:nvSpPr>
          <p:cNvPr id="14" name="Text 11"/>
          <p:cNvSpPr/>
          <p:nvPr/>
        </p:nvSpPr>
        <p:spPr>
          <a:xfrm>
            <a:off x="457200" y="4663440"/>
            <a:ext cx="8229600" cy="274320"/>
          </a:xfrm>
          <a:prstGeom prst="rect">
            <a:avLst/>
          </a:prstGeom>
          <a:noFill/>
          <a:ln/>
        </p:spPr>
        <p:txBody>
          <a:bodyPr wrap="square" rtlCol="0" anchor="ctr"/>
          <a:lstStyle/>
          <a:p>
            <a:pPr algn="ctr" indent="0" marL="0">
              <a:buNone/>
            </a:pPr>
            <a:r>
              <a:rPr lang="en-US" sz="1000" dirty="0">
                <a:solidFill>
                  <a:srgbClr val="7A88A8"/>
                </a:solidFill>
                <a:latin typeface="Calibri" pitchFamily="34" charset="0"/>
                <a:ea typeface="Calibri" pitchFamily="34" charset="-122"/>
                <a:cs typeface="Calibri" pitchFamily="34" charset="-120"/>
              </a:rPr>
              <a:t>Week 2 - Q1 - Unit 1: Tools of the American Historian  |  Lesson 5.01.04</a:t>
            </a:r>
            <a:endParaRPr lang="en-US" sz="10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F0F2F8"/>
          </a:solidFill>
          <a:ln w="12700">
            <a:solidFill>
              <a:srgbClr val="F0F2F8"/>
            </a:solidFill>
            <a:prstDash val="solid"/>
          </a:ln>
        </p:spPr>
      </p:sp>
      <p:sp>
        <p:nvSpPr>
          <p:cNvPr id="3" name="Text 1"/>
          <p:cNvSpPr/>
          <p:nvPr/>
        </p:nvSpPr>
        <p:spPr>
          <a:xfrm>
            <a:off x="365760" y="137160"/>
            <a:ext cx="8412480" cy="274320"/>
          </a:xfrm>
          <a:prstGeom prst="rect">
            <a:avLst/>
          </a:prstGeom>
          <a:noFill/>
          <a:ln/>
        </p:spPr>
        <p:txBody>
          <a:bodyPr wrap="square" rtlCol="0" anchor="ctr"/>
          <a:lstStyle/>
          <a:p>
            <a:pPr indent="0" marL="0">
              <a:buNone/>
            </a:pPr>
            <a:r>
              <a:rPr lang="en-US" sz="1000" b="1" spc="150" kern="0" dirty="0">
                <a:solidFill>
                  <a:srgbClr val="E8636B"/>
                </a:solidFill>
                <a:latin typeface="Calibri" pitchFamily="34" charset="0"/>
                <a:ea typeface="Calibri" pitchFamily="34" charset="-122"/>
                <a:cs typeface="Calibri" pitchFamily="34" charset="-120"/>
              </a:rPr>
              <a:t>THE HASTY HERALD  --  BREAKING NEWS</a:t>
            </a:r>
            <a:endParaRPr lang="en-US" sz="1000" dirty="0"/>
          </a:p>
        </p:txBody>
      </p:sp>
      <p:sp>
        <p:nvSpPr>
          <p:cNvPr id="4" name="Shape 2"/>
          <p:cNvSpPr/>
          <p:nvPr/>
        </p:nvSpPr>
        <p:spPr>
          <a:xfrm>
            <a:off x="365760" y="438912"/>
            <a:ext cx="8412480" cy="45720"/>
          </a:xfrm>
          <a:prstGeom prst="rect">
            <a:avLst/>
          </a:prstGeom>
          <a:solidFill>
            <a:srgbClr val="D4943A"/>
          </a:solidFill>
          <a:ln w="12700">
            <a:solidFill>
              <a:srgbClr val="D4943A"/>
            </a:solidFill>
            <a:prstDash val="solid"/>
          </a:ln>
        </p:spPr>
      </p:sp>
      <p:sp>
        <p:nvSpPr>
          <p:cNvPr id="5" name="Shape 3"/>
          <p:cNvSpPr/>
          <p:nvPr/>
        </p:nvSpPr>
        <p:spPr>
          <a:xfrm>
            <a:off x="457200" y="548640"/>
            <a:ext cx="5120640" cy="2651760"/>
          </a:xfrm>
          <a:prstGeom prst="roundRect">
            <a:avLst>
              <a:gd name="adj" fmla="val 3448"/>
            </a:avLst>
          </a:prstGeom>
          <a:solidFill>
            <a:srgbClr val="FFFFFF"/>
          </a:solidFill>
          <a:ln w="25400">
            <a:solidFill>
              <a:srgbClr val="E8636B"/>
            </a:solidFill>
            <a:prstDash val="solid"/>
          </a:ln>
        </p:spPr>
      </p:sp>
      <p:sp>
        <p:nvSpPr>
          <p:cNvPr id="6" name="Text 4"/>
          <p:cNvSpPr/>
          <p:nvPr/>
        </p:nvSpPr>
        <p:spPr>
          <a:xfrm>
            <a:off x="640080" y="621792"/>
            <a:ext cx="4754880" cy="228600"/>
          </a:xfrm>
          <a:prstGeom prst="rect">
            <a:avLst/>
          </a:prstGeom>
          <a:noFill/>
          <a:ln/>
        </p:spPr>
        <p:txBody>
          <a:bodyPr wrap="square" rtlCol="0" anchor="ctr"/>
          <a:lstStyle/>
          <a:p>
            <a:pPr indent="0" marL="0">
              <a:buNone/>
            </a:pPr>
            <a:r>
              <a:rPr lang="en-US" sz="900" b="1" spc="150" kern="0" dirty="0">
                <a:solidFill>
                  <a:srgbClr val="E8636B"/>
                </a:solidFill>
                <a:latin typeface="Calibri" pitchFamily="34" charset="0"/>
                <a:ea typeface="Calibri" pitchFamily="34" charset="-122"/>
                <a:cs typeface="Calibri" pitchFamily="34" charset="-120"/>
              </a:rPr>
              <a:t>HERALD EXCLUSIVE</a:t>
            </a:r>
            <a:endParaRPr lang="en-US" sz="900" dirty="0"/>
          </a:p>
        </p:txBody>
      </p:sp>
      <p:sp>
        <p:nvSpPr>
          <p:cNvPr id="7" name="Text 5"/>
          <p:cNvSpPr/>
          <p:nvPr/>
        </p:nvSpPr>
        <p:spPr>
          <a:xfrm>
            <a:off x="640080" y="868680"/>
            <a:ext cx="4754880" cy="685800"/>
          </a:xfrm>
          <a:prstGeom prst="rect">
            <a:avLst/>
          </a:prstGeom>
          <a:noFill/>
          <a:ln/>
        </p:spPr>
        <p:txBody>
          <a:bodyPr wrap="square" rtlCol="0" anchor="ctr"/>
          <a:lstStyle/>
          <a:p>
            <a:pPr indent="0" marL="0">
              <a:buNone/>
            </a:pPr>
            <a:r>
              <a:rPr lang="en-US" sz="2200" b="1" dirty="0">
                <a:solidFill>
                  <a:srgbClr val="0E1C42"/>
                </a:solidFill>
                <a:latin typeface="Cambria" pitchFamily="34" charset="0"/>
                <a:ea typeface="Cambria" pitchFamily="34" charset="-122"/>
                <a:cs typeface="Cambria" pitchFamily="34" charset="-120"/>
              </a:rPr>
              <a:t>"Opinion Is All You Need!"</a:t>
            </a:r>
            <a:endParaRPr lang="en-US" sz="2200" dirty="0"/>
          </a:p>
        </p:txBody>
      </p:sp>
      <p:sp>
        <p:nvSpPr>
          <p:cNvPr id="8" name="Text 6"/>
          <p:cNvSpPr/>
          <p:nvPr/>
        </p:nvSpPr>
        <p:spPr>
          <a:xfrm>
            <a:off x="640080" y="1600200"/>
            <a:ext cx="4663440" cy="1417320"/>
          </a:xfrm>
          <a:prstGeom prst="rect">
            <a:avLst/>
          </a:prstGeom>
          <a:noFill/>
          <a:ln/>
        </p:spPr>
        <p:txBody>
          <a:bodyPr wrap="square" rtlCol="0" anchor="ctr"/>
          <a:lstStyle/>
          <a:p>
            <a:pPr indent="0" marL="0">
              <a:buNone/>
            </a:pPr>
            <a:r>
              <a:rPr lang="en-US" sz="1300" i="1" dirty="0">
                <a:solidFill>
                  <a:srgbClr val="3A3A3A"/>
                </a:solidFill>
                <a:latin typeface="Calibri" pitchFamily="34" charset="0"/>
                <a:ea typeface="Calibri" pitchFamily="34" charset="-122"/>
                <a:cs typeface="Calibri" pitchFamily="34" charset="-120"/>
              </a:rPr>
              <a:t>A strong opinion is enough for a newspaper claim. Why clutter the page with facts when you already know you're right?</a:t>
            </a:r>
            <a:endParaRPr lang="en-US" sz="1300" dirty="0"/>
          </a:p>
        </p:txBody>
      </p:sp>
      <p:sp>
        <p:nvSpPr>
          <p:cNvPr id="9" name="Shape 7"/>
          <p:cNvSpPr/>
          <p:nvPr/>
        </p:nvSpPr>
        <p:spPr>
          <a:xfrm>
            <a:off x="640080" y="2926080"/>
            <a:ext cx="1371600" cy="228600"/>
          </a:xfrm>
          <a:prstGeom prst="rect">
            <a:avLst/>
          </a:prstGeom>
          <a:solidFill>
            <a:srgbClr val="E8636B"/>
          </a:solidFill>
          <a:ln w="12700">
            <a:solidFill>
              <a:srgbClr val="E8636B"/>
            </a:solidFill>
            <a:prstDash val="solid"/>
          </a:ln>
        </p:spPr>
      </p:sp>
      <p:sp>
        <p:nvSpPr>
          <p:cNvPr id="10" name="Text 8"/>
          <p:cNvSpPr/>
          <p:nvPr/>
        </p:nvSpPr>
        <p:spPr>
          <a:xfrm>
            <a:off x="640080" y="2926080"/>
            <a:ext cx="1371600" cy="228600"/>
          </a:xfrm>
          <a:prstGeom prst="rect">
            <a:avLst/>
          </a:prstGeom>
          <a:noFill/>
          <a:ln/>
        </p:spPr>
        <p:txBody>
          <a:bodyPr wrap="square" rtlCol="0" anchor="ctr"/>
          <a:lstStyle/>
          <a:p>
            <a:pPr algn="ctr" indent="0" marL="0">
              <a:buNone/>
            </a:pPr>
            <a:r>
              <a:rPr lang="en-US" sz="800" b="1" spc="100" kern="0" dirty="0">
                <a:solidFill>
                  <a:srgbClr val="FFFFFF"/>
                </a:solidFill>
                <a:latin typeface="Calibri" pitchFamily="34" charset="0"/>
                <a:ea typeface="Calibri" pitchFamily="34" charset="-122"/>
                <a:cs typeface="Calibri" pitchFamily="34" charset="-120"/>
              </a:rPr>
              <a:t>THE HASTY HERALD</a:t>
            </a:r>
            <a:endParaRPr lang="en-US" sz="800" dirty="0"/>
          </a:p>
        </p:txBody>
      </p:sp>
      <p:sp>
        <p:nvSpPr>
          <p:cNvPr id="11" name="Shape 9"/>
          <p:cNvSpPr/>
          <p:nvPr/>
        </p:nvSpPr>
        <p:spPr>
          <a:xfrm>
            <a:off x="5760720" y="548640"/>
            <a:ext cx="3017520" cy="1280160"/>
          </a:xfrm>
          <a:prstGeom prst="roundRect">
            <a:avLst>
              <a:gd name="adj" fmla="val 8571"/>
            </a:avLst>
          </a:prstGeom>
          <a:solidFill>
            <a:srgbClr val="FFF3DC"/>
          </a:solidFill>
          <a:ln w="19050">
            <a:solidFill>
              <a:srgbClr val="F5E6C8"/>
            </a:solidFill>
            <a:prstDash val="solid"/>
          </a:ln>
        </p:spPr>
      </p:sp>
      <p:sp>
        <p:nvSpPr>
          <p:cNvPr id="12" name="Text 10"/>
          <p:cNvSpPr/>
          <p:nvPr/>
        </p:nvSpPr>
        <p:spPr>
          <a:xfrm>
            <a:off x="5897880" y="603504"/>
            <a:ext cx="2743200" cy="201168"/>
          </a:xfrm>
          <a:prstGeom prst="rect">
            <a:avLst/>
          </a:prstGeom>
          <a:noFill/>
          <a:ln/>
        </p:spPr>
        <p:txBody>
          <a:bodyPr wrap="square" lIns="0" tIns="0" rIns="0" bIns="0" rtlCol="0" anchor="ctr"/>
          <a:lstStyle/>
          <a:p>
            <a:pPr indent="0" marL="0">
              <a:buNone/>
            </a:pPr>
            <a:r>
              <a:rPr lang="en-US" sz="900" b="1" spc="150" kern="0" dirty="0">
                <a:solidFill>
                  <a:srgbClr val="D4943A"/>
                </a:solidFill>
                <a:latin typeface="Calibri" pitchFamily="34" charset="0"/>
                <a:ea typeface="Calibri" pitchFamily="34" charset="-122"/>
                <a:cs typeface="Calibri" pitchFamily="34" charset="-120"/>
              </a:rPr>
              <a:t>CHAT FRAME</a:t>
            </a:r>
            <a:endParaRPr lang="en-US" sz="900" dirty="0"/>
          </a:p>
        </p:txBody>
      </p:sp>
      <p:sp>
        <p:nvSpPr>
          <p:cNvPr id="13" name="Text 11"/>
          <p:cNvSpPr/>
          <p:nvPr/>
        </p:nvSpPr>
        <p:spPr>
          <a:xfrm>
            <a:off x="5897880" y="804672"/>
            <a:ext cx="2743200" cy="960120"/>
          </a:xfrm>
          <a:prstGeom prst="rect">
            <a:avLst/>
          </a:prstGeom>
          <a:noFill/>
          <a:ln/>
        </p:spPr>
        <p:txBody>
          <a:bodyPr wrap="square" lIns="0" tIns="0" rIns="0" bIns="0" rtlCol="0" anchor="t"/>
          <a:lstStyle/>
          <a:p>
            <a:pPr indent="0" marL="0">
              <a:spcAft>
                <a:spcPts val="500"/>
              </a:spcAft>
              <a:buNone/>
            </a:pPr>
            <a:r>
              <a:rPr lang="en-US" sz="1200" i="1" dirty="0">
                <a:solidFill>
                  <a:srgbClr val="5A4A3A"/>
                </a:solidFill>
                <a:latin typeface="Cambria" pitchFamily="34" charset="0"/>
                <a:ea typeface="Cambria" pitchFamily="34" charset="-122"/>
                <a:cs typeface="Cambria" pitchFamily="34" charset="-120"/>
              </a:rPr>
              <a:t>"The Herald is ___ right because... but also wrong because..."</a:t>
            </a:r>
            <a:endParaRPr lang="en-US" sz="1200" dirty="0"/>
          </a:p>
        </p:txBody>
      </p:sp>
      <p:sp>
        <p:nvSpPr>
          <p:cNvPr id="14" name="Shape 12"/>
          <p:cNvSpPr/>
          <p:nvPr/>
        </p:nvSpPr>
        <p:spPr>
          <a:xfrm>
            <a:off x="5760720" y="2011680"/>
            <a:ext cx="3017520" cy="1737360"/>
          </a:xfrm>
          <a:prstGeom prst="roundRect">
            <a:avLst>
              <a:gd name="adj" fmla="val 6316"/>
            </a:avLst>
          </a:prstGeom>
          <a:solidFill>
            <a:srgbClr val="1A2D5A"/>
          </a:solidFill>
          <a:ln w="12700">
            <a:solidFill>
              <a:srgbClr val="2A4070"/>
            </a:solidFill>
            <a:prstDash val="solid"/>
          </a:ln>
        </p:spPr>
      </p:sp>
      <p:sp>
        <p:nvSpPr>
          <p:cNvPr id="15" name="Text 13"/>
          <p:cNvSpPr/>
          <p:nvPr/>
        </p:nvSpPr>
        <p:spPr>
          <a:xfrm>
            <a:off x="5897880" y="2066544"/>
            <a:ext cx="2743200" cy="201168"/>
          </a:xfrm>
          <a:prstGeom prst="rect">
            <a:avLst/>
          </a:prstGeom>
          <a:noFill/>
          <a:ln/>
        </p:spPr>
        <p:txBody>
          <a:bodyPr wrap="square" lIns="0" tIns="0" rIns="0" bIns="0" rtlCol="0" anchor="ctr"/>
          <a:lstStyle/>
          <a:p>
            <a:pPr indent="0" marL="0">
              <a:buNone/>
            </a:pPr>
            <a:r>
              <a:rPr lang="en-US" sz="900" b="1" spc="150" kern="0" dirty="0">
                <a:solidFill>
                  <a:srgbClr val="55C8E8"/>
                </a:solidFill>
                <a:latin typeface="Calibri" pitchFamily="34" charset="0"/>
                <a:ea typeface="Calibri" pitchFamily="34" charset="-122"/>
                <a:cs typeface="Calibri" pitchFamily="34" charset="-120"/>
              </a:rPr>
              <a:t>SOCRATIC QUESTIONS</a:t>
            </a:r>
            <a:endParaRPr lang="en-US" sz="900" dirty="0"/>
          </a:p>
        </p:txBody>
      </p:sp>
      <p:sp>
        <p:nvSpPr>
          <p:cNvPr id="16" name="Text 14"/>
          <p:cNvSpPr/>
          <p:nvPr/>
        </p:nvSpPr>
        <p:spPr>
          <a:xfrm>
            <a:off x="5943600" y="2331720"/>
            <a:ext cx="2651760" cy="1325880"/>
          </a:xfrm>
          <a:prstGeom prst="rect">
            <a:avLst/>
          </a:prstGeom>
          <a:noFill/>
          <a:ln/>
        </p:spPr>
        <p:txBody>
          <a:bodyPr wrap="square" lIns="0" tIns="0" rIns="0" bIns="0" rtlCol="0" anchor="t"/>
          <a:lstStyle/>
          <a:p>
            <a:pPr indent="0" marL="0">
              <a:spcAft>
                <a:spcPts val="400"/>
              </a:spcAft>
              <a:buNone/>
            </a:pPr>
            <a:r>
              <a:rPr lang="en-US" sz="1100" i="1" dirty="0">
                <a:solidFill>
                  <a:srgbClr val="D6F2FB"/>
                </a:solidFill>
                <a:latin typeface="Calibri" pitchFamily="34" charset="0"/>
                <a:ea typeface="Calibri" pitchFamily="34" charset="-122"/>
                <a:cs typeface="Calibri" pitchFamily="34" charset="-120"/>
              </a:rPr>
              <a:t>What sounds reasonable about what the Herald said?</a:t>
            </a:r>
            <a:endParaRPr lang="en-US" sz="1100" dirty="0"/>
          </a:p>
          <a:p>
            <a:pPr indent="0" marL="0">
              <a:spcAft>
                <a:spcPts val="400"/>
              </a:spcAft>
              <a:buNone/>
            </a:pPr>
            <a:r>
              <a:rPr lang="en-US" sz="1100" i="1" dirty="0">
                <a:solidFill>
                  <a:srgbClr val="D6F2FB"/>
                </a:solidFill>
                <a:latin typeface="Calibri" pitchFamily="34" charset="0"/>
                <a:ea typeface="Calibri" pitchFamily="34" charset="-122"/>
                <a:cs typeface="Calibri" pitchFamily="34" charset="-120"/>
              </a:rPr>
              <a:t>What is the difference between having a strong opinion and being right?</a:t>
            </a:r>
            <a:endParaRPr lang="en-US" sz="1100" dirty="0"/>
          </a:p>
          <a:p>
            <a:pPr indent="0" marL="0">
              <a:spcAft>
                <a:spcPts val="400"/>
              </a:spcAft>
              <a:buNone/>
            </a:pPr>
            <a:r>
              <a:rPr lang="en-US" sz="1100" i="1" dirty="0">
                <a:solidFill>
                  <a:srgbClr val="D6F2FB"/>
                </a:solidFill>
                <a:latin typeface="Calibri" pitchFamily="34" charset="0"/>
                <a:ea typeface="Calibri" pitchFamily="34" charset="-122"/>
                <a:cs typeface="Calibri" pitchFamily="34" charset="-120"/>
              </a:rPr>
              <a:t>Would you print this claim in the Gazette? Why or why not?</a:t>
            </a:r>
            <a:endParaRPr lang="en-US" sz="11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0E1C42"/>
          </a:solidFill>
          <a:ln w="12700">
            <a:solidFill>
              <a:srgbClr val="0E1C42"/>
            </a:solidFill>
            <a:prstDash val="solid"/>
          </a:ln>
        </p:spPr>
      </p:sp>
      <p:sp>
        <p:nvSpPr>
          <p:cNvPr id="3" name="Text 1"/>
          <p:cNvSpPr/>
          <p:nvPr/>
        </p:nvSpPr>
        <p:spPr>
          <a:xfrm>
            <a:off x="457200" y="182880"/>
            <a:ext cx="8229600" cy="274320"/>
          </a:xfrm>
          <a:prstGeom prst="rect">
            <a:avLst/>
          </a:prstGeom>
          <a:noFill/>
          <a:ln/>
        </p:spPr>
        <p:txBody>
          <a:bodyPr wrap="square" rtlCol="0" anchor="ctr"/>
          <a:lstStyle/>
          <a:p>
            <a:pPr indent="0" marL="0">
              <a:buNone/>
            </a:pPr>
            <a:r>
              <a:rPr lang="en-US" sz="1000" b="1" spc="150" kern="0" dirty="0">
                <a:solidFill>
                  <a:srgbClr val="D4943A"/>
                </a:solidFill>
                <a:latin typeface="Calibri" pitchFamily="34" charset="0"/>
                <a:ea typeface="Calibri" pitchFamily="34" charset="-122"/>
                <a:cs typeface="Calibri" pitchFamily="34" charset="-120"/>
              </a:rPr>
              <a:t>DISPATCH FROM THE EDITOR-IN-CHIEF</a:t>
            </a:r>
            <a:endParaRPr lang="en-US" sz="1000" dirty="0"/>
          </a:p>
        </p:txBody>
      </p:sp>
      <p:sp>
        <p:nvSpPr>
          <p:cNvPr id="4" name="Shape 2"/>
          <p:cNvSpPr/>
          <p:nvPr/>
        </p:nvSpPr>
        <p:spPr>
          <a:xfrm>
            <a:off x="457200" y="502920"/>
            <a:ext cx="8229600" cy="45720"/>
          </a:xfrm>
          <a:prstGeom prst="rect">
            <a:avLst/>
          </a:prstGeom>
          <a:solidFill>
            <a:srgbClr val="D4943A"/>
          </a:solidFill>
          <a:ln w="12700">
            <a:solidFill>
              <a:srgbClr val="D4943A"/>
            </a:solidFill>
            <a:prstDash val="solid"/>
          </a:ln>
        </p:spPr>
      </p:sp>
      <p:sp>
        <p:nvSpPr>
          <p:cNvPr id="5" name="Shape 3"/>
          <p:cNvSpPr/>
          <p:nvPr/>
        </p:nvSpPr>
        <p:spPr>
          <a:xfrm>
            <a:off x="457200" y="640080"/>
            <a:ext cx="8229600" cy="3474720"/>
          </a:xfrm>
          <a:prstGeom prst="roundRect">
            <a:avLst>
              <a:gd name="adj" fmla="val 3158"/>
            </a:avLst>
          </a:prstGeom>
          <a:solidFill>
            <a:srgbClr val="1A2D5A"/>
          </a:solidFill>
          <a:ln w="19050">
            <a:solidFill>
              <a:srgbClr val="D4943A"/>
            </a:solidFill>
            <a:prstDash val="solid"/>
          </a:ln>
        </p:spPr>
      </p:sp>
      <p:sp>
        <p:nvSpPr>
          <p:cNvPr id="6" name="Text 4"/>
          <p:cNvSpPr/>
          <p:nvPr/>
        </p:nvSpPr>
        <p:spPr>
          <a:xfrm>
            <a:off x="777240" y="777240"/>
            <a:ext cx="7589520" cy="320040"/>
          </a:xfrm>
          <a:prstGeom prst="rect">
            <a:avLst/>
          </a:prstGeom>
          <a:noFill/>
          <a:ln/>
        </p:spPr>
        <p:txBody>
          <a:bodyPr wrap="square" rtlCol="0" anchor="ctr"/>
          <a:lstStyle/>
          <a:p>
            <a:pPr indent="0" marL="0">
              <a:buNone/>
            </a:pPr>
            <a:r>
              <a:rPr lang="en-US" sz="1300" b="1" dirty="0">
                <a:solidFill>
                  <a:srgbClr val="55C8E8"/>
                </a:solidFill>
                <a:latin typeface="Calibri" pitchFamily="34" charset="0"/>
                <a:ea typeface="Calibri" pitchFamily="34" charset="-122"/>
                <a:cs typeface="Calibri" pitchFamily="34" charset="-120"/>
              </a:rPr>
              <a:t>TO:  Junior Editors, Source Desk</a:t>
            </a:r>
            <a:endParaRPr lang="en-US" sz="1300" dirty="0"/>
          </a:p>
        </p:txBody>
      </p:sp>
      <p:sp>
        <p:nvSpPr>
          <p:cNvPr id="7" name="Text 5"/>
          <p:cNvSpPr/>
          <p:nvPr/>
        </p:nvSpPr>
        <p:spPr>
          <a:xfrm>
            <a:off x="777240" y="1115568"/>
            <a:ext cx="7589520" cy="320040"/>
          </a:xfrm>
          <a:prstGeom prst="rect">
            <a:avLst/>
          </a:prstGeom>
          <a:noFill/>
          <a:ln/>
        </p:spPr>
        <p:txBody>
          <a:bodyPr wrap="square" rtlCol="0" anchor="ctr"/>
          <a:lstStyle/>
          <a:p>
            <a:pPr indent="0" marL="0">
              <a:buNone/>
            </a:pPr>
            <a:r>
              <a:rPr lang="en-US" sz="1300" b="1" dirty="0">
                <a:solidFill>
                  <a:srgbClr val="55C8E8"/>
                </a:solidFill>
                <a:latin typeface="Calibri" pitchFamily="34" charset="0"/>
                <a:ea typeface="Calibri" pitchFamily="34" charset="-122"/>
                <a:cs typeface="Calibri" pitchFamily="34" charset="-120"/>
              </a:rPr>
              <a:t>FROM:  Ms. Avery, Editor-in-Chief, The Republic Gazette</a:t>
            </a:r>
            <a:endParaRPr lang="en-US" sz="1300" dirty="0"/>
          </a:p>
        </p:txBody>
      </p:sp>
      <p:sp>
        <p:nvSpPr>
          <p:cNvPr id="8" name="Text 6"/>
          <p:cNvSpPr/>
          <p:nvPr/>
        </p:nvSpPr>
        <p:spPr>
          <a:xfrm>
            <a:off x="777240" y="1453896"/>
            <a:ext cx="7589520" cy="320040"/>
          </a:xfrm>
          <a:prstGeom prst="rect">
            <a:avLst/>
          </a:prstGeom>
          <a:noFill/>
          <a:ln/>
        </p:spPr>
        <p:txBody>
          <a:bodyPr wrap="square" rtlCol="0" anchor="ctr"/>
          <a:lstStyle/>
          <a:p>
            <a:pPr indent="0" marL="0">
              <a:buNone/>
            </a:pPr>
            <a:r>
              <a:rPr lang="en-US" sz="1300" b="1" dirty="0">
                <a:solidFill>
                  <a:srgbClr val="D4943A"/>
                </a:solidFill>
                <a:latin typeface="Calibri" pitchFamily="34" charset="0"/>
                <a:ea typeface="Calibri" pitchFamily="34" charset="-122"/>
                <a:cs typeface="Calibri" pitchFamily="34" charset="-120"/>
              </a:rPr>
              <a:t>RE:  The Hasty Herald's Latest Mistake</a:t>
            </a:r>
            <a:endParaRPr lang="en-US" sz="1300" dirty="0"/>
          </a:p>
        </p:txBody>
      </p:sp>
      <p:sp>
        <p:nvSpPr>
          <p:cNvPr id="9" name="Shape 7"/>
          <p:cNvSpPr/>
          <p:nvPr/>
        </p:nvSpPr>
        <p:spPr>
          <a:xfrm>
            <a:off x="777240" y="1801368"/>
            <a:ext cx="7406640" cy="27432"/>
          </a:xfrm>
          <a:prstGeom prst="rect">
            <a:avLst/>
          </a:prstGeom>
          <a:solidFill>
            <a:srgbClr val="2A4070"/>
          </a:solidFill>
          <a:ln w="12700">
            <a:solidFill>
              <a:srgbClr val="2A4070"/>
            </a:solidFill>
            <a:prstDash val="solid"/>
          </a:ln>
        </p:spPr>
      </p:sp>
      <p:sp>
        <p:nvSpPr>
          <p:cNvPr id="10" name="Text 8"/>
          <p:cNvSpPr/>
          <p:nvPr/>
        </p:nvSpPr>
        <p:spPr>
          <a:xfrm>
            <a:off x="777240" y="1901952"/>
            <a:ext cx="7406640" cy="2029968"/>
          </a:xfrm>
          <a:prstGeom prst="rect">
            <a:avLst/>
          </a:prstGeom>
          <a:noFill/>
          <a:ln/>
        </p:spPr>
        <p:txBody>
          <a:bodyPr wrap="square" rtlCol="0" anchor="t"/>
          <a:lstStyle/>
          <a:p>
            <a:pPr indent="0" marL="0">
              <a:buNone/>
            </a:pPr>
            <a:r>
              <a:rPr lang="en-US" sz="1300" dirty="0">
                <a:solidFill>
                  <a:srgbClr val="D6F2FB"/>
                </a:solidFill>
                <a:latin typeface="Calibri" pitchFamily="34" charset="0"/>
                <a:ea typeface="Calibri" pitchFamily="34" charset="-122"/>
                <a:cs typeface="Calibri" pitchFamily="34" charset="-120"/>
              </a:rPr>
              <a:t>Junior Editors — the Herald is at it again. They've printed a headline claiming that a strong opinion is all a newspaper needs. Before the Republic Gazette prints anything, we check three things: the Claim, the Evidence, and the Reasoning.</a:t>
            </a:r>
            <a:endParaRPr lang="en-US" sz="1300" dirty="0"/>
          </a:p>
          <a:p>
            <a:pPr indent="0" marL="0">
              <a:buNone/>
            </a:pPr>
            <a:endParaRPr lang="en-US" sz="1300" dirty="0"/>
          </a:p>
          <a:p>
            <a:pPr indent="0" marL="0">
              <a:buNone/>
            </a:pPr>
            <a:r>
              <a:rPr lang="en-US" sz="1300" dirty="0">
                <a:solidFill>
                  <a:srgbClr val="D6F2FB"/>
                </a:solidFill>
                <a:latin typeface="Calibri" pitchFamily="34" charset="0"/>
                <a:ea typeface="Calibri" pitchFamily="34" charset="-122"/>
                <a:cs typeface="Calibri" pitchFamily="34" charset="-120"/>
              </a:rPr>
              <a:t>Today you are on Source Desk. Your job: investigate what makes a real claim — and write a Gazette Correction that shows the Herald exactly what they're missing.</a:t>
            </a:r>
            <a:endParaRPr lang="en-US" sz="1300" dirty="0"/>
          </a:p>
        </p:txBody>
      </p:sp>
      <p:sp>
        <p:nvSpPr>
          <p:cNvPr id="11" name="Text 9"/>
          <p:cNvSpPr/>
          <p:nvPr/>
        </p:nvSpPr>
        <p:spPr>
          <a:xfrm>
            <a:off x="457200" y="4251960"/>
            <a:ext cx="8229600" cy="274320"/>
          </a:xfrm>
          <a:prstGeom prst="rect">
            <a:avLst/>
          </a:prstGeom>
          <a:noFill/>
          <a:ln/>
        </p:spPr>
        <p:txBody>
          <a:bodyPr wrap="square" rtlCol="0" anchor="ctr"/>
          <a:lstStyle/>
          <a:p>
            <a:pPr algn="ctr" indent="0" marL="0">
              <a:buNone/>
            </a:pPr>
            <a:r>
              <a:rPr lang="en-US" sz="1100" b="1" dirty="0">
                <a:solidFill>
                  <a:srgbClr val="D4943A"/>
                </a:solidFill>
                <a:latin typeface="Calibri" pitchFamily="34" charset="0"/>
                <a:ea typeface="Calibri" pitchFamily="34" charset="-122"/>
                <a:cs typeface="Calibri" pitchFamily="34" charset="-120"/>
              </a:rPr>
              <a:t>Your Role Today: Junior Editor, Source Desk</a:t>
            </a:r>
            <a:endParaRPr lang="en-US" sz="11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F0F2F8"/>
          </a:solidFill>
          <a:ln w="12700">
            <a:solidFill>
              <a:srgbClr val="F0F2F8"/>
            </a:solidFill>
            <a:prstDash val="solid"/>
          </a:ln>
        </p:spPr>
      </p:sp>
      <p:sp>
        <p:nvSpPr>
          <p:cNvPr id="3" name="Text 1"/>
          <p:cNvSpPr/>
          <p:nvPr/>
        </p:nvSpPr>
        <p:spPr>
          <a:xfrm>
            <a:off x="365760" y="91440"/>
            <a:ext cx="8412480" cy="274320"/>
          </a:xfrm>
          <a:prstGeom prst="rect">
            <a:avLst/>
          </a:prstGeom>
          <a:noFill/>
          <a:ln/>
        </p:spPr>
        <p:txBody>
          <a:bodyPr wrap="square" rtlCol="0" anchor="ctr"/>
          <a:lstStyle/>
          <a:p>
            <a:pPr indent="0" marL="0">
              <a:buNone/>
            </a:pPr>
            <a:r>
              <a:rPr lang="en-US" sz="1000" b="1" spc="150" kern="0" dirty="0">
                <a:solidFill>
                  <a:srgbClr val="1A8A7D"/>
                </a:solidFill>
                <a:latin typeface="Calibri" pitchFamily="34" charset="0"/>
                <a:ea typeface="Calibri" pitchFamily="34" charset="-122"/>
                <a:cs typeface="Calibri" pitchFamily="34" charset="-120"/>
              </a:rPr>
              <a:t>CLUE BOX: THE OPINION TEST</a:t>
            </a:r>
            <a:endParaRPr lang="en-US" sz="1000" dirty="0"/>
          </a:p>
        </p:txBody>
      </p:sp>
      <p:sp>
        <p:nvSpPr>
          <p:cNvPr id="4" name="Shape 2"/>
          <p:cNvSpPr/>
          <p:nvPr/>
        </p:nvSpPr>
        <p:spPr>
          <a:xfrm>
            <a:off x="365760" y="393192"/>
            <a:ext cx="8412480" cy="45720"/>
          </a:xfrm>
          <a:prstGeom prst="rect">
            <a:avLst/>
          </a:prstGeom>
          <a:solidFill>
            <a:srgbClr val="D4943A"/>
          </a:solidFill>
          <a:ln w="12700">
            <a:solidFill>
              <a:srgbClr val="D4943A"/>
            </a:solidFill>
            <a:prstDash val="solid"/>
          </a:ln>
        </p:spPr>
      </p:sp>
      <p:sp>
        <p:nvSpPr>
          <p:cNvPr id="5" name="Text 3"/>
          <p:cNvSpPr/>
          <p:nvPr/>
        </p:nvSpPr>
        <p:spPr>
          <a:xfrm>
            <a:off x="365760" y="457200"/>
            <a:ext cx="8412480" cy="320040"/>
          </a:xfrm>
          <a:prstGeom prst="rect">
            <a:avLst/>
          </a:prstGeom>
          <a:noFill/>
          <a:ln/>
        </p:spPr>
        <p:txBody>
          <a:bodyPr wrap="square" rtlCol="0" anchor="ctr"/>
          <a:lstStyle/>
          <a:p>
            <a:pPr indent="0" marL="0">
              <a:buNone/>
            </a:pPr>
            <a:r>
              <a:rPr lang="en-US" sz="1300" i="1" dirty="0">
                <a:solidFill>
                  <a:srgbClr val="0E1C42"/>
                </a:solidFill>
                <a:latin typeface="Calibri" pitchFamily="34" charset="0"/>
                <a:ea typeface="Calibri" pitchFamily="34" charset="-122"/>
                <a:cs typeface="Calibri" pitchFamily="34" charset="-120"/>
              </a:rPr>
              <a:t>Read both arguments. Which one is stronger? Why?</a:t>
            </a:r>
            <a:endParaRPr lang="en-US" sz="1300" dirty="0"/>
          </a:p>
        </p:txBody>
      </p:sp>
      <p:sp>
        <p:nvSpPr>
          <p:cNvPr id="6" name="Shape 4"/>
          <p:cNvSpPr/>
          <p:nvPr/>
        </p:nvSpPr>
        <p:spPr>
          <a:xfrm>
            <a:off x="365760" y="868680"/>
            <a:ext cx="3931920" cy="2331720"/>
          </a:xfrm>
          <a:prstGeom prst="roundRect">
            <a:avLst>
              <a:gd name="adj" fmla="val 3922"/>
            </a:avLst>
          </a:prstGeom>
          <a:solidFill>
            <a:srgbClr val="FFFFFF"/>
          </a:solidFill>
          <a:ln w="19050">
            <a:solidFill>
              <a:srgbClr val="E8636B"/>
            </a:solidFill>
            <a:prstDash val="solid"/>
          </a:ln>
        </p:spPr>
      </p:sp>
      <p:sp>
        <p:nvSpPr>
          <p:cNvPr id="7" name="Text 5"/>
          <p:cNvSpPr/>
          <p:nvPr/>
        </p:nvSpPr>
        <p:spPr>
          <a:xfrm>
            <a:off x="502920" y="932688"/>
            <a:ext cx="3657600" cy="228600"/>
          </a:xfrm>
          <a:prstGeom prst="rect">
            <a:avLst/>
          </a:prstGeom>
          <a:noFill/>
          <a:ln/>
        </p:spPr>
        <p:txBody>
          <a:bodyPr wrap="square" rtlCol="0" anchor="ctr"/>
          <a:lstStyle/>
          <a:p>
            <a:pPr indent="0" marL="0">
              <a:buNone/>
            </a:pPr>
            <a:r>
              <a:rPr lang="en-US" sz="900" b="1" spc="150" kern="0" dirty="0">
                <a:solidFill>
                  <a:srgbClr val="E8636B"/>
                </a:solidFill>
                <a:latin typeface="Calibri" pitchFamily="34" charset="0"/>
                <a:ea typeface="Calibri" pitchFamily="34" charset="-122"/>
                <a:cs typeface="Calibri" pitchFamily="34" charset="-120"/>
              </a:rPr>
              <a:t>ARGUMENT A</a:t>
            </a:r>
            <a:endParaRPr lang="en-US" sz="900" dirty="0"/>
          </a:p>
        </p:txBody>
      </p:sp>
      <p:sp>
        <p:nvSpPr>
          <p:cNvPr id="8" name="Text 6"/>
          <p:cNvSpPr/>
          <p:nvPr/>
        </p:nvSpPr>
        <p:spPr>
          <a:xfrm>
            <a:off x="502920" y="1188720"/>
            <a:ext cx="3657600" cy="1783080"/>
          </a:xfrm>
          <a:prstGeom prst="rect">
            <a:avLst/>
          </a:prstGeom>
          <a:noFill/>
          <a:ln/>
        </p:spPr>
        <p:txBody>
          <a:bodyPr wrap="square" rtlCol="0" anchor="t"/>
          <a:lstStyle/>
          <a:p>
            <a:pPr indent="0" marL="0">
              <a:buNone/>
            </a:pPr>
            <a:r>
              <a:rPr lang="en-US" sz="1300" i="1" dirty="0">
                <a:solidFill>
                  <a:srgbClr val="0E1C42"/>
                </a:solidFill>
                <a:latin typeface="Cambria" pitchFamily="34" charset="0"/>
                <a:ea typeface="Cambria" pitchFamily="34" charset="-122"/>
                <a:cs typeface="Cambria" pitchFamily="34" charset="-120"/>
              </a:rPr>
              <a:t>"I think the American colonists were absolutely right to push back against British rule. Anyone can see that was the right thing to do."</a:t>
            </a:r>
            <a:endParaRPr lang="en-US" sz="1300" dirty="0"/>
          </a:p>
        </p:txBody>
      </p:sp>
      <p:sp>
        <p:nvSpPr>
          <p:cNvPr id="9" name="Shape 7"/>
          <p:cNvSpPr/>
          <p:nvPr/>
        </p:nvSpPr>
        <p:spPr>
          <a:xfrm>
            <a:off x="4754880" y="868680"/>
            <a:ext cx="3931920" cy="2331720"/>
          </a:xfrm>
          <a:prstGeom prst="roundRect">
            <a:avLst>
              <a:gd name="adj" fmla="val 3922"/>
            </a:avLst>
          </a:prstGeom>
          <a:solidFill>
            <a:srgbClr val="FFFFFF"/>
          </a:solidFill>
          <a:ln w="19050">
            <a:solidFill>
              <a:srgbClr val="1A8A7D"/>
            </a:solidFill>
            <a:prstDash val="solid"/>
          </a:ln>
        </p:spPr>
      </p:sp>
      <p:sp>
        <p:nvSpPr>
          <p:cNvPr id="10" name="Text 8"/>
          <p:cNvSpPr/>
          <p:nvPr/>
        </p:nvSpPr>
        <p:spPr>
          <a:xfrm>
            <a:off x="4892040" y="932688"/>
            <a:ext cx="3657600" cy="228600"/>
          </a:xfrm>
          <a:prstGeom prst="rect">
            <a:avLst/>
          </a:prstGeom>
          <a:noFill/>
          <a:ln/>
        </p:spPr>
        <p:txBody>
          <a:bodyPr wrap="square" rtlCol="0" anchor="ctr"/>
          <a:lstStyle/>
          <a:p>
            <a:pPr indent="0" marL="0">
              <a:buNone/>
            </a:pPr>
            <a:r>
              <a:rPr lang="en-US" sz="900" b="1" spc="150" kern="0" dirty="0">
                <a:solidFill>
                  <a:srgbClr val="1A8A7D"/>
                </a:solidFill>
                <a:latin typeface="Calibri" pitchFamily="34" charset="0"/>
                <a:ea typeface="Calibri" pitchFamily="34" charset="-122"/>
                <a:cs typeface="Calibri" pitchFamily="34" charset="-120"/>
              </a:rPr>
              <a:t>ARGUMENT B</a:t>
            </a:r>
            <a:endParaRPr lang="en-US" sz="900" dirty="0"/>
          </a:p>
        </p:txBody>
      </p:sp>
      <p:sp>
        <p:nvSpPr>
          <p:cNvPr id="11" name="Text 9"/>
          <p:cNvSpPr/>
          <p:nvPr/>
        </p:nvSpPr>
        <p:spPr>
          <a:xfrm>
            <a:off x="4892040" y="1188720"/>
            <a:ext cx="3657600" cy="1783080"/>
          </a:xfrm>
          <a:prstGeom prst="rect">
            <a:avLst/>
          </a:prstGeom>
          <a:noFill/>
          <a:ln/>
        </p:spPr>
        <p:txBody>
          <a:bodyPr wrap="square" rtlCol="0" anchor="t"/>
          <a:lstStyle/>
          <a:p>
            <a:pPr indent="0" marL="0">
              <a:buNone/>
            </a:pPr>
            <a:r>
              <a:rPr lang="en-US" sz="1300" i="1" dirty="0">
                <a:solidFill>
                  <a:srgbClr val="0E1C42"/>
                </a:solidFill>
                <a:latin typeface="Cambria" pitchFamily="34" charset="0"/>
                <a:ea typeface="Cambria" pitchFamily="34" charset="-122"/>
                <a:cs typeface="Cambria" pitchFamily="34" charset="-120"/>
              </a:rPr>
              <a:t>"The colonists had a strong reason to resist British rule. The Stamp Act of 1765 taxed everyday items without giving colonists a vote in Parliament — and that pattern of taxation without representation repeated for over a decade."</a:t>
            </a:r>
            <a:endParaRPr lang="en-US" sz="1300" dirty="0"/>
          </a:p>
        </p:txBody>
      </p:sp>
      <p:sp>
        <p:nvSpPr>
          <p:cNvPr id="12" name="Shape 10"/>
          <p:cNvSpPr/>
          <p:nvPr/>
        </p:nvSpPr>
        <p:spPr>
          <a:xfrm>
            <a:off x="365760" y="3291840"/>
            <a:ext cx="2377440" cy="365760"/>
          </a:xfrm>
          <a:prstGeom prst="roundRect">
            <a:avLst>
              <a:gd name="adj" fmla="val 20000"/>
            </a:avLst>
          </a:prstGeom>
          <a:solidFill>
            <a:srgbClr val="1A2D5A"/>
          </a:solidFill>
          <a:ln w="12700">
            <a:solidFill>
              <a:srgbClr val="2A4070"/>
            </a:solidFill>
            <a:prstDash val="solid"/>
          </a:ln>
        </p:spPr>
      </p:sp>
      <p:sp>
        <p:nvSpPr>
          <p:cNvPr id="13" name="Text 11"/>
          <p:cNvSpPr/>
          <p:nvPr/>
        </p:nvSpPr>
        <p:spPr>
          <a:xfrm>
            <a:off x="365760" y="3291840"/>
            <a:ext cx="2377440" cy="365760"/>
          </a:xfrm>
          <a:prstGeom prst="rect">
            <a:avLst/>
          </a:prstGeom>
          <a:noFill/>
          <a:ln/>
        </p:spPr>
        <p:txBody>
          <a:bodyPr wrap="square" rtlCol="0" anchor="ctr"/>
          <a:lstStyle/>
          <a:p>
            <a:pPr algn="ctr" indent="0" marL="0">
              <a:buNone/>
            </a:pPr>
            <a:r>
              <a:rPr lang="en-US" sz="1000" b="1" dirty="0">
                <a:solidFill>
                  <a:srgbClr val="55C8E8"/>
                </a:solidFill>
                <a:latin typeface="Calibri" pitchFamily="34" charset="0"/>
                <a:ea typeface="Calibri" pitchFamily="34" charset="-122"/>
                <a:cs typeface="Calibri" pitchFamily="34" charset="-120"/>
              </a:rPr>
              <a:t>SILENT READING: 30 seconds</a:t>
            </a:r>
            <a:endParaRPr lang="en-US" sz="1000" dirty="0"/>
          </a:p>
        </p:txBody>
      </p:sp>
      <p:sp>
        <p:nvSpPr>
          <p:cNvPr id="14" name="Shape 12"/>
          <p:cNvSpPr/>
          <p:nvPr/>
        </p:nvSpPr>
        <p:spPr>
          <a:xfrm>
            <a:off x="2926080" y="3291840"/>
            <a:ext cx="5669280" cy="914400"/>
          </a:xfrm>
          <a:prstGeom prst="roundRect">
            <a:avLst>
              <a:gd name="adj" fmla="val 12000"/>
            </a:avLst>
          </a:prstGeom>
          <a:solidFill>
            <a:srgbClr val="FFF3DC"/>
          </a:solidFill>
          <a:ln w="19050">
            <a:solidFill>
              <a:srgbClr val="F5E6C8"/>
            </a:solidFill>
            <a:prstDash val="solid"/>
          </a:ln>
        </p:spPr>
      </p:sp>
      <p:sp>
        <p:nvSpPr>
          <p:cNvPr id="15" name="Text 13"/>
          <p:cNvSpPr/>
          <p:nvPr/>
        </p:nvSpPr>
        <p:spPr>
          <a:xfrm>
            <a:off x="3063240" y="3346704"/>
            <a:ext cx="5394960" cy="201168"/>
          </a:xfrm>
          <a:prstGeom prst="rect">
            <a:avLst/>
          </a:prstGeom>
          <a:noFill/>
          <a:ln/>
        </p:spPr>
        <p:txBody>
          <a:bodyPr wrap="square" lIns="0" tIns="0" rIns="0" bIns="0" rtlCol="0" anchor="ctr"/>
          <a:lstStyle/>
          <a:p>
            <a:pPr indent="0" marL="0">
              <a:buNone/>
            </a:pPr>
            <a:r>
              <a:rPr lang="en-US" sz="900" b="1" spc="150" kern="0" dirty="0">
                <a:solidFill>
                  <a:srgbClr val="D4943A"/>
                </a:solidFill>
                <a:latin typeface="Calibri" pitchFamily="34" charset="0"/>
                <a:ea typeface="Calibri" pitchFamily="34" charset="-122"/>
                <a:cs typeface="Calibri" pitchFamily="34" charset="-120"/>
              </a:rPr>
              <a:t>CHAT FRAME</a:t>
            </a:r>
            <a:endParaRPr lang="en-US" sz="900" dirty="0"/>
          </a:p>
        </p:txBody>
      </p:sp>
      <p:sp>
        <p:nvSpPr>
          <p:cNvPr id="16" name="Text 14"/>
          <p:cNvSpPr/>
          <p:nvPr/>
        </p:nvSpPr>
        <p:spPr>
          <a:xfrm>
            <a:off x="3063240" y="3547872"/>
            <a:ext cx="5394960" cy="594360"/>
          </a:xfrm>
          <a:prstGeom prst="rect">
            <a:avLst/>
          </a:prstGeom>
          <a:noFill/>
          <a:ln/>
        </p:spPr>
        <p:txBody>
          <a:bodyPr wrap="square" lIns="0" tIns="0" rIns="0" bIns="0" rtlCol="0" anchor="t"/>
          <a:lstStyle/>
          <a:p>
            <a:pPr indent="0" marL="0">
              <a:spcAft>
                <a:spcPts val="500"/>
              </a:spcAft>
              <a:buNone/>
            </a:pPr>
            <a:r>
              <a:rPr lang="en-US" sz="1200" i="1" dirty="0">
                <a:solidFill>
                  <a:srgbClr val="5A4A3A"/>
                </a:solidFill>
                <a:latin typeface="Cambria" pitchFamily="34" charset="0"/>
                <a:ea typeface="Cambria" pitchFamily="34" charset="-122"/>
                <a:cs typeface="Cambria" pitchFamily="34" charset="-120"/>
              </a:rPr>
              <a:t>"The stronger argument is ___ because..."</a:t>
            </a:r>
            <a:endParaRPr lang="en-US" sz="12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F0F2F8"/>
          </a:solidFill>
          <a:ln w="12700">
            <a:solidFill>
              <a:srgbClr val="F0F2F8"/>
            </a:solidFill>
            <a:prstDash val="solid"/>
          </a:ln>
        </p:spPr>
      </p:sp>
      <p:sp>
        <p:nvSpPr>
          <p:cNvPr id="3" name="Text 1"/>
          <p:cNvSpPr/>
          <p:nvPr/>
        </p:nvSpPr>
        <p:spPr>
          <a:xfrm>
            <a:off x="365760" y="91440"/>
            <a:ext cx="8412480" cy="274320"/>
          </a:xfrm>
          <a:prstGeom prst="rect">
            <a:avLst/>
          </a:prstGeom>
          <a:noFill/>
          <a:ln/>
        </p:spPr>
        <p:txBody>
          <a:bodyPr wrap="square" rtlCol="0" anchor="ctr"/>
          <a:lstStyle/>
          <a:p>
            <a:pPr indent="0" marL="0">
              <a:buNone/>
            </a:pPr>
            <a:r>
              <a:rPr lang="en-US" sz="1000" b="1" spc="150" kern="0" dirty="0">
                <a:solidFill>
                  <a:srgbClr val="0E1C42"/>
                </a:solidFill>
                <a:latin typeface="Calibri" pitchFamily="34" charset="0"/>
                <a:ea typeface="Calibri" pitchFamily="34" charset="-122"/>
                <a:cs typeface="Calibri" pitchFamily="34" charset="-120"/>
              </a:rPr>
              <a:t>DISCUSSION: OPINION VS. CLAIM</a:t>
            </a:r>
            <a:endParaRPr lang="en-US" sz="1000" dirty="0"/>
          </a:p>
        </p:txBody>
      </p:sp>
      <p:sp>
        <p:nvSpPr>
          <p:cNvPr id="4" name="Shape 2"/>
          <p:cNvSpPr/>
          <p:nvPr/>
        </p:nvSpPr>
        <p:spPr>
          <a:xfrm>
            <a:off x="365760" y="393192"/>
            <a:ext cx="8412480" cy="45720"/>
          </a:xfrm>
          <a:prstGeom prst="rect">
            <a:avLst/>
          </a:prstGeom>
          <a:solidFill>
            <a:srgbClr val="D4943A"/>
          </a:solidFill>
          <a:ln w="12700">
            <a:solidFill>
              <a:srgbClr val="D4943A"/>
            </a:solidFill>
            <a:prstDash val="solid"/>
          </a:ln>
        </p:spPr>
      </p:sp>
      <p:sp>
        <p:nvSpPr>
          <p:cNvPr id="5" name="Shape 3"/>
          <p:cNvSpPr/>
          <p:nvPr/>
        </p:nvSpPr>
        <p:spPr>
          <a:xfrm>
            <a:off x="365760" y="502920"/>
            <a:ext cx="5120640" cy="2606040"/>
          </a:xfrm>
          <a:prstGeom prst="roundRect">
            <a:avLst>
              <a:gd name="adj" fmla="val 4211"/>
            </a:avLst>
          </a:prstGeom>
          <a:solidFill>
            <a:srgbClr val="1A2D5A"/>
          </a:solidFill>
          <a:ln w="12700">
            <a:solidFill>
              <a:srgbClr val="2A4070"/>
            </a:solidFill>
            <a:prstDash val="solid"/>
          </a:ln>
        </p:spPr>
      </p:sp>
      <p:sp>
        <p:nvSpPr>
          <p:cNvPr id="6" name="Text 4"/>
          <p:cNvSpPr/>
          <p:nvPr/>
        </p:nvSpPr>
        <p:spPr>
          <a:xfrm>
            <a:off x="502920" y="557784"/>
            <a:ext cx="4846320" cy="201168"/>
          </a:xfrm>
          <a:prstGeom prst="rect">
            <a:avLst/>
          </a:prstGeom>
          <a:noFill/>
          <a:ln/>
        </p:spPr>
        <p:txBody>
          <a:bodyPr wrap="square" lIns="0" tIns="0" rIns="0" bIns="0" rtlCol="0" anchor="ctr"/>
          <a:lstStyle/>
          <a:p>
            <a:pPr indent="0" marL="0">
              <a:buNone/>
            </a:pPr>
            <a:r>
              <a:rPr lang="en-US" sz="900" b="1" spc="150" kern="0" dirty="0">
                <a:solidFill>
                  <a:srgbClr val="55C8E8"/>
                </a:solidFill>
                <a:latin typeface="Calibri" pitchFamily="34" charset="0"/>
                <a:ea typeface="Calibri" pitchFamily="34" charset="-122"/>
                <a:cs typeface="Calibri" pitchFamily="34" charset="-120"/>
              </a:rPr>
              <a:t>SOCRATIC QUESTIONS</a:t>
            </a:r>
            <a:endParaRPr lang="en-US" sz="900" dirty="0"/>
          </a:p>
        </p:txBody>
      </p:sp>
      <p:sp>
        <p:nvSpPr>
          <p:cNvPr id="7" name="Text 5"/>
          <p:cNvSpPr/>
          <p:nvPr/>
        </p:nvSpPr>
        <p:spPr>
          <a:xfrm>
            <a:off x="548640" y="822960"/>
            <a:ext cx="4754880" cy="2194560"/>
          </a:xfrm>
          <a:prstGeom prst="rect">
            <a:avLst/>
          </a:prstGeom>
          <a:noFill/>
          <a:ln/>
        </p:spPr>
        <p:txBody>
          <a:bodyPr wrap="square" lIns="0" tIns="0" rIns="0" bIns="0" rtlCol="0" anchor="t"/>
          <a:lstStyle/>
          <a:p>
            <a:pPr indent="0" marL="0">
              <a:spcAft>
                <a:spcPts val="400"/>
              </a:spcAft>
              <a:buNone/>
            </a:pPr>
            <a:r>
              <a:rPr lang="en-US" sz="1100" i="1" dirty="0">
                <a:solidFill>
                  <a:srgbClr val="D6F2FB"/>
                </a:solidFill>
                <a:latin typeface="Calibri" pitchFamily="34" charset="0"/>
                <a:ea typeface="Calibri" pitchFamily="34" charset="-122"/>
                <a:cs typeface="Calibri" pitchFamily="34" charset="-120"/>
              </a:rPr>
              <a:t>What did Argument B have that Argument A was missing?</a:t>
            </a:r>
            <a:endParaRPr lang="en-US" sz="1100" dirty="0"/>
          </a:p>
          <a:p>
            <a:pPr indent="0" marL="0">
              <a:spcAft>
                <a:spcPts val="400"/>
              </a:spcAft>
              <a:buNone/>
            </a:pPr>
            <a:r>
              <a:rPr lang="en-US" sz="1100" i="1" dirty="0">
                <a:solidFill>
                  <a:srgbClr val="D6F2FB"/>
                </a:solidFill>
                <a:latin typeface="Calibri" pitchFamily="34" charset="0"/>
                <a:ea typeface="Calibri" pitchFamily="34" charset="-122"/>
                <a:cs typeface="Calibri" pitchFamily="34" charset="-120"/>
              </a:rPr>
              <a:t>Could you be confident and still be wrong? How would you know?</a:t>
            </a:r>
            <a:endParaRPr lang="en-US" sz="1100" dirty="0"/>
          </a:p>
          <a:p>
            <a:pPr indent="0" marL="0">
              <a:spcAft>
                <a:spcPts val="400"/>
              </a:spcAft>
              <a:buNone/>
            </a:pPr>
            <a:r>
              <a:rPr lang="en-US" sz="1100" i="1" dirty="0">
                <a:solidFill>
                  <a:srgbClr val="D6F2FB"/>
                </a:solidFill>
                <a:latin typeface="Calibri" pitchFamily="34" charset="0"/>
                <a:ea typeface="Calibri" pitchFamily="34" charset="-122"/>
                <a:cs typeface="Calibri" pitchFamily="34" charset="-120"/>
              </a:rPr>
              <a:t>What is the difference between an opinion that feels strong and a claim that can be defended?</a:t>
            </a:r>
            <a:endParaRPr lang="en-US" sz="1100" dirty="0"/>
          </a:p>
          <a:p>
            <a:pPr indent="0" marL="0">
              <a:spcAft>
                <a:spcPts val="400"/>
              </a:spcAft>
              <a:buNone/>
            </a:pPr>
            <a:r>
              <a:rPr lang="en-US" sz="1100" i="1" dirty="0">
                <a:solidFill>
                  <a:srgbClr val="D6F2FB"/>
                </a:solidFill>
                <a:latin typeface="Calibri" pitchFamily="34" charset="0"/>
                <a:ea typeface="Calibri" pitchFamily="34" charset="-122"/>
                <a:cs typeface="Calibri" pitchFamily="34" charset="-120"/>
              </a:rPr>
              <a:t>If the Herald is confident, does that make their claim true?</a:t>
            </a:r>
            <a:endParaRPr lang="en-US" sz="1100" dirty="0"/>
          </a:p>
        </p:txBody>
      </p:sp>
      <p:sp>
        <p:nvSpPr>
          <p:cNvPr id="8" name="Shape 6"/>
          <p:cNvSpPr/>
          <p:nvPr/>
        </p:nvSpPr>
        <p:spPr>
          <a:xfrm>
            <a:off x="365760" y="3200400"/>
            <a:ext cx="5120640" cy="1463040"/>
          </a:xfrm>
          <a:prstGeom prst="roundRect">
            <a:avLst>
              <a:gd name="adj" fmla="val 7500"/>
            </a:avLst>
          </a:prstGeom>
          <a:solidFill>
            <a:srgbClr val="FFF3DC"/>
          </a:solidFill>
          <a:ln w="19050">
            <a:solidFill>
              <a:srgbClr val="F5E6C8"/>
            </a:solidFill>
            <a:prstDash val="solid"/>
          </a:ln>
        </p:spPr>
      </p:sp>
      <p:sp>
        <p:nvSpPr>
          <p:cNvPr id="9" name="Text 7"/>
          <p:cNvSpPr/>
          <p:nvPr/>
        </p:nvSpPr>
        <p:spPr>
          <a:xfrm>
            <a:off x="502920" y="3255264"/>
            <a:ext cx="4846320" cy="201168"/>
          </a:xfrm>
          <a:prstGeom prst="rect">
            <a:avLst/>
          </a:prstGeom>
          <a:noFill/>
          <a:ln/>
        </p:spPr>
        <p:txBody>
          <a:bodyPr wrap="square" lIns="0" tIns="0" rIns="0" bIns="0" rtlCol="0" anchor="ctr"/>
          <a:lstStyle/>
          <a:p>
            <a:pPr indent="0" marL="0">
              <a:buNone/>
            </a:pPr>
            <a:r>
              <a:rPr lang="en-US" sz="900" b="1" spc="150" kern="0" dirty="0">
                <a:solidFill>
                  <a:srgbClr val="D4943A"/>
                </a:solidFill>
                <a:latin typeface="Calibri" pitchFamily="34" charset="0"/>
                <a:ea typeface="Calibri" pitchFamily="34" charset="-122"/>
                <a:cs typeface="Calibri" pitchFamily="34" charset="-120"/>
              </a:rPr>
              <a:t>CHAT FRAME</a:t>
            </a:r>
            <a:endParaRPr lang="en-US" sz="900" dirty="0"/>
          </a:p>
        </p:txBody>
      </p:sp>
      <p:sp>
        <p:nvSpPr>
          <p:cNvPr id="10" name="Text 8"/>
          <p:cNvSpPr/>
          <p:nvPr/>
        </p:nvSpPr>
        <p:spPr>
          <a:xfrm>
            <a:off x="502920" y="3456432"/>
            <a:ext cx="4846320" cy="1143000"/>
          </a:xfrm>
          <a:prstGeom prst="rect">
            <a:avLst/>
          </a:prstGeom>
          <a:noFill/>
          <a:ln/>
        </p:spPr>
        <p:txBody>
          <a:bodyPr wrap="square" lIns="0" tIns="0" rIns="0" bIns="0" rtlCol="0" anchor="t"/>
          <a:lstStyle/>
          <a:p>
            <a:pPr indent="0" marL="0">
              <a:spcAft>
                <a:spcPts val="500"/>
              </a:spcAft>
              <a:buNone/>
            </a:pPr>
            <a:r>
              <a:rPr lang="en-US" sz="1200" i="1" dirty="0">
                <a:solidFill>
                  <a:srgbClr val="5A4A3A"/>
                </a:solidFill>
                <a:latin typeface="Cambria" pitchFamily="34" charset="0"/>
                <a:ea typeface="Cambria" pitchFamily="34" charset="-122"/>
                <a:cs typeface="Cambria" pitchFamily="34" charset="-120"/>
              </a:rPr>
              <a:t>"An opinion is ___, but a claim needs ___ because..."</a:t>
            </a:r>
            <a:endParaRPr lang="en-US" sz="1200" dirty="0"/>
          </a:p>
          <a:p>
            <a:pPr indent="0" marL="0">
              <a:spcAft>
                <a:spcPts val="500"/>
              </a:spcAft>
              <a:buNone/>
            </a:pPr>
            <a:r>
              <a:rPr lang="en-US" sz="1200" i="1" dirty="0">
                <a:solidFill>
                  <a:srgbClr val="5A4A3A"/>
                </a:solidFill>
                <a:latin typeface="Cambria" pitchFamily="34" charset="0"/>
                <a:ea typeface="Cambria" pitchFamily="34" charset="-122"/>
                <a:cs typeface="Cambria" pitchFamily="34" charset="-120"/>
              </a:rPr>
              <a:t>"I could still be wrong even if I'm confident because..."</a:t>
            </a:r>
            <a:endParaRPr lang="en-US" sz="1200" dirty="0"/>
          </a:p>
        </p:txBody>
      </p:sp>
      <p:sp>
        <p:nvSpPr>
          <p:cNvPr id="11" name="Shape 9"/>
          <p:cNvSpPr/>
          <p:nvPr/>
        </p:nvSpPr>
        <p:spPr>
          <a:xfrm>
            <a:off x="5669280" y="502920"/>
            <a:ext cx="3108960" cy="4160520"/>
          </a:xfrm>
          <a:prstGeom prst="roundRect">
            <a:avLst>
              <a:gd name="adj" fmla="val 3529"/>
            </a:avLst>
          </a:prstGeom>
          <a:solidFill>
            <a:srgbClr val="FFFFFF"/>
          </a:solidFill>
          <a:ln w="19050">
            <a:solidFill>
              <a:srgbClr val="D4943A"/>
            </a:solidFill>
            <a:prstDash val="solid"/>
          </a:ln>
        </p:spPr>
      </p:sp>
      <p:sp>
        <p:nvSpPr>
          <p:cNvPr id="12" name="Text 10"/>
          <p:cNvSpPr/>
          <p:nvPr/>
        </p:nvSpPr>
        <p:spPr>
          <a:xfrm>
            <a:off x="5806440" y="566928"/>
            <a:ext cx="2834640" cy="228600"/>
          </a:xfrm>
          <a:prstGeom prst="rect">
            <a:avLst/>
          </a:prstGeom>
          <a:noFill/>
          <a:ln/>
        </p:spPr>
        <p:txBody>
          <a:bodyPr wrap="square" rtlCol="0" anchor="ctr"/>
          <a:lstStyle/>
          <a:p>
            <a:pPr indent="0" marL="0">
              <a:buNone/>
            </a:pPr>
            <a:r>
              <a:rPr lang="en-US" sz="900" b="1" spc="150" kern="0" dirty="0">
                <a:solidFill>
                  <a:srgbClr val="D4943A"/>
                </a:solidFill>
                <a:latin typeface="Calibri" pitchFamily="34" charset="0"/>
                <a:ea typeface="Calibri" pitchFamily="34" charset="-122"/>
                <a:cs typeface="Calibri" pitchFamily="34" charset="-120"/>
              </a:rPr>
              <a:t>THE KEY TENSION</a:t>
            </a:r>
            <a:endParaRPr lang="en-US" sz="900" dirty="0"/>
          </a:p>
        </p:txBody>
      </p:sp>
      <p:sp>
        <p:nvSpPr>
          <p:cNvPr id="13" name="Text 11"/>
          <p:cNvSpPr/>
          <p:nvPr/>
        </p:nvSpPr>
        <p:spPr>
          <a:xfrm>
            <a:off x="5806440" y="868680"/>
            <a:ext cx="2834640" cy="3200400"/>
          </a:xfrm>
          <a:prstGeom prst="rect">
            <a:avLst/>
          </a:prstGeom>
          <a:noFill/>
          <a:ln/>
        </p:spPr>
        <p:txBody>
          <a:bodyPr wrap="square" rtlCol="0" anchor="t"/>
          <a:lstStyle/>
          <a:p>
            <a:pPr indent="0" marL="0">
              <a:buNone/>
            </a:pPr>
            <a:r>
              <a:rPr lang="en-US" sz="1200" dirty="0">
                <a:solidFill>
                  <a:srgbClr val="0E1C42"/>
                </a:solidFill>
                <a:latin typeface="Calibri" pitchFamily="34" charset="0"/>
                <a:ea typeface="Calibri" pitchFamily="34" charset="-122"/>
                <a:cs typeface="Calibri" pitchFamily="34" charset="-120"/>
              </a:rPr>
              <a:t>An opinion is what you believe.</a:t>
            </a:r>
            <a:endParaRPr lang="en-US" sz="1200" dirty="0"/>
          </a:p>
          <a:p>
            <a:pPr indent="0" marL="0">
              <a:buNone/>
            </a:pPr>
            <a:endParaRPr lang="en-US" sz="1200" dirty="0"/>
          </a:p>
          <a:p>
            <a:pPr indent="0" marL="0">
              <a:buNone/>
            </a:pPr>
            <a:r>
              <a:rPr lang="en-US" sz="1200" dirty="0">
                <a:solidFill>
                  <a:srgbClr val="0E1C42"/>
                </a:solidFill>
                <a:latin typeface="Calibri" pitchFamily="34" charset="0"/>
                <a:ea typeface="Calibri" pitchFamily="34" charset="-122"/>
                <a:cs typeface="Calibri" pitchFamily="34" charset="-120"/>
              </a:rPr>
              <a:t>A claim is what you can back up with evidence and reasoning.</a:t>
            </a:r>
            <a:endParaRPr lang="en-US" sz="1200" dirty="0"/>
          </a:p>
          <a:p>
            <a:pPr indent="0" marL="0">
              <a:buNone/>
            </a:pPr>
            <a:endParaRPr lang="en-US" sz="1200" dirty="0"/>
          </a:p>
          <a:p>
            <a:pPr indent="0" marL="0">
              <a:buNone/>
            </a:pPr>
            <a:r>
              <a:rPr lang="en-US" sz="1200" dirty="0">
                <a:solidFill>
                  <a:srgbClr val="0E1C42"/>
                </a:solidFill>
                <a:latin typeface="Calibri" pitchFamily="34" charset="0"/>
                <a:ea typeface="Calibri" pitchFamily="34" charset="-122"/>
                <a:cs typeface="Calibri" pitchFamily="34" charset="-120"/>
              </a:rPr>
              <a:t>Both might START the same way — but only one can be printed in the Gazette.</a:t>
            </a:r>
            <a:endParaRPr lang="en-US" sz="12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0B1835"/>
          </a:solidFill>
          <a:ln w="19050">
            <a:solidFill>
              <a:srgbClr val="3A5080"/>
            </a:solidFill>
            <a:prstDash val="dash"/>
          </a:ln>
        </p:spPr>
      </p:sp>
      <p:sp>
        <p:nvSpPr>
          <p:cNvPr id="3" name="Shape 1"/>
          <p:cNvSpPr/>
          <p:nvPr/>
        </p:nvSpPr>
        <p:spPr>
          <a:xfrm>
            <a:off x="0" y="0"/>
            <a:ext cx="9144000" cy="5143500"/>
          </a:xfrm>
          <a:prstGeom prst="rect">
            <a:avLst/>
          </a:prstGeom>
          <a:solidFill>
            <a:srgbClr val="0E1C42">
              <a:alpha val="62000"/>
            </a:srgbClr>
          </a:solidFill>
          <a:ln/>
        </p:spPr>
      </p:sp>
      <p:sp>
        <p:nvSpPr>
          <p:cNvPr id="5" name="Text 2"/>
          <p:cNvSpPr/>
          <p:nvPr/>
        </p:nvSpPr>
        <p:spPr>
          <a:xfrm>
            <a:off x="457200" y="182880"/>
            <a:ext cx="8229600" cy="365760"/>
          </a:xfrm>
          <a:prstGeom prst="rect">
            <a:avLst/>
          </a:prstGeom>
          <a:noFill/>
          <a:ln/>
        </p:spPr>
        <p:txBody>
          <a:bodyPr wrap="square" rtlCol="0" anchor="ctr"/>
          <a:lstStyle/>
          <a:p>
            <a:pPr algn="ctr" indent="0" marL="0">
              <a:buNone/>
            </a:pPr>
            <a:r>
              <a:rPr lang="en-US" sz="1300" b="1" spc="200" kern="0" dirty="0">
                <a:solidFill>
                  <a:srgbClr val="D4943A"/>
                </a:solidFill>
                <a:latin typeface="Calibri" pitchFamily="34" charset="0"/>
                <a:ea typeface="Calibri" pitchFamily="34" charset="-122"/>
                <a:cs typeface="Calibri" pitchFamily="34" charset="-120"/>
              </a:rPr>
              <a:t>YOU DISCOVERED IT.</a:t>
            </a:r>
            <a:endParaRPr lang="en-US" sz="1300" dirty="0"/>
          </a:p>
        </p:txBody>
      </p:sp>
      <p:sp>
        <p:nvSpPr>
          <p:cNvPr id="6" name="Shape 3"/>
          <p:cNvSpPr/>
          <p:nvPr/>
        </p:nvSpPr>
        <p:spPr>
          <a:xfrm>
            <a:off x="1371600" y="594360"/>
            <a:ext cx="6400800" cy="45720"/>
          </a:xfrm>
          <a:prstGeom prst="rect">
            <a:avLst/>
          </a:prstGeom>
          <a:solidFill>
            <a:srgbClr val="D4943A"/>
          </a:solidFill>
          <a:ln w="12700">
            <a:solidFill>
              <a:srgbClr val="D4943A"/>
            </a:solidFill>
            <a:prstDash val="solid"/>
          </a:ln>
        </p:spPr>
      </p:sp>
      <p:sp>
        <p:nvSpPr>
          <p:cNvPr id="7" name="Text 4"/>
          <p:cNvSpPr/>
          <p:nvPr/>
        </p:nvSpPr>
        <p:spPr>
          <a:xfrm>
            <a:off x="457200" y="685800"/>
            <a:ext cx="8229600" cy="502920"/>
          </a:xfrm>
          <a:prstGeom prst="rect">
            <a:avLst/>
          </a:prstGeom>
          <a:noFill/>
          <a:ln/>
        </p:spPr>
        <p:txBody>
          <a:bodyPr wrap="square" rtlCol="0" anchor="ctr"/>
          <a:lstStyle/>
          <a:p>
            <a:pPr algn="ctr" indent="0" marL="0">
              <a:buNone/>
            </a:pPr>
            <a:r>
              <a:rPr lang="en-US" sz="2600" b="1" dirty="0">
                <a:solidFill>
                  <a:srgbClr val="FFFFFF"/>
                </a:solidFill>
                <a:latin typeface="Cambria" pitchFamily="34" charset="0"/>
                <a:ea typeface="Cambria" pitchFamily="34" charset="-122"/>
                <a:cs typeface="Cambria" pitchFamily="34" charset="-120"/>
              </a:rPr>
              <a:t>CER: The Gazette Standard</a:t>
            </a:r>
            <a:endParaRPr lang="en-US" sz="2600" dirty="0"/>
          </a:p>
        </p:txBody>
      </p:sp>
      <p:sp>
        <p:nvSpPr>
          <p:cNvPr id="8" name="Shape 5"/>
          <p:cNvSpPr/>
          <p:nvPr/>
        </p:nvSpPr>
        <p:spPr>
          <a:xfrm>
            <a:off x="365760" y="1325880"/>
            <a:ext cx="2697480" cy="3383280"/>
          </a:xfrm>
          <a:prstGeom prst="roundRect">
            <a:avLst>
              <a:gd name="adj" fmla="val 4068"/>
            </a:avLst>
          </a:prstGeom>
          <a:solidFill>
            <a:srgbClr val="1A2D5A"/>
          </a:solidFill>
          <a:ln w="25400">
            <a:solidFill>
              <a:srgbClr val="55C8E8"/>
            </a:solidFill>
            <a:prstDash val="solid"/>
          </a:ln>
        </p:spPr>
      </p:sp>
      <p:sp>
        <p:nvSpPr>
          <p:cNvPr id="9" name="Text 6"/>
          <p:cNvSpPr/>
          <p:nvPr/>
        </p:nvSpPr>
        <p:spPr>
          <a:xfrm>
            <a:off x="365760" y="1417320"/>
            <a:ext cx="2697480" cy="685800"/>
          </a:xfrm>
          <a:prstGeom prst="rect">
            <a:avLst/>
          </a:prstGeom>
          <a:noFill/>
          <a:ln/>
        </p:spPr>
        <p:txBody>
          <a:bodyPr wrap="square" rtlCol="0" anchor="ctr"/>
          <a:lstStyle/>
          <a:p>
            <a:pPr algn="ctr" indent="0" marL="0">
              <a:buNone/>
            </a:pPr>
            <a:r>
              <a:rPr lang="en-US" sz="3600" b="1" dirty="0">
                <a:solidFill>
                  <a:srgbClr val="55C8E8"/>
                </a:solidFill>
                <a:latin typeface="Cambria" pitchFamily="34" charset="0"/>
                <a:ea typeface="Cambria" pitchFamily="34" charset="-122"/>
                <a:cs typeface="Cambria" pitchFamily="34" charset="-120"/>
              </a:rPr>
              <a:t>C</a:t>
            </a:r>
            <a:endParaRPr lang="en-US" sz="3600" dirty="0"/>
          </a:p>
        </p:txBody>
      </p:sp>
      <p:sp>
        <p:nvSpPr>
          <p:cNvPr id="10" name="Text 7"/>
          <p:cNvSpPr/>
          <p:nvPr/>
        </p:nvSpPr>
        <p:spPr>
          <a:xfrm>
            <a:off x="502920" y="2148840"/>
            <a:ext cx="2423160" cy="274320"/>
          </a:xfrm>
          <a:prstGeom prst="rect">
            <a:avLst/>
          </a:prstGeom>
          <a:noFill/>
          <a:ln/>
        </p:spPr>
        <p:txBody>
          <a:bodyPr wrap="square" rtlCol="0" anchor="ctr"/>
          <a:lstStyle/>
          <a:p>
            <a:pPr algn="ctr" indent="0" marL="0">
              <a:buNone/>
            </a:pPr>
            <a:r>
              <a:rPr lang="en-US" sz="1100" b="1" spc="150" kern="0" dirty="0">
                <a:solidFill>
                  <a:srgbClr val="55C8E8"/>
                </a:solidFill>
                <a:latin typeface="Calibri" pitchFamily="34" charset="0"/>
                <a:ea typeface="Calibri" pitchFamily="34" charset="-122"/>
                <a:cs typeface="Calibri" pitchFamily="34" charset="-120"/>
              </a:rPr>
              <a:t>CLAIM</a:t>
            </a:r>
            <a:endParaRPr lang="en-US" sz="1100" dirty="0"/>
          </a:p>
        </p:txBody>
      </p:sp>
      <p:sp>
        <p:nvSpPr>
          <p:cNvPr id="11" name="Shape 8"/>
          <p:cNvSpPr/>
          <p:nvPr/>
        </p:nvSpPr>
        <p:spPr>
          <a:xfrm>
            <a:off x="594360" y="2468880"/>
            <a:ext cx="2240280" cy="27432"/>
          </a:xfrm>
          <a:prstGeom prst="rect">
            <a:avLst/>
          </a:prstGeom>
          <a:solidFill>
            <a:srgbClr val="55C8E8"/>
          </a:solidFill>
          <a:ln w="12700">
            <a:solidFill>
              <a:srgbClr val="55C8E8"/>
            </a:solidFill>
            <a:prstDash val="solid"/>
          </a:ln>
        </p:spPr>
      </p:sp>
      <p:sp>
        <p:nvSpPr>
          <p:cNvPr id="12" name="Text 9"/>
          <p:cNvSpPr/>
          <p:nvPr/>
        </p:nvSpPr>
        <p:spPr>
          <a:xfrm>
            <a:off x="548640" y="2560320"/>
            <a:ext cx="2331720" cy="1645920"/>
          </a:xfrm>
          <a:prstGeom prst="rect">
            <a:avLst/>
          </a:prstGeom>
          <a:noFill/>
          <a:ln/>
        </p:spPr>
        <p:txBody>
          <a:bodyPr wrap="square" rtlCol="0" anchor="t"/>
          <a:lstStyle/>
          <a:p>
            <a:pPr indent="0" marL="0">
              <a:buNone/>
            </a:pPr>
            <a:r>
              <a:rPr lang="en-US" sz="1200" dirty="0">
                <a:solidFill>
                  <a:srgbClr val="D6F2FB"/>
                </a:solidFill>
                <a:latin typeface="Calibri" pitchFamily="34" charset="0"/>
                <a:ea typeface="Calibri" pitchFamily="34" charset="-122"/>
                <a:cs typeface="Calibri" pitchFamily="34" charset="-120"/>
              </a:rPr>
              <a:t>What you think is true — your position or answer to the question.</a:t>
            </a:r>
            <a:endParaRPr lang="en-US" sz="1200" dirty="0"/>
          </a:p>
        </p:txBody>
      </p:sp>
      <p:sp>
        <p:nvSpPr>
          <p:cNvPr id="13" name="Shape 10"/>
          <p:cNvSpPr/>
          <p:nvPr/>
        </p:nvSpPr>
        <p:spPr>
          <a:xfrm>
            <a:off x="3291840" y="1325880"/>
            <a:ext cx="2697480" cy="3383280"/>
          </a:xfrm>
          <a:prstGeom prst="roundRect">
            <a:avLst>
              <a:gd name="adj" fmla="val 4068"/>
            </a:avLst>
          </a:prstGeom>
          <a:solidFill>
            <a:srgbClr val="1A2D5A"/>
          </a:solidFill>
          <a:ln w="25400">
            <a:solidFill>
              <a:srgbClr val="D4943A"/>
            </a:solidFill>
            <a:prstDash val="solid"/>
          </a:ln>
        </p:spPr>
      </p:sp>
      <p:sp>
        <p:nvSpPr>
          <p:cNvPr id="14" name="Text 11"/>
          <p:cNvSpPr/>
          <p:nvPr/>
        </p:nvSpPr>
        <p:spPr>
          <a:xfrm>
            <a:off x="3291840" y="1417320"/>
            <a:ext cx="2697480" cy="685800"/>
          </a:xfrm>
          <a:prstGeom prst="rect">
            <a:avLst/>
          </a:prstGeom>
          <a:noFill/>
          <a:ln/>
        </p:spPr>
        <p:txBody>
          <a:bodyPr wrap="square" rtlCol="0" anchor="ctr"/>
          <a:lstStyle/>
          <a:p>
            <a:pPr algn="ctr" indent="0" marL="0">
              <a:buNone/>
            </a:pPr>
            <a:r>
              <a:rPr lang="en-US" sz="3600" b="1" dirty="0">
                <a:solidFill>
                  <a:srgbClr val="D4943A"/>
                </a:solidFill>
                <a:latin typeface="Cambria" pitchFamily="34" charset="0"/>
                <a:ea typeface="Cambria" pitchFamily="34" charset="-122"/>
                <a:cs typeface="Cambria" pitchFamily="34" charset="-120"/>
              </a:rPr>
              <a:t>E</a:t>
            </a:r>
            <a:endParaRPr lang="en-US" sz="3600" dirty="0"/>
          </a:p>
        </p:txBody>
      </p:sp>
      <p:sp>
        <p:nvSpPr>
          <p:cNvPr id="15" name="Text 12"/>
          <p:cNvSpPr/>
          <p:nvPr/>
        </p:nvSpPr>
        <p:spPr>
          <a:xfrm>
            <a:off x="3429000" y="2148840"/>
            <a:ext cx="2423160" cy="274320"/>
          </a:xfrm>
          <a:prstGeom prst="rect">
            <a:avLst/>
          </a:prstGeom>
          <a:noFill/>
          <a:ln/>
        </p:spPr>
        <p:txBody>
          <a:bodyPr wrap="square" rtlCol="0" anchor="ctr"/>
          <a:lstStyle/>
          <a:p>
            <a:pPr algn="ctr" indent="0" marL="0">
              <a:buNone/>
            </a:pPr>
            <a:r>
              <a:rPr lang="en-US" sz="1100" b="1" spc="150" kern="0" dirty="0">
                <a:solidFill>
                  <a:srgbClr val="D4943A"/>
                </a:solidFill>
                <a:latin typeface="Calibri" pitchFamily="34" charset="0"/>
                <a:ea typeface="Calibri" pitchFamily="34" charset="-122"/>
                <a:cs typeface="Calibri" pitchFamily="34" charset="-120"/>
              </a:rPr>
              <a:t>EVIDENCE</a:t>
            </a:r>
            <a:endParaRPr lang="en-US" sz="1100" dirty="0"/>
          </a:p>
        </p:txBody>
      </p:sp>
      <p:sp>
        <p:nvSpPr>
          <p:cNvPr id="16" name="Shape 13"/>
          <p:cNvSpPr/>
          <p:nvPr/>
        </p:nvSpPr>
        <p:spPr>
          <a:xfrm>
            <a:off x="3520440" y="2468880"/>
            <a:ext cx="2240280" cy="27432"/>
          </a:xfrm>
          <a:prstGeom prst="rect">
            <a:avLst/>
          </a:prstGeom>
          <a:solidFill>
            <a:srgbClr val="D4943A"/>
          </a:solidFill>
          <a:ln w="12700">
            <a:solidFill>
              <a:srgbClr val="D4943A"/>
            </a:solidFill>
            <a:prstDash val="solid"/>
          </a:ln>
        </p:spPr>
      </p:sp>
      <p:sp>
        <p:nvSpPr>
          <p:cNvPr id="17" name="Text 14"/>
          <p:cNvSpPr/>
          <p:nvPr/>
        </p:nvSpPr>
        <p:spPr>
          <a:xfrm>
            <a:off x="3474720" y="2560320"/>
            <a:ext cx="2331720" cy="1645920"/>
          </a:xfrm>
          <a:prstGeom prst="rect">
            <a:avLst/>
          </a:prstGeom>
          <a:noFill/>
          <a:ln/>
        </p:spPr>
        <p:txBody>
          <a:bodyPr wrap="square" rtlCol="0" anchor="t"/>
          <a:lstStyle/>
          <a:p>
            <a:pPr indent="0" marL="0">
              <a:buNone/>
            </a:pPr>
            <a:r>
              <a:rPr lang="en-US" sz="1200" dirty="0">
                <a:solidFill>
                  <a:srgbClr val="D6F2FB"/>
                </a:solidFill>
                <a:latin typeface="Calibri" pitchFamily="34" charset="0"/>
                <a:ea typeface="Calibri" pitchFamily="34" charset="-122"/>
                <a:cs typeface="Calibri" pitchFamily="34" charset="-120"/>
              </a:rPr>
              <a:t>Specific facts, sources, or details that support the claim.</a:t>
            </a:r>
            <a:endParaRPr lang="en-US" sz="1200" dirty="0"/>
          </a:p>
        </p:txBody>
      </p:sp>
      <p:sp>
        <p:nvSpPr>
          <p:cNvPr id="18" name="Shape 15"/>
          <p:cNvSpPr/>
          <p:nvPr/>
        </p:nvSpPr>
        <p:spPr>
          <a:xfrm>
            <a:off x="6217920" y="1325880"/>
            <a:ext cx="2697480" cy="3383280"/>
          </a:xfrm>
          <a:prstGeom prst="roundRect">
            <a:avLst>
              <a:gd name="adj" fmla="val 4068"/>
            </a:avLst>
          </a:prstGeom>
          <a:solidFill>
            <a:srgbClr val="1A2D5A"/>
          </a:solidFill>
          <a:ln w="25400">
            <a:solidFill>
              <a:srgbClr val="34B76F"/>
            </a:solidFill>
            <a:prstDash val="solid"/>
          </a:ln>
        </p:spPr>
      </p:sp>
      <p:sp>
        <p:nvSpPr>
          <p:cNvPr id="19" name="Text 16"/>
          <p:cNvSpPr/>
          <p:nvPr/>
        </p:nvSpPr>
        <p:spPr>
          <a:xfrm>
            <a:off x="6217920" y="1417320"/>
            <a:ext cx="2697480" cy="685800"/>
          </a:xfrm>
          <a:prstGeom prst="rect">
            <a:avLst/>
          </a:prstGeom>
          <a:noFill/>
          <a:ln/>
        </p:spPr>
        <p:txBody>
          <a:bodyPr wrap="square" rtlCol="0" anchor="ctr"/>
          <a:lstStyle/>
          <a:p>
            <a:pPr algn="ctr" indent="0" marL="0">
              <a:buNone/>
            </a:pPr>
            <a:r>
              <a:rPr lang="en-US" sz="3600" b="1" dirty="0">
                <a:solidFill>
                  <a:srgbClr val="34B76F"/>
                </a:solidFill>
                <a:latin typeface="Cambria" pitchFamily="34" charset="0"/>
                <a:ea typeface="Cambria" pitchFamily="34" charset="-122"/>
                <a:cs typeface="Cambria" pitchFamily="34" charset="-120"/>
              </a:rPr>
              <a:t>R</a:t>
            </a:r>
            <a:endParaRPr lang="en-US" sz="3600" dirty="0"/>
          </a:p>
        </p:txBody>
      </p:sp>
      <p:sp>
        <p:nvSpPr>
          <p:cNvPr id="20" name="Text 17"/>
          <p:cNvSpPr/>
          <p:nvPr/>
        </p:nvSpPr>
        <p:spPr>
          <a:xfrm>
            <a:off x="6355080" y="2148840"/>
            <a:ext cx="2423160" cy="274320"/>
          </a:xfrm>
          <a:prstGeom prst="rect">
            <a:avLst/>
          </a:prstGeom>
          <a:noFill/>
          <a:ln/>
        </p:spPr>
        <p:txBody>
          <a:bodyPr wrap="square" rtlCol="0" anchor="ctr"/>
          <a:lstStyle/>
          <a:p>
            <a:pPr algn="ctr" indent="0" marL="0">
              <a:buNone/>
            </a:pPr>
            <a:r>
              <a:rPr lang="en-US" sz="1100" b="1" spc="150" kern="0" dirty="0">
                <a:solidFill>
                  <a:srgbClr val="34B76F"/>
                </a:solidFill>
                <a:latin typeface="Calibri" pitchFamily="34" charset="0"/>
                <a:ea typeface="Calibri" pitchFamily="34" charset="-122"/>
                <a:cs typeface="Calibri" pitchFamily="34" charset="-120"/>
              </a:rPr>
              <a:t>REASONING</a:t>
            </a:r>
            <a:endParaRPr lang="en-US" sz="1100" dirty="0"/>
          </a:p>
        </p:txBody>
      </p:sp>
      <p:sp>
        <p:nvSpPr>
          <p:cNvPr id="21" name="Shape 18"/>
          <p:cNvSpPr/>
          <p:nvPr/>
        </p:nvSpPr>
        <p:spPr>
          <a:xfrm>
            <a:off x="6446520" y="2468880"/>
            <a:ext cx="2240280" cy="27432"/>
          </a:xfrm>
          <a:prstGeom prst="rect">
            <a:avLst/>
          </a:prstGeom>
          <a:solidFill>
            <a:srgbClr val="34B76F"/>
          </a:solidFill>
          <a:ln w="12700">
            <a:solidFill>
              <a:srgbClr val="34B76F"/>
            </a:solidFill>
            <a:prstDash val="solid"/>
          </a:ln>
        </p:spPr>
      </p:sp>
      <p:sp>
        <p:nvSpPr>
          <p:cNvPr id="22" name="Text 19"/>
          <p:cNvSpPr/>
          <p:nvPr/>
        </p:nvSpPr>
        <p:spPr>
          <a:xfrm>
            <a:off x="6400800" y="2560320"/>
            <a:ext cx="2331720" cy="1645920"/>
          </a:xfrm>
          <a:prstGeom prst="rect">
            <a:avLst/>
          </a:prstGeom>
          <a:noFill/>
          <a:ln/>
        </p:spPr>
        <p:txBody>
          <a:bodyPr wrap="square" rtlCol="0" anchor="t"/>
          <a:lstStyle/>
          <a:p>
            <a:pPr indent="0" marL="0">
              <a:buNone/>
            </a:pPr>
            <a:r>
              <a:rPr lang="en-US" sz="1200" dirty="0">
                <a:solidFill>
                  <a:srgbClr val="D6F2FB"/>
                </a:solidFill>
                <a:latin typeface="Calibri" pitchFamily="34" charset="0"/>
                <a:ea typeface="Calibri" pitchFamily="34" charset="-122"/>
                <a:cs typeface="Calibri" pitchFamily="34" charset="-120"/>
              </a:rPr>
              <a:t>The explanation of WHY the evidence supports your claim.</a:t>
            </a:r>
            <a:endParaRPr lang="en-US" sz="1200" dirty="0"/>
          </a:p>
        </p:txBody>
      </p:sp>
      <p:sp>
        <p:nvSpPr>
          <p:cNvPr id="23" name="Shape 20"/>
          <p:cNvSpPr/>
          <p:nvPr/>
        </p:nvSpPr>
        <p:spPr>
          <a:xfrm>
            <a:off x="457200" y="4754880"/>
            <a:ext cx="8229600" cy="274320"/>
          </a:xfrm>
          <a:prstGeom prst="roundRect">
            <a:avLst>
              <a:gd name="adj" fmla="val 26667"/>
            </a:avLst>
          </a:prstGeom>
          <a:solidFill>
            <a:srgbClr val="D4943A">
              <a:alpha val="80000"/>
            </a:srgbClr>
          </a:solidFill>
          <a:ln w="12700">
            <a:solidFill>
              <a:srgbClr val="D4943A"/>
            </a:solidFill>
            <a:prstDash val="solid"/>
          </a:ln>
        </p:spPr>
      </p:sp>
      <p:sp>
        <p:nvSpPr>
          <p:cNvPr id="24" name="Text 21"/>
          <p:cNvSpPr/>
          <p:nvPr/>
        </p:nvSpPr>
        <p:spPr>
          <a:xfrm>
            <a:off x="548640" y="4754880"/>
            <a:ext cx="8046720" cy="274320"/>
          </a:xfrm>
          <a:prstGeom prst="rect">
            <a:avLst/>
          </a:prstGeom>
          <a:noFill/>
          <a:ln/>
        </p:spPr>
        <p:txBody>
          <a:bodyPr wrap="square" rtlCol="0" anchor="ctr"/>
          <a:lstStyle/>
          <a:p>
            <a:pPr indent="0" marL="0">
              <a:buNone/>
            </a:pPr>
            <a:r>
              <a:rPr lang="en-US" sz="1000" i="1" dirty="0">
                <a:solidFill>
                  <a:srgbClr val="FFFFFF"/>
                </a:solidFill>
                <a:latin typeface="Calibri" pitchFamily="34" charset="0"/>
                <a:ea typeface="Calibri" pitchFamily="34" charset="-122"/>
                <a:cs typeface="Calibri" pitchFamily="34" charset="-120"/>
              </a:rPr>
              <a:t>All three must be present. A claim without evidence is a guess. Evidence without reasoning is just facts. Reasoning without evidence is a hunch.</a:t>
            </a:r>
            <a:endParaRPr lang="en-US" sz="10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F0F2F8"/>
          </a:solidFill>
          <a:ln w="12700">
            <a:solidFill>
              <a:srgbClr val="F0F2F8"/>
            </a:solidFill>
            <a:prstDash val="solid"/>
          </a:ln>
        </p:spPr>
      </p:sp>
      <p:sp>
        <p:nvSpPr>
          <p:cNvPr id="3" name="Text 1"/>
          <p:cNvSpPr/>
          <p:nvPr/>
        </p:nvSpPr>
        <p:spPr>
          <a:xfrm>
            <a:off x="365760" y="91440"/>
            <a:ext cx="8412480" cy="274320"/>
          </a:xfrm>
          <a:prstGeom prst="rect">
            <a:avLst/>
          </a:prstGeom>
          <a:noFill/>
          <a:ln/>
        </p:spPr>
        <p:txBody>
          <a:bodyPr wrap="square" rtlCol="0" anchor="ctr"/>
          <a:lstStyle/>
          <a:p>
            <a:pPr indent="0" marL="0">
              <a:buNone/>
            </a:pPr>
            <a:r>
              <a:rPr lang="en-US" sz="1000" b="1" spc="150" kern="0" dirty="0">
                <a:solidFill>
                  <a:srgbClr val="0E1C42"/>
                </a:solidFill>
                <a:latin typeface="Calibri" pitchFamily="34" charset="0"/>
                <a:ea typeface="Calibri" pitchFamily="34" charset="-122"/>
                <a:cs typeface="Calibri" pitchFamily="34" charset="-120"/>
              </a:rPr>
              <a:t>CER ANATOMY: WHAT EACH PART DOES</a:t>
            </a:r>
            <a:endParaRPr lang="en-US" sz="1000" dirty="0"/>
          </a:p>
        </p:txBody>
      </p:sp>
      <p:sp>
        <p:nvSpPr>
          <p:cNvPr id="4" name="Shape 2"/>
          <p:cNvSpPr/>
          <p:nvPr/>
        </p:nvSpPr>
        <p:spPr>
          <a:xfrm>
            <a:off x="365760" y="393192"/>
            <a:ext cx="8412480" cy="45720"/>
          </a:xfrm>
          <a:prstGeom prst="rect">
            <a:avLst/>
          </a:prstGeom>
          <a:solidFill>
            <a:srgbClr val="D4943A"/>
          </a:solidFill>
          <a:ln w="12700">
            <a:solidFill>
              <a:srgbClr val="D4943A"/>
            </a:solidFill>
            <a:prstDash val="solid"/>
          </a:ln>
        </p:spPr>
      </p:sp>
      <p:sp>
        <p:nvSpPr>
          <p:cNvPr id="5" name="Text 3"/>
          <p:cNvSpPr/>
          <p:nvPr/>
        </p:nvSpPr>
        <p:spPr>
          <a:xfrm>
            <a:off x="365760" y="457200"/>
            <a:ext cx="8412480" cy="274320"/>
          </a:xfrm>
          <a:prstGeom prst="rect">
            <a:avLst/>
          </a:prstGeom>
          <a:noFill/>
          <a:ln/>
        </p:spPr>
        <p:txBody>
          <a:bodyPr wrap="square" rtlCol="0" anchor="ctr"/>
          <a:lstStyle/>
          <a:p>
            <a:pPr indent="0" marL="0">
              <a:buNone/>
            </a:pPr>
            <a:r>
              <a:rPr lang="en-US" sz="1300" i="1" dirty="0">
                <a:solidFill>
                  <a:srgbClr val="0E1C42"/>
                </a:solidFill>
                <a:latin typeface="Calibri" pitchFamily="34" charset="0"/>
                <a:ea typeface="Calibri" pitchFamily="34" charset="-122"/>
                <a:cs typeface="Calibri" pitchFamily="34" charset="-120"/>
              </a:rPr>
              <a:t>Example: Why did colonists settle near rivers?</a:t>
            </a:r>
            <a:endParaRPr lang="en-US" sz="1300" dirty="0"/>
          </a:p>
        </p:txBody>
      </p:sp>
      <p:sp>
        <p:nvSpPr>
          <p:cNvPr id="6" name="Shape 4"/>
          <p:cNvSpPr/>
          <p:nvPr/>
        </p:nvSpPr>
        <p:spPr>
          <a:xfrm>
            <a:off x="365760" y="804672"/>
            <a:ext cx="8412480" cy="1143000"/>
          </a:xfrm>
          <a:prstGeom prst="roundRect">
            <a:avLst>
              <a:gd name="adj" fmla="val 8000"/>
            </a:avLst>
          </a:prstGeom>
          <a:solidFill>
            <a:srgbClr val="EAF7FB"/>
          </a:solidFill>
          <a:ln w="19050">
            <a:solidFill>
              <a:srgbClr val="55C8E8"/>
            </a:solidFill>
            <a:prstDash val="solid"/>
          </a:ln>
        </p:spPr>
      </p:sp>
      <p:sp>
        <p:nvSpPr>
          <p:cNvPr id="7" name="Text 5"/>
          <p:cNvSpPr/>
          <p:nvPr/>
        </p:nvSpPr>
        <p:spPr>
          <a:xfrm>
            <a:off x="502920" y="868680"/>
            <a:ext cx="1828800" cy="256032"/>
          </a:xfrm>
          <a:prstGeom prst="rect">
            <a:avLst/>
          </a:prstGeom>
          <a:noFill/>
          <a:ln/>
        </p:spPr>
        <p:txBody>
          <a:bodyPr wrap="square" rtlCol="0" anchor="ctr"/>
          <a:lstStyle/>
          <a:p>
            <a:pPr indent="0" marL="0">
              <a:buNone/>
            </a:pPr>
            <a:r>
              <a:rPr lang="en-US" sz="1000" b="1" spc="100" kern="0" dirty="0">
                <a:solidFill>
                  <a:srgbClr val="55C8E8"/>
                </a:solidFill>
                <a:latin typeface="Calibri" pitchFamily="34" charset="0"/>
                <a:ea typeface="Calibri" pitchFamily="34" charset="-122"/>
                <a:cs typeface="Calibri" pitchFamily="34" charset="-120"/>
              </a:rPr>
              <a:t>C  CLAIM</a:t>
            </a:r>
            <a:endParaRPr lang="en-US" sz="1000" dirty="0"/>
          </a:p>
        </p:txBody>
      </p:sp>
      <p:sp>
        <p:nvSpPr>
          <p:cNvPr id="8" name="Text 6"/>
          <p:cNvSpPr/>
          <p:nvPr/>
        </p:nvSpPr>
        <p:spPr>
          <a:xfrm>
            <a:off x="502920" y="1152144"/>
            <a:ext cx="4114800" cy="713232"/>
          </a:xfrm>
          <a:prstGeom prst="rect">
            <a:avLst/>
          </a:prstGeom>
          <a:noFill/>
          <a:ln/>
        </p:spPr>
        <p:txBody>
          <a:bodyPr wrap="square" rtlCol="0" anchor="t"/>
          <a:lstStyle/>
          <a:p>
            <a:pPr indent="0" marL="0">
              <a:buNone/>
            </a:pPr>
            <a:r>
              <a:rPr lang="en-US" sz="1200" i="1" dirty="0">
                <a:solidFill>
                  <a:srgbClr val="0E1C42"/>
                </a:solidFill>
                <a:latin typeface="Cambria" pitchFamily="34" charset="0"/>
                <a:ea typeface="Cambria" pitchFamily="34" charset="-122"/>
                <a:cs typeface="Cambria" pitchFamily="34" charset="-120"/>
              </a:rPr>
              <a:t>"Colonies were often settled near harbors and rivers."</a:t>
            </a:r>
            <a:endParaRPr lang="en-US" sz="1200" dirty="0"/>
          </a:p>
        </p:txBody>
      </p:sp>
      <p:sp>
        <p:nvSpPr>
          <p:cNvPr id="9" name="Shape 7"/>
          <p:cNvSpPr/>
          <p:nvPr/>
        </p:nvSpPr>
        <p:spPr>
          <a:xfrm>
            <a:off x="4754880" y="896112"/>
            <a:ext cx="3886200" cy="960120"/>
          </a:xfrm>
          <a:prstGeom prst="roundRect">
            <a:avLst>
              <a:gd name="adj" fmla="val 7619"/>
            </a:avLst>
          </a:prstGeom>
          <a:solidFill>
            <a:srgbClr val="FFFFFF"/>
          </a:solidFill>
          <a:ln w="12700">
            <a:solidFill>
              <a:srgbClr val="55C8E8"/>
            </a:solidFill>
            <a:prstDash val="solid"/>
          </a:ln>
        </p:spPr>
      </p:sp>
      <p:sp>
        <p:nvSpPr>
          <p:cNvPr id="10" name="Text 8"/>
          <p:cNvSpPr/>
          <p:nvPr/>
        </p:nvSpPr>
        <p:spPr>
          <a:xfrm>
            <a:off x="4892040" y="932688"/>
            <a:ext cx="3611880" cy="201168"/>
          </a:xfrm>
          <a:prstGeom prst="rect">
            <a:avLst/>
          </a:prstGeom>
          <a:noFill/>
          <a:ln/>
        </p:spPr>
        <p:txBody>
          <a:bodyPr wrap="square" rtlCol="0" anchor="ctr"/>
          <a:lstStyle/>
          <a:p>
            <a:pPr indent="0" marL="0">
              <a:buNone/>
            </a:pPr>
            <a:r>
              <a:rPr lang="en-US" sz="800" b="1" spc="100" kern="0" dirty="0">
                <a:solidFill>
                  <a:srgbClr val="55C8E8"/>
                </a:solidFill>
                <a:latin typeface="Calibri" pitchFamily="34" charset="0"/>
                <a:ea typeface="Calibri" pitchFamily="34" charset="-122"/>
                <a:cs typeface="Calibri" pitchFamily="34" charset="-120"/>
              </a:rPr>
              <a:t>WHAT IT DOES:</a:t>
            </a:r>
            <a:endParaRPr lang="en-US" sz="800" dirty="0"/>
          </a:p>
        </p:txBody>
      </p:sp>
      <p:sp>
        <p:nvSpPr>
          <p:cNvPr id="11" name="Text 9"/>
          <p:cNvSpPr/>
          <p:nvPr/>
        </p:nvSpPr>
        <p:spPr>
          <a:xfrm>
            <a:off x="4892040" y="1152144"/>
            <a:ext cx="3611880" cy="621792"/>
          </a:xfrm>
          <a:prstGeom prst="rect">
            <a:avLst/>
          </a:prstGeom>
          <a:noFill/>
          <a:ln/>
        </p:spPr>
        <p:txBody>
          <a:bodyPr wrap="square" rtlCol="0" anchor="t"/>
          <a:lstStyle/>
          <a:p>
            <a:pPr indent="0" marL="0">
              <a:buNone/>
            </a:pPr>
            <a:r>
              <a:rPr lang="en-US" sz="1100" dirty="0">
                <a:solidFill>
                  <a:srgbClr val="0E1C42"/>
                </a:solidFill>
                <a:latin typeface="Calibri" pitchFamily="34" charset="0"/>
                <a:ea typeface="Calibri" pitchFamily="34" charset="-122"/>
                <a:cs typeface="Calibri" pitchFamily="34" charset="-120"/>
              </a:rPr>
              <a:t>States your position. Answers the question directly.</a:t>
            </a:r>
            <a:endParaRPr lang="en-US" sz="1100" dirty="0"/>
          </a:p>
        </p:txBody>
      </p:sp>
      <p:sp>
        <p:nvSpPr>
          <p:cNvPr id="12" name="Shape 10"/>
          <p:cNvSpPr/>
          <p:nvPr/>
        </p:nvSpPr>
        <p:spPr>
          <a:xfrm>
            <a:off x="365760" y="2066544"/>
            <a:ext cx="8412480" cy="1143000"/>
          </a:xfrm>
          <a:prstGeom prst="roundRect">
            <a:avLst>
              <a:gd name="adj" fmla="val 8000"/>
            </a:avLst>
          </a:prstGeom>
          <a:solidFill>
            <a:srgbClr val="FFF3DC"/>
          </a:solidFill>
          <a:ln w="19050">
            <a:solidFill>
              <a:srgbClr val="D4943A"/>
            </a:solidFill>
            <a:prstDash val="solid"/>
          </a:ln>
        </p:spPr>
      </p:sp>
      <p:sp>
        <p:nvSpPr>
          <p:cNvPr id="13" name="Text 11"/>
          <p:cNvSpPr/>
          <p:nvPr/>
        </p:nvSpPr>
        <p:spPr>
          <a:xfrm>
            <a:off x="502920" y="2130552"/>
            <a:ext cx="1828800" cy="256032"/>
          </a:xfrm>
          <a:prstGeom prst="rect">
            <a:avLst/>
          </a:prstGeom>
          <a:noFill/>
          <a:ln/>
        </p:spPr>
        <p:txBody>
          <a:bodyPr wrap="square" rtlCol="0" anchor="ctr"/>
          <a:lstStyle/>
          <a:p>
            <a:pPr indent="0" marL="0">
              <a:buNone/>
            </a:pPr>
            <a:r>
              <a:rPr lang="en-US" sz="1000" b="1" spc="100" kern="0" dirty="0">
                <a:solidFill>
                  <a:srgbClr val="D4943A"/>
                </a:solidFill>
                <a:latin typeface="Calibri" pitchFamily="34" charset="0"/>
                <a:ea typeface="Calibri" pitchFamily="34" charset="-122"/>
                <a:cs typeface="Calibri" pitchFamily="34" charset="-120"/>
              </a:rPr>
              <a:t>E  EVIDENCE</a:t>
            </a:r>
            <a:endParaRPr lang="en-US" sz="1000" dirty="0"/>
          </a:p>
        </p:txBody>
      </p:sp>
      <p:sp>
        <p:nvSpPr>
          <p:cNvPr id="14" name="Text 12"/>
          <p:cNvSpPr/>
          <p:nvPr/>
        </p:nvSpPr>
        <p:spPr>
          <a:xfrm>
            <a:off x="502920" y="2414016"/>
            <a:ext cx="4114800" cy="713232"/>
          </a:xfrm>
          <a:prstGeom prst="rect">
            <a:avLst/>
          </a:prstGeom>
          <a:noFill/>
          <a:ln/>
        </p:spPr>
        <p:txBody>
          <a:bodyPr wrap="square" rtlCol="0" anchor="t"/>
          <a:lstStyle/>
          <a:p>
            <a:pPr indent="0" marL="0">
              <a:buNone/>
            </a:pPr>
            <a:r>
              <a:rPr lang="en-US" sz="1200" i="1" dirty="0">
                <a:solidFill>
                  <a:srgbClr val="0E1C42"/>
                </a:solidFill>
                <a:latin typeface="Cambria" pitchFamily="34" charset="0"/>
                <a:ea typeface="Cambria" pitchFamily="34" charset="-122"/>
                <a:cs typeface="Cambria" pitchFamily="34" charset="-120"/>
              </a:rPr>
              <a:t>"Colonial maps from the 1600s-1700s show most early settlements along coastlines and major river systems."</a:t>
            </a:r>
            <a:endParaRPr lang="en-US" sz="1200" dirty="0"/>
          </a:p>
        </p:txBody>
      </p:sp>
      <p:sp>
        <p:nvSpPr>
          <p:cNvPr id="15" name="Shape 13"/>
          <p:cNvSpPr/>
          <p:nvPr/>
        </p:nvSpPr>
        <p:spPr>
          <a:xfrm>
            <a:off x="4754880" y="2157984"/>
            <a:ext cx="3886200" cy="960120"/>
          </a:xfrm>
          <a:prstGeom prst="roundRect">
            <a:avLst>
              <a:gd name="adj" fmla="val 7619"/>
            </a:avLst>
          </a:prstGeom>
          <a:solidFill>
            <a:srgbClr val="FFFFFF"/>
          </a:solidFill>
          <a:ln w="12700">
            <a:solidFill>
              <a:srgbClr val="D4943A"/>
            </a:solidFill>
            <a:prstDash val="solid"/>
          </a:ln>
        </p:spPr>
      </p:sp>
      <p:sp>
        <p:nvSpPr>
          <p:cNvPr id="16" name="Text 14"/>
          <p:cNvSpPr/>
          <p:nvPr/>
        </p:nvSpPr>
        <p:spPr>
          <a:xfrm>
            <a:off x="4892040" y="2194560"/>
            <a:ext cx="3611880" cy="201168"/>
          </a:xfrm>
          <a:prstGeom prst="rect">
            <a:avLst/>
          </a:prstGeom>
          <a:noFill/>
          <a:ln/>
        </p:spPr>
        <p:txBody>
          <a:bodyPr wrap="square" rtlCol="0" anchor="ctr"/>
          <a:lstStyle/>
          <a:p>
            <a:pPr indent="0" marL="0">
              <a:buNone/>
            </a:pPr>
            <a:r>
              <a:rPr lang="en-US" sz="800" b="1" spc="100" kern="0" dirty="0">
                <a:solidFill>
                  <a:srgbClr val="D4943A"/>
                </a:solidFill>
                <a:latin typeface="Calibri" pitchFamily="34" charset="0"/>
                <a:ea typeface="Calibri" pitchFamily="34" charset="-122"/>
                <a:cs typeface="Calibri" pitchFamily="34" charset="-120"/>
              </a:rPr>
              <a:t>WHAT IT DOES:</a:t>
            </a:r>
            <a:endParaRPr lang="en-US" sz="800" dirty="0"/>
          </a:p>
        </p:txBody>
      </p:sp>
      <p:sp>
        <p:nvSpPr>
          <p:cNvPr id="17" name="Text 15"/>
          <p:cNvSpPr/>
          <p:nvPr/>
        </p:nvSpPr>
        <p:spPr>
          <a:xfrm>
            <a:off x="4892040" y="2414016"/>
            <a:ext cx="3611880" cy="621792"/>
          </a:xfrm>
          <a:prstGeom prst="rect">
            <a:avLst/>
          </a:prstGeom>
          <a:noFill/>
          <a:ln/>
        </p:spPr>
        <p:txBody>
          <a:bodyPr wrap="square" rtlCol="0" anchor="t"/>
          <a:lstStyle/>
          <a:p>
            <a:pPr indent="0" marL="0">
              <a:buNone/>
            </a:pPr>
            <a:r>
              <a:rPr lang="en-US" sz="1100" dirty="0">
                <a:solidFill>
                  <a:srgbClr val="0E1C42"/>
                </a:solidFill>
                <a:latin typeface="Calibri" pitchFamily="34" charset="0"/>
                <a:ea typeface="Calibri" pitchFamily="34" charset="-122"/>
                <a:cs typeface="Calibri" pitchFamily="34" charset="-120"/>
              </a:rPr>
              <a:t>Names the specific source or fact. Proves the claim is not just made up.</a:t>
            </a:r>
            <a:endParaRPr lang="en-US" sz="1100" dirty="0"/>
          </a:p>
        </p:txBody>
      </p:sp>
      <p:sp>
        <p:nvSpPr>
          <p:cNvPr id="18" name="Shape 16"/>
          <p:cNvSpPr/>
          <p:nvPr/>
        </p:nvSpPr>
        <p:spPr>
          <a:xfrm>
            <a:off x="365760" y="3328416"/>
            <a:ext cx="8412480" cy="1143000"/>
          </a:xfrm>
          <a:prstGeom prst="roundRect">
            <a:avLst>
              <a:gd name="adj" fmla="val 8000"/>
            </a:avLst>
          </a:prstGeom>
          <a:solidFill>
            <a:srgbClr val="E8F8EF"/>
          </a:solidFill>
          <a:ln w="19050">
            <a:solidFill>
              <a:srgbClr val="34B76F"/>
            </a:solidFill>
            <a:prstDash val="solid"/>
          </a:ln>
        </p:spPr>
      </p:sp>
      <p:sp>
        <p:nvSpPr>
          <p:cNvPr id="19" name="Text 17"/>
          <p:cNvSpPr/>
          <p:nvPr/>
        </p:nvSpPr>
        <p:spPr>
          <a:xfrm>
            <a:off x="502920" y="3392424"/>
            <a:ext cx="1828800" cy="256032"/>
          </a:xfrm>
          <a:prstGeom prst="rect">
            <a:avLst/>
          </a:prstGeom>
          <a:noFill/>
          <a:ln/>
        </p:spPr>
        <p:txBody>
          <a:bodyPr wrap="square" rtlCol="0" anchor="ctr"/>
          <a:lstStyle/>
          <a:p>
            <a:pPr indent="0" marL="0">
              <a:buNone/>
            </a:pPr>
            <a:r>
              <a:rPr lang="en-US" sz="1000" b="1" spc="100" kern="0" dirty="0">
                <a:solidFill>
                  <a:srgbClr val="34B76F"/>
                </a:solidFill>
                <a:latin typeface="Calibri" pitchFamily="34" charset="0"/>
                <a:ea typeface="Calibri" pitchFamily="34" charset="-122"/>
                <a:cs typeface="Calibri" pitchFamily="34" charset="-120"/>
              </a:rPr>
              <a:t>R  REASONING</a:t>
            </a:r>
            <a:endParaRPr lang="en-US" sz="1000" dirty="0"/>
          </a:p>
        </p:txBody>
      </p:sp>
      <p:sp>
        <p:nvSpPr>
          <p:cNvPr id="20" name="Text 18"/>
          <p:cNvSpPr/>
          <p:nvPr/>
        </p:nvSpPr>
        <p:spPr>
          <a:xfrm>
            <a:off x="502920" y="3675888"/>
            <a:ext cx="4114800" cy="713232"/>
          </a:xfrm>
          <a:prstGeom prst="rect">
            <a:avLst/>
          </a:prstGeom>
          <a:noFill/>
          <a:ln/>
        </p:spPr>
        <p:txBody>
          <a:bodyPr wrap="square" rtlCol="0" anchor="t"/>
          <a:lstStyle/>
          <a:p>
            <a:pPr indent="0" marL="0">
              <a:buNone/>
            </a:pPr>
            <a:r>
              <a:rPr lang="en-US" sz="1200" i="1" dirty="0">
                <a:solidFill>
                  <a:srgbClr val="0E1C42"/>
                </a:solidFill>
                <a:latin typeface="Cambria" pitchFamily="34" charset="0"/>
                <a:ea typeface="Cambria" pitchFamily="34" charset="-122"/>
                <a:cs typeface="Cambria" pitchFamily="34" charset="-120"/>
              </a:rPr>
              <a:t>"Access to water provided transportation, trade routes, and food — without it, survival and commerce were nearly impossible."</a:t>
            </a:r>
            <a:endParaRPr lang="en-US" sz="1200" dirty="0"/>
          </a:p>
        </p:txBody>
      </p:sp>
      <p:sp>
        <p:nvSpPr>
          <p:cNvPr id="21" name="Shape 19"/>
          <p:cNvSpPr/>
          <p:nvPr/>
        </p:nvSpPr>
        <p:spPr>
          <a:xfrm>
            <a:off x="4754880" y="3419856"/>
            <a:ext cx="3886200" cy="960120"/>
          </a:xfrm>
          <a:prstGeom prst="roundRect">
            <a:avLst>
              <a:gd name="adj" fmla="val 7619"/>
            </a:avLst>
          </a:prstGeom>
          <a:solidFill>
            <a:srgbClr val="FFFFFF"/>
          </a:solidFill>
          <a:ln w="12700">
            <a:solidFill>
              <a:srgbClr val="34B76F"/>
            </a:solidFill>
            <a:prstDash val="solid"/>
          </a:ln>
        </p:spPr>
      </p:sp>
      <p:sp>
        <p:nvSpPr>
          <p:cNvPr id="22" name="Text 20"/>
          <p:cNvSpPr/>
          <p:nvPr/>
        </p:nvSpPr>
        <p:spPr>
          <a:xfrm>
            <a:off x="4892040" y="3456432"/>
            <a:ext cx="3611880" cy="201168"/>
          </a:xfrm>
          <a:prstGeom prst="rect">
            <a:avLst/>
          </a:prstGeom>
          <a:noFill/>
          <a:ln/>
        </p:spPr>
        <p:txBody>
          <a:bodyPr wrap="square" rtlCol="0" anchor="ctr"/>
          <a:lstStyle/>
          <a:p>
            <a:pPr indent="0" marL="0">
              <a:buNone/>
            </a:pPr>
            <a:r>
              <a:rPr lang="en-US" sz="800" b="1" spc="100" kern="0" dirty="0">
                <a:solidFill>
                  <a:srgbClr val="34B76F"/>
                </a:solidFill>
                <a:latin typeface="Calibri" pitchFamily="34" charset="0"/>
                <a:ea typeface="Calibri" pitchFamily="34" charset="-122"/>
                <a:cs typeface="Calibri" pitchFamily="34" charset="-120"/>
              </a:rPr>
              <a:t>WHAT IT DOES:</a:t>
            </a:r>
            <a:endParaRPr lang="en-US" sz="800" dirty="0"/>
          </a:p>
        </p:txBody>
      </p:sp>
      <p:sp>
        <p:nvSpPr>
          <p:cNvPr id="23" name="Text 21"/>
          <p:cNvSpPr/>
          <p:nvPr/>
        </p:nvSpPr>
        <p:spPr>
          <a:xfrm>
            <a:off x="4892040" y="3675888"/>
            <a:ext cx="3611880" cy="621792"/>
          </a:xfrm>
          <a:prstGeom prst="rect">
            <a:avLst/>
          </a:prstGeom>
          <a:noFill/>
          <a:ln/>
        </p:spPr>
        <p:txBody>
          <a:bodyPr wrap="square" rtlCol="0" anchor="t"/>
          <a:lstStyle/>
          <a:p>
            <a:pPr indent="0" marL="0">
              <a:buNone/>
            </a:pPr>
            <a:r>
              <a:rPr lang="en-US" sz="1100" dirty="0">
                <a:solidFill>
                  <a:srgbClr val="0E1C42"/>
                </a:solidFill>
                <a:latin typeface="Calibri" pitchFamily="34" charset="0"/>
                <a:ea typeface="Calibri" pitchFamily="34" charset="-122"/>
                <a:cs typeface="Calibri" pitchFamily="34" charset="-120"/>
              </a:rPr>
              <a:t>Explains WHY the evidence supports the claim. Without this, readers ask: so what?</a:t>
            </a:r>
            <a:endParaRPr lang="en-US" sz="11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F0F2F8"/>
          </a:solidFill>
          <a:ln w="12700">
            <a:solidFill>
              <a:srgbClr val="F0F2F8"/>
            </a:solidFill>
            <a:prstDash val="solid"/>
          </a:ln>
        </p:spPr>
      </p:sp>
      <p:sp>
        <p:nvSpPr>
          <p:cNvPr id="3" name="Text 1"/>
          <p:cNvSpPr/>
          <p:nvPr/>
        </p:nvSpPr>
        <p:spPr>
          <a:xfrm>
            <a:off x="365760" y="91440"/>
            <a:ext cx="8412480" cy="274320"/>
          </a:xfrm>
          <a:prstGeom prst="rect">
            <a:avLst/>
          </a:prstGeom>
          <a:noFill/>
          <a:ln/>
        </p:spPr>
        <p:txBody>
          <a:bodyPr wrap="square" rtlCol="0" anchor="ctr"/>
          <a:lstStyle/>
          <a:p>
            <a:pPr indent="0" marL="0">
              <a:buNone/>
            </a:pPr>
            <a:r>
              <a:rPr lang="en-US" sz="1000" b="1" spc="150" kern="0" dirty="0">
                <a:solidFill>
                  <a:srgbClr val="1A8A7D"/>
                </a:solidFill>
                <a:latin typeface="Calibri" pitchFamily="34" charset="0"/>
                <a:ea typeface="Calibri" pitchFamily="34" charset="-122"/>
                <a:cs typeface="Calibri" pitchFamily="34" charset="-120"/>
              </a:rPr>
              <a:t>CLUE BOX: SOURCE DESK INVESTIGATION</a:t>
            </a:r>
            <a:endParaRPr lang="en-US" sz="1000" dirty="0"/>
          </a:p>
        </p:txBody>
      </p:sp>
      <p:sp>
        <p:nvSpPr>
          <p:cNvPr id="4" name="Shape 2"/>
          <p:cNvSpPr/>
          <p:nvPr/>
        </p:nvSpPr>
        <p:spPr>
          <a:xfrm>
            <a:off x="365760" y="393192"/>
            <a:ext cx="8412480" cy="45720"/>
          </a:xfrm>
          <a:prstGeom prst="rect">
            <a:avLst/>
          </a:prstGeom>
          <a:solidFill>
            <a:srgbClr val="D4943A"/>
          </a:solidFill>
          <a:ln w="12700">
            <a:solidFill>
              <a:srgbClr val="D4943A"/>
            </a:solidFill>
            <a:prstDash val="solid"/>
          </a:ln>
        </p:spPr>
      </p:sp>
      <p:sp>
        <p:nvSpPr>
          <p:cNvPr id="5" name="Text 3"/>
          <p:cNvSpPr/>
          <p:nvPr/>
        </p:nvSpPr>
        <p:spPr>
          <a:xfrm>
            <a:off x="365760" y="457200"/>
            <a:ext cx="8412480" cy="274320"/>
          </a:xfrm>
          <a:prstGeom prst="rect">
            <a:avLst/>
          </a:prstGeom>
          <a:noFill/>
          <a:ln/>
        </p:spPr>
        <p:txBody>
          <a:bodyPr wrap="square" rtlCol="0" anchor="ctr"/>
          <a:lstStyle/>
          <a:p>
            <a:pPr indent="0" marL="0">
              <a:buNone/>
            </a:pPr>
            <a:r>
              <a:rPr lang="en-US" sz="1300" i="1" dirty="0">
                <a:solidFill>
                  <a:srgbClr val="0E1C42"/>
                </a:solidFill>
                <a:latin typeface="Calibri" pitchFamily="34" charset="0"/>
                <a:ea typeface="Calibri" pitchFamily="34" charset="-122"/>
                <a:cs typeface="Calibri" pitchFamily="34" charset="-120"/>
              </a:rPr>
              <a:t>A dispatch just arrived from the Archive. Study it carefully.</a:t>
            </a:r>
            <a:endParaRPr lang="en-US" sz="1300" dirty="0"/>
          </a:p>
        </p:txBody>
      </p:sp>
      <p:sp>
        <p:nvSpPr>
          <p:cNvPr id="6" name="Shape 4"/>
          <p:cNvSpPr/>
          <p:nvPr/>
        </p:nvSpPr>
        <p:spPr>
          <a:xfrm>
            <a:off x="365760" y="804672"/>
            <a:ext cx="5029200" cy="3566160"/>
          </a:xfrm>
          <a:prstGeom prst="roundRect">
            <a:avLst>
              <a:gd name="adj" fmla="val 3077"/>
            </a:avLst>
          </a:prstGeom>
          <a:solidFill>
            <a:srgbClr val="E2E8F4"/>
          </a:solidFill>
          <a:ln w="19050">
            <a:solidFill>
              <a:srgbClr val="B0B8CC"/>
            </a:solidFill>
            <a:prstDash val="dash"/>
          </a:ln>
        </p:spPr>
      </p:sp>
      <p:sp>
        <p:nvSpPr>
          <p:cNvPr id="7" name="Text 5"/>
          <p:cNvSpPr/>
          <p:nvPr/>
        </p:nvSpPr>
        <p:spPr>
          <a:xfrm>
            <a:off x="365760" y="804672"/>
            <a:ext cx="5029200" cy="274320"/>
          </a:xfrm>
          <a:prstGeom prst="rect">
            <a:avLst/>
          </a:prstGeom>
          <a:noFill/>
          <a:ln/>
        </p:spPr>
        <p:txBody>
          <a:bodyPr wrap="square" lIns="0" tIns="0" rIns="0" bIns="0" rtlCol="0" anchor="ctr"/>
          <a:lstStyle/>
          <a:p>
            <a:pPr algn="ctr" indent="0" marL="0">
              <a:buNone/>
            </a:pPr>
            <a:r>
              <a:rPr lang="en-US" sz="900" b="1" spc="150" kern="0" dirty="0">
                <a:solidFill>
                  <a:srgbClr val="7A88A8"/>
                </a:solidFill>
                <a:latin typeface="Calibri" pitchFamily="34" charset="0"/>
                <a:ea typeface="Calibri" pitchFamily="34" charset="-122"/>
                <a:cs typeface="Calibri" pitchFamily="34" charset="-120"/>
              </a:rPr>
              <a:t>INSERT IMAGE</a:t>
            </a:r>
            <a:endParaRPr lang="en-US" sz="900" dirty="0"/>
          </a:p>
        </p:txBody>
      </p:sp>
      <p:sp>
        <p:nvSpPr>
          <p:cNvPr id="8" name="Text 6"/>
          <p:cNvSpPr/>
          <p:nvPr/>
        </p:nvSpPr>
        <p:spPr>
          <a:xfrm>
            <a:off x="502920" y="1078992"/>
            <a:ext cx="4754880" cy="3200400"/>
          </a:xfrm>
          <a:prstGeom prst="rect">
            <a:avLst/>
          </a:prstGeom>
          <a:noFill/>
          <a:ln/>
        </p:spPr>
        <p:txBody>
          <a:bodyPr wrap="square" rtlCol="0" anchor="ctr"/>
          <a:lstStyle/>
          <a:p>
            <a:pPr algn="ctr" indent="0" marL="0">
              <a:buNone/>
            </a:pPr>
            <a:r>
              <a:rPr lang="en-US" sz="1100" i="1" dirty="0">
                <a:solidFill>
                  <a:srgbClr val="7A88A8"/>
                </a:solidFill>
                <a:latin typeface="Calibri" pitchFamily="34" charset="0"/>
                <a:ea typeface="Calibri" pitchFamily="34" charset="-122"/>
                <a:cs typeface="Calibri" pitchFamily="34" charset="-120"/>
              </a:rPr>
              <a:t>Early American newspaper editorial broadside, 1770s-1830s. Political argument (taxation, representation, or colonial rights) with a visible claim and supporting facts, but weak or missing reasoning — the 'why this evidence proves the claim' link is absent. Aged paper texture, colonial typeface, printed in black ink.</a:t>
            </a:r>
            <a:endParaRPr lang="en-US" sz="1100" dirty="0"/>
          </a:p>
        </p:txBody>
      </p:sp>
      <p:sp>
        <p:nvSpPr>
          <p:cNvPr id="9" name="Shape 7"/>
          <p:cNvSpPr/>
          <p:nvPr/>
        </p:nvSpPr>
        <p:spPr>
          <a:xfrm>
            <a:off x="5577840" y="804672"/>
            <a:ext cx="3200400" cy="3566160"/>
          </a:xfrm>
          <a:prstGeom prst="roundRect">
            <a:avLst>
              <a:gd name="adj" fmla="val 3429"/>
            </a:avLst>
          </a:prstGeom>
          <a:solidFill>
            <a:srgbClr val="FFFFFF"/>
          </a:solidFill>
          <a:ln w="19050">
            <a:solidFill>
              <a:srgbClr val="1A8A7D"/>
            </a:solidFill>
            <a:prstDash val="solid"/>
          </a:ln>
        </p:spPr>
      </p:sp>
      <p:sp>
        <p:nvSpPr>
          <p:cNvPr id="10" name="Text 8"/>
          <p:cNvSpPr/>
          <p:nvPr/>
        </p:nvSpPr>
        <p:spPr>
          <a:xfrm>
            <a:off x="5715000" y="868680"/>
            <a:ext cx="2926080" cy="228600"/>
          </a:xfrm>
          <a:prstGeom prst="rect">
            <a:avLst/>
          </a:prstGeom>
          <a:noFill/>
          <a:ln/>
        </p:spPr>
        <p:txBody>
          <a:bodyPr wrap="square" rtlCol="0" anchor="ctr"/>
          <a:lstStyle/>
          <a:p>
            <a:pPr indent="0" marL="0">
              <a:buNone/>
            </a:pPr>
            <a:r>
              <a:rPr lang="en-US" sz="900" b="1" spc="150" kern="0" dirty="0">
                <a:solidFill>
                  <a:srgbClr val="1A8A7D"/>
                </a:solidFill>
                <a:latin typeface="Calibri" pitchFamily="34" charset="0"/>
                <a:ea typeface="Calibri" pitchFamily="34" charset="-122"/>
                <a:cs typeface="Calibri" pitchFamily="34" charset="-120"/>
              </a:rPr>
              <a:t>WHAT DO YOU SEE?</a:t>
            </a:r>
            <a:endParaRPr lang="en-US" sz="900" dirty="0"/>
          </a:p>
        </p:txBody>
      </p:sp>
      <p:sp>
        <p:nvSpPr>
          <p:cNvPr id="11" name="Shape 9"/>
          <p:cNvSpPr/>
          <p:nvPr/>
        </p:nvSpPr>
        <p:spPr>
          <a:xfrm>
            <a:off x="5715000" y="1170432"/>
            <a:ext cx="2926080" cy="530352"/>
          </a:xfrm>
          <a:prstGeom prst="roundRect">
            <a:avLst>
              <a:gd name="adj" fmla="val 13793"/>
            </a:avLst>
          </a:prstGeom>
          <a:solidFill>
            <a:srgbClr val="E2E8F4"/>
          </a:solidFill>
          <a:ln w="12700">
            <a:solidFill>
              <a:srgbClr val="B0B8CC"/>
            </a:solidFill>
            <a:prstDash val="solid"/>
          </a:ln>
        </p:spPr>
      </p:sp>
      <p:sp>
        <p:nvSpPr>
          <p:cNvPr id="12" name="Text 10"/>
          <p:cNvSpPr/>
          <p:nvPr/>
        </p:nvSpPr>
        <p:spPr>
          <a:xfrm>
            <a:off x="5806440" y="1170432"/>
            <a:ext cx="2743200" cy="530352"/>
          </a:xfrm>
          <a:prstGeom prst="rect">
            <a:avLst/>
          </a:prstGeom>
          <a:noFill/>
          <a:ln/>
        </p:spPr>
        <p:txBody>
          <a:bodyPr wrap="square" rtlCol="0" anchor="ctr"/>
          <a:lstStyle/>
          <a:p>
            <a:pPr indent="0" marL="0">
              <a:buNone/>
            </a:pPr>
            <a:r>
              <a:rPr lang="en-US" sz="1100" i="1" dirty="0">
                <a:solidFill>
                  <a:srgbClr val="0E1C42"/>
                </a:solidFill>
                <a:latin typeface="Calibri" pitchFamily="34" charset="0"/>
                <a:ea typeface="Calibri" pitchFamily="34" charset="-122"/>
                <a:cs typeface="Calibri" pitchFamily="34" charset="-120"/>
              </a:rPr>
              <a:t>Can you find the claim?</a:t>
            </a:r>
            <a:endParaRPr lang="en-US" sz="1100" dirty="0"/>
          </a:p>
        </p:txBody>
      </p:sp>
      <p:sp>
        <p:nvSpPr>
          <p:cNvPr id="13" name="Shape 11"/>
          <p:cNvSpPr/>
          <p:nvPr/>
        </p:nvSpPr>
        <p:spPr>
          <a:xfrm>
            <a:off x="5715000" y="1828800"/>
            <a:ext cx="2926080" cy="530352"/>
          </a:xfrm>
          <a:prstGeom prst="roundRect">
            <a:avLst>
              <a:gd name="adj" fmla="val 13793"/>
            </a:avLst>
          </a:prstGeom>
          <a:solidFill>
            <a:srgbClr val="E2E8F4"/>
          </a:solidFill>
          <a:ln w="12700">
            <a:solidFill>
              <a:srgbClr val="B0B8CC"/>
            </a:solidFill>
            <a:prstDash val="solid"/>
          </a:ln>
        </p:spPr>
      </p:sp>
      <p:sp>
        <p:nvSpPr>
          <p:cNvPr id="14" name="Text 12"/>
          <p:cNvSpPr/>
          <p:nvPr/>
        </p:nvSpPr>
        <p:spPr>
          <a:xfrm>
            <a:off x="5806440" y="1828800"/>
            <a:ext cx="2743200" cy="530352"/>
          </a:xfrm>
          <a:prstGeom prst="rect">
            <a:avLst/>
          </a:prstGeom>
          <a:noFill/>
          <a:ln/>
        </p:spPr>
        <p:txBody>
          <a:bodyPr wrap="square" rtlCol="0" anchor="ctr"/>
          <a:lstStyle/>
          <a:p>
            <a:pPr indent="0" marL="0">
              <a:buNone/>
            </a:pPr>
            <a:r>
              <a:rPr lang="en-US" sz="1100" i="1" dirty="0">
                <a:solidFill>
                  <a:srgbClr val="0E1C42"/>
                </a:solidFill>
                <a:latin typeface="Calibri" pitchFamily="34" charset="0"/>
                <a:ea typeface="Calibri" pitchFamily="34" charset="-122"/>
                <a:cs typeface="Calibri" pitchFamily="34" charset="-120"/>
              </a:rPr>
              <a:t>Can you find any evidence?</a:t>
            </a:r>
            <a:endParaRPr lang="en-US" sz="1100" dirty="0"/>
          </a:p>
        </p:txBody>
      </p:sp>
      <p:sp>
        <p:nvSpPr>
          <p:cNvPr id="15" name="Shape 13"/>
          <p:cNvSpPr/>
          <p:nvPr/>
        </p:nvSpPr>
        <p:spPr>
          <a:xfrm>
            <a:off x="5715000" y="2487168"/>
            <a:ext cx="2926080" cy="530352"/>
          </a:xfrm>
          <a:prstGeom prst="roundRect">
            <a:avLst>
              <a:gd name="adj" fmla="val 13793"/>
            </a:avLst>
          </a:prstGeom>
          <a:solidFill>
            <a:srgbClr val="E2E8F4"/>
          </a:solidFill>
          <a:ln w="12700">
            <a:solidFill>
              <a:srgbClr val="B0B8CC"/>
            </a:solidFill>
            <a:prstDash val="solid"/>
          </a:ln>
        </p:spPr>
      </p:sp>
      <p:sp>
        <p:nvSpPr>
          <p:cNvPr id="16" name="Text 14"/>
          <p:cNvSpPr/>
          <p:nvPr/>
        </p:nvSpPr>
        <p:spPr>
          <a:xfrm>
            <a:off x="5806440" y="2487168"/>
            <a:ext cx="2743200" cy="530352"/>
          </a:xfrm>
          <a:prstGeom prst="rect">
            <a:avLst/>
          </a:prstGeom>
          <a:noFill/>
          <a:ln/>
        </p:spPr>
        <p:txBody>
          <a:bodyPr wrap="square" rtlCol="0" anchor="ctr"/>
          <a:lstStyle/>
          <a:p>
            <a:pPr indent="0" marL="0">
              <a:buNone/>
            </a:pPr>
            <a:r>
              <a:rPr lang="en-US" sz="1100" i="1" dirty="0">
                <a:solidFill>
                  <a:srgbClr val="0E1C42"/>
                </a:solidFill>
                <a:latin typeface="Calibri" pitchFamily="34" charset="0"/>
                <a:ea typeface="Calibri" pitchFamily="34" charset="-122"/>
                <a:cs typeface="Calibri" pitchFamily="34" charset="-120"/>
              </a:rPr>
              <a:t>Can you find the reasoning?</a:t>
            </a:r>
            <a:endParaRPr lang="en-US" sz="1100" dirty="0"/>
          </a:p>
        </p:txBody>
      </p:sp>
      <p:sp>
        <p:nvSpPr>
          <p:cNvPr id="17" name="Shape 15"/>
          <p:cNvSpPr/>
          <p:nvPr/>
        </p:nvSpPr>
        <p:spPr>
          <a:xfrm>
            <a:off x="5715000" y="3145536"/>
            <a:ext cx="2926080" cy="530352"/>
          </a:xfrm>
          <a:prstGeom prst="roundRect">
            <a:avLst>
              <a:gd name="adj" fmla="val 13793"/>
            </a:avLst>
          </a:prstGeom>
          <a:solidFill>
            <a:srgbClr val="E2E8F4"/>
          </a:solidFill>
          <a:ln w="12700">
            <a:solidFill>
              <a:srgbClr val="B0B8CC"/>
            </a:solidFill>
            <a:prstDash val="solid"/>
          </a:ln>
        </p:spPr>
      </p:sp>
      <p:sp>
        <p:nvSpPr>
          <p:cNvPr id="18" name="Text 16"/>
          <p:cNvSpPr/>
          <p:nvPr/>
        </p:nvSpPr>
        <p:spPr>
          <a:xfrm>
            <a:off x="5806440" y="3145536"/>
            <a:ext cx="2743200" cy="530352"/>
          </a:xfrm>
          <a:prstGeom prst="rect">
            <a:avLst/>
          </a:prstGeom>
          <a:noFill/>
          <a:ln/>
        </p:spPr>
        <p:txBody>
          <a:bodyPr wrap="square" rtlCol="0" anchor="ctr"/>
          <a:lstStyle/>
          <a:p>
            <a:pPr indent="0" marL="0">
              <a:buNone/>
            </a:pPr>
            <a:r>
              <a:rPr lang="en-US" sz="1100" i="1" dirty="0">
                <a:solidFill>
                  <a:srgbClr val="0E1C42"/>
                </a:solidFill>
                <a:latin typeface="Calibri" pitchFamily="34" charset="0"/>
                <a:ea typeface="Calibri" pitchFamily="34" charset="-122"/>
                <a:cs typeface="Calibri" pitchFamily="34" charset="-120"/>
              </a:rPr>
              <a:t>Is anything missing or weak?</a:t>
            </a:r>
            <a:endParaRPr lang="en-US" sz="1100" dirty="0"/>
          </a:p>
        </p:txBody>
      </p:sp>
      <p:sp>
        <p:nvSpPr>
          <p:cNvPr id="19" name="Shape 17"/>
          <p:cNvSpPr/>
          <p:nvPr/>
        </p:nvSpPr>
        <p:spPr>
          <a:xfrm>
            <a:off x="365760" y="4462272"/>
            <a:ext cx="2377440" cy="347472"/>
          </a:xfrm>
          <a:prstGeom prst="roundRect">
            <a:avLst>
              <a:gd name="adj" fmla="val 21053"/>
            </a:avLst>
          </a:prstGeom>
          <a:solidFill>
            <a:srgbClr val="1A2D5A"/>
          </a:solidFill>
          <a:ln w="12700">
            <a:solidFill>
              <a:srgbClr val="2A4070"/>
            </a:solidFill>
            <a:prstDash val="solid"/>
          </a:ln>
        </p:spPr>
      </p:sp>
      <p:sp>
        <p:nvSpPr>
          <p:cNvPr id="20" name="Text 18"/>
          <p:cNvSpPr/>
          <p:nvPr/>
        </p:nvSpPr>
        <p:spPr>
          <a:xfrm>
            <a:off x="365760" y="4462272"/>
            <a:ext cx="2377440" cy="347472"/>
          </a:xfrm>
          <a:prstGeom prst="rect">
            <a:avLst/>
          </a:prstGeom>
          <a:noFill/>
          <a:ln/>
        </p:spPr>
        <p:txBody>
          <a:bodyPr wrap="square" rtlCol="0" anchor="ctr"/>
          <a:lstStyle/>
          <a:p>
            <a:pPr algn="ctr" indent="0" marL="0">
              <a:buNone/>
            </a:pPr>
            <a:r>
              <a:rPr lang="en-US" sz="1000" b="1" dirty="0">
                <a:solidFill>
                  <a:srgbClr val="55C8E8"/>
                </a:solidFill>
                <a:latin typeface="Calibri" pitchFamily="34" charset="0"/>
                <a:ea typeface="Calibri" pitchFamily="34" charset="-122"/>
                <a:cs typeface="Calibri" pitchFamily="34" charset="-120"/>
              </a:rPr>
              <a:t>SILENT STUDY: 45 seconds</a:t>
            </a:r>
            <a:endParaRPr lang="en-US" sz="10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F0F2F8"/>
          </a:solidFill>
          <a:ln w="12700">
            <a:solidFill>
              <a:srgbClr val="F0F2F8"/>
            </a:solidFill>
            <a:prstDash val="solid"/>
          </a:ln>
        </p:spPr>
      </p:sp>
      <p:sp>
        <p:nvSpPr>
          <p:cNvPr id="3" name="Text 1"/>
          <p:cNvSpPr/>
          <p:nvPr/>
        </p:nvSpPr>
        <p:spPr>
          <a:xfrm>
            <a:off x="365760" y="91440"/>
            <a:ext cx="8412480" cy="274320"/>
          </a:xfrm>
          <a:prstGeom prst="rect">
            <a:avLst/>
          </a:prstGeom>
          <a:noFill/>
          <a:ln/>
        </p:spPr>
        <p:txBody>
          <a:bodyPr wrap="square" rtlCol="0" anchor="ctr"/>
          <a:lstStyle/>
          <a:p>
            <a:pPr indent="0" marL="0">
              <a:buNone/>
            </a:pPr>
            <a:r>
              <a:rPr lang="en-US" sz="1000" b="1" spc="150" kern="0" dirty="0">
                <a:solidFill>
                  <a:srgbClr val="0E1C42"/>
                </a:solidFill>
                <a:latin typeface="Calibri" pitchFamily="34" charset="0"/>
                <a:ea typeface="Calibri" pitchFamily="34" charset="-122"/>
                <a:cs typeface="Calibri" pitchFamily="34" charset="-120"/>
              </a:rPr>
              <a:t>EVALUATE THE SOURCE</a:t>
            </a:r>
            <a:endParaRPr lang="en-US" sz="1000" dirty="0"/>
          </a:p>
        </p:txBody>
      </p:sp>
      <p:sp>
        <p:nvSpPr>
          <p:cNvPr id="4" name="Shape 2"/>
          <p:cNvSpPr/>
          <p:nvPr/>
        </p:nvSpPr>
        <p:spPr>
          <a:xfrm>
            <a:off x="365760" y="393192"/>
            <a:ext cx="8412480" cy="45720"/>
          </a:xfrm>
          <a:prstGeom prst="rect">
            <a:avLst/>
          </a:prstGeom>
          <a:solidFill>
            <a:srgbClr val="D4943A"/>
          </a:solidFill>
          <a:ln w="12700">
            <a:solidFill>
              <a:srgbClr val="D4943A"/>
            </a:solidFill>
            <a:prstDash val="solid"/>
          </a:ln>
        </p:spPr>
      </p:sp>
      <p:sp>
        <p:nvSpPr>
          <p:cNvPr id="5" name="Shape 3"/>
          <p:cNvSpPr/>
          <p:nvPr/>
        </p:nvSpPr>
        <p:spPr>
          <a:xfrm>
            <a:off x="365760" y="502920"/>
            <a:ext cx="5120640" cy="2971800"/>
          </a:xfrm>
          <a:prstGeom prst="roundRect">
            <a:avLst>
              <a:gd name="adj" fmla="val 3692"/>
            </a:avLst>
          </a:prstGeom>
          <a:solidFill>
            <a:srgbClr val="1A2D5A"/>
          </a:solidFill>
          <a:ln w="12700">
            <a:solidFill>
              <a:srgbClr val="2A4070"/>
            </a:solidFill>
            <a:prstDash val="solid"/>
          </a:ln>
        </p:spPr>
      </p:sp>
      <p:sp>
        <p:nvSpPr>
          <p:cNvPr id="6" name="Text 4"/>
          <p:cNvSpPr/>
          <p:nvPr/>
        </p:nvSpPr>
        <p:spPr>
          <a:xfrm>
            <a:off x="502920" y="557784"/>
            <a:ext cx="4846320" cy="201168"/>
          </a:xfrm>
          <a:prstGeom prst="rect">
            <a:avLst/>
          </a:prstGeom>
          <a:noFill/>
          <a:ln/>
        </p:spPr>
        <p:txBody>
          <a:bodyPr wrap="square" lIns="0" tIns="0" rIns="0" bIns="0" rtlCol="0" anchor="ctr"/>
          <a:lstStyle/>
          <a:p>
            <a:pPr indent="0" marL="0">
              <a:buNone/>
            </a:pPr>
            <a:r>
              <a:rPr lang="en-US" sz="900" b="1" spc="150" kern="0" dirty="0">
                <a:solidFill>
                  <a:srgbClr val="55C8E8"/>
                </a:solidFill>
                <a:latin typeface="Calibri" pitchFamily="34" charset="0"/>
                <a:ea typeface="Calibri" pitchFamily="34" charset="-122"/>
                <a:cs typeface="Calibri" pitchFamily="34" charset="-120"/>
              </a:rPr>
              <a:t>EVALUATE THE SOURCE</a:t>
            </a:r>
            <a:endParaRPr lang="en-US" sz="900" dirty="0"/>
          </a:p>
        </p:txBody>
      </p:sp>
      <p:sp>
        <p:nvSpPr>
          <p:cNvPr id="7" name="Text 5"/>
          <p:cNvSpPr/>
          <p:nvPr/>
        </p:nvSpPr>
        <p:spPr>
          <a:xfrm>
            <a:off x="548640" y="822960"/>
            <a:ext cx="4754880" cy="2542032"/>
          </a:xfrm>
          <a:prstGeom prst="rect">
            <a:avLst/>
          </a:prstGeom>
          <a:noFill/>
          <a:ln/>
        </p:spPr>
        <p:txBody>
          <a:bodyPr wrap="square" lIns="0" tIns="0" rIns="0" bIns="0" rtlCol="0" anchor="t"/>
          <a:lstStyle/>
          <a:p>
            <a:pPr indent="0" marL="0">
              <a:spcAft>
                <a:spcPts val="500"/>
              </a:spcAft>
              <a:buNone/>
            </a:pPr>
            <a:r>
              <a:rPr lang="en-US" sz="1100" i="1" dirty="0">
                <a:solidFill>
                  <a:srgbClr val="D6F2FB"/>
                </a:solidFill>
                <a:latin typeface="Calibri" pitchFamily="34" charset="0"/>
                <a:ea typeface="Calibri" pitchFamily="34" charset="-122"/>
                <a:cs typeface="Calibri" pitchFamily="34" charset="-120"/>
              </a:rPr>
              <a:t>Who might have written this broadside, and why?</a:t>
            </a:r>
            <a:endParaRPr lang="en-US" sz="1100" dirty="0"/>
          </a:p>
          <a:p>
            <a:pPr indent="0" marL="0">
              <a:spcAft>
                <a:spcPts val="500"/>
              </a:spcAft>
              <a:buNone/>
            </a:pPr>
            <a:r>
              <a:rPr lang="en-US" sz="1100" i="1" dirty="0">
                <a:solidFill>
                  <a:srgbClr val="D6F2FB"/>
                </a:solidFill>
                <a:latin typeface="Calibri" pitchFamily="34" charset="0"/>
                <a:ea typeface="Calibri" pitchFamily="34" charset="-122"/>
                <a:cs typeface="Calibri" pitchFamily="34" charset="-120"/>
              </a:rPr>
              <a:t>What claim is the author making? How clearly is it stated?</a:t>
            </a:r>
            <a:endParaRPr lang="en-US" sz="1100" dirty="0"/>
          </a:p>
          <a:p>
            <a:pPr indent="0" marL="0">
              <a:spcAft>
                <a:spcPts val="500"/>
              </a:spcAft>
              <a:buNone/>
            </a:pPr>
            <a:r>
              <a:rPr lang="en-US" sz="1100" i="1" dirty="0">
                <a:solidFill>
                  <a:srgbClr val="D6F2FB"/>
                </a:solidFill>
                <a:latin typeface="Calibri" pitchFamily="34" charset="0"/>
                <a:ea typeface="Calibri" pitchFamily="34" charset="-122"/>
                <a:cs typeface="Calibri" pitchFamily="34" charset="-120"/>
              </a:rPr>
              <a:t>What evidence does the author provide? Is it specific enough?</a:t>
            </a:r>
            <a:endParaRPr lang="en-US" sz="1100" dirty="0"/>
          </a:p>
          <a:p>
            <a:pPr indent="0" marL="0">
              <a:spcAft>
                <a:spcPts val="500"/>
              </a:spcAft>
              <a:buNone/>
            </a:pPr>
            <a:r>
              <a:rPr lang="en-US" sz="1100" i="1" dirty="0">
                <a:solidFill>
                  <a:srgbClr val="D6F2FB"/>
                </a:solidFill>
                <a:latin typeface="Calibri" pitchFamily="34" charset="0"/>
                <a:ea typeface="Calibri" pitchFamily="34" charset="-122"/>
                <a:cs typeface="Calibri" pitchFamily="34" charset="-120"/>
              </a:rPr>
              <a:t>Where is the reasoning — why does this evidence prove the claim? Strong or weak?</a:t>
            </a:r>
            <a:endParaRPr lang="en-US" sz="1100" dirty="0"/>
          </a:p>
          <a:p>
            <a:pPr indent="0" marL="0">
              <a:spcAft>
                <a:spcPts val="500"/>
              </a:spcAft>
              <a:buNone/>
            </a:pPr>
            <a:r>
              <a:rPr lang="en-US" sz="1100" i="1" dirty="0">
                <a:solidFill>
                  <a:srgbClr val="D6F2FB"/>
                </a:solidFill>
                <a:latin typeface="Calibri" pitchFamily="34" charset="0"/>
                <a:ea typeface="Calibri" pitchFamily="34" charset="-122"/>
                <a:cs typeface="Calibri" pitchFamily="34" charset="-120"/>
              </a:rPr>
              <a:t>What perspective might be missing from this source?</a:t>
            </a:r>
            <a:endParaRPr lang="en-US" sz="1100" dirty="0"/>
          </a:p>
        </p:txBody>
      </p:sp>
      <p:sp>
        <p:nvSpPr>
          <p:cNvPr id="8" name="Shape 6"/>
          <p:cNvSpPr/>
          <p:nvPr/>
        </p:nvSpPr>
        <p:spPr>
          <a:xfrm>
            <a:off x="365760" y="3566160"/>
            <a:ext cx="5120640" cy="1261872"/>
          </a:xfrm>
          <a:prstGeom prst="roundRect">
            <a:avLst>
              <a:gd name="adj" fmla="val 8696"/>
            </a:avLst>
          </a:prstGeom>
          <a:solidFill>
            <a:srgbClr val="FFF3DC"/>
          </a:solidFill>
          <a:ln w="19050">
            <a:solidFill>
              <a:srgbClr val="F5E6C8"/>
            </a:solidFill>
            <a:prstDash val="solid"/>
          </a:ln>
        </p:spPr>
      </p:sp>
      <p:sp>
        <p:nvSpPr>
          <p:cNvPr id="9" name="Text 7"/>
          <p:cNvSpPr/>
          <p:nvPr/>
        </p:nvSpPr>
        <p:spPr>
          <a:xfrm>
            <a:off x="502920" y="3621024"/>
            <a:ext cx="4846320" cy="201168"/>
          </a:xfrm>
          <a:prstGeom prst="rect">
            <a:avLst/>
          </a:prstGeom>
          <a:noFill/>
          <a:ln/>
        </p:spPr>
        <p:txBody>
          <a:bodyPr wrap="square" lIns="0" tIns="0" rIns="0" bIns="0" rtlCol="0" anchor="ctr"/>
          <a:lstStyle/>
          <a:p>
            <a:pPr indent="0" marL="0">
              <a:buNone/>
            </a:pPr>
            <a:r>
              <a:rPr lang="en-US" sz="900" b="1" spc="150" kern="0" dirty="0">
                <a:solidFill>
                  <a:srgbClr val="D4943A"/>
                </a:solidFill>
                <a:latin typeface="Calibri" pitchFamily="34" charset="0"/>
                <a:ea typeface="Calibri" pitchFamily="34" charset="-122"/>
                <a:cs typeface="Calibri" pitchFamily="34" charset="-120"/>
              </a:rPr>
              <a:t>CHAT FRAME</a:t>
            </a:r>
            <a:endParaRPr lang="en-US" sz="900" dirty="0"/>
          </a:p>
        </p:txBody>
      </p:sp>
      <p:sp>
        <p:nvSpPr>
          <p:cNvPr id="10" name="Text 8"/>
          <p:cNvSpPr/>
          <p:nvPr/>
        </p:nvSpPr>
        <p:spPr>
          <a:xfrm>
            <a:off x="502920" y="3822192"/>
            <a:ext cx="4846320" cy="941832"/>
          </a:xfrm>
          <a:prstGeom prst="rect">
            <a:avLst/>
          </a:prstGeom>
          <a:noFill/>
          <a:ln/>
        </p:spPr>
        <p:txBody>
          <a:bodyPr wrap="square" lIns="0" tIns="0" rIns="0" bIns="0" rtlCol="0" anchor="t"/>
          <a:lstStyle/>
          <a:p>
            <a:pPr indent="0" marL="0">
              <a:spcAft>
                <a:spcPts val="500"/>
              </a:spcAft>
              <a:buNone/>
            </a:pPr>
            <a:r>
              <a:rPr lang="en-US" sz="1200" i="1" dirty="0">
                <a:solidFill>
                  <a:srgbClr val="5A4A3A"/>
                </a:solidFill>
                <a:latin typeface="Cambria" pitchFamily="34" charset="0"/>
                <a:ea typeface="Cambria" pitchFamily="34" charset="-122"/>
                <a:cs typeface="Cambria" pitchFamily="34" charset="-120"/>
              </a:rPr>
              <a:t>"This source includes ___ but is missing ___ because..."</a:t>
            </a:r>
            <a:endParaRPr lang="en-US" sz="1200" dirty="0"/>
          </a:p>
          <a:p>
            <a:pPr indent="0" marL="0">
              <a:spcAft>
                <a:spcPts val="500"/>
              </a:spcAft>
              <a:buNone/>
            </a:pPr>
            <a:r>
              <a:rPr lang="en-US" sz="1200" i="1" dirty="0">
                <a:solidFill>
                  <a:srgbClr val="5A4A3A"/>
                </a:solidFill>
                <a:latin typeface="Cambria" pitchFamily="34" charset="0"/>
                <a:ea typeface="Cambria" pitchFamily="34" charset="-122"/>
                <a:cs typeface="Cambria" pitchFamily="34" charset="-120"/>
              </a:rPr>
              <a:t>"I would / would not trust this source because..."</a:t>
            </a:r>
            <a:endParaRPr lang="en-US" sz="1200" dirty="0"/>
          </a:p>
        </p:txBody>
      </p:sp>
      <p:sp>
        <p:nvSpPr>
          <p:cNvPr id="11" name="Shape 9"/>
          <p:cNvSpPr/>
          <p:nvPr/>
        </p:nvSpPr>
        <p:spPr>
          <a:xfrm>
            <a:off x="5669280" y="502920"/>
            <a:ext cx="3108960" cy="4325112"/>
          </a:xfrm>
          <a:prstGeom prst="roundRect">
            <a:avLst>
              <a:gd name="adj" fmla="val 3529"/>
            </a:avLst>
          </a:prstGeom>
          <a:solidFill>
            <a:srgbClr val="FFFFFF"/>
          </a:solidFill>
          <a:ln w="19050">
            <a:solidFill>
              <a:srgbClr val="D4943A"/>
            </a:solidFill>
            <a:prstDash val="solid"/>
          </a:ln>
        </p:spPr>
      </p:sp>
      <p:sp>
        <p:nvSpPr>
          <p:cNvPr id="12" name="Text 10"/>
          <p:cNvSpPr/>
          <p:nvPr/>
        </p:nvSpPr>
        <p:spPr>
          <a:xfrm>
            <a:off x="5806440" y="566928"/>
            <a:ext cx="2834640" cy="228600"/>
          </a:xfrm>
          <a:prstGeom prst="rect">
            <a:avLst/>
          </a:prstGeom>
          <a:noFill/>
          <a:ln/>
        </p:spPr>
        <p:txBody>
          <a:bodyPr wrap="square" rtlCol="0" anchor="ctr"/>
          <a:lstStyle/>
          <a:p>
            <a:pPr indent="0" marL="0">
              <a:buNone/>
            </a:pPr>
            <a:r>
              <a:rPr lang="en-US" sz="900" b="1" spc="150" kern="0" dirty="0">
                <a:solidFill>
                  <a:srgbClr val="D4943A"/>
                </a:solidFill>
                <a:latin typeface="Calibri" pitchFamily="34" charset="0"/>
                <a:ea typeface="Calibri" pitchFamily="34" charset="-122"/>
                <a:cs typeface="Calibri" pitchFamily="34" charset="-120"/>
              </a:rPr>
              <a:t>CER CHECK</a:t>
            </a:r>
            <a:endParaRPr lang="en-US" sz="900" dirty="0"/>
          </a:p>
        </p:txBody>
      </p:sp>
      <p:sp>
        <p:nvSpPr>
          <p:cNvPr id="13" name="Shape 11"/>
          <p:cNvSpPr/>
          <p:nvPr/>
        </p:nvSpPr>
        <p:spPr>
          <a:xfrm>
            <a:off x="5806440" y="886968"/>
            <a:ext cx="2834640" cy="1005840"/>
          </a:xfrm>
          <a:prstGeom prst="roundRect">
            <a:avLst>
              <a:gd name="adj" fmla="val 7273"/>
            </a:avLst>
          </a:prstGeom>
          <a:solidFill>
            <a:srgbClr val="F0F2F8"/>
          </a:solidFill>
          <a:ln w="19050">
            <a:solidFill>
              <a:srgbClr val="55C8E8"/>
            </a:solidFill>
            <a:prstDash val="solid"/>
          </a:ln>
        </p:spPr>
      </p:sp>
      <p:sp>
        <p:nvSpPr>
          <p:cNvPr id="14" name="Text 12"/>
          <p:cNvSpPr/>
          <p:nvPr/>
        </p:nvSpPr>
        <p:spPr>
          <a:xfrm>
            <a:off x="5943600" y="932688"/>
            <a:ext cx="2560320" cy="256032"/>
          </a:xfrm>
          <a:prstGeom prst="rect">
            <a:avLst/>
          </a:prstGeom>
          <a:noFill/>
          <a:ln/>
        </p:spPr>
        <p:txBody>
          <a:bodyPr wrap="square" rtlCol="0" anchor="ctr"/>
          <a:lstStyle/>
          <a:p>
            <a:pPr indent="0" marL="0">
              <a:buNone/>
            </a:pPr>
            <a:r>
              <a:rPr lang="en-US" sz="1000" b="1" dirty="0">
                <a:solidFill>
                  <a:srgbClr val="55C8E8"/>
                </a:solidFill>
                <a:latin typeface="Calibri" pitchFamily="34" charset="0"/>
                <a:ea typeface="Calibri" pitchFamily="34" charset="-122"/>
                <a:cs typeface="Calibri" pitchFamily="34" charset="-120"/>
              </a:rPr>
              <a:t>Claim</a:t>
            </a:r>
            <a:endParaRPr lang="en-US" sz="1000" dirty="0"/>
          </a:p>
        </p:txBody>
      </p:sp>
      <p:sp>
        <p:nvSpPr>
          <p:cNvPr id="15" name="Text 13"/>
          <p:cNvSpPr/>
          <p:nvPr/>
        </p:nvSpPr>
        <p:spPr>
          <a:xfrm>
            <a:off x="5943600" y="1234440"/>
            <a:ext cx="2560320" cy="502920"/>
          </a:xfrm>
          <a:prstGeom prst="rect">
            <a:avLst/>
          </a:prstGeom>
          <a:noFill/>
          <a:ln/>
        </p:spPr>
        <p:txBody>
          <a:bodyPr wrap="square" rtlCol="0" anchor="ctr"/>
          <a:lstStyle/>
          <a:p>
            <a:pPr indent="0" marL="0">
              <a:buNone/>
            </a:pPr>
            <a:r>
              <a:rPr lang="en-US" sz="1000" i="1" dirty="0">
                <a:solidFill>
                  <a:srgbClr val="7A88A8"/>
                </a:solidFill>
                <a:latin typeface="Calibri" pitchFamily="34" charset="0"/>
                <a:ea typeface="Calibri" pitchFamily="34" charset="-122"/>
                <a:cs typeface="Calibri" pitchFamily="34" charset="-120"/>
              </a:rPr>
              <a:t>Present / Weak / Missing?</a:t>
            </a:r>
            <a:endParaRPr lang="en-US" sz="1000" dirty="0"/>
          </a:p>
        </p:txBody>
      </p:sp>
      <p:sp>
        <p:nvSpPr>
          <p:cNvPr id="16" name="Shape 14"/>
          <p:cNvSpPr/>
          <p:nvPr/>
        </p:nvSpPr>
        <p:spPr>
          <a:xfrm>
            <a:off x="5806440" y="2075688"/>
            <a:ext cx="2834640" cy="1005840"/>
          </a:xfrm>
          <a:prstGeom prst="roundRect">
            <a:avLst>
              <a:gd name="adj" fmla="val 7273"/>
            </a:avLst>
          </a:prstGeom>
          <a:solidFill>
            <a:srgbClr val="F0F2F8"/>
          </a:solidFill>
          <a:ln w="19050">
            <a:solidFill>
              <a:srgbClr val="D4943A"/>
            </a:solidFill>
            <a:prstDash val="solid"/>
          </a:ln>
        </p:spPr>
      </p:sp>
      <p:sp>
        <p:nvSpPr>
          <p:cNvPr id="17" name="Text 15"/>
          <p:cNvSpPr/>
          <p:nvPr/>
        </p:nvSpPr>
        <p:spPr>
          <a:xfrm>
            <a:off x="5943600" y="2121408"/>
            <a:ext cx="2560320" cy="256032"/>
          </a:xfrm>
          <a:prstGeom prst="rect">
            <a:avLst/>
          </a:prstGeom>
          <a:noFill/>
          <a:ln/>
        </p:spPr>
        <p:txBody>
          <a:bodyPr wrap="square" rtlCol="0" anchor="ctr"/>
          <a:lstStyle/>
          <a:p>
            <a:pPr indent="0" marL="0">
              <a:buNone/>
            </a:pPr>
            <a:r>
              <a:rPr lang="en-US" sz="1000" b="1" dirty="0">
                <a:solidFill>
                  <a:srgbClr val="D4943A"/>
                </a:solidFill>
                <a:latin typeface="Calibri" pitchFamily="34" charset="0"/>
                <a:ea typeface="Calibri" pitchFamily="34" charset="-122"/>
                <a:cs typeface="Calibri" pitchFamily="34" charset="-120"/>
              </a:rPr>
              <a:t>Evidence</a:t>
            </a:r>
            <a:endParaRPr lang="en-US" sz="1000" dirty="0"/>
          </a:p>
        </p:txBody>
      </p:sp>
      <p:sp>
        <p:nvSpPr>
          <p:cNvPr id="18" name="Text 16"/>
          <p:cNvSpPr/>
          <p:nvPr/>
        </p:nvSpPr>
        <p:spPr>
          <a:xfrm>
            <a:off x="5943600" y="2423160"/>
            <a:ext cx="2560320" cy="502920"/>
          </a:xfrm>
          <a:prstGeom prst="rect">
            <a:avLst/>
          </a:prstGeom>
          <a:noFill/>
          <a:ln/>
        </p:spPr>
        <p:txBody>
          <a:bodyPr wrap="square" rtlCol="0" anchor="ctr"/>
          <a:lstStyle/>
          <a:p>
            <a:pPr indent="0" marL="0">
              <a:buNone/>
            </a:pPr>
            <a:r>
              <a:rPr lang="en-US" sz="1000" i="1" dirty="0">
                <a:solidFill>
                  <a:srgbClr val="7A88A8"/>
                </a:solidFill>
                <a:latin typeface="Calibri" pitchFamily="34" charset="0"/>
                <a:ea typeface="Calibri" pitchFamily="34" charset="-122"/>
                <a:cs typeface="Calibri" pitchFamily="34" charset="-120"/>
              </a:rPr>
              <a:t>Present / Weak / Missing?</a:t>
            </a:r>
            <a:endParaRPr lang="en-US" sz="1000" dirty="0"/>
          </a:p>
        </p:txBody>
      </p:sp>
      <p:sp>
        <p:nvSpPr>
          <p:cNvPr id="19" name="Shape 17"/>
          <p:cNvSpPr/>
          <p:nvPr/>
        </p:nvSpPr>
        <p:spPr>
          <a:xfrm>
            <a:off x="5806440" y="3264408"/>
            <a:ext cx="2834640" cy="1005840"/>
          </a:xfrm>
          <a:prstGeom prst="roundRect">
            <a:avLst>
              <a:gd name="adj" fmla="val 7273"/>
            </a:avLst>
          </a:prstGeom>
          <a:solidFill>
            <a:srgbClr val="F0F2F8"/>
          </a:solidFill>
          <a:ln w="19050">
            <a:solidFill>
              <a:srgbClr val="34B76F"/>
            </a:solidFill>
            <a:prstDash val="solid"/>
          </a:ln>
        </p:spPr>
      </p:sp>
      <p:sp>
        <p:nvSpPr>
          <p:cNvPr id="20" name="Text 18"/>
          <p:cNvSpPr/>
          <p:nvPr/>
        </p:nvSpPr>
        <p:spPr>
          <a:xfrm>
            <a:off x="5943600" y="3310128"/>
            <a:ext cx="2560320" cy="256032"/>
          </a:xfrm>
          <a:prstGeom prst="rect">
            <a:avLst/>
          </a:prstGeom>
          <a:noFill/>
          <a:ln/>
        </p:spPr>
        <p:txBody>
          <a:bodyPr wrap="square" rtlCol="0" anchor="ctr"/>
          <a:lstStyle/>
          <a:p>
            <a:pPr indent="0" marL="0">
              <a:buNone/>
            </a:pPr>
            <a:r>
              <a:rPr lang="en-US" sz="1000" b="1" dirty="0">
                <a:solidFill>
                  <a:srgbClr val="34B76F"/>
                </a:solidFill>
                <a:latin typeface="Calibri" pitchFamily="34" charset="0"/>
                <a:ea typeface="Calibri" pitchFamily="34" charset="-122"/>
                <a:cs typeface="Calibri" pitchFamily="34" charset="-120"/>
              </a:rPr>
              <a:t>Reasoning</a:t>
            </a:r>
            <a:endParaRPr lang="en-US" sz="1000" dirty="0"/>
          </a:p>
        </p:txBody>
      </p:sp>
      <p:sp>
        <p:nvSpPr>
          <p:cNvPr id="21" name="Text 19"/>
          <p:cNvSpPr/>
          <p:nvPr/>
        </p:nvSpPr>
        <p:spPr>
          <a:xfrm>
            <a:off x="5943600" y="3611880"/>
            <a:ext cx="2560320" cy="502920"/>
          </a:xfrm>
          <a:prstGeom prst="rect">
            <a:avLst/>
          </a:prstGeom>
          <a:noFill/>
          <a:ln/>
        </p:spPr>
        <p:txBody>
          <a:bodyPr wrap="square" rtlCol="0" anchor="ctr"/>
          <a:lstStyle/>
          <a:p>
            <a:pPr indent="0" marL="0">
              <a:buNone/>
            </a:pPr>
            <a:r>
              <a:rPr lang="en-US" sz="1000" i="1" dirty="0">
                <a:solidFill>
                  <a:srgbClr val="7A88A8"/>
                </a:solidFill>
                <a:latin typeface="Calibri" pitchFamily="34" charset="0"/>
                <a:ea typeface="Calibri" pitchFamily="34" charset="-122"/>
                <a:cs typeface="Calibri" pitchFamily="34" charset="-120"/>
              </a:rPr>
              <a:t>Present / Weak / Missing?</a:t>
            </a:r>
            <a:endParaRPr lang="en-US" sz="10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F0F2F8"/>
          </a:solidFill>
          <a:ln w="12700">
            <a:solidFill>
              <a:srgbClr val="F0F2F8"/>
            </a:solidFill>
            <a:prstDash val="solid"/>
          </a:ln>
        </p:spPr>
      </p:sp>
      <p:sp>
        <p:nvSpPr>
          <p:cNvPr id="3" name="Text 1"/>
          <p:cNvSpPr/>
          <p:nvPr/>
        </p:nvSpPr>
        <p:spPr>
          <a:xfrm>
            <a:off x="365760" y="91440"/>
            <a:ext cx="8412480" cy="274320"/>
          </a:xfrm>
          <a:prstGeom prst="rect">
            <a:avLst/>
          </a:prstGeom>
          <a:noFill/>
          <a:ln/>
        </p:spPr>
        <p:txBody>
          <a:bodyPr wrap="square" rtlCol="0" anchor="ctr"/>
          <a:lstStyle/>
          <a:p>
            <a:pPr indent="0" marL="0">
              <a:buNone/>
            </a:pPr>
            <a:r>
              <a:rPr lang="en-US" sz="1000" b="1" spc="150" kern="0" dirty="0">
                <a:solidFill>
                  <a:srgbClr val="8B6FC0"/>
                </a:solidFill>
                <a:latin typeface="Calibri" pitchFamily="34" charset="0"/>
                <a:ea typeface="Calibri" pitchFamily="34" charset="-122"/>
                <a:cs typeface="Calibri" pitchFamily="34" charset="-120"/>
              </a:rPr>
              <a:t>EDITOR'S NOTEBOOK: QUESTION 1 PREVIEW</a:t>
            </a:r>
            <a:endParaRPr lang="en-US" sz="1000" dirty="0"/>
          </a:p>
        </p:txBody>
      </p:sp>
      <p:sp>
        <p:nvSpPr>
          <p:cNvPr id="4" name="Shape 2"/>
          <p:cNvSpPr/>
          <p:nvPr/>
        </p:nvSpPr>
        <p:spPr>
          <a:xfrm>
            <a:off x="365760" y="393192"/>
            <a:ext cx="8412480" cy="45720"/>
          </a:xfrm>
          <a:prstGeom prst="rect">
            <a:avLst/>
          </a:prstGeom>
          <a:solidFill>
            <a:srgbClr val="D4943A"/>
          </a:solidFill>
          <a:ln w="12700">
            <a:solidFill>
              <a:srgbClr val="D4943A"/>
            </a:solidFill>
            <a:prstDash val="solid"/>
          </a:ln>
        </p:spPr>
      </p:sp>
      <p:sp>
        <p:nvSpPr>
          <p:cNvPr id="5" name="Shape 3"/>
          <p:cNvSpPr/>
          <p:nvPr/>
        </p:nvSpPr>
        <p:spPr>
          <a:xfrm>
            <a:off x="365760" y="502920"/>
            <a:ext cx="8412480" cy="749808"/>
          </a:xfrm>
          <a:prstGeom prst="roundRect">
            <a:avLst>
              <a:gd name="adj" fmla="val 12195"/>
            </a:avLst>
          </a:prstGeom>
          <a:solidFill>
            <a:srgbClr val="EAF7FB"/>
          </a:solidFill>
          <a:ln w="25400">
            <a:solidFill>
              <a:srgbClr val="55C8E8"/>
            </a:solidFill>
            <a:prstDash val="solid"/>
          </a:ln>
        </p:spPr>
      </p:sp>
      <p:sp>
        <p:nvSpPr>
          <p:cNvPr id="6" name="Text 4"/>
          <p:cNvSpPr/>
          <p:nvPr/>
        </p:nvSpPr>
        <p:spPr>
          <a:xfrm>
            <a:off x="548640" y="566928"/>
            <a:ext cx="1828800" cy="228600"/>
          </a:xfrm>
          <a:prstGeom prst="rect">
            <a:avLst/>
          </a:prstGeom>
          <a:noFill/>
          <a:ln/>
        </p:spPr>
        <p:txBody>
          <a:bodyPr wrap="square" rtlCol="0" anchor="ctr"/>
          <a:lstStyle/>
          <a:p>
            <a:pPr indent="0" marL="0">
              <a:buNone/>
            </a:pPr>
            <a:r>
              <a:rPr lang="en-US" sz="900" b="1" spc="150" kern="0" dirty="0">
                <a:solidFill>
                  <a:srgbClr val="55C8E8"/>
                </a:solidFill>
                <a:latin typeface="Calibri" pitchFamily="34" charset="0"/>
                <a:ea typeface="Calibri" pitchFamily="34" charset="-122"/>
                <a:cs typeface="Calibri" pitchFamily="34" charset="-120"/>
              </a:rPr>
              <a:t>NOTEBOOK Q1:</a:t>
            </a:r>
            <a:endParaRPr lang="en-US" sz="900" dirty="0"/>
          </a:p>
        </p:txBody>
      </p:sp>
      <p:sp>
        <p:nvSpPr>
          <p:cNvPr id="7" name="Text 5"/>
          <p:cNvSpPr/>
          <p:nvPr/>
        </p:nvSpPr>
        <p:spPr>
          <a:xfrm>
            <a:off x="548640" y="804672"/>
            <a:ext cx="8046720" cy="384048"/>
          </a:xfrm>
          <a:prstGeom prst="rect">
            <a:avLst/>
          </a:prstGeom>
          <a:noFill/>
          <a:ln/>
        </p:spPr>
        <p:txBody>
          <a:bodyPr wrap="square" rtlCol="0" anchor="ctr"/>
          <a:lstStyle/>
          <a:p>
            <a:pPr indent="0" marL="0">
              <a:buNone/>
            </a:pPr>
            <a:r>
              <a:rPr lang="en-US" sz="1300" i="1" dirty="0">
                <a:solidFill>
                  <a:srgbClr val="0E1C42"/>
                </a:solidFill>
                <a:latin typeface="Cambria" pitchFamily="34" charset="0"/>
                <a:ea typeface="Cambria" pitchFamily="34" charset="-122"/>
                <a:cs typeface="Cambria" pitchFamily="34" charset="-120"/>
              </a:rPr>
              <a:t>"In your own words, explain the difference between an opinion and a claim supported by evidence and reasoning."</a:t>
            </a:r>
            <a:endParaRPr lang="en-US" sz="1300" dirty="0"/>
          </a:p>
        </p:txBody>
      </p:sp>
      <p:sp>
        <p:nvSpPr>
          <p:cNvPr id="8" name="Text 6"/>
          <p:cNvSpPr/>
          <p:nvPr/>
        </p:nvSpPr>
        <p:spPr>
          <a:xfrm>
            <a:off x="365760" y="1371600"/>
            <a:ext cx="8412480" cy="274320"/>
          </a:xfrm>
          <a:prstGeom prst="rect">
            <a:avLst/>
          </a:prstGeom>
          <a:noFill/>
          <a:ln/>
        </p:spPr>
        <p:txBody>
          <a:bodyPr wrap="square" rtlCol="0" anchor="ctr"/>
          <a:lstStyle/>
          <a:p>
            <a:pPr indent="0" marL="0">
              <a:buNone/>
            </a:pPr>
            <a:r>
              <a:rPr lang="en-US" sz="1200" i="1" dirty="0">
                <a:solidFill>
                  <a:srgbClr val="7A88A8"/>
                </a:solidFill>
                <a:latin typeface="Calibri" pitchFamily="34" charset="0"/>
                <a:ea typeface="Calibri" pitchFamily="34" charset="-122"/>
                <a:cs typeface="Calibri" pitchFamily="34" charset="-120"/>
              </a:rPr>
              <a:t>Let's talk through it first.</a:t>
            </a:r>
            <a:endParaRPr lang="en-US" sz="1200" dirty="0"/>
          </a:p>
        </p:txBody>
      </p:sp>
      <p:sp>
        <p:nvSpPr>
          <p:cNvPr id="9" name="Shape 7"/>
          <p:cNvSpPr/>
          <p:nvPr/>
        </p:nvSpPr>
        <p:spPr>
          <a:xfrm>
            <a:off x="365760" y="1719072"/>
            <a:ext cx="5120640" cy="2286000"/>
          </a:xfrm>
          <a:prstGeom prst="roundRect">
            <a:avLst>
              <a:gd name="adj" fmla="val 4800"/>
            </a:avLst>
          </a:prstGeom>
          <a:solidFill>
            <a:srgbClr val="1A2D5A"/>
          </a:solidFill>
          <a:ln w="12700">
            <a:solidFill>
              <a:srgbClr val="2A4070"/>
            </a:solidFill>
            <a:prstDash val="solid"/>
          </a:ln>
        </p:spPr>
      </p:sp>
      <p:sp>
        <p:nvSpPr>
          <p:cNvPr id="10" name="Text 8"/>
          <p:cNvSpPr/>
          <p:nvPr/>
        </p:nvSpPr>
        <p:spPr>
          <a:xfrm>
            <a:off x="502920" y="1773936"/>
            <a:ext cx="4846320" cy="201168"/>
          </a:xfrm>
          <a:prstGeom prst="rect">
            <a:avLst/>
          </a:prstGeom>
          <a:noFill/>
          <a:ln/>
        </p:spPr>
        <p:txBody>
          <a:bodyPr wrap="square" lIns="0" tIns="0" rIns="0" bIns="0" rtlCol="0" anchor="ctr"/>
          <a:lstStyle/>
          <a:p>
            <a:pPr indent="0" marL="0">
              <a:buNone/>
            </a:pPr>
            <a:r>
              <a:rPr lang="en-US" sz="900" b="1" spc="150" kern="0" dirty="0">
                <a:solidFill>
                  <a:srgbClr val="55C8E8"/>
                </a:solidFill>
                <a:latin typeface="Calibri" pitchFamily="34" charset="0"/>
                <a:ea typeface="Calibri" pitchFamily="34" charset="-122"/>
                <a:cs typeface="Calibri" pitchFamily="34" charset="-120"/>
              </a:rPr>
              <a:t>SOCRATIC QUESTIONS</a:t>
            </a:r>
            <a:endParaRPr lang="en-US" sz="900" dirty="0"/>
          </a:p>
        </p:txBody>
      </p:sp>
      <p:sp>
        <p:nvSpPr>
          <p:cNvPr id="11" name="Text 9"/>
          <p:cNvSpPr/>
          <p:nvPr/>
        </p:nvSpPr>
        <p:spPr>
          <a:xfrm>
            <a:off x="548640" y="2039112"/>
            <a:ext cx="4754880" cy="1874520"/>
          </a:xfrm>
          <a:prstGeom prst="rect">
            <a:avLst/>
          </a:prstGeom>
          <a:noFill/>
          <a:ln/>
        </p:spPr>
        <p:txBody>
          <a:bodyPr wrap="square" lIns="0" tIns="0" rIns="0" bIns="0" rtlCol="0" anchor="t"/>
          <a:lstStyle/>
          <a:p>
            <a:pPr indent="0" marL="0">
              <a:spcAft>
                <a:spcPts val="400"/>
              </a:spcAft>
              <a:buNone/>
            </a:pPr>
            <a:r>
              <a:rPr lang="en-US" sz="1100" i="1" dirty="0">
                <a:solidFill>
                  <a:srgbClr val="D6F2FB"/>
                </a:solidFill>
                <a:latin typeface="Calibri" pitchFamily="34" charset="0"/>
                <a:ea typeface="Calibri" pitchFamily="34" charset="-122"/>
                <a:cs typeface="Calibri" pitchFamily="34" charset="-120"/>
              </a:rPr>
              <a:t>What would someone say if they only had an opinion? What would they leave out?</a:t>
            </a:r>
            <a:endParaRPr lang="en-US" sz="1100" dirty="0"/>
          </a:p>
          <a:p>
            <a:pPr indent="0" marL="0">
              <a:spcAft>
                <a:spcPts val="400"/>
              </a:spcAft>
              <a:buNone/>
            </a:pPr>
            <a:r>
              <a:rPr lang="en-US" sz="1100" i="1" dirty="0">
                <a:solidFill>
                  <a:srgbClr val="D6F2FB"/>
                </a:solidFill>
                <a:latin typeface="Calibri" pitchFamily="34" charset="0"/>
                <a:ea typeface="Calibri" pitchFamily="34" charset="-122"/>
                <a:cs typeface="Calibri" pitchFamily="34" charset="-120"/>
              </a:rPr>
              <a:t>What does 'supported by evidence' actually mean in practice?</a:t>
            </a:r>
            <a:endParaRPr lang="en-US" sz="1100" dirty="0"/>
          </a:p>
          <a:p>
            <a:pPr indent="0" marL="0">
              <a:spcAft>
                <a:spcPts val="400"/>
              </a:spcAft>
              <a:buNone/>
            </a:pPr>
            <a:r>
              <a:rPr lang="en-US" sz="1100" i="1" dirty="0">
                <a:solidFill>
                  <a:srgbClr val="D6F2FB"/>
                </a:solidFill>
                <a:latin typeface="Calibri" pitchFamily="34" charset="0"/>
                <a:ea typeface="Calibri" pitchFamily="34" charset="-122"/>
                <a:cs typeface="Calibri" pitchFamily="34" charset="-120"/>
              </a:rPr>
              <a:t>What does reasoning add that evidence alone cannot do?</a:t>
            </a:r>
            <a:endParaRPr lang="en-US" sz="1100" dirty="0"/>
          </a:p>
          <a:p>
            <a:pPr indent="0" marL="0">
              <a:spcAft>
                <a:spcPts val="400"/>
              </a:spcAft>
              <a:buNone/>
            </a:pPr>
            <a:r>
              <a:rPr lang="en-US" sz="1100" i="1" dirty="0">
                <a:solidFill>
                  <a:srgbClr val="D6F2FB"/>
                </a:solidFill>
                <a:latin typeface="Calibri" pitchFamily="34" charset="0"/>
                <a:ea typeface="Calibri" pitchFamily="34" charset="-122"/>
                <a:cs typeface="Calibri" pitchFamily="34" charset="-120"/>
              </a:rPr>
              <a:t>Could two people have the same opinion and still argue it very differently?</a:t>
            </a:r>
            <a:endParaRPr lang="en-US" sz="1100" dirty="0"/>
          </a:p>
        </p:txBody>
      </p:sp>
      <p:sp>
        <p:nvSpPr>
          <p:cNvPr id="12" name="Shape 10"/>
          <p:cNvSpPr/>
          <p:nvPr/>
        </p:nvSpPr>
        <p:spPr>
          <a:xfrm>
            <a:off x="5669280" y="1719072"/>
            <a:ext cx="3108960" cy="2286000"/>
          </a:xfrm>
          <a:prstGeom prst="roundRect">
            <a:avLst>
              <a:gd name="adj" fmla="val 4800"/>
            </a:avLst>
          </a:prstGeom>
          <a:solidFill>
            <a:srgbClr val="FFF3DC"/>
          </a:solidFill>
          <a:ln w="19050">
            <a:solidFill>
              <a:srgbClr val="F5E6C8"/>
            </a:solidFill>
            <a:prstDash val="solid"/>
          </a:ln>
        </p:spPr>
      </p:sp>
      <p:sp>
        <p:nvSpPr>
          <p:cNvPr id="13" name="Text 11"/>
          <p:cNvSpPr/>
          <p:nvPr/>
        </p:nvSpPr>
        <p:spPr>
          <a:xfrm>
            <a:off x="5806440" y="1773936"/>
            <a:ext cx="2834640" cy="201168"/>
          </a:xfrm>
          <a:prstGeom prst="rect">
            <a:avLst/>
          </a:prstGeom>
          <a:noFill/>
          <a:ln/>
        </p:spPr>
        <p:txBody>
          <a:bodyPr wrap="square" lIns="0" tIns="0" rIns="0" bIns="0" rtlCol="0" anchor="ctr"/>
          <a:lstStyle/>
          <a:p>
            <a:pPr indent="0" marL="0">
              <a:buNone/>
            </a:pPr>
            <a:r>
              <a:rPr lang="en-US" sz="900" b="1" spc="150" kern="0" dirty="0">
                <a:solidFill>
                  <a:srgbClr val="D4943A"/>
                </a:solidFill>
                <a:latin typeface="Calibri" pitchFamily="34" charset="0"/>
                <a:ea typeface="Calibri" pitchFamily="34" charset="-122"/>
                <a:cs typeface="Calibri" pitchFamily="34" charset="-120"/>
              </a:rPr>
              <a:t>CHAT FRAME</a:t>
            </a:r>
            <a:endParaRPr lang="en-US" sz="900" dirty="0"/>
          </a:p>
        </p:txBody>
      </p:sp>
      <p:sp>
        <p:nvSpPr>
          <p:cNvPr id="14" name="Text 12"/>
          <p:cNvSpPr/>
          <p:nvPr/>
        </p:nvSpPr>
        <p:spPr>
          <a:xfrm>
            <a:off x="5806440" y="1975104"/>
            <a:ext cx="2834640" cy="1965960"/>
          </a:xfrm>
          <a:prstGeom prst="rect">
            <a:avLst/>
          </a:prstGeom>
          <a:noFill/>
          <a:ln/>
        </p:spPr>
        <p:txBody>
          <a:bodyPr wrap="square" lIns="0" tIns="0" rIns="0" bIns="0" rtlCol="0" anchor="t"/>
          <a:lstStyle/>
          <a:p>
            <a:pPr indent="0" marL="0">
              <a:spcAft>
                <a:spcPts val="500"/>
              </a:spcAft>
              <a:buNone/>
            </a:pPr>
            <a:r>
              <a:rPr lang="en-US" sz="1200" i="1" dirty="0">
                <a:solidFill>
                  <a:srgbClr val="5A4A3A"/>
                </a:solidFill>
                <a:latin typeface="Cambria" pitchFamily="34" charset="0"/>
                <a:ea typeface="Cambria" pitchFamily="34" charset="-122"/>
                <a:cs typeface="Cambria" pitchFamily="34" charset="-120"/>
              </a:rPr>
              <a:t>"An opinion is ___, but a claim supported by CER is ___ because..."</a:t>
            </a:r>
            <a:endParaRPr lang="en-US" sz="1200" dirty="0"/>
          </a:p>
          <a:p>
            <a:pPr indent="0" marL="0">
              <a:spcAft>
                <a:spcPts val="500"/>
              </a:spcAft>
              <a:buNone/>
            </a:pPr>
            <a:r>
              <a:rPr lang="en-US" sz="1200" i="1" dirty="0">
                <a:solidFill>
                  <a:srgbClr val="5A4A3A"/>
                </a:solidFill>
                <a:latin typeface="Cambria" pitchFamily="34" charset="0"/>
                <a:ea typeface="Cambria" pitchFamily="34" charset="-122"/>
                <a:cs typeface="Cambria" pitchFamily="34" charset="-120"/>
              </a:rPr>
              <a:t>"The biggest difference between them is..."</a:t>
            </a:r>
            <a:endParaRPr lang="en-US" sz="12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F0F2F8"/>
          </a:solidFill>
          <a:ln w="12700">
            <a:solidFill>
              <a:srgbClr val="F0F2F8"/>
            </a:solidFill>
            <a:prstDash val="solid"/>
          </a:ln>
        </p:spPr>
      </p:sp>
      <p:sp>
        <p:nvSpPr>
          <p:cNvPr id="3" name="Text 1"/>
          <p:cNvSpPr/>
          <p:nvPr/>
        </p:nvSpPr>
        <p:spPr>
          <a:xfrm>
            <a:off x="365760" y="91440"/>
            <a:ext cx="8412480" cy="274320"/>
          </a:xfrm>
          <a:prstGeom prst="rect">
            <a:avLst/>
          </a:prstGeom>
          <a:noFill/>
          <a:ln/>
        </p:spPr>
        <p:txBody>
          <a:bodyPr wrap="square" rtlCol="0" anchor="ctr"/>
          <a:lstStyle/>
          <a:p>
            <a:pPr indent="0" marL="0">
              <a:buNone/>
            </a:pPr>
            <a:r>
              <a:rPr lang="en-US" sz="1000" b="1" spc="150" kern="0" dirty="0">
                <a:solidFill>
                  <a:srgbClr val="8B6FC0"/>
                </a:solidFill>
                <a:latin typeface="Calibri" pitchFamily="34" charset="0"/>
                <a:ea typeface="Calibri" pitchFamily="34" charset="-122"/>
                <a:cs typeface="Calibri" pitchFamily="34" charset="-120"/>
              </a:rPr>
              <a:t>EDITOR'S NOTEBOOK: QUESTION 2 PREVIEW</a:t>
            </a:r>
            <a:endParaRPr lang="en-US" sz="1000" dirty="0"/>
          </a:p>
        </p:txBody>
      </p:sp>
      <p:sp>
        <p:nvSpPr>
          <p:cNvPr id="4" name="Shape 2"/>
          <p:cNvSpPr/>
          <p:nvPr/>
        </p:nvSpPr>
        <p:spPr>
          <a:xfrm>
            <a:off x="365760" y="393192"/>
            <a:ext cx="8412480" cy="45720"/>
          </a:xfrm>
          <a:prstGeom prst="rect">
            <a:avLst/>
          </a:prstGeom>
          <a:solidFill>
            <a:srgbClr val="D4943A"/>
          </a:solidFill>
          <a:ln w="12700">
            <a:solidFill>
              <a:srgbClr val="D4943A"/>
            </a:solidFill>
            <a:prstDash val="solid"/>
          </a:ln>
        </p:spPr>
      </p:sp>
      <p:sp>
        <p:nvSpPr>
          <p:cNvPr id="5" name="Shape 3"/>
          <p:cNvSpPr/>
          <p:nvPr/>
        </p:nvSpPr>
        <p:spPr>
          <a:xfrm>
            <a:off x="365760" y="502920"/>
            <a:ext cx="8412480" cy="822960"/>
          </a:xfrm>
          <a:prstGeom prst="roundRect">
            <a:avLst>
              <a:gd name="adj" fmla="val 11111"/>
            </a:avLst>
          </a:prstGeom>
          <a:solidFill>
            <a:srgbClr val="EAF7FB"/>
          </a:solidFill>
          <a:ln w="25400">
            <a:solidFill>
              <a:srgbClr val="55C8E8"/>
            </a:solidFill>
            <a:prstDash val="solid"/>
          </a:ln>
        </p:spPr>
      </p:sp>
      <p:sp>
        <p:nvSpPr>
          <p:cNvPr id="6" name="Text 4"/>
          <p:cNvSpPr/>
          <p:nvPr/>
        </p:nvSpPr>
        <p:spPr>
          <a:xfrm>
            <a:off x="548640" y="566928"/>
            <a:ext cx="1828800" cy="228600"/>
          </a:xfrm>
          <a:prstGeom prst="rect">
            <a:avLst/>
          </a:prstGeom>
          <a:noFill/>
          <a:ln/>
        </p:spPr>
        <p:txBody>
          <a:bodyPr wrap="square" rtlCol="0" anchor="ctr"/>
          <a:lstStyle/>
          <a:p>
            <a:pPr indent="0" marL="0">
              <a:buNone/>
            </a:pPr>
            <a:r>
              <a:rPr lang="en-US" sz="900" b="1" spc="150" kern="0" dirty="0">
                <a:solidFill>
                  <a:srgbClr val="55C8E8"/>
                </a:solidFill>
                <a:latin typeface="Calibri" pitchFamily="34" charset="0"/>
                <a:ea typeface="Calibri" pitchFamily="34" charset="-122"/>
                <a:cs typeface="Calibri" pitchFamily="34" charset="-120"/>
              </a:rPr>
              <a:t>NOTEBOOK Q2:</a:t>
            </a:r>
            <a:endParaRPr lang="en-US" sz="900" dirty="0"/>
          </a:p>
        </p:txBody>
      </p:sp>
      <p:sp>
        <p:nvSpPr>
          <p:cNvPr id="7" name="Text 5"/>
          <p:cNvSpPr/>
          <p:nvPr/>
        </p:nvSpPr>
        <p:spPr>
          <a:xfrm>
            <a:off x="548640" y="804672"/>
            <a:ext cx="8046720" cy="457200"/>
          </a:xfrm>
          <a:prstGeom prst="rect">
            <a:avLst/>
          </a:prstGeom>
          <a:noFill/>
          <a:ln/>
        </p:spPr>
        <p:txBody>
          <a:bodyPr wrap="square" rtlCol="0" anchor="ctr"/>
          <a:lstStyle/>
          <a:p>
            <a:pPr indent="0" marL="0">
              <a:buNone/>
            </a:pPr>
            <a:r>
              <a:rPr lang="en-US" sz="1300" i="1" dirty="0">
                <a:solidFill>
                  <a:srgbClr val="0E1C42"/>
                </a:solidFill>
                <a:latin typeface="Cambria" pitchFamily="34" charset="0"/>
                <a:ea typeface="Cambria" pitchFamily="34" charset="-122"/>
                <a:cs typeface="Cambria" pitchFamily="34" charset="-120"/>
              </a:rPr>
              <a:t>"Look at the source. Does it include a claim, evidence, AND reasoning -- or is one part weak or missing? Explain."</a:t>
            </a:r>
            <a:endParaRPr lang="en-US" sz="1300" dirty="0"/>
          </a:p>
        </p:txBody>
      </p:sp>
      <p:sp>
        <p:nvSpPr>
          <p:cNvPr id="8" name="Text 6"/>
          <p:cNvSpPr/>
          <p:nvPr/>
        </p:nvSpPr>
        <p:spPr>
          <a:xfrm>
            <a:off x="365760" y="1444752"/>
            <a:ext cx="8412480" cy="274320"/>
          </a:xfrm>
          <a:prstGeom prst="rect">
            <a:avLst/>
          </a:prstGeom>
          <a:noFill/>
          <a:ln/>
        </p:spPr>
        <p:txBody>
          <a:bodyPr wrap="square" rtlCol="0" anchor="ctr"/>
          <a:lstStyle/>
          <a:p>
            <a:pPr indent="0" marL="0">
              <a:buNone/>
            </a:pPr>
            <a:r>
              <a:rPr lang="en-US" sz="1200" i="1" dirty="0">
                <a:solidFill>
                  <a:srgbClr val="7A88A8"/>
                </a:solidFill>
                <a:latin typeface="Calibri" pitchFamily="34" charset="0"/>
                <a:ea typeface="Calibri" pitchFamily="34" charset="-122"/>
                <a:cs typeface="Calibri" pitchFamily="34" charset="-120"/>
              </a:rPr>
              <a:t>Back to the broadside. Let's look together.</a:t>
            </a:r>
            <a:endParaRPr lang="en-US" sz="1200" dirty="0"/>
          </a:p>
        </p:txBody>
      </p:sp>
      <p:sp>
        <p:nvSpPr>
          <p:cNvPr id="9" name="Shape 7"/>
          <p:cNvSpPr/>
          <p:nvPr/>
        </p:nvSpPr>
        <p:spPr>
          <a:xfrm>
            <a:off x="365760" y="1783080"/>
            <a:ext cx="5120640" cy="2240280"/>
          </a:xfrm>
          <a:prstGeom prst="roundRect">
            <a:avLst>
              <a:gd name="adj" fmla="val 4898"/>
            </a:avLst>
          </a:prstGeom>
          <a:solidFill>
            <a:srgbClr val="1A2D5A"/>
          </a:solidFill>
          <a:ln w="12700">
            <a:solidFill>
              <a:srgbClr val="2A4070"/>
            </a:solidFill>
            <a:prstDash val="solid"/>
          </a:ln>
        </p:spPr>
      </p:sp>
      <p:sp>
        <p:nvSpPr>
          <p:cNvPr id="10" name="Text 8"/>
          <p:cNvSpPr/>
          <p:nvPr/>
        </p:nvSpPr>
        <p:spPr>
          <a:xfrm>
            <a:off x="502920" y="1837944"/>
            <a:ext cx="4846320" cy="201168"/>
          </a:xfrm>
          <a:prstGeom prst="rect">
            <a:avLst/>
          </a:prstGeom>
          <a:noFill/>
          <a:ln/>
        </p:spPr>
        <p:txBody>
          <a:bodyPr wrap="square" lIns="0" tIns="0" rIns="0" bIns="0" rtlCol="0" anchor="ctr"/>
          <a:lstStyle/>
          <a:p>
            <a:pPr indent="0" marL="0">
              <a:buNone/>
            </a:pPr>
            <a:r>
              <a:rPr lang="en-US" sz="900" b="1" spc="150" kern="0" dirty="0">
                <a:solidFill>
                  <a:srgbClr val="55C8E8"/>
                </a:solidFill>
                <a:latin typeface="Calibri" pitchFamily="34" charset="0"/>
                <a:ea typeface="Calibri" pitchFamily="34" charset="-122"/>
                <a:cs typeface="Calibri" pitchFamily="34" charset="-120"/>
              </a:rPr>
              <a:t>SOCRATIC QUESTIONS</a:t>
            </a:r>
            <a:endParaRPr lang="en-US" sz="900" dirty="0"/>
          </a:p>
        </p:txBody>
      </p:sp>
      <p:sp>
        <p:nvSpPr>
          <p:cNvPr id="11" name="Text 9"/>
          <p:cNvSpPr/>
          <p:nvPr/>
        </p:nvSpPr>
        <p:spPr>
          <a:xfrm>
            <a:off x="548640" y="2103120"/>
            <a:ext cx="4754880" cy="1828800"/>
          </a:xfrm>
          <a:prstGeom prst="rect">
            <a:avLst/>
          </a:prstGeom>
          <a:noFill/>
          <a:ln/>
        </p:spPr>
        <p:txBody>
          <a:bodyPr wrap="square" lIns="0" tIns="0" rIns="0" bIns="0" rtlCol="0" anchor="t"/>
          <a:lstStyle/>
          <a:p>
            <a:pPr indent="0" marL="0">
              <a:spcAft>
                <a:spcPts val="400"/>
              </a:spcAft>
              <a:buNone/>
            </a:pPr>
            <a:r>
              <a:rPr lang="en-US" sz="1100" i="1" dirty="0">
                <a:solidFill>
                  <a:srgbClr val="D6F2FB"/>
                </a:solidFill>
                <a:latin typeface="Calibri" pitchFamily="34" charset="0"/>
                <a:ea typeface="Calibri" pitchFamily="34" charset="-122"/>
                <a:cs typeface="Calibri" pitchFamily="34" charset="-120"/>
              </a:rPr>
              <a:t>Which CER part -- claim, evidence, reasoning -- is clearest in the broadside?</a:t>
            </a:r>
            <a:endParaRPr lang="en-US" sz="1100" dirty="0"/>
          </a:p>
          <a:p>
            <a:pPr indent="0" marL="0">
              <a:spcAft>
                <a:spcPts val="400"/>
              </a:spcAft>
              <a:buNone/>
            </a:pPr>
            <a:r>
              <a:rPr lang="en-US" sz="1100" i="1" dirty="0">
                <a:solidFill>
                  <a:srgbClr val="D6F2FB"/>
                </a:solidFill>
                <a:latin typeface="Calibri" pitchFamily="34" charset="0"/>
                <a:ea typeface="Calibri" pitchFamily="34" charset="-122"/>
                <a:cs typeface="Calibri" pitchFamily="34" charset="-120"/>
              </a:rPr>
              <a:t>Which part is weak or missing entirely?</a:t>
            </a:r>
            <a:endParaRPr lang="en-US" sz="1100" dirty="0"/>
          </a:p>
          <a:p>
            <a:pPr indent="0" marL="0">
              <a:spcAft>
                <a:spcPts val="400"/>
              </a:spcAft>
              <a:buNone/>
            </a:pPr>
            <a:r>
              <a:rPr lang="en-US" sz="1100" i="1" dirty="0">
                <a:solidFill>
                  <a:srgbClr val="D6F2FB"/>
                </a:solidFill>
                <a:latin typeface="Calibri" pitchFamily="34" charset="0"/>
                <a:ea typeface="Calibri" pitchFamily="34" charset="-122"/>
                <a:cs typeface="Calibri" pitchFamily="34" charset="-120"/>
              </a:rPr>
              <a:t>How do you know something is missing? What is the signal?</a:t>
            </a:r>
            <a:endParaRPr lang="en-US" sz="1100" dirty="0"/>
          </a:p>
          <a:p>
            <a:pPr indent="0" marL="0">
              <a:spcAft>
                <a:spcPts val="400"/>
              </a:spcAft>
              <a:buNone/>
            </a:pPr>
            <a:r>
              <a:rPr lang="en-US" sz="1100" i="1" dirty="0">
                <a:solidFill>
                  <a:srgbClr val="D6F2FB"/>
                </a:solidFill>
                <a:latin typeface="Calibri" pitchFamily="34" charset="0"/>
                <a:ea typeface="Calibri" pitchFamily="34" charset="-122"/>
                <a:cs typeface="Calibri" pitchFamily="34" charset="-120"/>
              </a:rPr>
              <a:t>Does the author seem aware of what's missing, or does he seem confident he's done enough?</a:t>
            </a:r>
            <a:endParaRPr lang="en-US" sz="1100" dirty="0"/>
          </a:p>
        </p:txBody>
      </p:sp>
      <p:sp>
        <p:nvSpPr>
          <p:cNvPr id="12" name="Shape 10"/>
          <p:cNvSpPr/>
          <p:nvPr/>
        </p:nvSpPr>
        <p:spPr>
          <a:xfrm>
            <a:off x="5669280" y="1783080"/>
            <a:ext cx="3108960" cy="2240280"/>
          </a:xfrm>
          <a:prstGeom prst="roundRect">
            <a:avLst>
              <a:gd name="adj" fmla="val 4898"/>
            </a:avLst>
          </a:prstGeom>
          <a:solidFill>
            <a:srgbClr val="FFF3DC"/>
          </a:solidFill>
          <a:ln w="19050">
            <a:solidFill>
              <a:srgbClr val="F5E6C8"/>
            </a:solidFill>
            <a:prstDash val="solid"/>
          </a:ln>
        </p:spPr>
      </p:sp>
      <p:sp>
        <p:nvSpPr>
          <p:cNvPr id="13" name="Text 11"/>
          <p:cNvSpPr/>
          <p:nvPr/>
        </p:nvSpPr>
        <p:spPr>
          <a:xfrm>
            <a:off x="5806440" y="1837944"/>
            <a:ext cx="2834640" cy="201168"/>
          </a:xfrm>
          <a:prstGeom prst="rect">
            <a:avLst/>
          </a:prstGeom>
          <a:noFill/>
          <a:ln/>
        </p:spPr>
        <p:txBody>
          <a:bodyPr wrap="square" lIns="0" tIns="0" rIns="0" bIns="0" rtlCol="0" anchor="ctr"/>
          <a:lstStyle/>
          <a:p>
            <a:pPr indent="0" marL="0">
              <a:buNone/>
            </a:pPr>
            <a:r>
              <a:rPr lang="en-US" sz="900" b="1" spc="150" kern="0" dirty="0">
                <a:solidFill>
                  <a:srgbClr val="D4943A"/>
                </a:solidFill>
                <a:latin typeface="Calibri" pitchFamily="34" charset="0"/>
                <a:ea typeface="Calibri" pitchFamily="34" charset="-122"/>
                <a:cs typeface="Calibri" pitchFamily="34" charset="-120"/>
              </a:rPr>
              <a:t>CHAT FRAME</a:t>
            </a:r>
            <a:endParaRPr lang="en-US" sz="900" dirty="0"/>
          </a:p>
        </p:txBody>
      </p:sp>
      <p:sp>
        <p:nvSpPr>
          <p:cNvPr id="14" name="Text 12"/>
          <p:cNvSpPr/>
          <p:nvPr/>
        </p:nvSpPr>
        <p:spPr>
          <a:xfrm>
            <a:off x="5806440" y="2039112"/>
            <a:ext cx="2834640" cy="1920240"/>
          </a:xfrm>
          <a:prstGeom prst="rect">
            <a:avLst/>
          </a:prstGeom>
          <a:noFill/>
          <a:ln/>
        </p:spPr>
        <p:txBody>
          <a:bodyPr wrap="square" lIns="0" tIns="0" rIns="0" bIns="0" rtlCol="0" anchor="t"/>
          <a:lstStyle/>
          <a:p>
            <a:pPr indent="0" marL="0">
              <a:spcAft>
                <a:spcPts val="500"/>
              </a:spcAft>
              <a:buNone/>
            </a:pPr>
            <a:r>
              <a:rPr lang="en-US" sz="1200" i="1" dirty="0">
                <a:solidFill>
                  <a:srgbClr val="5A4A3A"/>
                </a:solidFill>
                <a:latin typeface="Cambria" pitchFamily="34" charset="0"/>
                <a:ea typeface="Cambria" pitchFamily="34" charset="-122"/>
                <a:cs typeface="Cambria" pitchFamily="34" charset="-120"/>
              </a:rPr>
              <a:t>"The part that is weak or missing is ___ because..."</a:t>
            </a:r>
            <a:endParaRPr lang="en-US" sz="1200" dirty="0"/>
          </a:p>
          <a:p>
            <a:pPr indent="0" marL="0">
              <a:spcAft>
                <a:spcPts val="500"/>
              </a:spcAft>
              <a:buNone/>
            </a:pPr>
            <a:r>
              <a:rPr lang="en-US" sz="1200" i="1" dirty="0">
                <a:solidFill>
                  <a:srgbClr val="5A4A3A"/>
                </a:solidFill>
                <a:latin typeface="Cambria" pitchFamily="34" charset="0"/>
                <a:ea typeface="Cambria" pitchFamily="34" charset="-122"/>
                <a:cs typeface="Cambria" pitchFamily="34" charset="-120"/>
              </a:rPr>
              <a:t>"I can tell it's missing because the author never explains..."</a:t>
            </a:r>
            <a:endParaRPr lang="en-US" sz="1200" dirty="0"/>
          </a:p>
        </p:txBody>
      </p:sp>
      <p:sp>
        <p:nvSpPr>
          <p:cNvPr id="15" name="Shape 13"/>
          <p:cNvSpPr/>
          <p:nvPr/>
        </p:nvSpPr>
        <p:spPr>
          <a:xfrm>
            <a:off x="365760" y="4160520"/>
            <a:ext cx="8412480" cy="594360"/>
          </a:xfrm>
          <a:prstGeom prst="roundRect">
            <a:avLst>
              <a:gd name="adj" fmla="val 12308"/>
            </a:avLst>
          </a:prstGeom>
          <a:solidFill>
            <a:srgbClr val="FFFFFF"/>
          </a:solidFill>
          <a:ln w="12700">
            <a:solidFill>
              <a:srgbClr val="B0B8CC"/>
            </a:solidFill>
            <a:prstDash val="solid"/>
          </a:ln>
        </p:spPr>
      </p:sp>
      <p:sp>
        <p:nvSpPr>
          <p:cNvPr id="16" name="Text 14"/>
          <p:cNvSpPr/>
          <p:nvPr/>
        </p:nvSpPr>
        <p:spPr>
          <a:xfrm>
            <a:off x="548640" y="4160520"/>
            <a:ext cx="8046720" cy="594360"/>
          </a:xfrm>
          <a:prstGeom prst="rect">
            <a:avLst/>
          </a:prstGeom>
          <a:noFill/>
          <a:ln/>
        </p:spPr>
        <p:txBody>
          <a:bodyPr wrap="square" rtlCol="0" anchor="ctr"/>
          <a:lstStyle/>
          <a:p>
            <a:pPr indent="0" marL="0">
              <a:buNone/>
            </a:pPr>
            <a:r>
              <a:rPr lang="en-US" sz="1100" i="1" dirty="0">
                <a:solidFill>
                  <a:srgbClr val="0E1C42"/>
                </a:solidFill>
                <a:latin typeface="Calibri" pitchFamily="34" charset="0"/>
                <a:ea typeface="Calibri" pitchFamily="34" charset="-122"/>
                <a:cs typeface="Calibri" pitchFamily="34" charset="-120"/>
              </a:rPr>
              <a:t>Remember: Claim = position.  Evidence = specific facts.  Reasoning = why the evidence proves the claim.</a:t>
            </a:r>
            <a:endParaRPr lang="en-US" sz="11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F0F2F8"/>
          </a:solidFill>
          <a:ln w="12700">
            <a:solidFill>
              <a:srgbClr val="F0F2F8"/>
            </a:solidFill>
            <a:prstDash val="solid"/>
          </a:ln>
        </p:spPr>
      </p:sp>
      <p:sp>
        <p:nvSpPr>
          <p:cNvPr id="3" name="Text 1"/>
          <p:cNvSpPr/>
          <p:nvPr/>
        </p:nvSpPr>
        <p:spPr>
          <a:xfrm>
            <a:off x="365760" y="91440"/>
            <a:ext cx="8412480" cy="274320"/>
          </a:xfrm>
          <a:prstGeom prst="rect">
            <a:avLst/>
          </a:prstGeom>
          <a:noFill/>
          <a:ln/>
        </p:spPr>
        <p:txBody>
          <a:bodyPr wrap="square" rtlCol="0" anchor="ctr"/>
          <a:lstStyle/>
          <a:p>
            <a:pPr indent="0" marL="0">
              <a:buNone/>
            </a:pPr>
            <a:r>
              <a:rPr lang="en-US" sz="1000" b="1" spc="150" kern="0" dirty="0">
                <a:solidFill>
                  <a:srgbClr val="8B6FC0"/>
                </a:solidFill>
                <a:latin typeface="Calibri" pitchFamily="34" charset="0"/>
                <a:ea typeface="Calibri" pitchFamily="34" charset="-122"/>
                <a:cs typeface="Calibri" pitchFamily="34" charset="-120"/>
              </a:rPr>
              <a:t>EDITOR'S NOTEBOOK: QUESTION 3 PREVIEW</a:t>
            </a:r>
            <a:endParaRPr lang="en-US" sz="1000" dirty="0"/>
          </a:p>
        </p:txBody>
      </p:sp>
      <p:sp>
        <p:nvSpPr>
          <p:cNvPr id="4" name="Shape 2"/>
          <p:cNvSpPr/>
          <p:nvPr/>
        </p:nvSpPr>
        <p:spPr>
          <a:xfrm>
            <a:off x="365760" y="393192"/>
            <a:ext cx="8412480" cy="45720"/>
          </a:xfrm>
          <a:prstGeom prst="rect">
            <a:avLst/>
          </a:prstGeom>
          <a:solidFill>
            <a:srgbClr val="D4943A"/>
          </a:solidFill>
          <a:ln w="12700">
            <a:solidFill>
              <a:srgbClr val="D4943A"/>
            </a:solidFill>
            <a:prstDash val="solid"/>
          </a:ln>
        </p:spPr>
      </p:sp>
      <p:sp>
        <p:nvSpPr>
          <p:cNvPr id="5" name="Shape 3"/>
          <p:cNvSpPr/>
          <p:nvPr/>
        </p:nvSpPr>
        <p:spPr>
          <a:xfrm>
            <a:off x="365760" y="502920"/>
            <a:ext cx="8412480" cy="886968"/>
          </a:xfrm>
          <a:prstGeom prst="roundRect">
            <a:avLst>
              <a:gd name="adj" fmla="val 10309"/>
            </a:avLst>
          </a:prstGeom>
          <a:solidFill>
            <a:srgbClr val="FFF3DC"/>
          </a:solidFill>
          <a:ln w="25400">
            <a:solidFill>
              <a:srgbClr val="D4943A"/>
            </a:solidFill>
            <a:prstDash val="solid"/>
          </a:ln>
        </p:spPr>
      </p:sp>
      <p:sp>
        <p:nvSpPr>
          <p:cNvPr id="6" name="Text 4"/>
          <p:cNvSpPr/>
          <p:nvPr/>
        </p:nvSpPr>
        <p:spPr>
          <a:xfrm>
            <a:off x="548640" y="566928"/>
            <a:ext cx="1828800" cy="228600"/>
          </a:xfrm>
          <a:prstGeom prst="rect">
            <a:avLst/>
          </a:prstGeom>
          <a:noFill/>
          <a:ln/>
        </p:spPr>
        <p:txBody>
          <a:bodyPr wrap="square" rtlCol="0" anchor="ctr"/>
          <a:lstStyle/>
          <a:p>
            <a:pPr indent="0" marL="0">
              <a:buNone/>
            </a:pPr>
            <a:r>
              <a:rPr lang="en-US" sz="900" b="1" spc="150" kern="0" dirty="0">
                <a:solidFill>
                  <a:srgbClr val="D4943A"/>
                </a:solidFill>
                <a:latin typeface="Calibri" pitchFamily="34" charset="0"/>
                <a:ea typeface="Calibri" pitchFamily="34" charset="-122"/>
                <a:cs typeface="Calibri" pitchFamily="34" charset="-120"/>
              </a:rPr>
              <a:t>NOTEBOOK Q3:</a:t>
            </a:r>
            <a:endParaRPr lang="en-US" sz="900" dirty="0"/>
          </a:p>
        </p:txBody>
      </p:sp>
      <p:sp>
        <p:nvSpPr>
          <p:cNvPr id="7" name="Text 5"/>
          <p:cNvSpPr/>
          <p:nvPr/>
        </p:nvSpPr>
        <p:spPr>
          <a:xfrm>
            <a:off x="548640" y="804672"/>
            <a:ext cx="8046720" cy="521208"/>
          </a:xfrm>
          <a:prstGeom prst="rect">
            <a:avLst/>
          </a:prstGeom>
          <a:noFill/>
          <a:ln/>
        </p:spPr>
        <p:txBody>
          <a:bodyPr wrap="square" rtlCol="0" anchor="ctr"/>
          <a:lstStyle/>
          <a:p>
            <a:pPr indent="0" marL="0">
              <a:buNone/>
            </a:pPr>
            <a:r>
              <a:rPr lang="en-US" sz="1300" i="1" dirty="0">
                <a:solidFill>
                  <a:srgbClr val="0E1C42"/>
                </a:solidFill>
                <a:latin typeface="Cambria" pitchFamily="34" charset="0"/>
                <a:ea typeface="Cambria" pitchFamily="34" charset="-122"/>
                <a:cs typeface="Cambria" pitchFamily="34" charset="-120"/>
              </a:rPr>
              <a:t>"The Hasty Herald said 'A strong opinion is enough for a newspaper claim.' What's partly right about that? What's missing?"</a:t>
            </a:r>
            <a:endParaRPr lang="en-US" sz="1300" dirty="0"/>
          </a:p>
        </p:txBody>
      </p:sp>
      <p:sp>
        <p:nvSpPr>
          <p:cNvPr id="8" name="Text 6"/>
          <p:cNvSpPr/>
          <p:nvPr/>
        </p:nvSpPr>
        <p:spPr>
          <a:xfrm>
            <a:off x="365760" y="1481328"/>
            <a:ext cx="8412480" cy="274320"/>
          </a:xfrm>
          <a:prstGeom prst="rect">
            <a:avLst/>
          </a:prstGeom>
          <a:noFill/>
          <a:ln/>
        </p:spPr>
        <p:txBody>
          <a:bodyPr wrap="square" rtlCol="0" anchor="ctr"/>
          <a:lstStyle/>
          <a:p>
            <a:pPr indent="0" marL="0">
              <a:buNone/>
            </a:pPr>
            <a:r>
              <a:rPr lang="en-US" sz="1200" i="1" dirty="0">
                <a:solidFill>
                  <a:srgbClr val="7A88A8"/>
                </a:solidFill>
                <a:latin typeface="Calibri" pitchFamily="34" charset="0"/>
                <a:ea typeface="Calibri" pitchFamily="34" charset="-122"/>
                <a:cs typeface="Calibri" pitchFamily="34" charset="-120"/>
              </a:rPr>
              <a:t>This one is tricky -- the Herald is partly right. Let's figure out exactly where.</a:t>
            </a:r>
            <a:endParaRPr lang="en-US" sz="1200" dirty="0"/>
          </a:p>
        </p:txBody>
      </p:sp>
      <p:sp>
        <p:nvSpPr>
          <p:cNvPr id="9" name="Shape 7"/>
          <p:cNvSpPr/>
          <p:nvPr/>
        </p:nvSpPr>
        <p:spPr>
          <a:xfrm>
            <a:off x="365760" y="1847088"/>
            <a:ext cx="5120640" cy="2331720"/>
          </a:xfrm>
          <a:prstGeom prst="roundRect">
            <a:avLst>
              <a:gd name="adj" fmla="val 4706"/>
            </a:avLst>
          </a:prstGeom>
          <a:solidFill>
            <a:srgbClr val="1A2D5A"/>
          </a:solidFill>
          <a:ln w="12700">
            <a:solidFill>
              <a:srgbClr val="2A4070"/>
            </a:solidFill>
            <a:prstDash val="solid"/>
          </a:ln>
        </p:spPr>
      </p:sp>
      <p:sp>
        <p:nvSpPr>
          <p:cNvPr id="10" name="Text 8"/>
          <p:cNvSpPr/>
          <p:nvPr/>
        </p:nvSpPr>
        <p:spPr>
          <a:xfrm>
            <a:off x="502920" y="1901952"/>
            <a:ext cx="4846320" cy="201168"/>
          </a:xfrm>
          <a:prstGeom prst="rect">
            <a:avLst/>
          </a:prstGeom>
          <a:noFill/>
          <a:ln/>
        </p:spPr>
        <p:txBody>
          <a:bodyPr wrap="square" lIns="0" tIns="0" rIns="0" bIns="0" rtlCol="0" anchor="ctr"/>
          <a:lstStyle/>
          <a:p>
            <a:pPr indent="0" marL="0">
              <a:buNone/>
            </a:pPr>
            <a:r>
              <a:rPr lang="en-US" sz="900" b="1" spc="150" kern="0" dirty="0">
                <a:solidFill>
                  <a:srgbClr val="55C8E8"/>
                </a:solidFill>
                <a:latin typeface="Calibri" pitchFamily="34" charset="0"/>
                <a:ea typeface="Calibri" pitchFamily="34" charset="-122"/>
                <a:cs typeface="Calibri" pitchFamily="34" charset="-120"/>
              </a:rPr>
              <a:t>SOCRATIC QUESTIONS</a:t>
            </a:r>
            <a:endParaRPr lang="en-US" sz="900" dirty="0"/>
          </a:p>
        </p:txBody>
      </p:sp>
      <p:sp>
        <p:nvSpPr>
          <p:cNvPr id="11" name="Text 9"/>
          <p:cNvSpPr/>
          <p:nvPr/>
        </p:nvSpPr>
        <p:spPr>
          <a:xfrm>
            <a:off x="548640" y="2167128"/>
            <a:ext cx="4754880" cy="1920240"/>
          </a:xfrm>
          <a:prstGeom prst="rect">
            <a:avLst/>
          </a:prstGeom>
          <a:noFill/>
          <a:ln/>
        </p:spPr>
        <p:txBody>
          <a:bodyPr wrap="square" lIns="0" tIns="0" rIns="0" bIns="0" rtlCol="0" anchor="t"/>
          <a:lstStyle/>
          <a:p>
            <a:pPr indent="0" marL="0">
              <a:spcAft>
                <a:spcPts val="400"/>
              </a:spcAft>
              <a:buNone/>
            </a:pPr>
            <a:r>
              <a:rPr lang="en-US" sz="1100" i="1" dirty="0">
                <a:solidFill>
                  <a:srgbClr val="D6F2FB"/>
                </a:solidFill>
                <a:latin typeface="Calibri" pitchFamily="34" charset="0"/>
                <a:ea typeface="Calibri" pitchFamily="34" charset="-122"/>
                <a:cs typeface="Calibri" pitchFamily="34" charset="-120"/>
              </a:rPr>
              <a:t>What is actually correct about the Herald's statement?</a:t>
            </a:r>
            <a:endParaRPr lang="en-US" sz="1100" dirty="0"/>
          </a:p>
          <a:p>
            <a:pPr indent="0" marL="0">
              <a:spcAft>
                <a:spcPts val="400"/>
              </a:spcAft>
              <a:buNone/>
            </a:pPr>
            <a:r>
              <a:rPr lang="en-US" sz="1100" i="1" dirty="0">
                <a:solidFill>
                  <a:srgbClr val="D6F2FB"/>
                </a:solidFill>
                <a:latin typeface="Calibri" pitchFamily="34" charset="0"/>
                <a:ea typeface="Calibri" pitchFamily="34" charset="-122"/>
                <a:cs typeface="Calibri" pitchFamily="34" charset="-120"/>
              </a:rPr>
              <a:t>Where does a strong opinion fit in the CER process?</a:t>
            </a:r>
            <a:endParaRPr lang="en-US" sz="1100" dirty="0"/>
          </a:p>
          <a:p>
            <a:pPr indent="0" marL="0">
              <a:spcAft>
                <a:spcPts val="400"/>
              </a:spcAft>
              <a:buNone/>
            </a:pPr>
            <a:r>
              <a:rPr lang="en-US" sz="1100" i="1" dirty="0">
                <a:solidFill>
                  <a:srgbClr val="D6F2FB"/>
                </a:solidFill>
                <a:latin typeface="Calibri" pitchFamily="34" charset="0"/>
                <a:ea typeface="Calibri" pitchFamily="34" charset="-122"/>
                <a:cs typeface="Calibri" pitchFamily="34" charset="-120"/>
              </a:rPr>
              <a:t>Does having a strong opinion help or hurt? Could it do both?</a:t>
            </a:r>
            <a:endParaRPr lang="en-US" sz="1100" dirty="0"/>
          </a:p>
          <a:p>
            <a:pPr indent="0" marL="0">
              <a:spcAft>
                <a:spcPts val="400"/>
              </a:spcAft>
              <a:buNone/>
            </a:pPr>
            <a:r>
              <a:rPr lang="en-US" sz="1100" i="1" dirty="0">
                <a:solidFill>
                  <a:srgbClr val="D6F2FB"/>
                </a:solidFill>
                <a:latin typeface="Calibri" pitchFamily="34" charset="0"/>
                <a:ea typeface="Calibri" pitchFamily="34" charset="-122"/>
                <a:cs typeface="Calibri" pitchFamily="34" charset="-120"/>
              </a:rPr>
              <a:t>What exactly is missing from 'a strong opinion is enough'?</a:t>
            </a:r>
            <a:endParaRPr lang="en-US" sz="1100" dirty="0"/>
          </a:p>
        </p:txBody>
      </p:sp>
      <p:sp>
        <p:nvSpPr>
          <p:cNvPr id="12" name="Shape 10"/>
          <p:cNvSpPr/>
          <p:nvPr/>
        </p:nvSpPr>
        <p:spPr>
          <a:xfrm>
            <a:off x="5669280" y="1847088"/>
            <a:ext cx="3108960" cy="2331720"/>
          </a:xfrm>
          <a:prstGeom prst="roundRect">
            <a:avLst>
              <a:gd name="adj" fmla="val 4706"/>
            </a:avLst>
          </a:prstGeom>
          <a:solidFill>
            <a:srgbClr val="FFF3DC"/>
          </a:solidFill>
          <a:ln w="19050">
            <a:solidFill>
              <a:srgbClr val="F5E6C8"/>
            </a:solidFill>
            <a:prstDash val="solid"/>
          </a:ln>
        </p:spPr>
      </p:sp>
      <p:sp>
        <p:nvSpPr>
          <p:cNvPr id="13" name="Text 11"/>
          <p:cNvSpPr/>
          <p:nvPr/>
        </p:nvSpPr>
        <p:spPr>
          <a:xfrm>
            <a:off x="5806440" y="1901952"/>
            <a:ext cx="2834640" cy="201168"/>
          </a:xfrm>
          <a:prstGeom prst="rect">
            <a:avLst/>
          </a:prstGeom>
          <a:noFill/>
          <a:ln/>
        </p:spPr>
        <p:txBody>
          <a:bodyPr wrap="square" lIns="0" tIns="0" rIns="0" bIns="0" rtlCol="0" anchor="ctr"/>
          <a:lstStyle/>
          <a:p>
            <a:pPr indent="0" marL="0">
              <a:buNone/>
            </a:pPr>
            <a:r>
              <a:rPr lang="en-US" sz="900" b="1" spc="150" kern="0" dirty="0">
                <a:solidFill>
                  <a:srgbClr val="D4943A"/>
                </a:solidFill>
                <a:latin typeface="Calibri" pitchFamily="34" charset="0"/>
                <a:ea typeface="Calibri" pitchFamily="34" charset="-122"/>
                <a:cs typeface="Calibri" pitchFamily="34" charset="-120"/>
              </a:rPr>
              <a:t>CHAT FRAME</a:t>
            </a:r>
            <a:endParaRPr lang="en-US" sz="900" dirty="0"/>
          </a:p>
        </p:txBody>
      </p:sp>
      <p:sp>
        <p:nvSpPr>
          <p:cNvPr id="14" name="Text 12"/>
          <p:cNvSpPr/>
          <p:nvPr/>
        </p:nvSpPr>
        <p:spPr>
          <a:xfrm>
            <a:off x="5806440" y="2103120"/>
            <a:ext cx="2834640" cy="2011680"/>
          </a:xfrm>
          <a:prstGeom prst="rect">
            <a:avLst/>
          </a:prstGeom>
          <a:noFill/>
          <a:ln/>
        </p:spPr>
        <p:txBody>
          <a:bodyPr wrap="square" lIns="0" tIns="0" rIns="0" bIns="0" rtlCol="0" anchor="t"/>
          <a:lstStyle/>
          <a:p>
            <a:pPr indent="0" marL="0">
              <a:spcAft>
                <a:spcPts val="500"/>
              </a:spcAft>
              <a:buNone/>
            </a:pPr>
            <a:r>
              <a:rPr lang="en-US" sz="1200" i="1" dirty="0">
                <a:solidFill>
                  <a:srgbClr val="5A4A3A"/>
                </a:solidFill>
                <a:latin typeface="Cambria" pitchFamily="34" charset="0"/>
                <a:ea typeface="Cambria" pitchFamily="34" charset="-122"/>
                <a:cs typeface="Cambria" pitchFamily="34" charset="-120"/>
              </a:rPr>
              <a:t>"The Herald was partly right about ___, but missed..."</a:t>
            </a:r>
            <a:endParaRPr lang="en-US" sz="1200" dirty="0"/>
          </a:p>
          <a:p>
            <a:pPr indent="0" marL="0">
              <a:spcAft>
                <a:spcPts val="500"/>
              </a:spcAft>
              <a:buNone/>
            </a:pPr>
            <a:r>
              <a:rPr lang="en-US" sz="1200" i="1" dirty="0">
                <a:solidFill>
                  <a:srgbClr val="5A4A3A"/>
                </a:solidFill>
                <a:latin typeface="Cambria" pitchFamily="34" charset="0"/>
                <a:ea typeface="Cambria" pitchFamily="34" charset="-122"/>
                <a:cs typeface="Cambria" pitchFamily="34" charset="-120"/>
              </a:rPr>
              <a:t>"A strong opinion is a good ___, but it's not enough because..."</a:t>
            </a:r>
            <a:endParaRPr lang="en-US" sz="12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F0F2F8"/>
          </a:solidFill>
          <a:ln w="12700">
            <a:solidFill>
              <a:srgbClr val="F0F2F8"/>
            </a:solidFill>
            <a:prstDash val="solid"/>
          </a:ln>
        </p:spPr>
      </p:sp>
      <p:sp>
        <p:nvSpPr>
          <p:cNvPr id="3" name="Text 1"/>
          <p:cNvSpPr/>
          <p:nvPr/>
        </p:nvSpPr>
        <p:spPr>
          <a:xfrm>
            <a:off x="365760" y="91440"/>
            <a:ext cx="8412480" cy="274320"/>
          </a:xfrm>
          <a:prstGeom prst="rect">
            <a:avLst/>
          </a:prstGeom>
          <a:noFill/>
          <a:ln/>
        </p:spPr>
        <p:txBody>
          <a:bodyPr wrap="square" rtlCol="0" anchor="ctr"/>
          <a:lstStyle/>
          <a:p>
            <a:pPr indent="0" marL="0">
              <a:buNone/>
            </a:pPr>
            <a:r>
              <a:rPr lang="en-US" sz="1000" b="1" spc="150" kern="0" dirty="0">
                <a:solidFill>
                  <a:srgbClr val="0E1C42"/>
                </a:solidFill>
                <a:latin typeface="Calibri" pitchFamily="34" charset="0"/>
                <a:ea typeface="Calibri" pitchFamily="34" charset="-122"/>
                <a:cs typeface="Calibri" pitchFamily="34" charset="-120"/>
              </a:rPr>
              <a:t>WHY IT MATTERS: THE GAZETTE STANDARD</a:t>
            </a:r>
            <a:endParaRPr lang="en-US" sz="1000" dirty="0"/>
          </a:p>
        </p:txBody>
      </p:sp>
      <p:sp>
        <p:nvSpPr>
          <p:cNvPr id="4" name="Shape 2"/>
          <p:cNvSpPr/>
          <p:nvPr/>
        </p:nvSpPr>
        <p:spPr>
          <a:xfrm>
            <a:off x="365760" y="393192"/>
            <a:ext cx="8412480" cy="45720"/>
          </a:xfrm>
          <a:prstGeom prst="rect">
            <a:avLst/>
          </a:prstGeom>
          <a:solidFill>
            <a:srgbClr val="D4943A"/>
          </a:solidFill>
          <a:ln w="12700">
            <a:solidFill>
              <a:srgbClr val="D4943A"/>
            </a:solidFill>
            <a:prstDash val="solid"/>
          </a:ln>
        </p:spPr>
      </p:sp>
      <p:sp>
        <p:nvSpPr>
          <p:cNvPr id="5" name="Shape 3"/>
          <p:cNvSpPr/>
          <p:nvPr/>
        </p:nvSpPr>
        <p:spPr>
          <a:xfrm>
            <a:off x="365760" y="502920"/>
            <a:ext cx="2651760" cy="2926080"/>
          </a:xfrm>
          <a:prstGeom prst="roundRect">
            <a:avLst>
              <a:gd name="adj" fmla="val 3448"/>
            </a:avLst>
          </a:prstGeom>
          <a:solidFill>
            <a:srgbClr val="EAF7FB"/>
          </a:solidFill>
          <a:ln w="19050">
            <a:solidFill>
              <a:srgbClr val="55C8E8"/>
            </a:solidFill>
            <a:prstDash val="solid"/>
          </a:ln>
        </p:spPr>
      </p:sp>
      <p:sp>
        <p:nvSpPr>
          <p:cNvPr id="6" name="Text 4"/>
          <p:cNvSpPr/>
          <p:nvPr/>
        </p:nvSpPr>
        <p:spPr>
          <a:xfrm>
            <a:off x="365760" y="594360"/>
            <a:ext cx="2651760" cy="502920"/>
          </a:xfrm>
          <a:prstGeom prst="rect">
            <a:avLst/>
          </a:prstGeom>
          <a:noFill/>
          <a:ln/>
        </p:spPr>
        <p:txBody>
          <a:bodyPr wrap="square" rtlCol="0" anchor="ctr"/>
          <a:lstStyle/>
          <a:p>
            <a:pPr algn="ctr" indent="0" marL="0">
              <a:buNone/>
            </a:pPr>
            <a:r>
              <a:rPr lang="en-US" sz="2800" b="1" dirty="0">
                <a:solidFill>
                  <a:srgbClr val="55C8E8"/>
                </a:solidFill>
                <a:latin typeface="Cambria" pitchFamily="34" charset="0"/>
                <a:ea typeface="Cambria" pitchFamily="34" charset="-122"/>
                <a:cs typeface="Cambria" pitchFamily="34" charset="-120"/>
              </a:rPr>
              <a:t>C</a:t>
            </a:r>
            <a:endParaRPr lang="en-US" sz="2800" dirty="0"/>
          </a:p>
        </p:txBody>
      </p:sp>
      <p:sp>
        <p:nvSpPr>
          <p:cNvPr id="7" name="Text 5"/>
          <p:cNvSpPr/>
          <p:nvPr/>
        </p:nvSpPr>
        <p:spPr>
          <a:xfrm>
            <a:off x="502920" y="1143000"/>
            <a:ext cx="2377440" cy="320040"/>
          </a:xfrm>
          <a:prstGeom prst="rect">
            <a:avLst/>
          </a:prstGeom>
          <a:noFill/>
          <a:ln/>
        </p:spPr>
        <p:txBody>
          <a:bodyPr wrap="square" rtlCol="0" anchor="ctr"/>
          <a:lstStyle/>
          <a:p>
            <a:pPr algn="ctr" indent="0" marL="0">
              <a:buNone/>
            </a:pPr>
            <a:r>
              <a:rPr lang="en-US" sz="1200" b="1" dirty="0">
                <a:solidFill>
                  <a:srgbClr val="0E1C42"/>
                </a:solidFill>
                <a:latin typeface="Calibri" pitchFamily="34" charset="0"/>
                <a:ea typeface="Calibri" pitchFamily="34" charset="-122"/>
                <a:cs typeface="Calibri" pitchFamily="34" charset="-120"/>
              </a:rPr>
              <a:t>Without Claim</a:t>
            </a:r>
            <a:endParaRPr lang="en-US" sz="1200" dirty="0"/>
          </a:p>
        </p:txBody>
      </p:sp>
      <p:sp>
        <p:nvSpPr>
          <p:cNvPr id="8" name="Text 6"/>
          <p:cNvSpPr/>
          <p:nvPr/>
        </p:nvSpPr>
        <p:spPr>
          <a:xfrm>
            <a:off x="502920" y="1508760"/>
            <a:ext cx="2377440" cy="1691640"/>
          </a:xfrm>
          <a:prstGeom prst="rect">
            <a:avLst/>
          </a:prstGeom>
          <a:noFill/>
          <a:ln/>
        </p:spPr>
        <p:txBody>
          <a:bodyPr wrap="square" rtlCol="0" anchor="t"/>
          <a:lstStyle/>
          <a:p>
            <a:pPr indent="0" marL="0">
              <a:buNone/>
            </a:pPr>
            <a:r>
              <a:rPr lang="en-US" sz="1200" dirty="0">
                <a:solidFill>
                  <a:srgbClr val="0E1C42"/>
                </a:solidFill>
                <a:latin typeface="Calibri" pitchFamily="34" charset="0"/>
                <a:ea typeface="Calibri" pitchFamily="34" charset="-122"/>
                <a:cs typeface="Calibri" pitchFamily="34" charset="-120"/>
              </a:rPr>
              <a:t>Readers do not know what you're arguing. The writing wanders. Nothing is at stake.</a:t>
            </a:r>
            <a:endParaRPr lang="en-US" sz="1200" dirty="0"/>
          </a:p>
        </p:txBody>
      </p:sp>
      <p:sp>
        <p:nvSpPr>
          <p:cNvPr id="9" name="Shape 7"/>
          <p:cNvSpPr/>
          <p:nvPr/>
        </p:nvSpPr>
        <p:spPr>
          <a:xfrm>
            <a:off x="3200400" y="502920"/>
            <a:ext cx="2651760" cy="2926080"/>
          </a:xfrm>
          <a:prstGeom prst="roundRect">
            <a:avLst>
              <a:gd name="adj" fmla="val 3448"/>
            </a:avLst>
          </a:prstGeom>
          <a:solidFill>
            <a:srgbClr val="FFF3DC"/>
          </a:solidFill>
          <a:ln w="19050">
            <a:solidFill>
              <a:srgbClr val="D4943A"/>
            </a:solidFill>
            <a:prstDash val="solid"/>
          </a:ln>
        </p:spPr>
      </p:sp>
      <p:sp>
        <p:nvSpPr>
          <p:cNvPr id="10" name="Text 8"/>
          <p:cNvSpPr/>
          <p:nvPr/>
        </p:nvSpPr>
        <p:spPr>
          <a:xfrm>
            <a:off x="3200400" y="594360"/>
            <a:ext cx="2651760" cy="502920"/>
          </a:xfrm>
          <a:prstGeom prst="rect">
            <a:avLst/>
          </a:prstGeom>
          <a:noFill/>
          <a:ln/>
        </p:spPr>
        <p:txBody>
          <a:bodyPr wrap="square" rtlCol="0" anchor="ctr"/>
          <a:lstStyle/>
          <a:p>
            <a:pPr algn="ctr" indent="0" marL="0">
              <a:buNone/>
            </a:pPr>
            <a:r>
              <a:rPr lang="en-US" sz="2800" b="1" dirty="0">
                <a:solidFill>
                  <a:srgbClr val="D4943A"/>
                </a:solidFill>
                <a:latin typeface="Cambria" pitchFamily="34" charset="0"/>
                <a:ea typeface="Cambria" pitchFamily="34" charset="-122"/>
                <a:cs typeface="Cambria" pitchFamily="34" charset="-120"/>
              </a:rPr>
              <a:t>E</a:t>
            </a:r>
            <a:endParaRPr lang="en-US" sz="2800" dirty="0"/>
          </a:p>
        </p:txBody>
      </p:sp>
      <p:sp>
        <p:nvSpPr>
          <p:cNvPr id="11" name="Text 9"/>
          <p:cNvSpPr/>
          <p:nvPr/>
        </p:nvSpPr>
        <p:spPr>
          <a:xfrm>
            <a:off x="3337560" y="1143000"/>
            <a:ext cx="2377440" cy="320040"/>
          </a:xfrm>
          <a:prstGeom prst="rect">
            <a:avLst/>
          </a:prstGeom>
          <a:noFill/>
          <a:ln/>
        </p:spPr>
        <p:txBody>
          <a:bodyPr wrap="square" rtlCol="0" anchor="ctr"/>
          <a:lstStyle/>
          <a:p>
            <a:pPr algn="ctr" indent="0" marL="0">
              <a:buNone/>
            </a:pPr>
            <a:r>
              <a:rPr lang="en-US" sz="1200" b="1" dirty="0">
                <a:solidFill>
                  <a:srgbClr val="0E1C42"/>
                </a:solidFill>
                <a:latin typeface="Calibri" pitchFamily="34" charset="0"/>
                <a:ea typeface="Calibri" pitchFamily="34" charset="-122"/>
                <a:cs typeface="Calibri" pitchFamily="34" charset="-120"/>
              </a:rPr>
              <a:t>Without Evidence</a:t>
            </a:r>
            <a:endParaRPr lang="en-US" sz="1200" dirty="0"/>
          </a:p>
        </p:txBody>
      </p:sp>
      <p:sp>
        <p:nvSpPr>
          <p:cNvPr id="12" name="Text 10"/>
          <p:cNvSpPr/>
          <p:nvPr/>
        </p:nvSpPr>
        <p:spPr>
          <a:xfrm>
            <a:off x="3337560" y="1508760"/>
            <a:ext cx="2377440" cy="1691640"/>
          </a:xfrm>
          <a:prstGeom prst="rect">
            <a:avLst/>
          </a:prstGeom>
          <a:noFill/>
          <a:ln/>
        </p:spPr>
        <p:txBody>
          <a:bodyPr wrap="square" rtlCol="0" anchor="t"/>
          <a:lstStyle/>
          <a:p>
            <a:pPr indent="0" marL="0">
              <a:buNone/>
            </a:pPr>
            <a:r>
              <a:rPr lang="en-US" sz="1200" dirty="0">
                <a:solidFill>
                  <a:srgbClr val="0E1C42"/>
                </a:solidFill>
                <a:latin typeface="Calibri" pitchFamily="34" charset="0"/>
                <a:ea typeface="Calibri" pitchFamily="34" charset="-122"/>
                <a:cs typeface="Calibri" pitchFamily="34" charset="-120"/>
              </a:rPr>
              <a:t>The claim is a guess. Readers have no way to verify it. Anyone can disagree without consequence.</a:t>
            </a:r>
            <a:endParaRPr lang="en-US" sz="1200" dirty="0"/>
          </a:p>
        </p:txBody>
      </p:sp>
      <p:sp>
        <p:nvSpPr>
          <p:cNvPr id="13" name="Shape 11"/>
          <p:cNvSpPr/>
          <p:nvPr/>
        </p:nvSpPr>
        <p:spPr>
          <a:xfrm>
            <a:off x="6035040" y="502920"/>
            <a:ext cx="2651760" cy="2926080"/>
          </a:xfrm>
          <a:prstGeom prst="roundRect">
            <a:avLst>
              <a:gd name="adj" fmla="val 3448"/>
            </a:avLst>
          </a:prstGeom>
          <a:solidFill>
            <a:srgbClr val="E8F8EF"/>
          </a:solidFill>
          <a:ln w="19050">
            <a:solidFill>
              <a:srgbClr val="34B76F"/>
            </a:solidFill>
            <a:prstDash val="solid"/>
          </a:ln>
        </p:spPr>
      </p:sp>
      <p:sp>
        <p:nvSpPr>
          <p:cNvPr id="14" name="Text 12"/>
          <p:cNvSpPr/>
          <p:nvPr/>
        </p:nvSpPr>
        <p:spPr>
          <a:xfrm>
            <a:off x="6035040" y="594360"/>
            <a:ext cx="2651760" cy="502920"/>
          </a:xfrm>
          <a:prstGeom prst="rect">
            <a:avLst/>
          </a:prstGeom>
          <a:noFill/>
          <a:ln/>
        </p:spPr>
        <p:txBody>
          <a:bodyPr wrap="square" rtlCol="0" anchor="ctr"/>
          <a:lstStyle/>
          <a:p>
            <a:pPr algn="ctr" indent="0" marL="0">
              <a:buNone/>
            </a:pPr>
            <a:r>
              <a:rPr lang="en-US" sz="2800" b="1" dirty="0">
                <a:solidFill>
                  <a:srgbClr val="34B76F"/>
                </a:solidFill>
                <a:latin typeface="Cambria" pitchFamily="34" charset="0"/>
                <a:ea typeface="Cambria" pitchFamily="34" charset="-122"/>
                <a:cs typeface="Cambria" pitchFamily="34" charset="-120"/>
              </a:rPr>
              <a:t>R</a:t>
            </a:r>
            <a:endParaRPr lang="en-US" sz="2800" dirty="0"/>
          </a:p>
        </p:txBody>
      </p:sp>
      <p:sp>
        <p:nvSpPr>
          <p:cNvPr id="15" name="Text 13"/>
          <p:cNvSpPr/>
          <p:nvPr/>
        </p:nvSpPr>
        <p:spPr>
          <a:xfrm>
            <a:off x="6172200" y="1143000"/>
            <a:ext cx="2377440" cy="320040"/>
          </a:xfrm>
          <a:prstGeom prst="rect">
            <a:avLst/>
          </a:prstGeom>
          <a:noFill/>
          <a:ln/>
        </p:spPr>
        <p:txBody>
          <a:bodyPr wrap="square" rtlCol="0" anchor="ctr"/>
          <a:lstStyle/>
          <a:p>
            <a:pPr algn="ctr" indent="0" marL="0">
              <a:buNone/>
            </a:pPr>
            <a:r>
              <a:rPr lang="en-US" sz="1200" b="1" dirty="0">
                <a:solidFill>
                  <a:srgbClr val="0E1C42"/>
                </a:solidFill>
                <a:latin typeface="Calibri" pitchFamily="34" charset="0"/>
                <a:ea typeface="Calibri" pitchFamily="34" charset="-122"/>
                <a:cs typeface="Calibri" pitchFamily="34" charset="-120"/>
              </a:rPr>
              <a:t>Without Reasoning</a:t>
            </a:r>
            <a:endParaRPr lang="en-US" sz="1200" dirty="0"/>
          </a:p>
        </p:txBody>
      </p:sp>
      <p:sp>
        <p:nvSpPr>
          <p:cNvPr id="16" name="Text 14"/>
          <p:cNvSpPr/>
          <p:nvPr/>
        </p:nvSpPr>
        <p:spPr>
          <a:xfrm>
            <a:off x="6172200" y="1508760"/>
            <a:ext cx="2377440" cy="1691640"/>
          </a:xfrm>
          <a:prstGeom prst="rect">
            <a:avLst/>
          </a:prstGeom>
          <a:noFill/>
          <a:ln/>
        </p:spPr>
        <p:txBody>
          <a:bodyPr wrap="square" rtlCol="0" anchor="t"/>
          <a:lstStyle/>
          <a:p>
            <a:pPr indent="0" marL="0">
              <a:buNone/>
            </a:pPr>
            <a:r>
              <a:rPr lang="en-US" sz="1200" dirty="0">
                <a:solidFill>
                  <a:srgbClr val="0E1C42"/>
                </a:solidFill>
                <a:latin typeface="Calibri" pitchFamily="34" charset="0"/>
                <a:ea typeface="Calibri" pitchFamily="34" charset="-122"/>
                <a:cs typeface="Calibri" pitchFamily="34" charset="-120"/>
              </a:rPr>
              <a:t>Evidence just sits there. The connection between 'what happened' and 'what it means' is invisible.</a:t>
            </a:r>
            <a:endParaRPr lang="en-US" sz="1200" dirty="0"/>
          </a:p>
        </p:txBody>
      </p:sp>
      <p:sp>
        <p:nvSpPr>
          <p:cNvPr id="17" name="Shape 15"/>
          <p:cNvSpPr/>
          <p:nvPr/>
        </p:nvSpPr>
        <p:spPr>
          <a:xfrm>
            <a:off x="365760" y="3566160"/>
            <a:ext cx="8412480" cy="731520"/>
          </a:xfrm>
          <a:prstGeom prst="roundRect">
            <a:avLst>
              <a:gd name="adj" fmla="val 12500"/>
            </a:avLst>
          </a:prstGeom>
          <a:solidFill>
            <a:srgbClr val="0E1C42"/>
          </a:solidFill>
          <a:ln w="19050">
            <a:solidFill>
              <a:srgbClr val="D4943A"/>
            </a:solidFill>
            <a:prstDash val="solid"/>
          </a:ln>
        </p:spPr>
      </p:sp>
      <p:sp>
        <p:nvSpPr>
          <p:cNvPr id="18" name="Text 16"/>
          <p:cNvSpPr/>
          <p:nvPr/>
        </p:nvSpPr>
        <p:spPr>
          <a:xfrm>
            <a:off x="548640" y="3566160"/>
            <a:ext cx="8046720" cy="731520"/>
          </a:xfrm>
          <a:prstGeom prst="rect">
            <a:avLst/>
          </a:prstGeom>
          <a:noFill/>
          <a:ln/>
        </p:spPr>
        <p:txBody>
          <a:bodyPr wrap="square" rtlCol="0" anchor="ctr"/>
          <a:lstStyle/>
          <a:p>
            <a:pPr algn="ctr" indent="0" marL="0">
              <a:buNone/>
            </a:pPr>
            <a:r>
              <a:rPr lang="en-US" sz="1600" b="1" dirty="0">
                <a:solidFill>
                  <a:srgbClr val="D4943A"/>
                </a:solidFill>
                <a:latin typeface="Cambria" pitchFamily="34" charset="0"/>
                <a:ea typeface="Cambria" pitchFamily="34" charset="-122"/>
                <a:cs typeface="Cambria" pitchFamily="34" charset="-120"/>
              </a:rPr>
              <a:t>The Gazette Rule: Every claim we print must have all three. No exceptions.</a:t>
            </a:r>
            <a:endParaRPr lang="en-US" sz="1600" dirty="0"/>
          </a:p>
        </p:txBody>
      </p:sp>
      <p:sp>
        <p:nvSpPr>
          <p:cNvPr id="19" name="Shape 17"/>
          <p:cNvSpPr/>
          <p:nvPr/>
        </p:nvSpPr>
        <p:spPr>
          <a:xfrm>
            <a:off x="365760" y="4407408"/>
            <a:ext cx="8412480" cy="566928"/>
          </a:xfrm>
          <a:prstGeom prst="roundRect">
            <a:avLst>
              <a:gd name="adj" fmla="val 19355"/>
            </a:avLst>
          </a:prstGeom>
          <a:solidFill>
            <a:srgbClr val="FFF3DC"/>
          </a:solidFill>
          <a:ln w="19050">
            <a:solidFill>
              <a:srgbClr val="F5E6C8"/>
            </a:solidFill>
            <a:prstDash val="solid"/>
          </a:ln>
        </p:spPr>
      </p:sp>
      <p:sp>
        <p:nvSpPr>
          <p:cNvPr id="20" name="Text 18"/>
          <p:cNvSpPr/>
          <p:nvPr/>
        </p:nvSpPr>
        <p:spPr>
          <a:xfrm>
            <a:off x="502920" y="4462272"/>
            <a:ext cx="8138160" cy="201168"/>
          </a:xfrm>
          <a:prstGeom prst="rect">
            <a:avLst/>
          </a:prstGeom>
          <a:noFill/>
          <a:ln/>
        </p:spPr>
        <p:txBody>
          <a:bodyPr wrap="square" lIns="0" tIns="0" rIns="0" bIns="0" rtlCol="0" anchor="ctr"/>
          <a:lstStyle/>
          <a:p>
            <a:pPr indent="0" marL="0">
              <a:buNone/>
            </a:pPr>
            <a:r>
              <a:rPr lang="en-US" sz="900" b="1" spc="150" kern="0" dirty="0">
                <a:solidFill>
                  <a:srgbClr val="D4943A"/>
                </a:solidFill>
                <a:latin typeface="Calibri" pitchFamily="34" charset="0"/>
                <a:ea typeface="Calibri" pitchFamily="34" charset="-122"/>
                <a:cs typeface="Calibri" pitchFamily="34" charset="-120"/>
              </a:rPr>
              <a:t>CHAT FRAME</a:t>
            </a:r>
            <a:endParaRPr lang="en-US" sz="900" dirty="0"/>
          </a:p>
        </p:txBody>
      </p:sp>
      <p:sp>
        <p:nvSpPr>
          <p:cNvPr id="21" name="Text 19"/>
          <p:cNvSpPr/>
          <p:nvPr/>
        </p:nvSpPr>
        <p:spPr>
          <a:xfrm>
            <a:off x="502920" y="4663440"/>
            <a:ext cx="8138160" cy="246888"/>
          </a:xfrm>
          <a:prstGeom prst="rect">
            <a:avLst/>
          </a:prstGeom>
          <a:noFill/>
          <a:ln/>
        </p:spPr>
        <p:txBody>
          <a:bodyPr wrap="square" lIns="0" tIns="0" rIns="0" bIns="0" rtlCol="0" anchor="t"/>
          <a:lstStyle/>
          <a:p>
            <a:pPr indent="0" marL="0">
              <a:spcAft>
                <a:spcPts val="500"/>
              </a:spcAft>
              <a:buNone/>
            </a:pPr>
            <a:r>
              <a:rPr lang="en-US" sz="1200" i="1" dirty="0">
                <a:solidFill>
                  <a:srgbClr val="5A4A3A"/>
                </a:solidFill>
                <a:latin typeface="Cambria" pitchFamily="34" charset="0"/>
                <a:ea typeface="Cambria" pitchFamily="34" charset="-122"/>
                <a:cs typeface="Cambria" pitchFamily="34" charset="-120"/>
              </a:rPr>
              <a:t>"CER matters in social studies because... and if any part is missing..."</a:t>
            </a:r>
            <a:endParaRPr lang="en-US" sz="12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0B1835"/>
          </a:solidFill>
          <a:ln w="19050">
            <a:solidFill>
              <a:srgbClr val="3A5080"/>
            </a:solidFill>
            <a:prstDash val="dash"/>
          </a:ln>
        </p:spPr>
      </p:sp>
      <p:sp>
        <p:nvSpPr>
          <p:cNvPr id="3" name="Shape 1"/>
          <p:cNvSpPr/>
          <p:nvPr/>
        </p:nvSpPr>
        <p:spPr>
          <a:xfrm>
            <a:off x="0" y="0"/>
            <a:ext cx="9144000" cy="5143500"/>
          </a:xfrm>
          <a:prstGeom prst="rect">
            <a:avLst/>
          </a:prstGeom>
          <a:solidFill>
            <a:srgbClr val="0E1C42">
              <a:alpha val="62000"/>
            </a:srgbClr>
          </a:solidFill>
          <a:ln/>
        </p:spPr>
      </p:sp>
      <p:sp>
        <p:nvSpPr>
          <p:cNvPr id="5" name="Text 2"/>
          <p:cNvSpPr/>
          <p:nvPr/>
        </p:nvSpPr>
        <p:spPr>
          <a:xfrm>
            <a:off x="457200" y="228600"/>
            <a:ext cx="8229600" cy="274320"/>
          </a:xfrm>
          <a:prstGeom prst="rect">
            <a:avLst/>
          </a:prstGeom>
          <a:noFill/>
          <a:ln/>
        </p:spPr>
        <p:txBody>
          <a:bodyPr wrap="square" rtlCol="0" anchor="ctr"/>
          <a:lstStyle/>
          <a:p>
            <a:pPr algn="ctr" indent="0" marL="0">
              <a:buNone/>
            </a:pPr>
            <a:r>
              <a:rPr lang="en-US" sz="1000" b="1" spc="200" kern="0" dirty="0">
                <a:solidFill>
                  <a:srgbClr val="D4943A"/>
                </a:solidFill>
                <a:latin typeface="Calibri" pitchFamily="34" charset="0"/>
                <a:ea typeface="Calibri" pitchFamily="34" charset="-122"/>
                <a:cs typeface="Calibri" pitchFamily="34" charset="-120"/>
              </a:rPr>
              <a:t>VIRTUE SPOTLIGHT</a:t>
            </a:r>
            <a:endParaRPr lang="en-US" sz="1000" dirty="0"/>
          </a:p>
        </p:txBody>
      </p:sp>
      <p:sp>
        <p:nvSpPr>
          <p:cNvPr id="6" name="Shape 3"/>
          <p:cNvSpPr/>
          <p:nvPr/>
        </p:nvSpPr>
        <p:spPr>
          <a:xfrm>
            <a:off x="2743200" y="548640"/>
            <a:ext cx="3657600" cy="45720"/>
          </a:xfrm>
          <a:prstGeom prst="rect">
            <a:avLst/>
          </a:prstGeom>
          <a:solidFill>
            <a:srgbClr val="D4943A"/>
          </a:solidFill>
          <a:ln w="12700">
            <a:solidFill>
              <a:srgbClr val="D4943A"/>
            </a:solidFill>
            <a:prstDash val="solid"/>
          </a:ln>
        </p:spPr>
      </p:sp>
      <p:sp>
        <p:nvSpPr>
          <p:cNvPr id="7" name="Text 4"/>
          <p:cNvSpPr/>
          <p:nvPr/>
        </p:nvSpPr>
        <p:spPr>
          <a:xfrm>
            <a:off x="457200" y="685800"/>
            <a:ext cx="8229600" cy="685800"/>
          </a:xfrm>
          <a:prstGeom prst="rect">
            <a:avLst/>
          </a:prstGeom>
          <a:noFill/>
          <a:ln/>
        </p:spPr>
        <p:txBody>
          <a:bodyPr wrap="square" rtlCol="0" anchor="ctr"/>
          <a:lstStyle/>
          <a:p>
            <a:pPr algn="ctr" indent="0" marL="0">
              <a:buNone/>
            </a:pPr>
            <a:r>
              <a:rPr lang="en-US" sz="4000" b="1" dirty="0">
                <a:solidFill>
                  <a:srgbClr val="FFFFFF"/>
                </a:solidFill>
                <a:latin typeface="Cambria" pitchFamily="34" charset="0"/>
                <a:ea typeface="Cambria" pitchFamily="34" charset="-122"/>
                <a:cs typeface="Cambria" pitchFamily="34" charset="-120"/>
              </a:rPr>
              <a:t>Honesty</a:t>
            </a:r>
            <a:endParaRPr lang="en-US" sz="4000" dirty="0"/>
          </a:p>
        </p:txBody>
      </p:sp>
      <p:sp>
        <p:nvSpPr>
          <p:cNvPr id="8" name="Shape 5"/>
          <p:cNvSpPr/>
          <p:nvPr/>
        </p:nvSpPr>
        <p:spPr>
          <a:xfrm>
            <a:off x="914400" y="1463040"/>
            <a:ext cx="7315200" cy="2377440"/>
          </a:xfrm>
          <a:prstGeom prst="roundRect">
            <a:avLst>
              <a:gd name="adj" fmla="val 4615"/>
            </a:avLst>
          </a:prstGeom>
          <a:solidFill>
            <a:srgbClr val="1A2D5A">
              <a:alpha val="80000"/>
            </a:srgbClr>
          </a:solidFill>
          <a:ln w="12700">
            <a:solidFill>
              <a:srgbClr val="D4943A"/>
            </a:solidFill>
            <a:prstDash val="solid"/>
          </a:ln>
        </p:spPr>
      </p:sp>
      <p:sp>
        <p:nvSpPr>
          <p:cNvPr id="9" name="Text 6"/>
          <p:cNvSpPr/>
          <p:nvPr/>
        </p:nvSpPr>
        <p:spPr>
          <a:xfrm>
            <a:off x="1097280" y="1600200"/>
            <a:ext cx="6949440" cy="1371600"/>
          </a:xfrm>
          <a:prstGeom prst="rect">
            <a:avLst/>
          </a:prstGeom>
          <a:noFill/>
          <a:ln/>
        </p:spPr>
        <p:txBody>
          <a:bodyPr wrap="square" rtlCol="0" anchor="ctr"/>
          <a:lstStyle/>
          <a:p>
            <a:pPr algn="ctr" indent="0" marL="0">
              <a:buNone/>
            </a:pPr>
            <a:r>
              <a:rPr lang="en-US" sz="1700" i="1" dirty="0">
                <a:solidFill>
                  <a:srgbClr val="FFFFFF"/>
                </a:solidFill>
                <a:latin typeface="Cambria" pitchFamily="34" charset="0"/>
                <a:ea typeface="Cambria" pitchFamily="34" charset="-122"/>
                <a:cs typeface="Cambria" pitchFamily="34" charset="-120"/>
              </a:rPr>
              <a:t>"An honest editor doesn't print a claim just because it sounds strong -- they check whether evidence and reasoning actually support it."</a:t>
            </a:r>
            <a:endParaRPr lang="en-US" sz="1700" dirty="0"/>
          </a:p>
        </p:txBody>
      </p:sp>
      <p:sp>
        <p:nvSpPr>
          <p:cNvPr id="10" name="Text 7"/>
          <p:cNvSpPr/>
          <p:nvPr/>
        </p:nvSpPr>
        <p:spPr>
          <a:xfrm>
            <a:off x="1097280" y="3017520"/>
            <a:ext cx="6949440" cy="365760"/>
          </a:xfrm>
          <a:prstGeom prst="rect">
            <a:avLst/>
          </a:prstGeom>
          <a:noFill/>
          <a:ln/>
        </p:spPr>
        <p:txBody>
          <a:bodyPr wrap="square" rtlCol="0" anchor="ctr"/>
          <a:lstStyle/>
          <a:p>
            <a:pPr algn="r" indent="0" marL="0">
              <a:buNone/>
            </a:pPr>
            <a:r>
              <a:rPr lang="en-US" sz="1200" i="1" dirty="0">
                <a:solidFill>
                  <a:srgbClr val="D4943A"/>
                </a:solidFill>
                <a:latin typeface="Calibri" pitchFamily="34" charset="0"/>
                <a:ea typeface="Calibri" pitchFamily="34" charset="-122"/>
                <a:cs typeface="Calibri" pitchFamily="34" charset="-120"/>
              </a:rPr>
              <a:t>-- Ms. Avery, Editor-in-Chief</a:t>
            </a:r>
            <a:endParaRPr lang="en-US" sz="1200" dirty="0"/>
          </a:p>
        </p:txBody>
      </p:sp>
      <p:sp>
        <p:nvSpPr>
          <p:cNvPr id="11" name="Text 8"/>
          <p:cNvSpPr/>
          <p:nvPr/>
        </p:nvSpPr>
        <p:spPr>
          <a:xfrm>
            <a:off x="457200" y="3977640"/>
            <a:ext cx="8229600" cy="457200"/>
          </a:xfrm>
          <a:prstGeom prst="rect">
            <a:avLst/>
          </a:prstGeom>
          <a:noFill/>
          <a:ln/>
        </p:spPr>
        <p:txBody>
          <a:bodyPr wrap="square" rtlCol="0" anchor="ctr"/>
          <a:lstStyle/>
          <a:p>
            <a:pPr algn="ctr" indent="0" marL="0">
              <a:buNone/>
            </a:pPr>
            <a:r>
              <a:rPr lang="en-US" sz="1200" i="1" dirty="0">
                <a:solidFill>
                  <a:srgbClr val="55C8E8"/>
                </a:solidFill>
                <a:latin typeface="Calibri" pitchFamily="34" charset="0"/>
                <a:ea typeface="Calibri" pitchFamily="34" charset="-122"/>
                <a:cs typeface="Calibri" pitchFamily="34" charset="-120"/>
              </a:rPr>
              <a:t>Connection: CER is how honest editors protect their readers from guesses dressed up as facts.</a:t>
            </a:r>
            <a:endParaRPr lang="en-US" sz="12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1A2D5A"/>
          </a:solidFill>
          <a:ln w="12700">
            <a:solidFill>
              <a:srgbClr val="1A2D5A"/>
            </a:solidFill>
            <a:prstDash val="solid"/>
          </a:ln>
        </p:spPr>
      </p:sp>
      <p:sp>
        <p:nvSpPr>
          <p:cNvPr id="3" name="Text 1"/>
          <p:cNvSpPr/>
          <p:nvPr/>
        </p:nvSpPr>
        <p:spPr>
          <a:xfrm>
            <a:off x="365760" y="91440"/>
            <a:ext cx="8412480" cy="274320"/>
          </a:xfrm>
          <a:prstGeom prst="rect">
            <a:avLst/>
          </a:prstGeom>
          <a:noFill/>
          <a:ln/>
        </p:spPr>
        <p:txBody>
          <a:bodyPr wrap="square" rtlCol="0" anchor="ctr"/>
          <a:lstStyle/>
          <a:p>
            <a:pPr indent="0" marL="0">
              <a:buNone/>
            </a:pPr>
            <a:r>
              <a:rPr lang="en-US" sz="1000" b="1" spc="150" kern="0" dirty="0">
                <a:solidFill>
                  <a:srgbClr val="D4943A"/>
                </a:solidFill>
                <a:latin typeface="Calibri" pitchFamily="34" charset="0"/>
                <a:ea typeface="Calibri" pitchFamily="34" charset="-122"/>
                <a:cs typeface="Calibri" pitchFamily="34" charset="-120"/>
              </a:rPr>
              <a:t>GUIDED PRACTICE: TEACHER MODELS</a:t>
            </a:r>
            <a:endParaRPr lang="en-US" sz="1000" dirty="0"/>
          </a:p>
        </p:txBody>
      </p:sp>
      <p:sp>
        <p:nvSpPr>
          <p:cNvPr id="4" name="Shape 2"/>
          <p:cNvSpPr/>
          <p:nvPr/>
        </p:nvSpPr>
        <p:spPr>
          <a:xfrm>
            <a:off x="365760" y="393192"/>
            <a:ext cx="8412480" cy="45720"/>
          </a:xfrm>
          <a:prstGeom prst="rect">
            <a:avLst/>
          </a:prstGeom>
          <a:solidFill>
            <a:srgbClr val="D4943A"/>
          </a:solidFill>
          <a:ln w="12700">
            <a:solidFill>
              <a:srgbClr val="D4943A"/>
            </a:solidFill>
            <a:prstDash val="solid"/>
          </a:ln>
        </p:spPr>
      </p:sp>
      <p:sp>
        <p:nvSpPr>
          <p:cNvPr id="5" name="Text 3"/>
          <p:cNvSpPr/>
          <p:nvPr/>
        </p:nvSpPr>
        <p:spPr>
          <a:xfrm>
            <a:off x="365760" y="457200"/>
            <a:ext cx="8412480" cy="274320"/>
          </a:xfrm>
          <a:prstGeom prst="rect">
            <a:avLst/>
          </a:prstGeom>
          <a:noFill/>
          <a:ln/>
        </p:spPr>
        <p:txBody>
          <a:bodyPr wrap="square" rtlCol="0" anchor="ctr"/>
          <a:lstStyle/>
          <a:p>
            <a:pPr indent="0" marL="0">
              <a:buNone/>
            </a:pPr>
            <a:r>
              <a:rPr lang="en-US" sz="1300" i="1" dirty="0">
                <a:solidFill>
                  <a:srgbClr val="D6F2FB"/>
                </a:solidFill>
                <a:latin typeface="Calibri" pitchFamily="34" charset="0"/>
                <a:ea typeface="Calibri" pitchFamily="34" charset="-122"/>
                <a:cs typeface="Calibri" pitchFamily="34" charset="-120"/>
              </a:rPr>
              <a:t>Watch how I build a complete CER response.</a:t>
            </a:r>
            <a:endParaRPr lang="en-US" sz="1300" dirty="0"/>
          </a:p>
        </p:txBody>
      </p:sp>
      <p:sp>
        <p:nvSpPr>
          <p:cNvPr id="6" name="Text 4"/>
          <p:cNvSpPr/>
          <p:nvPr/>
        </p:nvSpPr>
        <p:spPr>
          <a:xfrm>
            <a:off x="365760" y="795528"/>
            <a:ext cx="8412480" cy="320040"/>
          </a:xfrm>
          <a:prstGeom prst="rect">
            <a:avLst/>
          </a:prstGeom>
          <a:noFill/>
          <a:ln/>
        </p:spPr>
        <p:txBody>
          <a:bodyPr wrap="square" rtlCol="0" anchor="ctr"/>
          <a:lstStyle/>
          <a:p>
            <a:pPr indent="0" marL="0">
              <a:buNone/>
            </a:pPr>
            <a:r>
              <a:rPr lang="en-US" sz="1400" b="1" dirty="0">
                <a:solidFill>
                  <a:srgbClr val="55C8E8"/>
                </a:solidFill>
                <a:latin typeface="Calibri" pitchFamily="34" charset="0"/>
                <a:ea typeface="Calibri" pitchFamily="34" charset="-122"/>
                <a:cs typeface="Calibri" pitchFamily="34" charset="-120"/>
              </a:rPr>
              <a:t>Question: Why did early colonists settle near harbors?</a:t>
            </a:r>
            <a:endParaRPr lang="en-US" sz="1400" dirty="0"/>
          </a:p>
        </p:txBody>
      </p:sp>
      <p:sp>
        <p:nvSpPr>
          <p:cNvPr id="7" name="Shape 5"/>
          <p:cNvSpPr/>
          <p:nvPr/>
        </p:nvSpPr>
        <p:spPr>
          <a:xfrm>
            <a:off x="365760" y="1207008"/>
            <a:ext cx="8412480" cy="1051560"/>
          </a:xfrm>
          <a:prstGeom prst="roundRect">
            <a:avLst>
              <a:gd name="adj" fmla="val 8696"/>
            </a:avLst>
          </a:prstGeom>
          <a:solidFill>
            <a:srgbClr val="0E1C42"/>
          </a:solidFill>
          <a:ln w="19050">
            <a:solidFill>
              <a:srgbClr val="55C8E8"/>
            </a:solidFill>
            <a:prstDash val="solid"/>
          </a:ln>
        </p:spPr>
      </p:sp>
      <p:sp>
        <p:nvSpPr>
          <p:cNvPr id="8" name="Text 6"/>
          <p:cNvSpPr/>
          <p:nvPr/>
        </p:nvSpPr>
        <p:spPr>
          <a:xfrm>
            <a:off x="502920" y="1271016"/>
            <a:ext cx="2286000" cy="256032"/>
          </a:xfrm>
          <a:prstGeom prst="rect">
            <a:avLst/>
          </a:prstGeom>
          <a:noFill/>
          <a:ln/>
        </p:spPr>
        <p:txBody>
          <a:bodyPr wrap="square" rtlCol="0" anchor="ctr"/>
          <a:lstStyle/>
          <a:p>
            <a:pPr indent="0" marL="0">
              <a:buNone/>
            </a:pPr>
            <a:r>
              <a:rPr lang="en-US" sz="1000" b="1" spc="100" kern="0" dirty="0">
                <a:solidFill>
                  <a:srgbClr val="55C8E8"/>
                </a:solidFill>
                <a:latin typeface="Calibri" pitchFamily="34" charset="0"/>
                <a:ea typeface="Calibri" pitchFamily="34" charset="-122"/>
                <a:cs typeface="Calibri" pitchFamily="34" charset="-120"/>
              </a:rPr>
              <a:t>C  CLAIM</a:t>
            </a:r>
            <a:endParaRPr lang="en-US" sz="1000" dirty="0"/>
          </a:p>
        </p:txBody>
      </p:sp>
      <p:sp>
        <p:nvSpPr>
          <p:cNvPr id="9" name="Text 7"/>
          <p:cNvSpPr/>
          <p:nvPr/>
        </p:nvSpPr>
        <p:spPr>
          <a:xfrm>
            <a:off x="502920" y="1554480"/>
            <a:ext cx="5303520" cy="621792"/>
          </a:xfrm>
          <a:prstGeom prst="rect">
            <a:avLst/>
          </a:prstGeom>
          <a:noFill/>
          <a:ln/>
        </p:spPr>
        <p:txBody>
          <a:bodyPr wrap="square" rtlCol="0" anchor="t"/>
          <a:lstStyle/>
          <a:p>
            <a:pPr indent="0" marL="0">
              <a:buNone/>
            </a:pPr>
            <a:r>
              <a:rPr lang="en-US" sz="1200" i="1" dirty="0">
                <a:solidFill>
                  <a:srgbClr val="FFFFFF"/>
                </a:solidFill>
                <a:latin typeface="Cambria" pitchFamily="34" charset="0"/>
                <a:ea typeface="Cambria" pitchFamily="34" charset="-122"/>
                <a:cs typeface="Cambria" pitchFamily="34" charset="-120"/>
              </a:rPr>
              <a:t>"Colonies were most often settled near harbors and rivers."</a:t>
            </a:r>
            <a:endParaRPr lang="en-US" sz="1200" dirty="0"/>
          </a:p>
        </p:txBody>
      </p:sp>
      <p:sp>
        <p:nvSpPr>
          <p:cNvPr id="10" name="Shape 8"/>
          <p:cNvSpPr/>
          <p:nvPr/>
        </p:nvSpPr>
        <p:spPr>
          <a:xfrm>
            <a:off x="5943600" y="1298448"/>
            <a:ext cx="2743200" cy="868680"/>
          </a:xfrm>
          <a:prstGeom prst="roundRect">
            <a:avLst>
              <a:gd name="adj" fmla="val 8421"/>
            </a:avLst>
          </a:prstGeom>
          <a:solidFill>
            <a:srgbClr val="1A2D5A"/>
          </a:solidFill>
          <a:ln w="12700">
            <a:solidFill>
              <a:srgbClr val="55C8E8"/>
            </a:solidFill>
            <a:prstDash val="solid"/>
          </a:ln>
        </p:spPr>
      </p:sp>
      <p:sp>
        <p:nvSpPr>
          <p:cNvPr id="11" name="Text 9"/>
          <p:cNvSpPr/>
          <p:nvPr/>
        </p:nvSpPr>
        <p:spPr>
          <a:xfrm>
            <a:off x="6035040" y="1316736"/>
            <a:ext cx="2560320" cy="804672"/>
          </a:xfrm>
          <a:prstGeom prst="rect">
            <a:avLst/>
          </a:prstGeom>
          <a:noFill/>
          <a:ln/>
        </p:spPr>
        <p:txBody>
          <a:bodyPr wrap="square" rtlCol="0" anchor="ctr"/>
          <a:lstStyle/>
          <a:p>
            <a:pPr indent="0" marL="0">
              <a:buNone/>
            </a:pPr>
            <a:r>
              <a:rPr lang="en-US" sz="1000" i="1" dirty="0">
                <a:solidFill>
                  <a:srgbClr val="D6F2FB"/>
                </a:solidFill>
                <a:latin typeface="Calibri" pitchFamily="34" charset="0"/>
                <a:ea typeface="Calibri" pitchFamily="34" charset="-122"/>
                <a:cs typeface="Calibri" pitchFamily="34" charset="-120"/>
              </a:rPr>
              <a:t>My position -- answers the question directly.</a:t>
            </a:r>
            <a:endParaRPr lang="en-US" sz="1000" dirty="0"/>
          </a:p>
        </p:txBody>
      </p:sp>
      <p:sp>
        <p:nvSpPr>
          <p:cNvPr id="12" name="Shape 10"/>
          <p:cNvSpPr/>
          <p:nvPr/>
        </p:nvSpPr>
        <p:spPr>
          <a:xfrm>
            <a:off x="365760" y="2377440"/>
            <a:ext cx="8412480" cy="1051560"/>
          </a:xfrm>
          <a:prstGeom prst="roundRect">
            <a:avLst>
              <a:gd name="adj" fmla="val 8696"/>
            </a:avLst>
          </a:prstGeom>
          <a:solidFill>
            <a:srgbClr val="0E1C42"/>
          </a:solidFill>
          <a:ln w="19050">
            <a:solidFill>
              <a:srgbClr val="D4943A"/>
            </a:solidFill>
            <a:prstDash val="solid"/>
          </a:ln>
        </p:spPr>
      </p:sp>
      <p:sp>
        <p:nvSpPr>
          <p:cNvPr id="13" name="Text 11"/>
          <p:cNvSpPr/>
          <p:nvPr/>
        </p:nvSpPr>
        <p:spPr>
          <a:xfrm>
            <a:off x="502920" y="2441448"/>
            <a:ext cx="2286000" cy="256032"/>
          </a:xfrm>
          <a:prstGeom prst="rect">
            <a:avLst/>
          </a:prstGeom>
          <a:noFill/>
          <a:ln/>
        </p:spPr>
        <p:txBody>
          <a:bodyPr wrap="square" rtlCol="0" anchor="ctr"/>
          <a:lstStyle/>
          <a:p>
            <a:pPr indent="0" marL="0">
              <a:buNone/>
            </a:pPr>
            <a:r>
              <a:rPr lang="en-US" sz="1000" b="1" spc="100" kern="0" dirty="0">
                <a:solidFill>
                  <a:srgbClr val="D4943A"/>
                </a:solidFill>
                <a:latin typeface="Calibri" pitchFamily="34" charset="0"/>
                <a:ea typeface="Calibri" pitchFamily="34" charset="-122"/>
                <a:cs typeface="Calibri" pitchFamily="34" charset="-120"/>
              </a:rPr>
              <a:t>E  EVIDENCE</a:t>
            </a:r>
            <a:endParaRPr lang="en-US" sz="1000" dirty="0"/>
          </a:p>
        </p:txBody>
      </p:sp>
      <p:sp>
        <p:nvSpPr>
          <p:cNvPr id="14" name="Text 12"/>
          <p:cNvSpPr/>
          <p:nvPr/>
        </p:nvSpPr>
        <p:spPr>
          <a:xfrm>
            <a:off x="502920" y="2724912"/>
            <a:ext cx="5303520" cy="621792"/>
          </a:xfrm>
          <a:prstGeom prst="rect">
            <a:avLst/>
          </a:prstGeom>
          <a:noFill/>
          <a:ln/>
        </p:spPr>
        <p:txBody>
          <a:bodyPr wrap="square" rtlCol="0" anchor="t"/>
          <a:lstStyle/>
          <a:p>
            <a:pPr indent="0" marL="0">
              <a:buNone/>
            </a:pPr>
            <a:r>
              <a:rPr lang="en-US" sz="1200" i="1" dirty="0">
                <a:solidFill>
                  <a:srgbClr val="FFFFFF"/>
                </a:solidFill>
                <a:latin typeface="Cambria" pitchFamily="34" charset="0"/>
                <a:ea typeface="Cambria" pitchFamily="34" charset="-122"/>
                <a:cs typeface="Cambria" pitchFamily="34" charset="-120"/>
              </a:rPr>
              <a:t>"Colonial maps from the 1600s-1700s show most early settlements clustered along coastlines and major river systems like the James and Hudson."</a:t>
            </a:r>
            <a:endParaRPr lang="en-US" sz="1200" dirty="0"/>
          </a:p>
        </p:txBody>
      </p:sp>
      <p:sp>
        <p:nvSpPr>
          <p:cNvPr id="15" name="Shape 13"/>
          <p:cNvSpPr/>
          <p:nvPr/>
        </p:nvSpPr>
        <p:spPr>
          <a:xfrm>
            <a:off x="5943600" y="2468880"/>
            <a:ext cx="2743200" cy="868680"/>
          </a:xfrm>
          <a:prstGeom prst="roundRect">
            <a:avLst>
              <a:gd name="adj" fmla="val 8421"/>
            </a:avLst>
          </a:prstGeom>
          <a:solidFill>
            <a:srgbClr val="1A2D5A"/>
          </a:solidFill>
          <a:ln w="12700">
            <a:solidFill>
              <a:srgbClr val="D4943A"/>
            </a:solidFill>
            <a:prstDash val="solid"/>
          </a:ln>
        </p:spPr>
      </p:sp>
      <p:sp>
        <p:nvSpPr>
          <p:cNvPr id="16" name="Text 14"/>
          <p:cNvSpPr/>
          <p:nvPr/>
        </p:nvSpPr>
        <p:spPr>
          <a:xfrm>
            <a:off x="6035040" y="2487168"/>
            <a:ext cx="2560320" cy="804672"/>
          </a:xfrm>
          <a:prstGeom prst="rect">
            <a:avLst/>
          </a:prstGeom>
          <a:noFill/>
          <a:ln/>
        </p:spPr>
        <p:txBody>
          <a:bodyPr wrap="square" rtlCol="0" anchor="ctr"/>
          <a:lstStyle/>
          <a:p>
            <a:pPr indent="0" marL="0">
              <a:buNone/>
            </a:pPr>
            <a:r>
              <a:rPr lang="en-US" sz="1000" i="1" dirty="0">
                <a:solidFill>
                  <a:srgbClr val="D6F2FB"/>
                </a:solidFill>
                <a:latin typeface="Calibri" pitchFamily="34" charset="0"/>
                <a:ea typeface="Calibri" pitchFamily="34" charset="-122"/>
                <a:cs typeface="Calibri" pitchFamily="34" charset="-120"/>
              </a:rPr>
              <a:t>Specific source + specific detail -- not just maps show things.</a:t>
            </a:r>
            <a:endParaRPr lang="en-US" sz="1000" dirty="0"/>
          </a:p>
        </p:txBody>
      </p:sp>
      <p:sp>
        <p:nvSpPr>
          <p:cNvPr id="17" name="Shape 15"/>
          <p:cNvSpPr/>
          <p:nvPr/>
        </p:nvSpPr>
        <p:spPr>
          <a:xfrm>
            <a:off x="365760" y="3547872"/>
            <a:ext cx="8412480" cy="1051560"/>
          </a:xfrm>
          <a:prstGeom prst="roundRect">
            <a:avLst>
              <a:gd name="adj" fmla="val 8696"/>
            </a:avLst>
          </a:prstGeom>
          <a:solidFill>
            <a:srgbClr val="0E1C42"/>
          </a:solidFill>
          <a:ln w="19050">
            <a:solidFill>
              <a:srgbClr val="34B76F"/>
            </a:solidFill>
            <a:prstDash val="solid"/>
          </a:ln>
        </p:spPr>
      </p:sp>
      <p:sp>
        <p:nvSpPr>
          <p:cNvPr id="18" name="Text 16"/>
          <p:cNvSpPr/>
          <p:nvPr/>
        </p:nvSpPr>
        <p:spPr>
          <a:xfrm>
            <a:off x="502920" y="3611880"/>
            <a:ext cx="2286000" cy="256032"/>
          </a:xfrm>
          <a:prstGeom prst="rect">
            <a:avLst/>
          </a:prstGeom>
          <a:noFill/>
          <a:ln/>
        </p:spPr>
        <p:txBody>
          <a:bodyPr wrap="square" rtlCol="0" anchor="ctr"/>
          <a:lstStyle/>
          <a:p>
            <a:pPr indent="0" marL="0">
              <a:buNone/>
            </a:pPr>
            <a:r>
              <a:rPr lang="en-US" sz="1000" b="1" spc="100" kern="0" dirty="0">
                <a:solidFill>
                  <a:srgbClr val="34B76F"/>
                </a:solidFill>
                <a:latin typeface="Calibri" pitchFamily="34" charset="0"/>
                <a:ea typeface="Calibri" pitchFamily="34" charset="-122"/>
                <a:cs typeface="Calibri" pitchFamily="34" charset="-120"/>
              </a:rPr>
              <a:t>R  REASONING</a:t>
            </a:r>
            <a:endParaRPr lang="en-US" sz="1000" dirty="0"/>
          </a:p>
        </p:txBody>
      </p:sp>
      <p:sp>
        <p:nvSpPr>
          <p:cNvPr id="19" name="Text 17"/>
          <p:cNvSpPr/>
          <p:nvPr/>
        </p:nvSpPr>
        <p:spPr>
          <a:xfrm>
            <a:off x="502920" y="3895344"/>
            <a:ext cx="5303520" cy="621792"/>
          </a:xfrm>
          <a:prstGeom prst="rect">
            <a:avLst/>
          </a:prstGeom>
          <a:noFill/>
          <a:ln/>
        </p:spPr>
        <p:txBody>
          <a:bodyPr wrap="square" rtlCol="0" anchor="t"/>
          <a:lstStyle/>
          <a:p>
            <a:pPr indent="0" marL="0">
              <a:buNone/>
            </a:pPr>
            <a:r>
              <a:rPr lang="en-US" sz="1200" i="1" dirty="0">
                <a:solidFill>
                  <a:srgbClr val="FFFFFF"/>
                </a:solidFill>
                <a:latin typeface="Cambria" pitchFamily="34" charset="0"/>
                <a:ea typeface="Cambria" pitchFamily="34" charset="-122"/>
                <a:cs typeface="Cambria" pitchFamily="34" charset="-120"/>
              </a:rPr>
              <a:t>"Access to water provided transportation, food, and trade routes. Without it, survival and commerce were nearly impossible."</a:t>
            </a:r>
            <a:endParaRPr lang="en-US" sz="1200" dirty="0"/>
          </a:p>
        </p:txBody>
      </p:sp>
      <p:sp>
        <p:nvSpPr>
          <p:cNvPr id="20" name="Shape 18"/>
          <p:cNvSpPr/>
          <p:nvPr/>
        </p:nvSpPr>
        <p:spPr>
          <a:xfrm>
            <a:off x="5943600" y="3639312"/>
            <a:ext cx="2743200" cy="868680"/>
          </a:xfrm>
          <a:prstGeom prst="roundRect">
            <a:avLst>
              <a:gd name="adj" fmla="val 8421"/>
            </a:avLst>
          </a:prstGeom>
          <a:solidFill>
            <a:srgbClr val="1A2D5A"/>
          </a:solidFill>
          <a:ln w="12700">
            <a:solidFill>
              <a:srgbClr val="34B76F"/>
            </a:solidFill>
            <a:prstDash val="solid"/>
          </a:ln>
        </p:spPr>
      </p:sp>
      <p:sp>
        <p:nvSpPr>
          <p:cNvPr id="21" name="Text 19"/>
          <p:cNvSpPr/>
          <p:nvPr/>
        </p:nvSpPr>
        <p:spPr>
          <a:xfrm>
            <a:off x="6035040" y="3657600"/>
            <a:ext cx="2560320" cy="804672"/>
          </a:xfrm>
          <a:prstGeom prst="rect">
            <a:avLst/>
          </a:prstGeom>
          <a:noFill/>
          <a:ln/>
        </p:spPr>
        <p:txBody>
          <a:bodyPr wrap="square" rtlCol="0" anchor="ctr"/>
          <a:lstStyle/>
          <a:p>
            <a:pPr indent="0" marL="0">
              <a:buNone/>
            </a:pPr>
            <a:r>
              <a:rPr lang="en-US" sz="1000" i="1" dirty="0">
                <a:solidFill>
                  <a:srgbClr val="D6F2FB"/>
                </a:solidFill>
                <a:latin typeface="Calibri" pitchFamily="34" charset="0"/>
                <a:ea typeface="Calibri" pitchFamily="34" charset="-122"/>
                <a:cs typeface="Calibri" pitchFamily="34" charset="-120"/>
              </a:rPr>
              <a:t>Explains WHY -- connects evidence back to the claim.</a:t>
            </a:r>
            <a:endParaRPr lang="en-US" sz="10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F0F2F8"/>
          </a:solidFill>
          <a:ln w="12700">
            <a:solidFill>
              <a:srgbClr val="F0F2F8"/>
            </a:solidFill>
            <a:prstDash val="solid"/>
          </a:ln>
        </p:spPr>
      </p:sp>
      <p:sp>
        <p:nvSpPr>
          <p:cNvPr id="3" name="Text 1"/>
          <p:cNvSpPr/>
          <p:nvPr/>
        </p:nvSpPr>
        <p:spPr>
          <a:xfrm>
            <a:off x="365760" y="91440"/>
            <a:ext cx="8412480" cy="274320"/>
          </a:xfrm>
          <a:prstGeom prst="rect">
            <a:avLst/>
          </a:prstGeom>
          <a:noFill/>
          <a:ln/>
        </p:spPr>
        <p:txBody>
          <a:bodyPr wrap="square" rtlCol="0" anchor="ctr"/>
          <a:lstStyle/>
          <a:p>
            <a:pPr indent="0" marL="0">
              <a:buNone/>
            </a:pPr>
            <a:r>
              <a:rPr lang="en-US" sz="1000" b="1" spc="150" kern="0" dirty="0">
                <a:solidFill>
                  <a:srgbClr val="0E1C42"/>
                </a:solidFill>
                <a:latin typeface="Calibri" pitchFamily="34" charset="0"/>
                <a:ea typeface="Calibri" pitchFamily="34" charset="-122"/>
                <a:cs typeface="Calibri" pitchFamily="34" charset="-120"/>
              </a:rPr>
              <a:t>WE TRY TOGETHER</a:t>
            </a:r>
            <a:endParaRPr lang="en-US" sz="1000" dirty="0"/>
          </a:p>
        </p:txBody>
      </p:sp>
      <p:sp>
        <p:nvSpPr>
          <p:cNvPr id="4" name="Shape 2"/>
          <p:cNvSpPr/>
          <p:nvPr/>
        </p:nvSpPr>
        <p:spPr>
          <a:xfrm>
            <a:off x="365760" y="393192"/>
            <a:ext cx="8412480" cy="45720"/>
          </a:xfrm>
          <a:prstGeom prst="rect">
            <a:avLst/>
          </a:prstGeom>
          <a:solidFill>
            <a:srgbClr val="D4943A"/>
          </a:solidFill>
          <a:ln w="12700">
            <a:solidFill>
              <a:srgbClr val="D4943A"/>
            </a:solidFill>
            <a:prstDash val="solid"/>
          </a:ln>
        </p:spPr>
      </p:sp>
      <p:sp>
        <p:nvSpPr>
          <p:cNvPr id="5" name="Text 3"/>
          <p:cNvSpPr/>
          <p:nvPr/>
        </p:nvSpPr>
        <p:spPr>
          <a:xfrm>
            <a:off x="365760" y="457200"/>
            <a:ext cx="8412480" cy="320040"/>
          </a:xfrm>
          <a:prstGeom prst="rect">
            <a:avLst/>
          </a:prstGeom>
          <a:noFill/>
          <a:ln/>
        </p:spPr>
        <p:txBody>
          <a:bodyPr wrap="square" rtlCol="0" anchor="ctr"/>
          <a:lstStyle/>
          <a:p>
            <a:pPr indent="0" marL="0">
              <a:buNone/>
            </a:pPr>
            <a:r>
              <a:rPr lang="en-US" sz="1400" b="1" dirty="0">
                <a:solidFill>
                  <a:srgbClr val="0E1C42"/>
                </a:solidFill>
                <a:latin typeface="Cambria" pitchFamily="34" charset="0"/>
                <a:ea typeface="Cambria" pitchFamily="34" charset="-122"/>
                <a:cs typeface="Cambria" pitchFamily="34" charset="-120"/>
              </a:rPr>
              <a:t>New question: Why did colonial newspapers matter for the American Revolution?</a:t>
            </a:r>
            <a:endParaRPr lang="en-US" sz="1400" dirty="0"/>
          </a:p>
        </p:txBody>
      </p:sp>
      <p:sp>
        <p:nvSpPr>
          <p:cNvPr id="6" name="Shape 4"/>
          <p:cNvSpPr/>
          <p:nvPr/>
        </p:nvSpPr>
        <p:spPr>
          <a:xfrm>
            <a:off x="365760" y="868680"/>
            <a:ext cx="5120640" cy="2240280"/>
          </a:xfrm>
          <a:prstGeom prst="roundRect">
            <a:avLst>
              <a:gd name="adj" fmla="val 4898"/>
            </a:avLst>
          </a:prstGeom>
          <a:solidFill>
            <a:srgbClr val="1A2D5A"/>
          </a:solidFill>
          <a:ln w="12700">
            <a:solidFill>
              <a:srgbClr val="2A4070"/>
            </a:solidFill>
            <a:prstDash val="solid"/>
          </a:ln>
        </p:spPr>
      </p:sp>
      <p:sp>
        <p:nvSpPr>
          <p:cNvPr id="7" name="Text 5"/>
          <p:cNvSpPr/>
          <p:nvPr/>
        </p:nvSpPr>
        <p:spPr>
          <a:xfrm>
            <a:off x="502920" y="923544"/>
            <a:ext cx="4846320" cy="201168"/>
          </a:xfrm>
          <a:prstGeom prst="rect">
            <a:avLst/>
          </a:prstGeom>
          <a:noFill/>
          <a:ln/>
        </p:spPr>
        <p:txBody>
          <a:bodyPr wrap="square" lIns="0" tIns="0" rIns="0" bIns="0" rtlCol="0" anchor="ctr"/>
          <a:lstStyle/>
          <a:p>
            <a:pPr indent="0" marL="0">
              <a:buNone/>
            </a:pPr>
            <a:r>
              <a:rPr lang="en-US" sz="900" b="1" spc="150" kern="0" dirty="0">
                <a:solidFill>
                  <a:srgbClr val="55C8E8"/>
                </a:solidFill>
                <a:latin typeface="Calibri" pitchFamily="34" charset="0"/>
                <a:ea typeface="Calibri" pitchFamily="34" charset="-122"/>
                <a:cs typeface="Calibri" pitchFamily="34" charset="-120"/>
              </a:rPr>
              <a:t>SOCRATIC QUESTIONS</a:t>
            </a:r>
            <a:endParaRPr lang="en-US" sz="900" dirty="0"/>
          </a:p>
        </p:txBody>
      </p:sp>
      <p:sp>
        <p:nvSpPr>
          <p:cNvPr id="8" name="Text 6"/>
          <p:cNvSpPr/>
          <p:nvPr/>
        </p:nvSpPr>
        <p:spPr>
          <a:xfrm>
            <a:off x="548640" y="1188720"/>
            <a:ext cx="4754880" cy="1828800"/>
          </a:xfrm>
          <a:prstGeom prst="rect">
            <a:avLst/>
          </a:prstGeom>
          <a:noFill/>
          <a:ln/>
        </p:spPr>
        <p:txBody>
          <a:bodyPr wrap="square" lIns="0" tIns="0" rIns="0" bIns="0" rtlCol="0" anchor="t"/>
          <a:lstStyle/>
          <a:p>
            <a:pPr indent="0" marL="0">
              <a:spcAft>
                <a:spcPts val="400"/>
              </a:spcAft>
              <a:buNone/>
            </a:pPr>
            <a:r>
              <a:rPr lang="en-US" sz="1100" i="1" dirty="0">
                <a:solidFill>
                  <a:srgbClr val="D6F2FB"/>
                </a:solidFill>
                <a:latin typeface="Calibri" pitchFamily="34" charset="0"/>
                <a:ea typeface="Calibri" pitchFamily="34" charset="-122"/>
                <a:cs typeface="Calibri" pitchFamily="34" charset="-120"/>
              </a:rPr>
              <a:t>What position would you take -- what is the claim?</a:t>
            </a:r>
            <a:endParaRPr lang="en-US" sz="1100" dirty="0"/>
          </a:p>
          <a:p>
            <a:pPr indent="0" marL="0">
              <a:spcAft>
                <a:spcPts val="400"/>
              </a:spcAft>
              <a:buNone/>
            </a:pPr>
            <a:r>
              <a:rPr lang="en-US" sz="1100" i="1" dirty="0">
                <a:solidFill>
                  <a:srgbClr val="D6F2FB"/>
                </a:solidFill>
                <a:latin typeface="Calibri" pitchFamily="34" charset="0"/>
                <a:ea typeface="Calibri" pitchFamily="34" charset="-122"/>
                <a:cs typeface="Calibri" pitchFamily="34" charset="-120"/>
              </a:rPr>
              <a:t>What specific evidence from history could you use?</a:t>
            </a:r>
            <a:endParaRPr lang="en-US" sz="1100" dirty="0"/>
          </a:p>
          <a:p>
            <a:pPr indent="0" marL="0">
              <a:spcAft>
                <a:spcPts val="400"/>
              </a:spcAft>
              <a:buNone/>
            </a:pPr>
            <a:r>
              <a:rPr lang="en-US" sz="1100" i="1" dirty="0">
                <a:solidFill>
                  <a:srgbClr val="D6F2FB"/>
                </a:solidFill>
                <a:latin typeface="Calibri" pitchFamily="34" charset="0"/>
                <a:ea typeface="Calibri" pitchFamily="34" charset="-122"/>
                <a:cs typeface="Calibri" pitchFamily="34" charset="-120"/>
              </a:rPr>
              <a:t>What is your reasoning -- why does that evidence prove the claim?</a:t>
            </a:r>
            <a:endParaRPr lang="en-US" sz="1100" dirty="0"/>
          </a:p>
          <a:p>
            <a:pPr indent="0" marL="0">
              <a:spcAft>
                <a:spcPts val="400"/>
              </a:spcAft>
              <a:buNone/>
            </a:pPr>
            <a:r>
              <a:rPr lang="en-US" sz="1100" i="1" dirty="0">
                <a:solidFill>
                  <a:srgbClr val="D6F2FB"/>
                </a:solidFill>
                <a:latin typeface="Calibri" pitchFamily="34" charset="0"/>
                <a:ea typeface="Calibri" pitchFamily="34" charset="-122"/>
                <a:cs typeface="Calibri" pitchFamily="34" charset="-120"/>
              </a:rPr>
              <a:t>How do you know the reasoning is strong enough? What would make it weak?</a:t>
            </a:r>
            <a:endParaRPr lang="en-US" sz="1100" dirty="0"/>
          </a:p>
        </p:txBody>
      </p:sp>
      <p:sp>
        <p:nvSpPr>
          <p:cNvPr id="9" name="Shape 7"/>
          <p:cNvSpPr/>
          <p:nvPr/>
        </p:nvSpPr>
        <p:spPr>
          <a:xfrm>
            <a:off x="365760" y="3200400"/>
            <a:ext cx="5120640" cy="1600200"/>
          </a:xfrm>
          <a:prstGeom prst="roundRect">
            <a:avLst>
              <a:gd name="adj" fmla="val 6857"/>
            </a:avLst>
          </a:prstGeom>
          <a:solidFill>
            <a:srgbClr val="FFF3DC"/>
          </a:solidFill>
          <a:ln w="19050">
            <a:solidFill>
              <a:srgbClr val="F5E6C8"/>
            </a:solidFill>
            <a:prstDash val="solid"/>
          </a:ln>
        </p:spPr>
      </p:sp>
      <p:sp>
        <p:nvSpPr>
          <p:cNvPr id="10" name="Text 8"/>
          <p:cNvSpPr/>
          <p:nvPr/>
        </p:nvSpPr>
        <p:spPr>
          <a:xfrm>
            <a:off x="502920" y="3255264"/>
            <a:ext cx="4846320" cy="201168"/>
          </a:xfrm>
          <a:prstGeom prst="rect">
            <a:avLst/>
          </a:prstGeom>
          <a:noFill/>
          <a:ln/>
        </p:spPr>
        <p:txBody>
          <a:bodyPr wrap="square" lIns="0" tIns="0" rIns="0" bIns="0" rtlCol="0" anchor="ctr"/>
          <a:lstStyle/>
          <a:p>
            <a:pPr indent="0" marL="0">
              <a:buNone/>
            </a:pPr>
            <a:r>
              <a:rPr lang="en-US" sz="900" b="1" spc="150" kern="0" dirty="0">
                <a:solidFill>
                  <a:srgbClr val="D4943A"/>
                </a:solidFill>
                <a:latin typeface="Calibri" pitchFamily="34" charset="0"/>
                <a:ea typeface="Calibri" pitchFamily="34" charset="-122"/>
                <a:cs typeface="Calibri" pitchFamily="34" charset="-120"/>
              </a:rPr>
              <a:t>CHAT FRAME</a:t>
            </a:r>
            <a:endParaRPr lang="en-US" sz="900" dirty="0"/>
          </a:p>
        </p:txBody>
      </p:sp>
      <p:sp>
        <p:nvSpPr>
          <p:cNvPr id="11" name="Text 9"/>
          <p:cNvSpPr/>
          <p:nvPr/>
        </p:nvSpPr>
        <p:spPr>
          <a:xfrm>
            <a:off x="502920" y="3456432"/>
            <a:ext cx="4846320" cy="1280160"/>
          </a:xfrm>
          <a:prstGeom prst="rect">
            <a:avLst/>
          </a:prstGeom>
          <a:noFill/>
          <a:ln/>
        </p:spPr>
        <p:txBody>
          <a:bodyPr wrap="square" lIns="0" tIns="0" rIns="0" bIns="0" rtlCol="0" anchor="t"/>
          <a:lstStyle/>
          <a:p>
            <a:pPr indent="0" marL="0">
              <a:spcAft>
                <a:spcPts val="500"/>
              </a:spcAft>
              <a:buNone/>
            </a:pPr>
            <a:r>
              <a:rPr lang="en-US" sz="1200" i="1" dirty="0">
                <a:solidFill>
                  <a:srgbClr val="5A4A3A"/>
                </a:solidFill>
                <a:latin typeface="Cambria" pitchFamily="34" charset="0"/>
                <a:ea typeface="Cambria" pitchFamily="34" charset="-122"/>
                <a:cs typeface="Cambria" pitchFamily="34" charset="-120"/>
              </a:rPr>
              <a:t>"My claim is: Colonial newspapers mattered because..."</a:t>
            </a:r>
            <a:endParaRPr lang="en-US" sz="1200" dirty="0"/>
          </a:p>
          <a:p>
            <a:pPr indent="0" marL="0">
              <a:spcAft>
                <a:spcPts val="500"/>
              </a:spcAft>
              <a:buNone/>
            </a:pPr>
            <a:r>
              <a:rPr lang="en-US" sz="1200" i="1" dirty="0">
                <a:solidFill>
                  <a:srgbClr val="5A4A3A"/>
                </a:solidFill>
                <a:latin typeface="Cambria" pitchFamily="34" charset="0"/>
                <a:ea typeface="Cambria" pitchFamily="34" charset="-122"/>
                <a:cs typeface="Cambria" pitchFamily="34" charset="-120"/>
              </a:rPr>
              <a:t>"My evidence is: [specific detail, date, or source]"</a:t>
            </a:r>
            <a:endParaRPr lang="en-US" sz="1200" dirty="0"/>
          </a:p>
          <a:p>
            <a:pPr indent="0" marL="0">
              <a:spcAft>
                <a:spcPts val="500"/>
              </a:spcAft>
              <a:buNone/>
            </a:pPr>
            <a:r>
              <a:rPr lang="en-US" sz="1200" i="1" dirty="0">
                <a:solidFill>
                  <a:srgbClr val="5A4A3A"/>
                </a:solidFill>
                <a:latin typeface="Cambria" pitchFamily="34" charset="0"/>
                <a:ea typeface="Cambria" pitchFamily="34" charset="-122"/>
                <a:cs typeface="Cambria" pitchFamily="34" charset="-120"/>
              </a:rPr>
              <a:t>"My reasoning is: This proves the claim because..."</a:t>
            </a:r>
            <a:endParaRPr lang="en-US" sz="1200" dirty="0"/>
          </a:p>
        </p:txBody>
      </p:sp>
      <p:sp>
        <p:nvSpPr>
          <p:cNvPr id="12" name="Shape 10"/>
          <p:cNvSpPr/>
          <p:nvPr/>
        </p:nvSpPr>
        <p:spPr>
          <a:xfrm>
            <a:off x="5669280" y="868680"/>
            <a:ext cx="3108960" cy="3931920"/>
          </a:xfrm>
          <a:prstGeom prst="roundRect">
            <a:avLst>
              <a:gd name="adj" fmla="val 3529"/>
            </a:avLst>
          </a:prstGeom>
          <a:solidFill>
            <a:srgbClr val="FFFFFF"/>
          </a:solidFill>
          <a:ln w="19050">
            <a:solidFill>
              <a:srgbClr val="1A8A7D"/>
            </a:solidFill>
            <a:prstDash val="solid"/>
          </a:ln>
        </p:spPr>
      </p:sp>
      <p:sp>
        <p:nvSpPr>
          <p:cNvPr id="13" name="Text 11"/>
          <p:cNvSpPr/>
          <p:nvPr/>
        </p:nvSpPr>
        <p:spPr>
          <a:xfrm>
            <a:off x="5806440" y="932688"/>
            <a:ext cx="2834640" cy="228600"/>
          </a:xfrm>
          <a:prstGeom prst="rect">
            <a:avLst/>
          </a:prstGeom>
          <a:noFill/>
          <a:ln/>
        </p:spPr>
        <p:txBody>
          <a:bodyPr wrap="square" rtlCol="0" anchor="ctr"/>
          <a:lstStyle/>
          <a:p>
            <a:pPr indent="0" marL="0">
              <a:buNone/>
            </a:pPr>
            <a:r>
              <a:rPr lang="en-US" sz="900" b="1" spc="150" kern="0" dirty="0">
                <a:solidFill>
                  <a:srgbClr val="1A8A7D"/>
                </a:solidFill>
                <a:latin typeface="Calibri" pitchFamily="34" charset="0"/>
                <a:ea typeface="Calibri" pitchFamily="34" charset="-122"/>
                <a:cs typeface="Calibri" pitchFamily="34" charset="-120"/>
              </a:rPr>
              <a:t>BUILD WITH US</a:t>
            </a:r>
            <a:endParaRPr lang="en-US" sz="900" dirty="0"/>
          </a:p>
        </p:txBody>
      </p:sp>
      <p:sp>
        <p:nvSpPr>
          <p:cNvPr id="14" name="Shape 12"/>
          <p:cNvSpPr/>
          <p:nvPr/>
        </p:nvSpPr>
        <p:spPr>
          <a:xfrm>
            <a:off x="5806440" y="1252728"/>
            <a:ext cx="2834640" cy="914400"/>
          </a:xfrm>
          <a:prstGeom prst="roundRect">
            <a:avLst>
              <a:gd name="adj" fmla="val 8000"/>
            </a:avLst>
          </a:prstGeom>
          <a:solidFill>
            <a:srgbClr val="F0F2F8"/>
          </a:solidFill>
          <a:ln w="12700">
            <a:solidFill>
              <a:srgbClr val="B0B8CC"/>
            </a:solidFill>
            <a:prstDash val="solid"/>
          </a:ln>
        </p:spPr>
      </p:sp>
      <p:sp>
        <p:nvSpPr>
          <p:cNvPr id="15" name="Text 13"/>
          <p:cNvSpPr/>
          <p:nvPr/>
        </p:nvSpPr>
        <p:spPr>
          <a:xfrm>
            <a:off x="5943600" y="1298448"/>
            <a:ext cx="2560320" cy="256032"/>
          </a:xfrm>
          <a:prstGeom prst="rect">
            <a:avLst/>
          </a:prstGeom>
          <a:noFill/>
          <a:ln/>
        </p:spPr>
        <p:txBody>
          <a:bodyPr wrap="square" rtlCol="0" anchor="ctr"/>
          <a:lstStyle/>
          <a:p>
            <a:pPr indent="0" marL="0">
              <a:buNone/>
            </a:pPr>
            <a:r>
              <a:rPr lang="en-US" sz="1000" b="1" dirty="0">
                <a:solidFill>
                  <a:srgbClr val="0E1C42"/>
                </a:solidFill>
                <a:latin typeface="Calibri" pitchFamily="34" charset="0"/>
                <a:ea typeface="Calibri" pitchFamily="34" charset="-122"/>
                <a:cs typeface="Calibri" pitchFamily="34" charset="-120"/>
              </a:rPr>
              <a:t>C  Claim:</a:t>
            </a:r>
            <a:endParaRPr lang="en-US" sz="1000" dirty="0"/>
          </a:p>
        </p:txBody>
      </p:sp>
      <p:sp>
        <p:nvSpPr>
          <p:cNvPr id="16" name="Text 14"/>
          <p:cNvSpPr/>
          <p:nvPr/>
        </p:nvSpPr>
        <p:spPr>
          <a:xfrm>
            <a:off x="5943600" y="1600200"/>
            <a:ext cx="2560320" cy="502920"/>
          </a:xfrm>
          <a:prstGeom prst="rect">
            <a:avLst/>
          </a:prstGeom>
          <a:noFill/>
          <a:ln/>
        </p:spPr>
        <p:txBody>
          <a:bodyPr wrap="square" rtlCol="0" anchor="ctr"/>
          <a:lstStyle/>
          <a:p>
            <a:pPr indent="0" marL="0">
              <a:buNone/>
            </a:pPr>
            <a:r>
              <a:rPr lang="en-US" sz="1000" i="1" dirty="0">
                <a:solidFill>
                  <a:srgbClr val="7A88A8"/>
                </a:solidFill>
                <a:latin typeface="Calibri" pitchFamily="34" charset="0"/>
                <a:ea typeface="Calibri" pitchFamily="34" charset="-122"/>
                <a:cs typeface="Calibri" pitchFamily="34" charset="-120"/>
              </a:rPr>
              <a:t>[class builds together]</a:t>
            </a:r>
            <a:endParaRPr lang="en-US" sz="1000" dirty="0"/>
          </a:p>
        </p:txBody>
      </p:sp>
      <p:sp>
        <p:nvSpPr>
          <p:cNvPr id="17" name="Shape 15"/>
          <p:cNvSpPr/>
          <p:nvPr/>
        </p:nvSpPr>
        <p:spPr>
          <a:xfrm>
            <a:off x="5806440" y="2331720"/>
            <a:ext cx="2834640" cy="914400"/>
          </a:xfrm>
          <a:prstGeom prst="roundRect">
            <a:avLst>
              <a:gd name="adj" fmla="val 8000"/>
            </a:avLst>
          </a:prstGeom>
          <a:solidFill>
            <a:srgbClr val="F0F2F8"/>
          </a:solidFill>
          <a:ln w="12700">
            <a:solidFill>
              <a:srgbClr val="B0B8CC"/>
            </a:solidFill>
            <a:prstDash val="solid"/>
          </a:ln>
        </p:spPr>
      </p:sp>
      <p:sp>
        <p:nvSpPr>
          <p:cNvPr id="18" name="Text 16"/>
          <p:cNvSpPr/>
          <p:nvPr/>
        </p:nvSpPr>
        <p:spPr>
          <a:xfrm>
            <a:off x="5943600" y="2377440"/>
            <a:ext cx="2560320" cy="256032"/>
          </a:xfrm>
          <a:prstGeom prst="rect">
            <a:avLst/>
          </a:prstGeom>
          <a:noFill/>
          <a:ln/>
        </p:spPr>
        <p:txBody>
          <a:bodyPr wrap="square" rtlCol="0" anchor="ctr"/>
          <a:lstStyle/>
          <a:p>
            <a:pPr indent="0" marL="0">
              <a:buNone/>
            </a:pPr>
            <a:r>
              <a:rPr lang="en-US" sz="1000" b="1" dirty="0">
                <a:solidFill>
                  <a:srgbClr val="0E1C42"/>
                </a:solidFill>
                <a:latin typeface="Calibri" pitchFamily="34" charset="0"/>
                <a:ea typeface="Calibri" pitchFamily="34" charset="-122"/>
                <a:cs typeface="Calibri" pitchFamily="34" charset="-120"/>
              </a:rPr>
              <a:t>E  Evidence:</a:t>
            </a:r>
            <a:endParaRPr lang="en-US" sz="1000" dirty="0"/>
          </a:p>
        </p:txBody>
      </p:sp>
      <p:sp>
        <p:nvSpPr>
          <p:cNvPr id="19" name="Text 17"/>
          <p:cNvSpPr/>
          <p:nvPr/>
        </p:nvSpPr>
        <p:spPr>
          <a:xfrm>
            <a:off x="5943600" y="2679192"/>
            <a:ext cx="2560320" cy="502920"/>
          </a:xfrm>
          <a:prstGeom prst="rect">
            <a:avLst/>
          </a:prstGeom>
          <a:noFill/>
          <a:ln/>
        </p:spPr>
        <p:txBody>
          <a:bodyPr wrap="square" rtlCol="0" anchor="ctr"/>
          <a:lstStyle/>
          <a:p>
            <a:pPr indent="0" marL="0">
              <a:buNone/>
            </a:pPr>
            <a:r>
              <a:rPr lang="en-US" sz="1000" i="1" dirty="0">
                <a:solidFill>
                  <a:srgbClr val="7A88A8"/>
                </a:solidFill>
                <a:latin typeface="Calibri" pitchFamily="34" charset="0"/>
                <a:ea typeface="Calibri" pitchFamily="34" charset="-122"/>
                <a:cs typeface="Calibri" pitchFamily="34" charset="-120"/>
              </a:rPr>
              <a:t>[class builds together]</a:t>
            </a:r>
            <a:endParaRPr lang="en-US" sz="1000" dirty="0"/>
          </a:p>
        </p:txBody>
      </p:sp>
      <p:sp>
        <p:nvSpPr>
          <p:cNvPr id="20" name="Shape 18"/>
          <p:cNvSpPr/>
          <p:nvPr/>
        </p:nvSpPr>
        <p:spPr>
          <a:xfrm>
            <a:off x="5806440" y="3410712"/>
            <a:ext cx="2834640" cy="914400"/>
          </a:xfrm>
          <a:prstGeom prst="roundRect">
            <a:avLst>
              <a:gd name="adj" fmla="val 8000"/>
            </a:avLst>
          </a:prstGeom>
          <a:solidFill>
            <a:srgbClr val="F0F2F8"/>
          </a:solidFill>
          <a:ln w="12700">
            <a:solidFill>
              <a:srgbClr val="B0B8CC"/>
            </a:solidFill>
            <a:prstDash val="solid"/>
          </a:ln>
        </p:spPr>
      </p:sp>
      <p:sp>
        <p:nvSpPr>
          <p:cNvPr id="21" name="Text 19"/>
          <p:cNvSpPr/>
          <p:nvPr/>
        </p:nvSpPr>
        <p:spPr>
          <a:xfrm>
            <a:off x="5943600" y="3456432"/>
            <a:ext cx="2560320" cy="256032"/>
          </a:xfrm>
          <a:prstGeom prst="rect">
            <a:avLst/>
          </a:prstGeom>
          <a:noFill/>
          <a:ln/>
        </p:spPr>
        <p:txBody>
          <a:bodyPr wrap="square" rtlCol="0" anchor="ctr"/>
          <a:lstStyle/>
          <a:p>
            <a:pPr indent="0" marL="0">
              <a:buNone/>
            </a:pPr>
            <a:r>
              <a:rPr lang="en-US" sz="1000" b="1" dirty="0">
                <a:solidFill>
                  <a:srgbClr val="0E1C42"/>
                </a:solidFill>
                <a:latin typeface="Calibri" pitchFamily="34" charset="0"/>
                <a:ea typeface="Calibri" pitchFamily="34" charset="-122"/>
                <a:cs typeface="Calibri" pitchFamily="34" charset="-120"/>
              </a:rPr>
              <a:t>R  Reasoning:</a:t>
            </a:r>
            <a:endParaRPr lang="en-US" sz="1000" dirty="0"/>
          </a:p>
        </p:txBody>
      </p:sp>
      <p:sp>
        <p:nvSpPr>
          <p:cNvPr id="22" name="Text 20"/>
          <p:cNvSpPr/>
          <p:nvPr/>
        </p:nvSpPr>
        <p:spPr>
          <a:xfrm>
            <a:off x="5943600" y="3758184"/>
            <a:ext cx="2560320" cy="502920"/>
          </a:xfrm>
          <a:prstGeom prst="rect">
            <a:avLst/>
          </a:prstGeom>
          <a:noFill/>
          <a:ln/>
        </p:spPr>
        <p:txBody>
          <a:bodyPr wrap="square" rtlCol="0" anchor="ctr"/>
          <a:lstStyle/>
          <a:p>
            <a:pPr indent="0" marL="0">
              <a:buNone/>
            </a:pPr>
            <a:r>
              <a:rPr lang="en-US" sz="1000" i="1" dirty="0">
                <a:solidFill>
                  <a:srgbClr val="7A88A8"/>
                </a:solidFill>
                <a:latin typeface="Calibri" pitchFamily="34" charset="0"/>
                <a:ea typeface="Calibri" pitchFamily="34" charset="-122"/>
                <a:cs typeface="Calibri" pitchFamily="34" charset="-120"/>
              </a:rPr>
              <a:t>[class builds together]</a:t>
            </a:r>
            <a:endParaRPr lang="en-US" sz="10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F0F2F8"/>
          </a:solidFill>
          <a:ln w="12700">
            <a:solidFill>
              <a:srgbClr val="F0F2F8"/>
            </a:solidFill>
            <a:prstDash val="solid"/>
          </a:ln>
        </p:spPr>
      </p:sp>
      <p:sp>
        <p:nvSpPr>
          <p:cNvPr id="3" name="Text 1"/>
          <p:cNvSpPr/>
          <p:nvPr/>
        </p:nvSpPr>
        <p:spPr>
          <a:xfrm>
            <a:off x="365760" y="91440"/>
            <a:ext cx="8412480" cy="274320"/>
          </a:xfrm>
          <a:prstGeom prst="rect">
            <a:avLst/>
          </a:prstGeom>
          <a:noFill/>
          <a:ln/>
        </p:spPr>
        <p:txBody>
          <a:bodyPr wrap="square" rtlCol="0" anchor="ctr"/>
          <a:lstStyle/>
          <a:p>
            <a:pPr indent="0" marL="0">
              <a:buNone/>
            </a:pPr>
            <a:r>
              <a:rPr lang="en-US" sz="1000" b="1" spc="150" kern="0" dirty="0">
                <a:solidFill>
                  <a:srgbClr val="E8636B"/>
                </a:solidFill>
                <a:latin typeface="Calibri" pitchFamily="34" charset="0"/>
                <a:ea typeface="Calibri" pitchFamily="34" charset="-122"/>
                <a:cs typeface="Calibri" pitchFamily="34" charset="-120"/>
              </a:rPr>
              <a:t>CRITIQUE STEP: FIND THE WEAK SPOT</a:t>
            </a:r>
            <a:endParaRPr lang="en-US" sz="1000" dirty="0"/>
          </a:p>
        </p:txBody>
      </p:sp>
      <p:sp>
        <p:nvSpPr>
          <p:cNvPr id="4" name="Shape 2"/>
          <p:cNvSpPr/>
          <p:nvPr/>
        </p:nvSpPr>
        <p:spPr>
          <a:xfrm>
            <a:off x="365760" y="393192"/>
            <a:ext cx="8412480" cy="45720"/>
          </a:xfrm>
          <a:prstGeom prst="rect">
            <a:avLst/>
          </a:prstGeom>
          <a:solidFill>
            <a:srgbClr val="D4943A"/>
          </a:solidFill>
          <a:ln w="12700">
            <a:solidFill>
              <a:srgbClr val="D4943A"/>
            </a:solidFill>
            <a:prstDash val="solid"/>
          </a:ln>
        </p:spPr>
      </p:sp>
      <p:sp>
        <p:nvSpPr>
          <p:cNvPr id="5" name="Text 3"/>
          <p:cNvSpPr/>
          <p:nvPr/>
        </p:nvSpPr>
        <p:spPr>
          <a:xfrm>
            <a:off x="365760" y="457200"/>
            <a:ext cx="8412480" cy="274320"/>
          </a:xfrm>
          <a:prstGeom prst="rect">
            <a:avLst/>
          </a:prstGeom>
          <a:noFill/>
          <a:ln/>
        </p:spPr>
        <p:txBody>
          <a:bodyPr wrap="square" rtlCol="0" anchor="ctr"/>
          <a:lstStyle/>
          <a:p>
            <a:pPr indent="0" marL="0">
              <a:buNone/>
            </a:pPr>
            <a:r>
              <a:rPr lang="en-US" sz="1300" i="1" dirty="0">
                <a:solidFill>
                  <a:srgbClr val="0E1C42"/>
                </a:solidFill>
                <a:latin typeface="Calibri" pitchFamily="34" charset="0"/>
                <a:ea typeface="Calibri" pitchFamily="34" charset="-122"/>
                <a:cs typeface="Calibri" pitchFamily="34" charset="-120"/>
              </a:rPr>
              <a:t>A student submitted this to the Gazette. What would Ms. Avery mark?</a:t>
            </a:r>
            <a:endParaRPr lang="en-US" sz="1300" dirty="0"/>
          </a:p>
        </p:txBody>
      </p:sp>
      <p:sp>
        <p:nvSpPr>
          <p:cNvPr id="6" name="Shape 4"/>
          <p:cNvSpPr/>
          <p:nvPr/>
        </p:nvSpPr>
        <p:spPr>
          <a:xfrm>
            <a:off x="365760" y="804672"/>
            <a:ext cx="8412480" cy="1261872"/>
          </a:xfrm>
          <a:prstGeom prst="roundRect">
            <a:avLst>
              <a:gd name="adj" fmla="val 7246"/>
            </a:avLst>
          </a:prstGeom>
          <a:solidFill>
            <a:srgbClr val="FFFFFF"/>
          </a:solidFill>
          <a:ln w="25400">
            <a:solidFill>
              <a:srgbClr val="E8636B"/>
            </a:solidFill>
            <a:prstDash val="solid"/>
          </a:ln>
        </p:spPr>
      </p:sp>
      <p:sp>
        <p:nvSpPr>
          <p:cNvPr id="7" name="Text 5"/>
          <p:cNvSpPr/>
          <p:nvPr/>
        </p:nvSpPr>
        <p:spPr>
          <a:xfrm>
            <a:off x="548640" y="868680"/>
            <a:ext cx="8046720" cy="228600"/>
          </a:xfrm>
          <a:prstGeom prst="rect">
            <a:avLst/>
          </a:prstGeom>
          <a:noFill/>
          <a:ln/>
        </p:spPr>
        <p:txBody>
          <a:bodyPr wrap="square" rtlCol="0" anchor="ctr"/>
          <a:lstStyle/>
          <a:p>
            <a:pPr indent="0" marL="0">
              <a:buNone/>
            </a:pPr>
            <a:r>
              <a:rPr lang="en-US" sz="900" b="1" spc="150" kern="0" dirty="0">
                <a:solidFill>
                  <a:srgbClr val="E8636B"/>
                </a:solidFill>
                <a:latin typeface="Calibri" pitchFamily="34" charset="0"/>
                <a:ea typeface="Calibri" pitchFamily="34" charset="-122"/>
                <a:cs typeface="Calibri" pitchFamily="34" charset="-120"/>
              </a:rPr>
              <a:t>SAMPLE RESPONSE (submitted to the Gazette)</a:t>
            </a:r>
            <a:endParaRPr lang="en-US" sz="900" dirty="0"/>
          </a:p>
        </p:txBody>
      </p:sp>
      <p:sp>
        <p:nvSpPr>
          <p:cNvPr id="8" name="Text 6"/>
          <p:cNvSpPr/>
          <p:nvPr/>
        </p:nvSpPr>
        <p:spPr>
          <a:xfrm>
            <a:off x="548640" y="1115568"/>
            <a:ext cx="8046720" cy="868680"/>
          </a:xfrm>
          <a:prstGeom prst="rect">
            <a:avLst/>
          </a:prstGeom>
          <a:noFill/>
          <a:ln/>
        </p:spPr>
        <p:txBody>
          <a:bodyPr wrap="square" rtlCol="0" anchor="t"/>
          <a:lstStyle/>
          <a:p>
            <a:pPr indent="0" marL="0">
              <a:buNone/>
            </a:pPr>
            <a:r>
              <a:rPr lang="en-US" sz="1500" i="1" dirty="0">
                <a:solidFill>
                  <a:srgbClr val="0E1C42"/>
                </a:solidFill>
                <a:latin typeface="Cambria" pitchFamily="34" charset="0"/>
                <a:ea typeface="Cambria" pitchFamily="34" charset="-122"/>
                <a:cs typeface="Cambria" pitchFamily="34" charset="-120"/>
              </a:rPr>
              <a:t>"Geography is important. The colonists chose their locations. Maps show where they settled, and that tells us something about their choices."</a:t>
            </a:r>
            <a:endParaRPr lang="en-US" sz="1500" dirty="0"/>
          </a:p>
        </p:txBody>
      </p:sp>
      <p:sp>
        <p:nvSpPr>
          <p:cNvPr id="9" name="Shape 7"/>
          <p:cNvSpPr/>
          <p:nvPr/>
        </p:nvSpPr>
        <p:spPr>
          <a:xfrm>
            <a:off x="365760" y="2148840"/>
            <a:ext cx="5120640" cy="2240280"/>
          </a:xfrm>
          <a:prstGeom prst="roundRect">
            <a:avLst>
              <a:gd name="adj" fmla="val 4898"/>
            </a:avLst>
          </a:prstGeom>
          <a:solidFill>
            <a:srgbClr val="1A2D5A"/>
          </a:solidFill>
          <a:ln w="12700">
            <a:solidFill>
              <a:srgbClr val="2A4070"/>
            </a:solidFill>
            <a:prstDash val="solid"/>
          </a:ln>
        </p:spPr>
      </p:sp>
      <p:sp>
        <p:nvSpPr>
          <p:cNvPr id="10" name="Text 8"/>
          <p:cNvSpPr/>
          <p:nvPr/>
        </p:nvSpPr>
        <p:spPr>
          <a:xfrm>
            <a:off x="502920" y="2203704"/>
            <a:ext cx="4846320" cy="201168"/>
          </a:xfrm>
          <a:prstGeom prst="rect">
            <a:avLst/>
          </a:prstGeom>
          <a:noFill/>
          <a:ln/>
        </p:spPr>
        <p:txBody>
          <a:bodyPr wrap="square" lIns="0" tIns="0" rIns="0" bIns="0" rtlCol="0" anchor="ctr"/>
          <a:lstStyle/>
          <a:p>
            <a:pPr indent="0" marL="0">
              <a:buNone/>
            </a:pPr>
            <a:r>
              <a:rPr lang="en-US" sz="900" b="1" spc="150" kern="0" dirty="0">
                <a:solidFill>
                  <a:srgbClr val="55C8E8"/>
                </a:solidFill>
                <a:latin typeface="Calibri" pitchFamily="34" charset="0"/>
                <a:ea typeface="Calibri" pitchFamily="34" charset="-122"/>
                <a:cs typeface="Calibri" pitchFamily="34" charset="-120"/>
              </a:rPr>
              <a:t>SOCRATIC QUESTIONS</a:t>
            </a:r>
            <a:endParaRPr lang="en-US" sz="900" dirty="0"/>
          </a:p>
        </p:txBody>
      </p:sp>
      <p:sp>
        <p:nvSpPr>
          <p:cNvPr id="11" name="Text 9"/>
          <p:cNvSpPr/>
          <p:nvPr/>
        </p:nvSpPr>
        <p:spPr>
          <a:xfrm>
            <a:off x="548640" y="2468880"/>
            <a:ext cx="4754880" cy="1828800"/>
          </a:xfrm>
          <a:prstGeom prst="rect">
            <a:avLst/>
          </a:prstGeom>
          <a:noFill/>
          <a:ln/>
        </p:spPr>
        <p:txBody>
          <a:bodyPr wrap="square" lIns="0" tIns="0" rIns="0" bIns="0" rtlCol="0" anchor="t"/>
          <a:lstStyle/>
          <a:p>
            <a:pPr indent="0" marL="0">
              <a:spcAft>
                <a:spcPts val="400"/>
              </a:spcAft>
              <a:buNone/>
            </a:pPr>
            <a:r>
              <a:rPr lang="en-US" sz="1100" i="1" dirty="0">
                <a:solidFill>
                  <a:srgbClr val="D6F2FB"/>
                </a:solidFill>
                <a:latin typeface="Calibri" pitchFamily="34" charset="0"/>
                <a:ea typeface="Calibri" pitchFamily="34" charset="-122"/>
                <a:cs typeface="Calibri" pitchFamily="34" charset="-120"/>
              </a:rPr>
              <a:t>Is there a clear claim here -- a direct answer to a question?</a:t>
            </a:r>
            <a:endParaRPr lang="en-US" sz="1100" dirty="0"/>
          </a:p>
          <a:p>
            <a:pPr indent="0" marL="0">
              <a:spcAft>
                <a:spcPts val="400"/>
              </a:spcAft>
              <a:buNone/>
            </a:pPr>
            <a:r>
              <a:rPr lang="en-US" sz="1100" i="1" dirty="0">
                <a:solidFill>
                  <a:srgbClr val="D6F2FB"/>
                </a:solidFill>
                <a:latin typeface="Calibri" pitchFamily="34" charset="0"/>
                <a:ea typeface="Calibri" pitchFamily="34" charset="-122"/>
                <a:cs typeface="Calibri" pitchFamily="34" charset="-120"/>
              </a:rPr>
              <a:t>Is the evidence specific? Could you verify it?</a:t>
            </a:r>
            <a:endParaRPr lang="en-US" sz="1100" dirty="0"/>
          </a:p>
          <a:p>
            <a:pPr indent="0" marL="0">
              <a:spcAft>
                <a:spcPts val="400"/>
              </a:spcAft>
              <a:buNone/>
            </a:pPr>
            <a:r>
              <a:rPr lang="en-US" sz="1100" i="1" dirty="0">
                <a:solidFill>
                  <a:srgbClr val="D6F2FB"/>
                </a:solidFill>
                <a:latin typeface="Calibri" pitchFamily="34" charset="0"/>
                <a:ea typeface="Calibri" pitchFamily="34" charset="-122"/>
                <a:cs typeface="Calibri" pitchFamily="34" charset="-120"/>
              </a:rPr>
              <a:t>Where is the reasoning? Does the author explain WHY the evidence matters?</a:t>
            </a:r>
            <a:endParaRPr lang="en-US" sz="1100" dirty="0"/>
          </a:p>
          <a:p>
            <a:pPr indent="0" marL="0">
              <a:spcAft>
                <a:spcPts val="400"/>
              </a:spcAft>
              <a:buNone/>
            </a:pPr>
            <a:r>
              <a:rPr lang="en-US" sz="1100" i="1" dirty="0">
                <a:solidFill>
                  <a:srgbClr val="D6F2FB"/>
                </a:solidFill>
                <a:latin typeface="Calibri" pitchFamily="34" charset="0"/>
                <a:ea typeface="Calibri" pitchFamily="34" charset="-122"/>
                <a:cs typeface="Calibri" pitchFamily="34" charset="-120"/>
              </a:rPr>
              <a:t>What would Ms. Avery tell this editor to fix?</a:t>
            </a:r>
            <a:endParaRPr lang="en-US" sz="1100" dirty="0"/>
          </a:p>
        </p:txBody>
      </p:sp>
      <p:sp>
        <p:nvSpPr>
          <p:cNvPr id="12" name="Shape 10"/>
          <p:cNvSpPr/>
          <p:nvPr/>
        </p:nvSpPr>
        <p:spPr>
          <a:xfrm>
            <a:off x="5669280" y="2148840"/>
            <a:ext cx="3108960" cy="2240280"/>
          </a:xfrm>
          <a:prstGeom prst="roundRect">
            <a:avLst>
              <a:gd name="adj" fmla="val 4898"/>
            </a:avLst>
          </a:prstGeom>
          <a:solidFill>
            <a:srgbClr val="FFF3DC"/>
          </a:solidFill>
          <a:ln w="19050">
            <a:solidFill>
              <a:srgbClr val="F5E6C8"/>
            </a:solidFill>
            <a:prstDash val="solid"/>
          </a:ln>
        </p:spPr>
      </p:sp>
      <p:sp>
        <p:nvSpPr>
          <p:cNvPr id="13" name="Text 11"/>
          <p:cNvSpPr/>
          <p:nvPr/>
        </p:nvSpPr>
        <p:spPr>
          <a:xfrm>
            <a:off x="5806440" y="2203704"/>
            <a:ext cx="2834640" cy="201168"/>
          </a:xfrm>
          <a:prstGeom prst="rect">
            <a:avLst/>
          </a:prstGeom>
          <a:noFill/>
          <a:ln/>
        </p:spPr>
        <p:txBody>
          <a:bodyPr wrap="square" lIns="0" tIns="0" rIns="0" bIns="0" rtlCol="0" anchor="ctr"/>
          <a:lstStyle/>
          <a:p>
            <a:pPr indent="0" marL="0">
              <a:buNone/>
            </a:pPr>
            <a:r>
              <a:rPr lang="en-US" sz="900" b="1" spc="150" kern="0" dirty="0">
                <a:solidFill>
                  <a:srgbClr val="D4943A"/>
                </a:solidFill>
                <a:latin typeface="Calibri" pitchFamily="34" charset="0"/>
                <a:ea typeface="Calibri" pitchFamily="34" charset="-122"/>
                <a:cs typeface="Calibri" pitchFamily="34" charset="-120"/>
              </a:rPr>
              <a:t>CHAT FRAME</a:t>
            </a:r>
            <a:endParaRPr lang="en-US" sz="900" dirty="0"/>
          </a:p>
        </p:txBody>
      </p:sp>
      <p:sp>
        <p:nvSpPr>
          <p:cNvPr id="14" name="Text 12"/>
          <p:cNvSpPr/>
          <p:nvPr/>
        </p:nvSpPr>
        <p:spPr>
          <a:xfrm>
            <a:off x="5806440" y="2404872"/>
            <a:ext cx="2834640" cy="1920240"/>
          </a:xfrm>
          <a:prstGeom prst="rect">
            <a:avLst/>
          </a:prstGeom>
          <a:noFill/>
          <a:ln/>
        </p:spPr>
        <p:txBody>
          <a:bodyPr wrap="square" lIns="0" tIns="0" rIns="0" bIns="0" rtlCol="0" anchor="t"/>
          <a:lstStyle/>
          <a:p>
            <a:pPr indent="0" marL="0">
              <a:spcAft>
                <a:spcPts val="500"/>
              </a:spcAft>
              <a:buNone/>
            </a:pPr>
            <a:r>
              <a:rPr lang="en-US" sz="1200" i="1" dirty="0">
                <a:solidFill>
                  <a:srgbClr val="5A4A3A"/>
                </a:solidFill>
                <a:latin typeface="Cambria" pitchFamily="34" charset="0"/>
                <a:ea typeface="Cambria" pitchFamily="34" charset="-122"/>
                <a:cs typeface="Cambria" pitchFamily="34" charset="-120"/>
              </a:rPr>
              <a:t>"This response is missing ___ because..."</a:t>
            </a:r>
            <a:endParaRPr lang="en-US" sz="1200" dirty="0"/>
          </a:p>
          <a:p>
            <a:pPr indent="0" marL="0">
              <a:spcAft>
                <a:spcPts val="500"/>
              </a:spcAft>
              <a:buNone/>
            </a:pPr>
            <a:r>
              <a:rPr lang="en-US" sz="1200" i="1" dirty="0">
                <a:solidFill>
                  <a:srgbClr val="5A4A3A"/>
                </a:solidFill>
                <a:latin typeface="Cambria" pitchFamily="34" charset="0"/>
                <a:ea typeface="Cambria" pitchFamily="34" charset="-122"/>
                <a:cs typeface="Cambria" pitchFamily="34" charset="-120"/>
              </a:rPr>
              <a:t>"Ms. Avery would send it back because..."</a:t>
            </a:r>
            <a:endParaRPr lang="en-US" sz="12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F0F2F8"/>
          </a:solidFill>
          <a:ln w="12700">
            <a:solidFill>
              <a:srgbClr val="F0F2F8"/>
            </a:solidFill>
            <a:prstDash val="solid"/>
          </a:ln>
        </p:spPr>
      </p:sp>
      <p:sp>
        <p:nvSpPr>
          <p:cNvPr id="3" name="Text 1"/>
          <p:cNvSpPr/>
          <p:nvPr/>
        </p:nvSpPr>
        <p:spPr>
          <a:xfrm>
            <a:off x="365760" y="91440"/>
            <a:ext cx="8412480" cy="274320"/>
          </a:xfrm>
          <a:prstGeom prst="rect">
            <a:avLst/>
          </a:prstGeom>
          <a:noFill/>
          <a:ln/>
        </p:spPr>
        <p:txBody>
          <a:bodyPr wrap="square" rtlCol="0" anchor="ctr"/>
          <a:lstStyle/>
          <a:p>
            <a:pPr indent="0" marL="0">
              <a:buNone/>
            </a:pPr>
            <a:r>
              <a:rPr lang="en-US" sz="1000" b="1" spc="150" kern="0" dirty="0">
                <a:solidFill>
                  <a:srgbClr val="34B76F"/>
                </a:solidFill>
                <a:latin typeface="Calibri" pitchFamily="34" charset="0"/>
                <a:ea typeface="Calibri" pitchFamily="34" charset="-122"/>
                <a:cs typeface="Calibri" pitchFamily="34" charset="-120"/>
              </a:rPr>
              <a:t>REVISE STEP: STRENGTHEN THE CLAIM</a:t>
            </a:r>
            <a:endParaRPr lang="en-US" sz="1000" dirty="0"/>
          </a:p>
        </p:txBody>
      </p:sp>
      <p:sp>
        <p:nvSpPr>
          <p:cNvPr id="4" name="Shape 2"/>
          <p:cNvSpPr/>
          <p:nvPr/>
        </p:nvSpPr>
        <p:spPr>
          <a:xfrm>
            <a:off x="365760" y="393192"/>
            <a:ext cx="8412480" cy="45720"/>
          </a:xfrm>
          <a:prstGeom prst="rect">
            <a:avLst/>
          </a:prstGeom>
          <a:solidFill>
            <a:srgbClr val="D4943A"/>
          </a:solidFill>
          <a:ln w="12700">
            <a:solidFill>
              <a:srgbClr val="D4943A"/>
            </a:solidFill>
            <a:prstDash val="solid"/>
          </a:ln>
        </p:spPr>
      </p:sp>
      <p:sp>
        <p:nvSpPr>
          <p:cNvPr id="5" name="Text 3"/>
          <p:cNvSpPr/>
          <p:nvPr/>
        </p:nvSpPr>
        <p:spPr>
          <a:xfrm>
            <a:off x="365760" y="457200"/>
            <a:ext cx="8412480" cy="274320"/>
          </a:xfrm>
          <a:prstGeom prst="rect">
            <a:avLst/>
          </a:prstGeom>
          <a:noFill/>
          <a:ln/>
        </p:spPr>
        <p:txBody>
          <a:bodyPr wrap="square" rtlCol="0" anchor="ctr"/>
          <a:lstStyle/>
          <a:p>
            <a:pPr indent="0" marL="0">
              <a:buNone/>
            </a:pPr>
            <a:r>
              <a:rPr lang="en-US" sz="1300" i="1" dirty="0">
                <a:solidFill>
                  <a:srgbClr val="0E1C42"/>
                </a:solidFill>
                <a:latin typeface="Calibri" pitchFamily="34" charset="0"/>
                <a:ea typeface="Calibri" pitchFamily="34" charset="-122"/>
                <a:cs typeface="Calibri" pitchFamily="34" charset="-120"/>
              </a:rPr>
              <a:t>Now fix it. Build the complete CER version of that weak response.</a:t>
            </a:r>
            <a:endParaRPr lang="en-US" sz="1300" dirty="0"/>
          </a:p>
        </p:txBody>
      </p:sp>
      <p:sp>
        <p:nvSpPr>
          <p:cNvPr id="6" name="Shape 4"/>
          <p:cNvSpPr/>
          <p:nvPr/>
        </p:nvSpPr>
        <p:spPr>
          <a:xfrm>
            <a:off x="365760" y="804672"/>
            <a:ext cx="8412480" cy="566928"/>
          </a:xfrm>
          <a:prstGeom prst="roundRect">
            <a:avLst>
              <a:gd name="adj" fmla="val 12903"/>
            </a:avLst>
          </a:prstGeom>
          <a:solidFill>
            <a:srgbClr val="FFFFFF"/>
          </a:solidFill>
          <a:ln w="12700">
            <a:solidFill>
              <a:srgbClr val="E8636B"/>
            </a:solidFill>
            <a:prstDash val="solid"/>
          </a:ln>
        </p:spPr>
      </p:sp>
      <p:sp>
        <p:nvSpPr>
          <p:cNvPr id="7" name="Text 5"/>
          <p:cNvSpPr/>
          <p:nvPr/>
        </p:nvSpPr>
        <p:spPr>
          <a:xfrm>
            <a:off x="548640" y="822960"/>
            <a:ext cx="8046720" cy="502920"/>
          </a:xfrm>
          <a:prstGeom prst="rect">
            <a:avLst/>
          </a:prstGeom>
          <a:noFill/>
          <a:ln/>
        </p:spPr>
        <p:txBody>
          <a:bodyPr wrap="square" rtlCol="0" anchor="ctr"/>
          <a:lstStyle/>
          <a:p>
            <a:pPr indent="0" marL="0">
              <a:buNone/>
            </a:pPr>
            <a:r>
              <a:rPr lang="en-US" sz="1100" i="1" dirty="0">
                <a:solidFill>
                  <a:srgbClr val="7A88A8"/>
                </a:solidFill>
                <a:latin typeface="Calibri" pitchFamily="34" charset="0"/>
                <a:ea typeface="Calibri" pitchFamily="34" charset="-122"/>
                <a:cs typeface="Calibri" pitchFamily="34" charset="-120"/>
              </a:rPr>
              <a:t>Original: "Geography is important. The colonists chose their locations. Maps show where they settled..."</a:t>
            </a:r>
            <a:endParaRPr lang="en-US" sz="1100" dirty="0"/>
          </a:p>
        </p:txBody>
      </p:sp>
      <p:sp>
        <p:nvSpPr>
          <p:cNvPr id="8" name="Shape 6"/>
          <p:cNvSpPr/>
          <p:nvPr/>
        </p:nvSpPr>
        <p:spPr>
          <a:xfrm>
            <a:off x="365760" y="1463040"/>
            <a:ext cx="8412480" cy="1572768"/>
          </a:xfrm>
          <a:prstGeom prst="roundRect">
            <a:avLst>
              <a:gd name="adj" fmla="val 6977"/>
            </a:avLst>
          </a:prstGeom>
          <a:solidFill>
            <a:srgbClr val="FFF3DC"/>
          </a:solidFill>
          <a:ln w="19050">
            <a:solidFill>
              <a:srgbClr val="F5E6C8"/>
            </a:solidFill>
            <a:prstDash val="solid"/>
          </a:ln>
        </p:spPr>
      </p:sp>
      <p:sp>
        <p:nvSpPr>
          <p:cNvPr id="9" name="Text 7"/>
          <p:cNvSpPr/>
          <p:nvPr/>
        </p:nvSpPr>
        <p:spPr>
          <a:xfrm>
            <a:off x="502920" y="1517904"/>
            <a:ext cx="8138160" cy="201168"/>
          </a:xfrm>
          <a:prstGeom prst="rect">
            <a:avLst/>
          </a:prstGeom>
          <a:noFill/>
          <a:ln/>
        </p:spPr>
        <p:txBody>
          <a:bodyPr wrap="square" lIns="0" tIns="0" rIns="0" bIns="0" rtlCol="0" anchor="ctr"/>
          <a:lstStyle/>
          <a:p>
            <a:pPr indent="0" marL="0">
              <a:buNone/>
            </a:pPr>
            <a:r>
              <a:rPr lang="en-US" sz="900" b="1" spc="150" kern="0" dirty="0">
                <a:solidFill>
                  <a:srgbClr val="D4943A"/>
                </a:solidFill>
                <a:latin typeface="Calibri" pitchFamily="34" charset="0"/>
                <a:ea typeface="Calibri" pitchFamily="34" charset="-122"/>
                <a:cs typeface="Calibri" pitchFamily="34" charset="-120"/>
              </a:rPr>
              <a:t>CHAT FRAME</a:t>
            </a:r>
            <a:endParaRPr lang="en-US" sz="900" dirty="0"/>
          </a:p>
        </p:txBody>
      </p:sp>
      <p:sp>
        <p:nvSpPr>
          <p:cNvPr id="10" name="Text 8"/>
          <p:cNvSpPr/>
          <p:nvPr/>
        </p:nvSpPr>
        <p:spPr>
          <a:xfrm>
            <a:off x="502920" y="1719072"/>
            <a:ext cx="8138160" cy="1252728"/>
          </a:xfrm>
          <a:prstGeom prst="rect">
            <a:avLst/>
          </a:prstGeom>
          <a:noFill/>
          <a:ln/>
        </p:spPr>
        <p:txBody>
          <a:bodyPr wrap="square" lIns="0" tIns="0" rIns="0" bIns="0" rtlCol="0" anchor="t"/>
          <a:lstStyle/>
          <a:p>
            <a:pPr indent="0" marL="0">
              <a:spcAft>
                <a:spcPts val="500"/>
              </a:spcAft>
              <a:buNone/>
            </a:pPr>
            <a:r>
              <a:rPr lang="en-US" sz="1200" i="1" dirty="0">
                <a:solidFill>
                  <a:srgbClr val="5A4A3A"/>
                </a:solidFill>
                <a:latin typeface="Cambria" pitchFamily="34" charset="0"/>
                <a:ea typeface="Cambria" pitchFamily="34" charset="-122"/>
                <a:cs typeface="Cambria" pitchFamily="34" charset="-120"/>
              </a:rPr>
              <a:t>"My revised claim is: ___ (state your position clearly)"</a:t>
            </a:r>
            <a:endParaRPr lang="en-US" sz="1200" dirty="0"/>
          </a:p>
          <a:p>
            <a:pPr indent="0" marL="0">
              <a:spcAft>
                <a:spcPts val="500"/>
              </a:spcAft>
              <a:buNone/>
            </a:pPr>
            <a:r>
              <a:rPr lang="en-US" sz="1200" i="1" dirty="0">
                <a:solidFill>
                  <a:srgbClr val="5A4A3A"/>
                </a:solidFill>
                <a:latin typeface="Cambria" pitchFamily="34" charset="0"/>
                <a:ea typeface="Cambria" pitchFamily="34" charset="-122"/>
                <a:cs typeface="Cambria" pitchFamily="34" charset="-120"/>
              </a:rPr>
              <a:t>"My evidence is: ___ (cite specific facts or sources)"</a:t>
            </a:r>
            <a:endParaRPr lang="en-US" sz="1200" dirty="0"/>
          </a:p>
          <a:p>
            <a:pPr indent="0" marL="0">
              <a:spcAft>
                <a:spcPts val="500"/>
              </a:spcAft>
              <a:buNone/>
            </a:pPr>
            <a:r>
              <a:rPr lang="en-US" sz="1200" i="1" dirty="0">
                <a:solidFill>
                  <a:srgbClr val="5A4A3A"/>
                </a:solidFill>
                <a:latin typeface="Cambria" pitchFamily="34" charset="0"/>
                <a:ea typeface="Cambria" pitchFamily="34" charset="-122"/>
                <a:cs typeface="Cambria" pitchFamily="34" charset="-120"/>
              </a:rPr>
              <a:t>"That matters because: ___ (reasoning -- why the evidence proves the claim)"</a:t>
            </a:r>
            <a:endParaRPr lang="en-US" sz="1200" dirty="0"/>
          </a:p>
        </p:txBody>
      </p:sp>
      <p:sp>
        <p:nvSpPr>
          <p:cNvPr id="11" name="Shape 9"/>
          <p:cNvSpPr/>
          <p:nvPr/>
        </p:nvSpPr>
        <p:spPr>
          <a:xfrm>
            <a:off x="365760" y="3127248"/>
            <a:ext cx="5120640" cy="1600200"/>
          </a:xfrm>
          <a:prstGeom prst="roundRect">
            <a:avLst>
              <a:gd name="adj" fmla="val 6857"/>
            </a:avLst>
          </a:prstGeom>
          <a:solidFill>
            <a:srgbClr val="1A2D5A"/>
          </a:solidFill>
          <a:ln w="12700">
            <a:solidFill>
              <a:srgbClr val="2A4070"/>
            </a:solidFill>
            <a:prstDash val="solid"/>
          </a:ln>
        </p:spPr>
      </p:sp>
      <p:sp>
        <p:nvSpPr>
          <p:cNvPr id="12" name="Text 10"/>
          <p:cNvSpPr/>
          <p:nvPr/>
        </p:nvSpPr>
        <p:spPr>
          <a:xfrm>
            <a:off x="502920" y="3182112"/>
            <a:ext cx="4846320" cy="201168"/>
          </a:xfrm>
          <a:prstGeom prst="rect">
            <a:avLst/>
          </a:prstGeom>
          <a:noFill/>
          <a:ln/>
        </p:spPr>
        <p:txBody>
          <a:bodyPr wrap="square" lIns="0" tIns="0" rIns="0" bIns="0" rtlCol="0" anchor="ctr"/>
          <a:lstStyle/>
          <a:p>
            <a:pPr indent="0" marL="0">
              <a:buNone/>
            </a:pPr>
            <a:r>
              <a:rPr lang="en-US" sz="900" b="1" spc="150" kern="0" dirty="0">
                <a:solidFill>
                  <a:srgbClr val="55C8E8"/>
                </a:solidFill>
                <a:latin typeface="Calibri" pitchFamily="34" charset="0"/>
                <a:ea typeface="Calibri" pitchFamily="34" charset="-122"/>
                <a:cs typeface="Calibri" pitchFamily="34" charset="-120"/>
              </a:rPr>
              <a:t>SOCRATIC QUESTIONS</a:t>
            </a:r>
            <a:endParaRPr lang="en-US" sz="900" dirty="0"/>
          </a:p>
        </p:txBody>
      </p:sp>
      <p:sp>
        <p:nvSpPr>
          <p:cNvPr id="13" name="Text 11"/>
          <p:cNvSpPr/>
          <p:nvPr/>
        </p:nvSpPr>
        <p:spPr>
          <a:xfrm>
            <a:off x="548640" y="3447288"/>
            <a:ext cx="4754880" cy="1188720"/>
          </a:xfrm>
          <a:prstGeom prst="rect">
            <a:avLst/>
          </a:prstGeom>
          <a:noFill/>
          <a:ln/>
        </p:spPr>
        <p:txBody>
          <a:bodyPr wrap="square" lIns="0" tIns="0" rIns="0" bIns="0" rtlCol="0" anchor="t"/>
          <a:lstStyle/>
          <a:p>
            <a:pPr indent="0" marL="0">
              <a:spcAft>
                <a:spcPts val="400"/>
              </a:spcAft>
              <a:buNone/>
            </a:pPr>
            <a:r>
              <a:rPr lang="en-US" sz="1100" i="1" dirty="0">
                <a:solidFill>
                  <a:srgbClr val="D6F2FB"/>
                </a:solidFill>
                <a:latin typeface="Calibri" pitchFamily="34" charset="0"/>
                <a:ea typeface="Calibri" pitchFamily="34" charset="-122"/>
                <a:cs typeface="Calibri" pitchFamily="34" charset="-120"/>
              </a:rPr>
              <a:t>Does your revised claim actually answer a specific question?</a:t>
            </a:r>
            <a:endParaRPr lang="en-US" sz="1100" dirty="0"/>
          </a:p>
          <a:p>
            <a:pPr indent="0" marL="0">
              <a:spcAft>
                <a:spcPts val="400"/>
              </a:spcAft>
              <a:buNone/>
            </a:pPr>
            <a:r>
              <a:rPr lang="en-US" sz="1100" i="1" dirty="0">
                <a:solidFill>
                  <a:srgbClr val="D6F2FB"/>
                </a:solidFill>
                <a:latin typeface="Calibri" pitchFamily="34" charset="0"/>
                <a:ea typeface="Calibri" pitchFamily="34" charset="-122"/>
                <a:cs typeface="Calibri" pitchFamily="34" charset="-120"/>
              </a:rPr>
              <a:t>Is your evidence specific enough that someone could look it up?</a:t>
            </a:r>
            <a:endParaRPr lang="en-US" sz="1100" dirty="0"/>
          </a:p>
          <a:p>
            <a:pPr indent="0" marL="0">
              <a:spcAft>
                <a:spcPts val="400"/>
              </a:spcAft>
              <a:buNone/>
            </a:pPr>
            <a:r>
              <a:rPr lang="en-US" sz="1100" i="1" dirty="0">
                <a:solidFill>
                  <a:srgbClr val="D6F2FB"/>
                </a:solidFill>
                <a:latin typeface="Calibri" pitchFamily="34" charset="0"/>
                <a:ea typeface="Calibri" pitchFamily="34" charset="-122"/>
                <a:cs typeface="Calibri" pitchFamily="34" charset="-120"/>
              </a:rPr>
              <a:t>Read your reasoning aloud -- does it connect back to the claim?</a:t>
            </a:r>
            <a:endParaRPr lang="en-US" sz="1100" dirty="0"/>
          </a:p>
          <a:p>
            <a:pPr indent="0" marL="0">
              <a:spcAft>
                <a:spcPts val="400"/>
              </a:spcAft>
              <a:buNone/>
            </a:pPr>
            <a:r>
              <a:rPr lang="en-US" sz="1100" i="1" dirty="0">
                <a:solidFill>
                  <a:srgbClr val="D6F2FB"/>
                </a:solidFill>
                <a:latin typeface="Calibri" pitchFamily="34" charset="0"/>
                <a:ea typeface="Calibri" pitchFamily="34" charset="-122"/>
                <a:cs typeface="Calibri" pitchFamily="34" charset="-120"/>
              </a:rPr>
              <a:t>Would Ms. Avery approve this version for print?</a:t>
            </a:r>
            <a:endParaRPr lang="en-US" sz="1100" dirty="0"/>
          </a:p>
        </p:txBody>
      </p:sp>
      <p:sp>
        <p:nvSpPr>
          <p:cNvPr id="14" name="Shape 12"/>
          <p:cNvSpPr/>
          <p:nvPr/>
        </p:nvSpPr>
        <p:spPr>
          <a:xfrm>
            <a:off x="5760720" y="3127248"/>
            <a:ext cx="2926080" cy="1572768"/>
          </a:xfrm>
          <a:prstGeom prst="roundRect">
            <a:avLst>
              <a:gd name="adj" fmla="val 17442"/>
            </a:avLst>
          </a:prstGeom>
          <a:solidFill>
            <a:srgbClr val="E8F8EF"/>
          </a:solidFill>
          <a:ln w="31750">
            <a:solidFill>
              <a:srgbClr val="34B76F"/>
            </a:solidFill>
            <a:prstDash val="solid"/>
          </a:ln>
        </p:spPr>
      </p:sp>
      <p:sp>
        <p:nvSpPr>
          <p:cNvPr id="15" name="Text 13"/>
          <p:cNvSpPr/>
          <p:nvPr/>
        </p:nvSpPr>
        <p:spPr>
          <a:xfrm>
            <a:off x="5760720" y="3291840"/>
            <a:ext cx="2926080" cy="365760"/>
          </a:xfrm>
          <a:prstGeom prst="rect">
            <a:avLst/>
          </a:prstGeom>
          <a:noFill/>
          <a:ln/>
        </p:spPr>
        <p:txBody>
          <a:bodyPr wrap="square" rtlCol="0" anchor="ctr"/>
          <a:lstStyle/>
          <a:p>
            <a:pPr algn="ctr" indent="0" marL="0">
              <a:buNone/>
            </a:pPr>
            <a:r>
              <a:rPr lang="en-US" sz="1400" b="1" spc="200" kern="0" dirty="0">
                <a:solidFill>
                  <a:srgbClr val="34B76F"/>
                </a:solidFill>
                <a:latin typeface="Calibri" pitchFamily="34" charset="0"/>
                <a:ea typeface="Calibri" pitchFamily="34" charset="-122"/>
                <a:cs typeface="Calibri" pitchFamily="34" charset="-120"/>
              </a:rPr>
              <a:t>GAZETTE APPROVED</a:t>
            </a:r>
            <a:endParaRPr lang="en-US" sz="1400" dirty="0"/>
          </a:p>
        </p:txBody>
      </p:sp>
      <p:sp>
        <p:nvSpPr>
          <p:cNvPr id="16" name="Text 14"/>
          <p:cNvSpPr/>
          <p:nvPr/>
        </p:nvSpPr>
        <p:spPr>
          <a:xfrm>
            <a:off x="5760720" y="3703320"/>
            <a:ext cx="2926080" cy="868680"/>
          </a:xfrm>
          <a:prstGeom prst="rect">
            <a:avLst/>
          </a:prstGeom>
          <a:noFill/>
          <a:ln/>
        </p:spPr>
        <p:txBody>
          <a:bodyPr wrap="square" rtlCol="0" anchor="ctr"/>
          <a:lstStyle/>
          <a:p>
            <a:pPr algn="ctr" indent="0" marL="0">
              <a:buNone/>
            </a:pPr>
            <a:r>
              <a:rPr lang="en-US" sz="1100" i="1" dirty="0">
                <a:solidFill>
                  <a:srgbClr val="34B76F"/>
                </a:solidFill>
                <a:latin typeface="Calibri" pitchFamily="34" charset="0"/>
                <a:ea typeface="Calibri" pitchFamily="34" charset="-122"/>
                <a:cs typeface="Calibri" pitchFamily="34" charset="-120"/>
              </a:rPr>
              <a:t>Claim + Evidence + Reasoning</a:t>
            </a:r>
            <a:endParaRPr lang="en-US" sz="1100" dirty="0"/>
          </a:p>
          <a:p>
            <a:pPr algn="ctr" indent="0" marL="0">
              <a:buNone/>
            </a:pPr>
            <a:r>
              <a:rPr lang="en-US" sz="1100" i="1" dirty="0">
                <a:solidFill>
                  <a:srgbClr val="34B76F"/>
                </a:solidFill>
                <a:latin typeface="Calibri" pitchFamily="34" charset="0"/>
                <a:ea typeface="Calibri" pitchFamily="34" charset="-122"/>
                <a:cs typeface="Calibri" pitchFamily="34" charset="-120"/>
              </a:rPr>
              <a:t>All present. Ready to print.</a:t>
            </a:r>
            <a:endParaRPr lang="en-US" sz="11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F0F2F8"/>
          </a:solidFill>
          <a:ln w="12700">
            <a:solidFill>
              <a:srgbClr val="F0F2F8"/>
            </a:solidFill>
            <a:prstDash val="solid"/>
          </a:ln>
        </p:spPr>
      </p:sp>
      <p:sp>
        <p:nvSpPr>
          <p:cNvPr id="3" name="Text 1"/>
          <p:cNvSpPr/>
          <p:nvPr/>
        </p:nvSpPr>
        <p:spPr>
          <a:xfrm>
            <a:off x="365760" y="91440"/>
            <a:ext cx="8412480" cy="274320"/>
          </a:xfrm>
          <a:prstGeom prst="rect">
            <a:avLst/>
          </a:prstGeom>
          <a:noFill/>
          <a:ln/>
        </p:spPr>
        <p:txBody>
          <a:bodyPr wrap="square" rtlCol="0" anchor="ctr"/>
          <a:lstStyle/>
          <a:p>
            <a:pPr indent="0" marL="0">
              <a:buNone/>
            </a:pPr>
            <a:r>
              <a:rPr lang="en-US" sz="1000" b="1" spc="150" kern="0" dirty="0">
                <a:solidFill>
                  <a:srgbClr val="8B6FC0"/>
                </a:solidFill>
                <a:latin typeface="Calibri" pitchFamily="34" charset="0"/>
                <a:ea typeface="Calibri" pitchFamily="34" charset="-122"/>
                <a:cs typeface="Calibri" pitchFamily="34" charset="-120"/>
              </a:rPr>
              <a:t>THE TRICKY ONE: EDITOR'S DEBATE</a:t>
            </a:r>
            <a:endParaRPr lang="en-US" sz="1000" dirty="0"/>
          </a:p>
        </p:txBody>
      </p:sp>
      <p:sp>
        <p:nvSpPr>
          <p:cNvPr id="4" name="Shape 2"/>
          <p:cNvSpPr/>
          <p:nvPr/>
        </p:nvSpPr>
        <p:spPr>
          <a:xfrm>
            <a:off x="365760" y="393192"/>
            <a:ext cx="8412480" cy="45720"/>
          </a:xfrm>
          <a:prstGeom prst="rect">
            <a:avLst/>
          </a:prstGeom>
          <a:solidFill>
            <a:srgbClr val="D4943A"/>
          </a:solidFill>
          <a:ln w="12700">
            <a:solidFill>
              <a:srgbClr val="D4943A"/>
            </a:solidFill>
            <a:prstDash val="solid"/>
          </a:ln>
        </p:spPr>
      </p:sp>
      <p:sp>
        <p:nvSpPr>
          <p:cNvPr id="5" name="Shape 3"/>
          <p:cNvSpPr/>
          <p:nvPr/>
        </p:nvSpPr>
        <p:spPr>
          <a:xfrm>
            <a:off x="365760" y="502920"/>
            <a:ext cx="8412480" cy="1024128"/>
          </a:xfrm>
          <a:prstGeom prst="roundRect">
            <a:avLst>
              <a:gd name="adj" fmla="val 8929"/>
            </a:avLst>
          </a:prstGeom>
          <a:solidFill>
            <a:srgbClr val="FFFFFF"/>
          </a:solidFill>
          <a:ln w="25400">
            <a:solidFill>
              <a:srgbClr val="8B6FC0"/>
            </a:solidFill>
            <a:prstDash val="solid"/>
          </a:ln>
        </p:spPr>
      </p:sp>
      <p:sp>
        <p:nvSpPr>
          <p:cNvPr id="6" name="Text 4"/>
          <p:cNvSpPr/>
          <p:nvPr/>
        </p:nvSpPr>
        <p:spPr>
          <a:xfrm>
            <a:off x="548640" y="566928"/>
            <a:ext cx="2743200" cy="228600"/>
          </a:xfrm>
          <a:prstGeom prst="rect">
            <a:avLst/>
          </a:prstGeom>
          <a:noFill/>
          <a:ln/>
        </p:spPr>
        <p:txBody>
          <a:bodyPr wrap="square" rtlCol="0" anchor="ctr"/>
          <a:lstStyle/>
          <a:p>
            <a:pPr indent="0" marL="0">
              <a:buNone/>
            </a:pPr>
            <a:r>
              <a:rPr lang="en-US" sz="900" b="1" spc="150" kern="0" dirty="0">
                <a:solidFill>
                  <a:srgbClr val="8B6FC0"/>
                </a:solidFill>
                <a:latin typeface="Calibri" pitchFamily="34" charset="0"/>
                <a:ea typeface="Calibri" pitchFamily="34" charset="-122"/>
                <a:cs typeface="Calibri" pitchFamily="34" charset="-120"/>
              </a:rPr>
              <a:t>The Scenario:</a:t>
            </a:r>
            <a:endParaRPr lang="en-US" sz="900" dirty="0"/>
          </a:p>
        </p:txBody>
      </p:sp>
      <p:sp>
        <p:nvSpPr>
          <p:cNvPr id="7" name="Text 5"/>
          <p:cNvSpPr/>
          <p:nvPr/>
        </p:nvSpPr>
        <p:spPr>
          <a:xfrm>
            <a:off x="548640" y="804672"/>
            <a:ext cx="8046720" cy="658368"/>
          </a:xfrm>
          <a:prstGeom prst="rect">
            <a:avLst/>
          </a:prstGeom>
          <a:noFill/>
          <a:ln/>
        </p:spPr>
        <p:txBody>
          <a:bodyPr wrap="square" rtlCol="0" anchor="t"/>
          <a:lstStyle/>
          <a:p>
            <a:pPr indent="0" marL="0">
              <a:buNone/>
            </a:pPr>
            <a:r>
              <a:rPr lang="en-US" sz="1400" i="1" dirty="0">
                <a:solidFill>
                  <a:srgbClr val="0E1C42"/>
                </a:solidFill>
                <a:latin typeface="Cambria" pitchFamily="34" charset="0"/>
                <a:ea typeface="Cambria" pitchFamily="34" charset="-122"/>
                <a:cs typeface="Cambria" pitchFamily="34" charset="-120"/>
              </a:rPr>
              <a:t>An editor is confident AND has evidence. Does that mean their reasoning is automatically good? Could someone read the same evidence and reach a completely different conclusion?</a:t>
            </a:r>
            <a:endParaRPr lang="en-US" sz="1400" dirty="0"/>
          </a:p>
        </p:txBody>
      </p:sp>
      <p:sp>
        <p:nvSpPr>
          <p:cNvPr id="8" name="Shape 6"/>
          <p:cNvSpPr/>
          <p:nvPr/>
        </p:nvSpPr>
        <p:spPr>
          <a:xfrm>
            <a:off x="365760" y="1618488"/>
            <a:ext cx="3931920" cy="1938528"/>
          </a:xfrm>
          <a:prstGeom prst="roundRect">
            <a:avLst>
              <a:gd name="adj" fmla="val 4717"/>
            </a:avLst>
          </a:prstGeom>
          <a:solidFill>
            <a:srgbClr val="EAF7FB"/>
          </a:solidFill>
          <a:ln w="19050">
            <a:solidFill>
              <a:srgbClr val="55C8E8"/>
            </a:solidFill>
            <a:prstDash val="solid"/>
          </a:ln>
        </p:spPr>
      </p:sp>
      <p:sp>
        <p:nvSpPr>
          <p:cNvPr id="9" name="Text 7"/>
          <p:cNvSpPr/>
          <p:nvPr/>
        </p:nvSpPr>
        <p:spPr>
          <a:xfrm>
            <a:off x="502920" y="1682496"/>
            <a:ext cx="3657600" cy="256032"/>
          </a:xfrm>
          <a:prstGeom prst="rect">
            <a:avLst/>
          </a:prstGeom>
          <a:noFill/>
          <a:ln/>
        </p:spPr>
        <p:txBody>
          <a:bodyPr wrap="square" rtlCol="0" anchor="ctr"/>
          <a:lstStyle/>
          <a:p>
            <a:pPr indent="0" marL="0">
              <a:buNone/>
            </a:pPr>
            <a:r>
              <a:rPr lang="en-US" sz="1000" b="1" spc="100" kern="0" dirty="0">
                <a:solidFill>
                  <a:srgbClr val="55C8E8"/>
                </a:solidFill>
                <a:latin typeface="Calibri" pitchFamily="34" charset="0"/>
                <a:ea typeface="Calibri" pitchFamily="34" charset="-122"/>
                <a:cs typeface="Calibri" pitchFamily="34" charset="-120"/>
              </a:rPr>
              <a:t>SIDE A: YES, reasoning follows</a:t>
            </a:r>
            <a:endParaRPr lang="en-US" sz="1000" dirty="0"/>
          </a:p>
        </p:txBody>
      </p:sp>
      <p:sp>
        <p:nvSpPr>
          <p:cNvPr id="10" name="Text 8"/>
          <p:cNvSpPr/>
          <p:nvPr/>
        </p:nvSpPr>
        <p:spPr>
          <a:xfrm>
            <a:off x="502920" y="1984248"/>
            <a:ext cx="3657600" cy="1417320"/>
          </a:xfrm>
          <a:prstGeom prst="rect">
            <a:avLst/>
          </a:prstGeom>
          <a:noFill/>
          <a:ln/>
        </p:spPr>
        <p:txBody>
          <a:bodyPr wrap="square" rtlCol="0" anchor="t"/>
          <a:lstStyle/>
          <a:p>
            <a:pPr indent="0" marL="0">
              <a:buNone/>
            </a:pPr>
            <a:r>
              <a:rPr lang="en-US" sz="1200" dirty="0">
                <a:solidFill>
                  <a:srgbClr val="0E1C42"/>
                </a:solidFill>
                <a:latin typeface="Calibri" pitchFamily="34" charset="0"/>
                <a:ea typeface="Calibri" pitchFamily="34" charset="-122"/>
                <a:cs typeface="Calibri" pitchFamily="34" charset="-120"/>
              </a:rPr>
              <a:t>If the evidence is strong and your claim is valid, most readers will follow the same logic. Good evidence makes reasoning obvious.</a:t>
            </a:r>
            <a:endParaRPr lang="en-US" sz="1200" dirty="0"/>
          </a:p>
        </p:txBody>
      </p:sp>
      <p:sp>
        <p:nvSpPr>
          <p:cNvPr id="11" name="Shape 9"/>
          <p:cNvSpPr/>
          <p:nvPr/>
        </p:nvSpPr>
        <p:spPr>
          <a:xfrm>
            <a:off x="4754880" y="1618488"/>
            <a:ext cx="4023360" cy="1938528"/>
          </a:xfrm>
          <a:prstGeom prst="roundRect">
            <a:avLst>
              <a:gd name="adj" fmla="val 4717"/>
            </a:avLst>
          </a:prstGeom>
          <a:solidFill>
            <a:srgbClr val="FFF3DC"/>
          </a:solidFill>
          <a:ln w="19050">
            <a:solidFill>
              <a:srgbClr val="D4943A"/>
            </a:solidFill>
            <a:prstDash val="solid"/>
          </a:ln>
        </p:spPr>
      </p:sp>
      <p:sp>
        <p:nvSpPr>
          <p:cNvPr id="12" name="Text 10"/>
          <p:cNvSpPr/>
          <p:nvPr/>
        </p:nvSpPr>
        <p:spPr>
          <a:xfrm>
            <a:off x="4892040" y="1682496"/>
            <a:ext cx="3749040" cy="256032"/>
          </a:xfrm>
          <a:prstGeom prst="rect">
            <a:avLst/>
          </a:prstGeom>
          <a:noFill/>
          <a:ln/>
        </p:spPr>
        <p:txBody>
          <a:bodyPr wrap="square" rtlCol="0" anchor="ctr"/>
          <a:lstStyle/>
          <a:p>
            <a:pPr indent="0" marL="0">
              <a:buNone/>
            </a:pPr>
            <a:r>
              <a:rPr lang="en-US" sz="1000" b="1" spc="100" kern="0" dirty="0">
                <a:solidFill>
                  <a:srgbClr val="D4943A"/>
                </a:solidFill>
                <a:latin typeface="Calibri" pitchFamily="34" charset="0"/>
                <a:ea typeface="Calibri" pitchFamily="34" charset="-122"/>
                <a:cs typeface="Calibri" pitchFamily="34" charset="-120"/>
              </a:rPr>
              <a:t>SIDE B: NO, reasoning is a choice</a:t>
            </a:r>
            <a:endParaRPr lang="en-US" sz="1000" dirty="0"/>
          </a:p>
        </p:txBody>
      </p:sp>
      <p:sp>
        <p:nvSpPr>
          <p:cNvPr id="13" name="Text 11"/>
          <p:cNvSpPr/>
          <p:nvPr/>
        </p:nvSpPr>
        <p:spPr>
          <a:xfrm>
            <a:off x="4892040" y="1984248"/>
            <a:ext cx="3749040" cy="1417320"/>
          </a:xfrm>
          <a:prstGeom prst="rect">
            <a:avLst/>
          </a:prstGeom>
          <a:noFill/>
          <a:ln/>
        </p:spPr>
        <p:txBody>
          <a:bodyPr wrap="square" rtlCol="0" anchor="t"/>
          <a:lstStyle/>
          <a:p>
            <a:pPr indent="0" marL="0">
              <a:buNone/>
            </a:pPr>
            <a:r>
              <a:rPr lang="en-US" sz="1200" dirty="0">
                <a:solidFill>
                  <a:srgbClr val="0E1C42"/>
                </a:solidFill>
                <a:latin typeface="Calibri" pitchFamily="34" charset="0"/>
                <a:ea typeface="Calibri" pitchFamily="34" charset="-122"/>
                <a:cs typeface="Calibri" pitchFamily="34" charset="-120"/>
              </a:rPr>
              <a:t>Two editors can look at the same evidence and draw different conclusions depending on what they believe is most important. Reasoning requires judgment.</a:t>
            </a:r>
            <a:endParaRPr lang="en-US" sz="1200" dirty="0"/>
          </a:p>
        </p:txBody>
      </p:sp>
      <p:sp>
        <p:nvSpPr>
          <p:cNvPr id="14" name="Shape 12"/>
          <p:cNvSpPr/>
          <p:nvPr/>
        </p:nvSpPr>
        <p:spPr>
          <a:xfrm>
            <a:off x="365760" y="3648456"/>
            <a:ext cx="5120640" cy="1097280"/>
          </a:xfrm>
          <a:prstGeom prst="roundRect">
            <a:avLst>
              <a:gd name="adj" fmla="val 10000"/>
            </a:avLst>
          </a:prstGeom>
          <a:solidFill>
            <a:srgbClr val="1A2D5A"/>
          </a:solidFill>
          <a:ln w="12700">
            <a:solidFill>
              <a:srgbClr val="2A4070"/>
            </a:solidFill>
            <a:prstDash val="solid"/>
          </a:ln>
        </p:spPr>
      </p:sp>
      <p:sp>
        <p:nvSpPr>
          <p:cNvPr id="15" name="Text 13"/>
          <p:cNvSpPr/>
          <p:nvPr/>
        </p:nvSpPr>
        <p:spPr>
          <a:xfrm>
            <a:off x="502920" y="3703320"/>
            <a:ext cx="4846320" cy="201168"/>
          </a:xfrm>
          <a:prstGeom prst="rect">
            <a:avLst/>
          </a:prstGeom>
          <a:noFill/>
          <a:ln/>
        </p:spPr>
        <p:txBody>
          <a:bodyPr wrap="square" lIns="0" tIns="0" rIns="0" bIns="0" rtlCol="0" anchor="ctr"/>
          <a:lstStyle/>
          <a:p>
            <a:pPr indent="0" marL="0">
              <a:buNone/>
            </a:pPr>
            <a:r>
              <a:rPr lang="en-US" sz="900" b="1" spc="150" kern="0" dirty="0">
                <a:solidFill>
                  <a:srgbClr val="55C8E8"/>
                </a:solidFill>
                <a:latin typeface="Calibri" pitchFamily="34" charset="0"/>
                <a:ea typeface="Calibri" pitchFamily="34" charset="-122"/>
                <a:cs typeface="Calibri" pitchFamily="34" charset="-120"/>
              </a:rPr>
              <a:t>SOCRATIC QUESTIONS</a:t>
            </a:r>
            <a:endParaRPr lang="en-US" sz="900" dirty="0"/>
          </a:p>
        </p:txBody>
      </p:sp>
      <p:sp>
        <p:nvSpPr>
          <p:cNvPr id="16" name="Text 14"/>
          <p:cNvSpPr/>
          <p:nvPr/>
        </p:nvSpPr>
        <p:spPr>
          <a:xfrm>
            <a:off x="548640" y="3968496"/>
            <a:ext cx="4754880" cy="685800"/>
          </a:xfrm>
          <a:prstGeom prst="rect">
            <a:avLst/>
          </a:prstGeom>
          <a:noFill/>
          <a:ln/>
        </p:spPr>
        <p:txBody>
          <a:bodyPr wrap="square" lIns="0" tIns="0" rIns="0" bIns="0" rtlCol="0" anchor="t"/>
          <a:lstStyle/>
          <a:p>
            <a:pPr indent="0" marL="0">
              <a:spcAft>
                <a:spcPts val="400"/>
              </a:spcAft>
              <a:buNone/>
            </a:pPr>
            <a:r>
              <a:rPr lang="en-US" sz="1100" i="1" dirty="0">
                <a:solidFill>
                  <a:srgbClr val="D6F2FB"/>
                </a:solidFill>
                <a:latin typeface="Calibri" pitchFamily="34" charset="0"/>
                <a:ea typeface="Calibri" pitchFamily="34" charset="-122"/>
                <a:cs typeface="Calibri" pitchFamily="34" charset="-120"/>
              </a:rPr>
              <a:t>Which side do you agree with more? Can you defend it?</a:t>
            </a:r>
            <a:endParaRPr lang="en-US" sz="1100" dirty="0"/>
          </a:p>
          <a:p>
            <a:pPr indent="0" marL="0">
              <a:spcAft>
                <a:spcPts val="400"/>
              </a:spcAft>
              <a:buNone/>
            </a:pPr>
            <a:r>
              <a:rPr lang="en-US" sz="1100" i="1" dirty="0">
                <a:solidFill>
                  <a:srgbClr val="D6F2FB"/>
                </a:solidFill>
                <a:latin typeface="Calibri" pitchFamily="34" charset="0"/>
                <a:ea typeface="Calibri" pitchFamily="34" charset="-122"/>
                <a:cs typeface="Calibri" pitchFamily="34" charset="-120"/>
              </a:rPr>
              <a:t>What would change your mind?</a:t>
            </a:r>
            <a:endParaRPr lang="en-US" sz="1100" dirty="0"/>
          </a:p>
          <a:p>
            <a:pPr indent="0" marL="0">
              <a:spcAft>
                <a:spcPts val="400"/>
              </a:spcAft>
              <a:buNone/>
            </a:pPr>
            <a:r>
              <a:rPr lang="en-US" sz="1100" i="1" dirty="0">
                <a:solidFill>
                  <a:srgbClr val="D6F2FB"/>
                </a:solidFill>
                <a:latin typeface="Calibri" pitchFamily="34" charset="0"/>
                <a:ea typeface="Calibri" pitchFamily="34" charset="-122"/>
                <a:cs typeface="Calibri" pitchFamily="34" charset="-120"/>
              </a:rPr>
              <a:t>Does this mean CER can still lead to different answers?</a:t>
            </a:r>
            <a:endParaRPr lang="en-US" sz="1100" dirty="0"/>
          </a:p>
        </p:txBody>
      </p:sp>
      <p:sp>
        <p:nvSpPr>
          <p:cNvPr id="17" name="Shape 15"/>
          <p:cNvSpPr/>
          <p:nvPr/>
        </p:nvSpPr>
        <p:spPr>
          <a:xfrm>
            <a:off x="5669280" y="3648456"/>
            <a:ext cx="3108960" cy="1097280"/>
          </a:xfrm>
          <a:prstGeom prst="roundRect">
            <a:avLst>
              <a:gd name="adj" fmla="val 10000"/>
            </a:avLst>
          </a:prstGeom>
          <a:solidFill>
            <a:srgbClr val="FFF3DC"/>
          </a:solidFill>
          <a:ln w="19050">
            <a:solidFill>
              <a:srgbClr val="F5E6C8"/>
            </a:solidFill>
            <a:prstDash val="solid"/>
          </a:ln>
        </p:spPr>
      </p:sp>
      <p:sp>
        <p:nvSpPr>
          <p:cNvPr id="18" name="Text 16"/>
          <p:cNvSpPr/>
          <p:nvPr/>
        </p:nvSpPr>
        <p:spPr>
          <a:xfrm>
            <a:off x="5806440" y="3703320"/>
            <a:ext cx="2834640" cy="201168"/>
          </a:xfrm>
          <a:prstGeom prst="rect">
            <a:avLst/>
          </a:prstGeom>
          <a:noFill/>
          <a:ln/>
        </p:spPr>
        <p:txBody>
          <a:bodyPr wrap="square" lIns="0" tIns="0" rIns="0" bIns="0" rtlCol="0" anchor="ctr"/>
          <a:lstStyle/>
          <a:p>
            <a:pPr indent="0" marL="0">
              <a:buNone/>
            </a:pPr>
            <a:r>
              <a:rPr lang="en-US" sz="900" b="1" spc="150" kern="0" dirty="0">
                <a:solidFill>
                  <a:srgbClr val="D4943A"/>
                </a:solidFill>
                <a:latin typeface="Calibri" pitchFamily="34" charset="0"/>
                <a:ea typeface="Calibri" pitchFamily="34" charset="-122"/>
                <a:cs typeface="Calibri" pitchFamily="34" charset="-120"/>
              </a:rPr>
              <a:t>CHAT FRAME</a:t>
            </a:r>
            <a:endParaRPr lang="en-US" sz="900" dirty="0"/>
          </a:p>
        </p:txBody>
      </p:sp>
      <p:sp>
        <p:nvSpPr>
          <p:cNvPr id="19" name="Text 17"/>
          <p:cNvSpPr/>
          <p:nvPr/>
        </p:nvSpPr>
        <p:spPr>
          <a:xfrm>
            <a:off x="5806440" y="3904488"/>
            <a:ext cx="2834640" cy="777240"/>
          </a:xfrm>
          <a:prstGeom prst="rect">
            <a:avLst/>
          </a:prstGeom>
          <a:noFill/>
          <a:ln/>
        </p:spPr>
        <p:txBody>
          <a:bodyPr wrap="square" lIns="0" tIns="0" rIns="0" bIns="0" rtlCol="0" anchor="t"/>
          <a:lstStyle/>
          <a:p>
            <a:pPr indent="0" marL="0">
              <a:spcAft>
                <a:spcPts val="500"/>
              </a:spcAft>
              <a:buNone/>
            </a:pPr>
            <a:r>
              <a:rPr lang="en-US" sz="1200" i="1" dirty="0">
                <a:solidFill>
                  <a:srgbClr val="5A4A3A"/>
                </a:solidFill>
                <a:latin typeface="Cambria" pitchFamily="34" charset="0"/>
                <a:ea typeface="Cambria" pitchFamily="34" charset="-122"/>
                <a:cs typeface="Cambria" pitchFamily="34" charset="-120"/>
              </a:rPr>
              <a:t>"I think reasoning is ___ because evidence alone can't..."</a:t>
            </a:r>
            <a:endParaRPr lang="en-US" sz="12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F0F2F8"/>
          </a:solidFill>
          <a:ln w="12700">
            <a:solidFill>
              <a:srgbClr val="F0F2F8"/>
            </a:solidFill>
            <a:prstDash val="solid"/>
          </a:ln>
        </p:spPr>
      </p:sp>
      <p:sp>
        <p:nvSpPr>
          <p:cNvPr id="3" name="Text 1"/>
          <p:cNvSpPr/>
          <p:nvPr/>
        </p:nvSpPr>
        <p:spPr>
          <a:xfrm>
            <a:off x="365760" y="91440"/>
            <a:ext cx="8412480" cy="274320"/>
          </a:xfrm>
          <a:prstGeom prst="rect">
            <a:avLst/>
          </a:prstGeom>
          <a:noFill/>
          <a:ln/>
        </p:spPr>
        <p:txBody>
          <a:bodyPr wrap="square" rtlCol="0" anchor="ctr"/>
          <a:lstStyle/>
          <a:p>
            <a:pPr indent="0" marL="0">
              <a:buNone/>
            </a:pPr>
            <a:r>
              <a:rPr lang="en-US" sz="1000" b="1" spc="150" kern="0" dirty="0">
                <a:solidFill>
                  <a:srgbClr val="0E1C42"/>
                </a:solidFill>
                <a:latin typeface="Calibri" pitchFamily="34" charset="0"/>
                <a:ea typeface="Calibri" pitchFamily="34" charset="-122"/>
                <a:cs typeface="Calibri" pitchFamily="34" charset="-120"/>
              </a:rPr>
              <a:t>SELF-CHECK: REPUBLIC GAZETTE PROOF COPY</a:t>
            </a:r>
            <a:endParaRPr lang="en-US" sz="1000" dirty="0"/>
          </a:p>
        </p:txBody>
      </p:sp>
      <p:sp>
        <p:nvSpPr>
          <p:cNvPr id="4" name="Shape 2"/>
          <p:cNvSpPr/>
          <p:nvPr/>
        </p:nvSpPr>
        <p:spPr>
          <a:xfrm>
            <a:off x="365760" y="393192"/>
            <a:ext cx="8412480" cy="45720"/>
          </a:xfrm>
          <a:prstGeom prst="rect">
            <a:avLst/>
          </a:prstGeom>
          <a:solidFill>
            <a:srgbClr val="D4943A"/>
          </a:solidFill>
          <a:ln w="12700">
            <a:solidFill>
              <a:srgbClr val="D4943A"/>
            </a:solidFill>
            <a:prstDash val="solid"/>
          </a:ln>
        </p:spPr>
      </p:sp>
      <p:sp>
        <p:nvSpPr>
          <p:cNvPr id="5" name="Text 3"/>
          <p:cNvSpPr/>
          <p:nvPr/>
        </p:nvSpPr>
        <p:spPr>
          <a:xfrm>
            <a:off x="365760" y="457200"/>
            <a:ext cx="8412480" cy="274320"/>
          </a:xfrm>
          <a:prstGeom prst="rect">
            <a:avLst/>
          </a:prstGeom>
          <a:noFill/>
          <a:ln/>
        </p:spPr>
        <p:txBody>
          <a:bodyPr wrap="square" rtlCol="0" anchor="ctr"/>
          <a:lstStyle/>
          <a:p>
            <a:pPr indent="0" marL="0">
              <a:buNone/>
            </a:pPr>
            <a:r>
              <a:rPr lang="en-US" sz="1300" i="1" dirty="0">
                <a:solidFill>
                  <a:srgbClr val="7A88A8"/>
                </a:solidFill>
                <a:latin typeface="Calibri" pitchFamily="34" charset="0"/>
                <a:ea typeface="Calibri" pitchFamily="34" charset="-122"/>
                <a:cs typeface="Calibri" pitchFamily="34" charset="-120"/>
              </a:rPr>
              <a:t>Cover your notes. Answer from memory.</a:t>
            </a:r>
            <a:endParaRPr lang="en-US" sz="1300" dirty="0"/>
          </a:p>
        </p:txBody>
      </p:sp>
      <p:sp>
        <p:nvSpPr>
          <p:cNvPr id="6" name="Shape 4"/>
          <p:cNvSpPr/>
          <p:nvPr/>
        </p:nvSpPr>
        <p:spPr>
          <a:xfrm>
            <a:off x="365760" y="804672"/>
            <a:ext cx="8412480" cy="1170432"/>
          </a:xfrm>
          <a:prstGeom prst="roundRect">
            <a:avLst>
              <a:gd name="adj" fmla="val 7813"/>
            </a:avLst>
          </a:prstGeom>
          <a:solidFill>
            <a:srgbClr val="FFFFFF"/>
          </a:solidFill>
          <a:ln w="19050">
            <a:solidFill>
              <a:srgbClr val="D4943A"/>
            </a:solidFill>
            <a:prstDash val="solid"/>
          </a:ln>
        </p:spPr>
      </p:sp>
      <p:sp>
        <p:nvSpPr>
          <p:cNvPr id="7" name="Text 5"/>
          <p:cNvSpPr/>
          <p:nvPr/>
        </p:nvSpPr>
        <p:spPr>
          <a:xfrm>
            <a:off x="548640" y="868680"/>
            <a:ext cx="8046720" cy="320040"/>
          </a:xfrm>
          <a:prstGeom prst="rect">
            <a:avLst/>
          </a:prstGeom>
          <a:noFill/>
          <a:ln/>
        </p:spPr>
        <p:txBody>
          <a:bodyPr wrap="square" rtlCol="0" anchor="ctr"/>
          <a:lstStyle/>
          <a:p>
            <a:pPr indent="0" marL="0">
              <a:buNone/>
            </a:pPr>
            <a:r>
              <a:rPr lang="en-US" sz="1300" b="1" dirty="0">
                <a:solidFill>
                  <a:srgbClr val="0E1C42"/>
                </a:solidFill>
                <a:latin typeface="Calibri" pitchFamily="34" charset="0"/>
                <a:ea typeface="Calibri" pitchFamily="34" charset="-122"/>
                <a:cs typeface="Calibri" pitchFamily="34" charset="-120"/>
              </a:rPr>
              <a:t>1.  What are the three parts of CER?</a:t>
            </a:r>
            <a:endParaRPr lang="en-US" sz="1300" dirty="0"/>
          </a:p>
        </p:txBody>
      </p:sp>
      <p:sp>
        <p:nvSpPr>
          <p:cNvPr id="8" name="Shape 6"/>
          <p:cNvSpPr/>
          <p:nvPr/>
        </p:nvSpPr>
        <p:spPr>
          <a:xfrm>
            <a:off x="548640" y="1234440"/>
            <a:ext cx="7863840" cy="621792"/>
          </a:xfrm>
          <a:prstGeom prst="roundRect">
            <a:avLst>
              <a:gd name="adj" fmla="val 10294"/>
            </a:avLst>
          </a:prstGeom>
          <a:solidFill>
            <a:srgbClr val="FFF3DC"/>
          </a:solidFill>
          <a:ln w="12700">
            <a:solidFill>
              <a:srgbClr val="F5E6C8"/>
            </a:solidFill>
            <a:prstDash val="solid"/>
          </a:ln>
        </p:spPr>
      </p:sp>
      <p:sp>
        <p:nvSpPr>
          <p:cNvPr id="9" name="Text 7"/>
          <p:cNvSpPr/>
          <p:nvPr/>
        </p:nvSpPr>
        <p:spPr>
          <a:xfrm>
            <a:off x="685800" y="1234440"/>
            <a:ext cx="7589520" cy="621792"/>
          </a:xfrm>
          <a:prstGeom prst="rect">
            <a:avLst/>
          </a:prstGeom>
          <a:noFill/>
          <a:ln/>
        </p:spPr>
        <p:txBody>
          <a:bodyPr wrap="square" rtlCol="0" anchor="ctr"/>
          <a:lstStyle/>
          <a:p>
            <a:pPr indent="0" marL="0">
              <a:buNone/>
            </a:pPr>
            <a:r>
              <a:rPr lang="en-US" sz="1100" i="1" dirty="0">
                <a:solidFill>
                  <a:srgbClr val="5A4A3A"/>
                </a:solidFill>
                <a:latin typeface="Calibri" pitchFamily="34" charset="0"/>
                <a:ea typeface="Calibri" pitchFamily="34" charset="-122"/>
                <a:cs typeface="Calibri" pitchFamily="34" charset="-120"/>
              </a:rPr>
              <a:t>Answer: Claim (your position), Evidence (specific facts or sources), Reasoning (why the evidence proves the claim)</a:t>
            </a:r>
            <a:endParaRPr lang="en-US" sz="1100" dirty="0"/>
          </a:p>
        </p:txBody>
      </p:sp>
      <p:sp>
        <p:nvSpPr>
          <p:cNvPr id="10" name="Shape 8"/>
          <p:cNvSpPr/>
          <p:nvPr/>
        </p:nvSpPr>
        <p:spPr>
          <a:xfrm>
            <a:off x="365760" y="2084832"/>
            <a:ext cx="8412480" cy="1170432"/>
          </a:xfrm>
          <a:prstGeom prst="roundRect">
            <a:avLst>
              <a:gd name="adj" fmla="val 7813"/>
            </a:avLst>
          </a:prstGeom>
          <a:solidFill>
            <a:srgbClr val="FFFFFF"/>
          </a:solidFill>
          <a:ln w="19050">
            <a:solidFill>
              <a:srgbClr val="D4943A"/>
            </a:solidFill>
            <a:prstDash val="solid"/>
          </a:ln>
        </p:spPr>
      </p:sp>
      <p:sp>
        <p:nvSpPr>
          <p:cNvPr id="11" name="Text 9"/>
          <p:cNvSpPr/>
          <p:nvPr/>
        </p:nvSpPr>
        <p:spPr>
          <a:xfrm>
            <a:off x="548640" y="2148840"/>
            <a:ext cx="8046720" cy="320040"/>
          </a:xfrm>
          <a:prstGeom prst="rect">
            <a:avLst/>
          </a:prstGeom>
          <a:noFill/>
          <a:ln/>
        </p:spPr>
        <p:txBody>
          <a:bodyPr wrap="square" rtlCol="0" anchor="ctr"/>
          <a:lstStyle/>
          <a:p>
            <a:pPr indent="0" marL="0">
              <a:buNone/>
            </a:pPr>
            <a:r>
              <a:rPr lang="en-US" sz="1300" b="1" dirty="0">
                <a:solidFill>
                  <a:srgbClr val="0E1C42"/>
                </a:solidFill>
                <a:latin typeface="Calibri" pitchFamily="34" charset="0"/>
                <a:ea typeface="Calibri" pitchFamily="34" charset="-122"/>
                <a:cs typeface="Calibri" pitchFamily="34" charset="-120"/>
              </a:rPr>
              <a:t>2.  What is the difference between an opinion and a claim?</a:t>
            </a:r>
            <a:endParaRPr lang="en-US" sz="1300" dirty="0"/>
          </a:p>
        </p:txBody>
      </p:sp>
      <p:sp>
        <p:nvSpPr>
          <p:cNvPr id="12" name="Shape 10"/>
          <p:cNvSpPr/>
          <p:nvPr/>
        </p:nvSpPr>
        <p:spPr>
          <a:xfrm>
            <a:off x="548640" y="2514600"/>
            <a:ext cx="7863840" cy="621792"/>
          </a:xfrm>
          <a:prstGeom prst="roundRect">
            <a:avLst>
              <a:gd name="adj" fmla="val 10294"/>
            </a:avLst>
          </a:prstGeom>
          <a:solidFill>
            <a:srgbClr val="FFF3DC"/>
          </a:solidFill>
          <a:ln w="12700">
            <a:solidFill>
              <a:srgbClr val="F5E6C8"/>
            </a:solidFill>
            <a:prstDash val="solid"/>
          </a:ln>
        </p:spPr>
      </p:sp>
      <p:sp>
        <p:nvSpPr>
          <p:cNvPr id="13" name="Text 11"/>
          <p:cNvSpPr/>
          <p:nvPr/>
        </p:nvSpPr>
        <p:spPr>
          <a:xfrm>
            <a:off x="685800" y="2514600"/>
            <a:ext cx="7589520" cy="621792"/>
          </a:xfrm>
          <a:prstGeom prst="rect">
            <a:avLst/>
          </a:prstGeom>
          <a:noFill/>
          <a:ln/>
        </p:spPr>
        <p:txBody>
          <a:bodyPr wrap="square" rtlCol="0" anchor="ctr"/>
          <a:lstStyle/>
          <a:p>
            <a:pPr indent="0" marL="0">
              <a:buNone/>
            </a:pPr>
            <a:r>
              <a:rPr lang="en-US" sz="1100" i="1" dirty="0">
                <a:solidFill>
                  <a:srgbClr val="5A4A3A"/>
                </a:solidFill>
                <a:latin typeface="Calibri" pitchFamily="34" charset="0"/>
                <a:ea typeface="Calibri" pitchFamily="34" charset="-122"/>
                <a:cs typeface="Calibri" pitchFamily="34" charset="-120"/>
              </a:rPr>
              <a:t>Answer: An opinion is what you believe; a claim is supported by evidence and reasoning that others can evaluate</a:t>
            </a:r>
            <a:endParaRPr lang="en-US" sz="1100" dirty="0"/>
          </a:p>
        </p:txBody>
      </p:sp>
      <p:sp>
        <p:nvSpPr>
          <p:cNvPr id="14" name="Shape 12"/>
          <p:cNvSpPr/>
          <p:nvPr/>
        </p:nvSpPr>
        <p:spPr>
          <a:xfrm>
            <a:off x="365760" y="3364992"/>
            <a:ext cx="8412480" cy="1170432"/>
          </a:xfrm>
          <a:prstGeom prst="roundRect">
            <a:avLst>
              <a:gd name="adj" fmla="val 7813"/>
            </a:avLst>
          </a:prstGeom>
          <a:solidFill>
            <a:srgbClr val="FFFFFF"/>
          </a:solidFill>
          <a:ln w="19050">
            <a:solidFill>
              <a:srgbClr val="D4943A"/>
            </a:solidFill>
            <a:prstDash val="solid"/>
          </a:ln>
        </p:spPr>
      </p:sp>
      <p:sp>
        <p:nvSpPr>
          <p:cNvPr id="15" name="Text 13"/>
          <p:cNvSpPr/>
          <p:nvPr/>
        </p:nvSpPr>
        <p:spPr>
          <a:xfrm>
            <a:off x="548640" y="3429000"/>
            <a:ext cx="8046720" cy="320040"/>
          </a:xfrm>
          <a:prstGeom prst="rect">
            <a:avLst/>
          </a:prstGeom>
          <a:noFill/>
          <a:ln/>
        </p:spPr>
        <p:txBody>
          <a:bodyPr wrap="square" rtlCol="0" anchor="ctr"/>
          <a:lstStyle/>
          <a:p>
            <a:pPr indent="0" marL="0">
              <a:buNone/>
            </a:pPr>
            <a:r>
              <a:rPr lang="en-US" sz="1300" b="1" dirty="0">
                <a:solidFill>
                  <a:srgbClr val="0E1C42"/>
                </a:solidFill>
                <a:latin typeface="Calibri" pitchFamily="34" charset="0"/>
                <a:ea typeface="Calibri" pitchFamily="34" charset="-122"/>
                <a:cs typeface="Calibri" pitchFamily="34" charset="-120"/>
              </a:rPr>
              <a:t>3.  What's wrong with the Herald's headline?</a:t>
            </a:r>
            <a:endParaRPr lang="en-US" sz="1300" dirty="0"/>
          </a:p>
        </p:txBody>
      </p:sp>
      <p:sp>
        <p:nvSpPr>
          <p:cNvPr id="16" name="Shape 14"/>
          <p:cNvSpPr/>
          <p:nvPr/>
        </p:nvSpPr>
        <p:spPr>
          <a:xfrm>
            <a:off x="548640" y="3794760"/>
            <a:ext cx="7863840" cy="621792"/>
          </a:xfrm>
          <a:prstGeom prst="roundRect">
            <a:avLst>
              <a:gd name="adj" fmla="val 10294"/>
            </a:avLst>
          </a:prstGeom>
          <a:solidFill>
            <a:srgbClr val="FFF3DC"/>
          </a:solidFill>
          <a:ln w="12700">
            <a:solidFill>
              <a:srgbClr val="F5E6C8"/>
            </a:solidFill>
            <a:prstDash val="solid"/>
          </a:ln>
        </p:spPr>
      </p:sp>
      <p:sp>
        <p:nvSpPr>
          <p:cNvPr id="17" name="Text 15"/>
          <p:cNvSpPr/>
          <p:nvPr/>
        </p:nvSpPr>
        <p:spPr>
          <a:xfrm>
            <a:off x="685800" y="3794760"/>
            <a:ext cx="7589520" cy="621792"/>
          </a:xfrm>
          <a:prstGeom prst="rect">
            <a:avLst/>
          </a:prstGeom>
          <a:noFill/>
          <a:ln/>
        </p:spPr>
        <p:txBody>
          <a:bodyPr wrap="square" rtlCol="0" anchor="ctr"/>
          <a:lstStyle/>
          <a:p>
            <a:pPr indent="0" marL="0">
              <a:buNone/>
            </a:pPr>
            <a:r>
              <a:rPr lang="en-US" sz="1100" i="1" dirty="0">
                <a:solidFill>
                  <a:srgbClr val="5A4A3A"/>
                </a:solidFill>
                <a:latin typeface="Calibri" pitchFamily="34" charset="0"/>
                <a:ea typeface="Calibri" pitchFamily="34" charset="-122"/>
                <a:cs typeface="Calibri" pitchFamily="34" charset="-120"/>
              </a:rPr>
              <a:t>Answer: It stops at opinion — a strong opinion is where claims START, not where they end. Evidence and reasoning are still required.</a:t>
            </a:r>
            <a:endParaRPr lang="en-US" sz="11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F0F2F8"/>
          </a:solidFill>
          <a:ln w="12700">
            <a:solidFill>
              <a:srgbClr val="F0F2F8"/>
            </a:solidFill>
            <a:prstDash val="solid"/>
          </a:ln>
        </p:spPr>
      </p:sp>
      <p:sp>
        <p:nvSpPr>
          <p:cNvPr id="3" name="Text 1"/>
          <p:cNvSpPr/>
          <p:nvPr/>
        </p:nvSpPr>
        <p:spPr>
          <a:xfrm>
            <a:off x="365760" y="91440"/>
            <a:ext cx="8412480" cy="274320"/>
          </a:xfrm>
          <a:prstGeom prst="rect">
            <a:avLst/>
          </a:prstGeom>
          <a:noFill/>
          <a:ln/>
        </p:spPr>
        <p:txBody>
          <a:bodyPr wrap="square" rtlCol="0" anchor="ctr"/>
          <a:lstStyle/>
          <a:p>
            <a:pPr indent="0" marL="0">
              <a:buNone/>
            </a:pPr>
            <a:r>
              <a:rPr lang="en-US" sz="1000" b="1" spc="150" kern="0" dirty="0">
                <a:solidFill>
                  <a:srgbClr val="0E1C42"/>
                </a:solidFill>
                <a:latin typeface="Calibri" pitchFamily="34" charset="0"/>
                <a:ea typeface="Calibri" pitchFamily="34" charset="-122"/>
                <a:cs typeface="Calibri" pitchFamily="34" charset="-120"/>
              </a:rPr>
              <a:t>ASSIGNMENT: EDITOR'S NOTEBOOK + GAZETTE CORRECTION</a:t>
            </a:r>
            <a:endParaRPr lang="en-US" sz="1000" dirty="0"/>
          </a:p>
        </p:txBody>
      </p:sp>
      <p:sp>
        <p:nvSpPr>
          <p:cNvPr id="4" name="Shape 2"/>
          <p:cNvSpPr/>
          <p:nvPr/>
        </p:nvSpPr>
        <p:spPr>
          <a:xfrm>
            <a:off x="365760" y="393192"/>
            <a:ext cx="8412480" cy="45720"/>
          </a:xfrm>
          <a:prstGeom prst="rect">
            <a:avLst/>
          </a:prstGeom>
          <a:solidFill>
            <a:srgbClr val="D4943A"/>
          </a:solidFill>
          <a:ln w="12700">
            <a:solidFill>
              <a:srgbClr val="D4943A"/>
            </a:solidFill>
            <a:prstDash val="solid"/>
          </a:ln>
        </p:spPr>
      </p:sp>
      <p:sp>
        <p:nvSpPr>
          <p:cNvPr id="5" name="Shape 3"/>
          <p:cNvSpPr/>
          <p:nvPr/>
        </p:nvSpPr>
        <p:spPr>
          <a:xfrm>
            <a:off x="365760" y="502920"/>
            <a:ext cx="4937760" cy="4297680"/>
          </a:xfrm>
          <a:prstGeom prst="roundRect">
            <a:avLst>
              <a:gd name="adj" fmla="val 2553"/>
            </a:avLst>
          </a:prstGeom>
          <a:solidFill>
            <a:srgbClr val="FFFFFF"/>
          </a:solidFill>
          <a:ln w="19050">
            <a:solidFill>
              <a:srgbClr val="8B6FC0"/>
            </a:solidFill>
            <a:prstDash val="solid"/>
          </a:ln>
        </p:spPr>
      </p:sp>
      <p:sp>
        <p:nvSpPr>
          <p:cNvPr id="6" name="Text 4"/>
          <p:cNvSpPr/>
          <p:nvPr/>
        </p:nvSpPr>
        <p:spPr>
          <a:xfrm>
            <a:off x="502920" y="566928"/>
            <a:ext cx="4663440" cy="228600"/>
          </a:xfrm>
          <a:prstGeom prst="rect">
            <a:avLst/>
          </a:prstGeom>
          <a:noFill/>
          <a:ln/>
        </p:spPr>
        <p:txBody>
          <a:bodyPr wrap="square" rtlCol="0" anchor="ctr"/>
          <a:lstStyle/>
          <a:p>
            <a:pPr indent="0" marL="0">
              <a:buNone/>
            </a:pPr>
            <a:r>
              <a:rPr lang="en-US" sz="900" b="1" spc="150" kern="0" dirty="0">
                <a:solidFill>
                  <a:srgbClr val="8B6FC0"/>
                </a:solidFill>
                <a:latin typeface="Calibri" pitchFamily="34" charset="0"/>
                <a:ea typeface="Calibri" pitchFamily="34" charset="-122"/>
                <a:cs typeface="Calibri" pitchFamily="34" charset="-120"/>
              </a:rPr>
              <a:t>EDITOR'S NOTEBOOK</a:t>
            </a:r>
            <a:endParaRPr lang="en-US" sz="900" dirty="0"/>
          </a:p>
        </p:txBody>
      </p:sp>
      <p:sp>
        <p:nvSpPr>
          <p:cNvPr id="7" name="Shape 5"/>
          <p:cNvSpPr/>
          <p:nvPr/>
        </p:nvSpPr>
        <p:spPr>
          <a:xfrm>
            <a:off x="502920" y="886968"/>
            <a:ext cx="4663440" cy="1115568"/>
          </a:xfrm>
          <a:prstGeom prst="roundRect">
            <a:avLst>
              <a:gd name="adj" fmla="val 6557"/>
            </a:avLst>
          </a:prstGeom>
          <a:solidFill>
            <a:srgbClr val="EAF7FB"/>
          </a:solidFill>
          <a:ln w="12700">
            <a:solidFill>
              <a:srgbClr val="8B6FC0"/>
            </a:solidFill>
            <a:prstDash val="solid"/>
          </a:ln>
        </p:spPr>
      </p:sp>
      <p:sp>
        <p:nvSpPr>
          <p:cNvPr id="8" name="Text 6"/>
          <p:cNvSpPr/>
          <p:nvPr/>
        </p:nvSpPr>
        <p:spPr>
          <a:xfrm>
            <a:off x="640080" y="914400"/>
            <a:ext cx="4389120" cy="1024128"/>
          </a:xfrm>
          <a:prstGeom prst="rect">
            <a:avLst/>
          </a:prstGeom>
          <a:noFill/>
          <a:ln/>
        </p:spPr>
        <p:txBody>
          <a:bodyPr wrap="square" rtlCol="0" anchor="t"/>
          <a:lstStyle/>
          <a:p>
            <a:pPr indent="0" marL="0">
              <a:buNone/>
            </a:pPr>
            <a:r>
              <a:rPr lang="en-US" sz="1100" dirty="0">
                <a:solidFill>
                  <a:srgbClr val="0E1C42"/>
                </a:solidFill>
                <a:latin typeface="Calibri" pitchFamily="34" charset="0"/>
                <a:ea typeface="Calibri" pitchFamily="34" charset="-122"/>
                <a:cs typeface="Calibri" pitchFamily="34" charset="-120"/>
              </a:rPr>
              <a:t>1. "In your own words, explain the difference between an opinion and a claim supported by evidence and reasoning."</a:t>
            </a:r>
            <a:endParaRPr lang="en-US" sz="1100" dirty="0"/>
          </a:p>
        </p:txBody>
      </p:sp>
      <p:sp>
        <p:nvSpPr>
          <p:cNvPr id="9" name="Shape 7"/>
          <p:cNvSpPr/>
          <p:nvPr/>
        </p:nvSpPr>
        <p:spPr>
          <a:xfrm>
            <a:off x="502920" y="2121408"/>
            <a:ext cx="4663440" cy="1115568"/>
          </a:xfrm>
          <a:prstGeom prst="roundRect">
            <a:avLst>
              <a:gd name="adj" fmla="val 6557"/>
            </a:avLst>
          </a:prstGeom>
          <a:solidFill>
            <a:srgbClr val="EAF7FB"/>
          </a:solidFill>
          <a:ln w="12700">
            <a:solidFill>
              <a:srgbClr val="8B6FC0"/>
            </a:solidFill>
            <a:prstDash val="solid"/>
          </a:ln>
        </p:spPr>
      </p:sp>
      <p:sp>
        <p:nvSpPr>
          <p:cNvPr id="10" name="Text 8"/>
          <p:cNvSpPr/>
          <p:nvPr/>
        </p:nvSpPr>
        <p:spPr>
          <a:xfrm>
            <a:off x="640080" y="2148840"/>
            <a:ext cx="4389120" cy="1024128"/>
          </a:xfrm>
          <a:prstGeom prst="rect">
            <a:avLst/>
          </a:prstGeom>
          <a:noFill/>
          <a:ln/>
        </p:spPr>
        <p:txBody>
          <a:bodyPr wrap="square" rtlCol="0" anchor="t"/>
          <a:lstStyle/>
          <a:p>
            <a:pPr indent="0" marL="0">
              <a:buNone/>
            </a:pPr>
            <a:r>
              <a:rPr lang="en-US" sz="1100" dirty="0">
                <a:solidFill>
                  <a:srgbClr val="0E1C42"/>
                </a:solidFill>
                <a:latin typeface="Calibri" pitchFamily="34" charset="0"/>
                <a:ea typeface="Calibri" pitchFamily="34" charset="-122"/>
                <a:cs typeface="Calibri" pitchFamily="34" charset="-120"/>
              </a:rPr>
              <a:t>2. "Look at the source. Does it include a claim, evidence, AND reasoning -- or is one part weak or missing? Explain."</a:t>
            </a:r>
            <a:endParaRPr lang="en-US" sz="1100" dirty="0"/>
          </a:p>
        </p:txBody>
      </p:sp>
      <p:sp>
        <p:nvSpPr>
          <p:cNvPr id="11" name="Shape 9"/>
          <p:cNvSpPr/>
          <p:nvPr/>
        </p:nvSpPr>
        <p:spPr>
          <a:xfrm>
            <a:off x="502920" y="3355848"/>
            <a:ext cx="4663440" cy="1115568"/>
          </a:xfrm>
          <a:prstGeom prst="roundRect">
            <a:avLst>
              <a:gd name="adj" fmla="val 6557"/>
            </a:avLst>
          </a:prstGeom>
          <a:solidFill>
            <a:srgbClr val="EAF7FB"/>
          </a:solidFill>
          <a:ln w="12700">
            <a:solidFill>
              <a:srgbClr val="8B6FC0"/>
            </a:solidFill>
            <a:prstDash val="solid"/>
          </a:ln>
        </p:spPr>
      </p:sp>
      <p:sp>
        <p:nvSpPr>
          <p:cNvPr id="12" name="Text 10"/>
          <p:cNvSpPr/>
          <p:nvPr/>
        </p:nvSpPr>
        <p:spPr>
          <a:xfrm>
            <a:off x="640080" y="3383280"/>
            <a:ext cx="4389120" cy="1024128"/>
          </a:xfrm>
          <a:prstGeom prst="rect">
            <a:avLst/>
          </a:prstGeom>
          <a:noFill/>
          <a:ln/>
        </p:spPr>
        <p:txBody>
          <a:bodyPr wrap="square" rtlCol="0" anchor="t"/>
          <a:lstStyle/>
          <a:p>
            <a:pPr indent="0" marL="0">
              <a:buNone/>
            </a:pPr>
            <a:r>
              <a:rPr lang="en-US" sz="1100" dirty="0">
                <a:solidFill>
                  <a:srgbClr val="0E1C42"/>
                </a:solidFill>
                <a:latin typeface="Calibri" pitchFamily="34" charset="0"/>
                <a:ea typeface="Calibri" pitchFamily="34" charset="-122"/>
                <a:cs typeface="Calibri" pitchFamily="34" charset="-120"/>
              </a:rPr>
              <a:t>3. "The Hasty Herald said 'A strong opinion is enough for a newspaper claim.' What's partly right about that? What's missing?"</a:t>
            </a:r>
            <a:endParaRPr lang="en-US" sz="1100" dirty="0"/>
          </a:p>
        </p:txBody>
      </p:sp>
      <p:sp>
        <p:nvSpPr>
          <p:cNvPr id="13" name="Shape 11"/>
          <p:cNvSpPr/>
          <p:nvPr/>
        </p:nvSpPr>
        <p:spPr>
          <a:xfrm>
            <a:off x="5486400" y="502920"/>
            <a:ext cx="3291840" cy="2331720"/>
          </a:xfrm>
          <a:prstGeom prst="roundRect">
            <a:avLst>
              <a:gd name="adj" fmla="val 4706"/>
            </a:avLst>
          </a:prstGeom>
          <a:solidFill>
            <a:srgbClr val="FFFFFF"/>
          </a:solidFill>
          <a:ln w="19050">
            <a:solidFill>
              <a:srgbClr val="D4943A"/>
            </a:solidFill>
            <a:prstDash val="solid"/>
          </a:ln>
        </p:spPr>
      </p:sp>
      <p:sp>
        <p:nvSpPr>
          <p:cNvPr id="14" name="Text 12"/>
          <p:cNvSpPr/>
          <p:nvPr/>
        </p:nvSpPr>
        <p:spPr>
          <a:xfrm>
            <a:off x="5623560" y="566928"/>
            <a:ext cx="3017520" cy="228600"/>
          </a:xfrm>
          <a:prstGeom prst="rect">
            <a:avLst/>
          </a:prstGeom>
          <a:noFill/>
          <a:ln/>
        </p:spPr>
        <p:txBody>
          <a:bodyPr wrap="square" rtlCol="0" anchor="ctr"/>
          <a:lstStyle/>
          <a:p>
            <a:pPr indent="0" marL="0">
              <a:buNone/>
            </a:pPr>
            <a:r>
              <a:rPr lang="en-US" sz="900" b="1" spc="150" kern="0" dirty="0">
                <a:solidFill>
                  <a:srgbClr val="D4943A"/>
                </a:solidFill>
                <a:latin typeface="Calibri" pitchFamily="34" charset="0"/>
                <a:ea typeface="Calibri" pitchFamily="34" charset="-122"/>
                <a:cs typeface="Calibri" pitchFamily="34" charset="-120"/>
              </a:rPr>
              <a:t>GAZETTE CORRECTION</a:t>
            </a:r>
            <a:endParaRPr lang="en-US" sz="900" dirty="0"/>
          </a:p>
        </p:txBody>
      </p:sp>
      <p:sp>
        <p:nvSpPr>
          <p:cNvPr id="15" name="Text 13"/>
          <p:cNvSpPr/>
          <p:nvPr/>
        </p:nvSpPr>
        <p:spPr>
          <a:xfrm>
            <a:off x="5623560" y="886968"/>
            <a:ext cx="3017520" cy="566928"/>
          </a:xfrm>
          <a:prstGeom prst="rect">
            <a:avLst/>
          </a:prstGeom>
          <a:noFill/>
          <a:ln/>
        </p:spPr>
        <p:txBody>
          <a:bodyPr wrap="square" rtlCol="0" anchor="t"/>
          <a:lstStyle/>
          <a:p>
            <a:pPr indent="0" marL="0">
              <a:buNone/>
            </a:pPr>
            <a:r>
              <a:rPr lang="en-US" sz="1100" dirty="0">
                <a:solidFill>
                  <a:srgbClr val="0E1C42"/>
                </a:solidFill>
                <a:latin typeface="Calibri" pitchFamily="34" charset="0"/>
                <a:ea typeface="Calibri" pitchFamily="34" charset="-122"/>
                <a:cs typeface="Calibri" pitchFamily="34" charset="-120"/>
              </a:rPr>
              <a:t>(1) One sentence on what the Herald got partly right.</a:t>
            </a:r>
            <a:endParaRPr lang="en-US" sz="1100" dirty="0"/>
          </a:p>
        </p:txBody>
      </p:sp>
      <p:sp>
        <p:nvSpPr>
          <p:cNvPr id="16" name="Text 14"/>
          <p:cNvSpPr/>
          <p:nvPr/>
        </p:nvSpPr>
        <p:spPr>
          <a:xfrm>
            <a:off x="5623560" y="1508760"/>
            <a:ext cx="3017520" cy="566928"/>
          </a:xfrm>
          <a:prstGeom prst="rect">
            <a:avLst/>
          </a:prstGeom>
          <a:noFill/>
          <a:ln/>
        </p:spPr>
        <p:txBody>
          <a:bodyPr wrap="square" rtlCol="0" anchor="t"/>
          <a:lstStyle/>
          <a:p>
            <a:pPr indent="0" marL="0">
              <a:buNone/>
            </a:pPr>
            <a:r>
              <a:rPr lang="en-US" sz="1100" dirty="0">
                <a:solidFill>
                  <a:srgbClr val="0E1C42"/>
                </a:solidFill>
                <a:latin typeface="Calibri" pitchFamily="34" charset="0"/>
                <a:ea typeface="Calibri" pitchFamily="34" charset="-122"/>
                <a:cs typeface="Calibri" pitchFamily="34" charset="-120"/>
              </a:rPr>
              <a:t>(2) Two sentences quoting or describing evidence from the source.</a:t>
            </a:r>
            <a:endParaRPr lang="en-US" sz="1100" dirty="0"/>
          </a:p>
        </p:txBody>
      </p:sp>
      <p:sp>
        <p:nvSpPr>
          <p:cNvPr id="17" name="Text 15"/>
          <p:cNvSpPr/>
          <p:nvPr/>
        </p:nvSpPr>
        <p:spPr>
          <a:xfrm>
            <a:off x="5623560" y="2130552"/>
            <a:ext cx="3017520" cy="566928"/>
          </a:xfrm>
          <a:prstGeom prst="rect">
            <a:avLst/>
          </a:prstGeom>
          <a:noFill/>
          <a:ln/>
        </p:spPr>
        <p:txBody>
          <a:bodyPr wrap="square" rtlCol="0" anchor="t"/>
          <a:lstStyle/>
          <a:p>
            <a:pPr indent="0" marL="0">
              <a:buNone/>
            </a:pPr>
            <a:r>
              <a:rPr lang="en-US" sz="1100" dirty="0">
                <a:solidFill>
                  <a:srgbClr val="0E1C42"/>
                </a:solidFill>
                <a:latin typeface="Calibri" pitchFamily="34" charset="0"/>
                <a:ea typeface="Calibri" pitchFamily="34" charset="-122"/>
                <a:cs typeface="Calibri" pitchFamily="34" charset="-120"/>
              </a:rPr>
              <a:t>(3) One careful sentence with the Gazette's corrected claim showing all three CER parts.</a:t>
            </a:r>
            <a:endParaRPr lang="en-US" sz="1100" dirty="0"/>
          </a:p>
        </p:txBody>
      </p:sp>
      <p:sp>
        <p:nvSpPr>
          <p:cNvPr id="18" name="Shape 16"/>
          <p:cNvSpPr/>
          <p:nvPr/>
        </p:nvSpPr>
        <p:spPr>
          <a:xfrm>
            <a:off x="5486400" y="2971800"/>
            <a:ext cx="3291840" cy="822960"/>
          </a:xfrm>
          <a:prstGeom prst="roundRect">
            <a:avLst>
              <a:gd name="adj" fmla="val 11111"/>
            </a:avLst>
          </a:prstGeom>
          <a:solidFill>
            <a:srgbClr val="E8F8EF"/>
          </a:solidFill>
          <a:ln w="19050">
            <a:solidFill>
              <a:srgbClr val="34B76F"/>
            </a:solidFill>
            <a:prstDash val="solid"/>
          </a:ln>
        </p:spPr>
      </p:sp>
      <p:sp>
        <p:nvSpPr>
          <p:cNvPr id="19" name="Text 17"/>
          <p:cNvSpPr/>
          <p:nvPr/>
        </p:nvSpPr>
        <p:spPr>
          <a:xfrm>
            <a:off x="5623560" y="3035808"/>
            <a:ext cx="3017520" cy="201168"/>
          </a:xfrm>
          <a:prstGeom prst="rect">
            <a:avLst/>
          </a:prstGeom>
          <a:noFill/>
          <a:ln/>
        </p:spPr>
        <p:txBody>
          <a:bodyPr wrap="square" rtlCol="0" anchor="ctr"/>
          <a:lstStyle/>
          <a:p>
            <a:pPr indent="0" marL="0">
              <a:buNone/>
            </a:pPr>
            <a:r>
              <a:rPr lang="en-US" sz="900" b="1" spc="150" kern="0" dirty="0">
                <a:solidFill>
                  <a:srgbClr val="34B76F"/>
                </a:solidFill>
                <a:latin typeface="Calibri" pitchFamily="34" charset="0"/>
                <a:ea typeface="Calibri" pitchFamily="34" charset="-122"/>
                <a:cs typeface="Calibri" pitchFamily="34" charset="-120"/>
              </a:rPr>
              <a:t>ARCHIVE LINE</a:t>
            </a:r>
            <a:endParaRPr lang="en-US" sz="900" dirty="0"/>
          </a:p>
        </p:txBody>
      </p:sp>
      <p:sp>
        <p:nvSpPr>
          <p:cNvPr id="20" name="Text 18"/>
          <p:cNvSpPr/>
          <p:nvPr/>
        </p:nvSpPr>
        <p:spPr>
          <a:xfrm>
            <a:off x="5623560" y="3246120"/>
            <a:ext cx="3017520" cy="502920"/>
          </a:xfrm>
          <a:prstGeom prst="rect">
            <a:avLst/>
          </a:prstGeom>
          <a:noFill/>
          <a:ln/>
        </p:spPr>
        <p:txBody>
          <a:bodyPr wrap="square" rtlCol="0" anchor="t"/>
          <a:lstStyle/>
          <a:p>
            <a:pPr indent="0" marL="0">
              <a:buNone/>
            </a:pPr>
            <a:r>
              <a:rPr lang="en-US" sz="1000" i="1" dirty="0">
                <a:solidFill>
                  <a:srgbClr val="0E1C42"/>
                </a:solidFill>
                <a:latin typeface="Calibri" pitchFamily="34" charset="0"/>
                <a:ea typeface="Calibri" pitchFamily="34" charset="-122"/>
                <a:cs typeface="Calibri" pitchFamily="34" charset="-120"/>
              </a:rPr>
              <a:t>"In one careful sentence, write what future citizens should remember about claim, evidence, and reasoning in social studies."</a:t>
            </a:r>
            <a:endParaRPr lang="en-US" sz="1000" dirty="0"/>
          </a:p>
        </p:txBody>
      </p:sp>
      <p:sp>
        <p:nvSpPr>
          <p:cNvPr id="21" name="Shape 19"/>
          <p:cNvSpPr/>
          <p:nvPr/>
        </p:nvSpPr>
        <p:spPr>
          <a:xfrm>
            <a:off x="5486400" y="3886200"/>
            <a:ext cx="3291840" cy="914400"/>
          </a:xfrm>
          <a:prstGeom prst="roundRect">
            <a:avLst>
              <a:gd name="adj" fmla="val 10000"/>
            </a:avLst>
          </a:prstGeom>
          <a:solidFill>
            <a:srgbClr val="1A2D5A"/>
          </a:solidFill>
          <a:ln w="12700">
            <a:solidFill>
              <a:srgbClr val="55C8E8"/>
            </a:solidFill>
            <a:prstDash val="solid"/>
          </a:ln>
        </p:spPr>
      </p:sp>
      <p:sp>
        <p:nvSpPr>
          <p:cNvPr id="22" name="Text 20"/>
          <p:cNvSpPr/>
          <p:nvPr/>
        </p:nvSpPr>
        <p:spPr>
          <a:xfrm>
            <a:off x="5623560" y="3950208"/>
            <a:ext cx="3017520" cy="201168"/>
          </a:xfrm>
          <a:prstGeom prst="rect">
            <a:avLst/>
          </a:prstGeom>
          <a:noFill/>
          <a:ln/>
        </p:spPr>
        <p:txBody>
          <a:bodyPr wrap="square" rtlCol="0" anchor="ctr"/>
          <a:lstStyle/>
          <a:p>
            <a:pPr indent="0" marL="0">
              <a:buNone/>
            </a:pPr>
            <a:r>
              <a:rPr lang="en-US" sz="900" b="1" spc="150" kern="0" dirty="0">
                <a:solidFill>
                  <a:srgbClr val="55C8E8"/>
                </a:solidFill>
                <a:latin typeface="Calibri" pitchFamily="34" charset="0"/>
                <a:ea typeface="Calibri" pitchFamily="34" charset="-122"/>
                <a:cs typeface="Calibri" pitchFamily="34" charset="-120"/>
              </a:rPr>
              <a:t>TURN-IN CHECKLIST</a:t>
            </a:r>
            <a:endParaRPr lang="en-US" sz="900" dirty="0"/>
          </a:p>
        </p:txBody>
      </p:sp>
      <p:sp>
        <p:nvSpPr>
          <p:cNvPr id="23" name="Text 21"/>
          <p:cNvSpPr/>
          <p:nvPr/>
        </p:nvSpPr>
        <p:spPr>
          <a:xfrm>
            <a:off x="5623560" y="4178808"/>
            <a:ext cx="3017520" cy="566928"/>
          </a:xfrm>
          <a:prstGeom prst="rect">
            <a:avLst/>
          </a:prstGeom>
          <a:noFill/>
          <a:ln/>
        </p:spPr>
        <p:txBody>
          <a:bodyPr wrap="square" lIns="0" tIns="0" rIns="0" bIns="0" rtlCol="0" anchor="t"/>
          <a:lstStyle/>
          <a:p>
            <a:pPr indent="0" marL="0">
              <a:buNone/>
            </a:pPr>
            <a:r>
              <a:rPr lang="en-US" sz="900" dirty="0">
                <a:solidFill>
                  <a:srgbClr val="D6F2FB"/>
                </a:solidFill>
                <a:latin typeface="Calibri" pitchFamily="34" charset="0"/>
                <a:ea typeface="Calibri" pitchFamily="34" charset="-122"/>
                <a:cs typeface="Calibri" pitchFamily="34" charset="-120"/>
              </a:rPr>
              <a:t>- All 3 Notebook questions</a:t>
            </a:r>
            <a:endParaRPr lang="en-US" sz="900" dirty="0"/>
          </a:p>
          <a:p>
            <a:pPr indent="0" marL="0">
              <a:buNone/>
            </a:pPr>
            <a:r>
              <a:rPr lang="en-US" sz="900" dirty="0">
                <a:solidFill>
                  <a:srgbClr val="D6F2FB"/>
                </a:solidFill>
                <a:latin typeface="Calibri" pitchFamily="34" charset="0"/>
                <a:ea typeface="Calibri" pitchFamily="34" charset="-122"/>
                <a:cs typeface="Calibri" pitchFamily="34" charset="-120"/>
              </a:rPr>
              <a:t>- Gazette Correction (3 parts)</a:t>
            </a:r>
            <a:endParaRPr lang="en-US" sz="900" dirty="0"/>
          </a:p>
          <a:p>
            <a:pPr indent="0" marL="0">
              <a:buNone/>
            </a:pPr>
            <a:r>
              <a:rPr lang="en-US" sz="900" dirty="0">
                <a:solidFill>
                  <a:srgbClr val="D6F2FB"/>
                </a:solidFill>
                <a:latin typeface="Calibri" pitchFamily="34" charset="0"/>
                <a:ea typeface="Calibri" pitchFamily="34" charset="-122"/>
                <a:cs typeface="Calibri" pitchFamily="34" charset="-120"/>
              </a:rPr>
              <a:t>- Archive Line sentence</a:t>
            </a:r>
            <a:endParaRPr lang="en-US" sz="900" dirty="0"/>
          </a:p>
          <a:p>
            <a:pPr indent="0" marL="0">
              <a:buNone/>
            </a:pPr>
            <a:r>
              <a:rPr lang="en-US" sz="900" dirty="0">
                <a:solidFill>
                  <a:srgbClr val="D6F2FB"/>
                </a:solidFill>
                <a:latin typeface="Calibri" pitchFamily="34" charset="0"/>
                <a:ea typeface="Calibri" pitchFamily="34" charset="-122"/>
                <a:cs typeface="Calibri" pitchFamily="34" charset="-120"/>
              </a:rPr>
              <a:t>- Name on the byline</a:t>
            </a:r>
            <a:endParaRPr lang="en-US" sz="900" dirty="0"/>
          </a:p>
          <a:p>
            <a:pPr indent="0" marL="0">
              <a:buNone/>
            </a:pPr>
            <a:r>
              <a:rPr lang="en-US" sz="900" dirty="0">
                <a:solidFill>
                  <a:srgbClr val="D6F2FB"/>
                </a:solidFill>
                <a:latin typeface="Calibri" pitchFamily="34" charset="0"/>
                <a:ea typeface="Calibri" pitchFamily="34" charset="-122"/>
                <a:cs typeface="Calibri" pitchFamily="34" charset="-120"/>
              </a:rPr>
              <a:t>- Gathered Answers copied/downloaded</a:t>
            </a:r>
            <a:endParaRPr lang="en-US" sz="9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0B1835"/>
          </a:solidFill>
          <a:ln w="19050">
            <a:solidFill>
              <a:srgbClr val="3A5080"/>
            </a:solidFill>
            <a:prstDash val="dash"/>
          </a:ln>
        </p:spPr>
      </p:sp>
      <p:sp>
        <p:nvSpPr>
          <p:cNvPr id="3" name="Shape 1"/>
          <p:cNvSpPr/>
          <p:nvPr/>
        </p:nvSpPr>
        <p:spPr>
          <a:xfrm>
            <a:off x="0" y="0"/>
            <a:ext cx="9144000" cy="5143500"/>
          </a:xfrm>
          <a:prstGeom prst="rect">
            <a:avLst/>
          </a:prstGeom>
          <a:solidFill>
            <a:srgbClr val="0E1C42">
              <a:alpha val="62000"/>
            </a:srgbClr>
          </a:solidFill>
          <a:ln/>
        </p:spPr>
      </p:sp>
      <p:sp>
        <p:nvSpPr>
          <p:cNvPr id="5" name="Shape 2"/>
          <p:cNvSpPr/>
          <p:nvPr/>
        </p:nvSpPr>
        <p:spPr>
          <a:xfrm>
            <a:off x="0" y="502920"/>
            <a:ext cx="9144000" cy="685800"/>
          </a:xfrm>
          <a:prstGeom prst="rect">
            <a:avLst/>
          </a:prstGeom>
          <a:solidFill>
            <a:srgbClr val="D4943A">
              <a:alpha val="85000"/>
            </a:srgbClr>
          </a:solidFill>
          <a:ln w="12700">
            <a:solidFill>
              <a:srgbClr val="D4943A"/>
            </a:solidFill>
            <a:prstDash val="solid"/>
          </a:ln>
        </p:spPr>
      </p:sp>
      <p:sp>
        <p:nvSpPr>
          <p:cNvPr id="6" name="Text 3"/>
          <p:cNvSpPr/>
          <p:nvPr/>
        </p:nvSpPr>
        <p:spPr>
          <a:xfrm>
            <a:off x="0" y="502920"/>
            <a:ext cx="9144000" cy="685800"/>
          </a:xfrm>
          <a:prstGeom prst="rect">
            <a:avLst/>
          </a:prstGeom>
          <a:noFill/>
          <a:ln/>
        </p:spPr>
        <p:txBody>
          <a:bodyPr wrap="square" rtlCol="0" anchor="ctr"/>
          <a:lstStyle/>
          <a:p>
            <a:pPr algn="ctr" indent="0" marL="0">
              <a:buNone/>
            </a:pPr>
            <a:r>
              <a:rPr lang="en-US" sz="2000" b="1" spc="200" kern="0" dirty="0">
                <a:solidFill>
                  <a:srgbClr val="FFFFFF"/>
                </a:solidFill>
                <a:latin typeface="Cambria" pitchFamily="34" charset="0"/>
                <a:ea typeface="Cambria" pitchFamily="34" charset="-122"/>
                <a:cs typeface="Cambria" pitchFamily="34" charset="-120"/>
              </a:rPr>
              <a:t>THE REPUBLIC GAZETTE  |  ISSUE 4 GOING TO PRESS</a:t>
            </a:r>
            <a:endParaRPr lang="en-US" sz="2000" dirty="0"/>
          </a:p>
        </p:txBody>
      </p:sp>
      <p:sp>
        <p:nvSpPr>
          <p:cNvPr id="7" name="Text 4"/>
          <p:cNvSpPr/>
          <p:nvPr/>
        </p:nvSpPr>
        <p:spPr>
          <a:xfrm>
            <a:off x="457200" y="1417320"/>
            <a:ext cx="8229600" cy="502920"/>
          </a:xfrm>
          <a:prstGeom prst="rect">
            <a:avLst/>
          </a:prstGeom>
          <a:noFill/>
          <a:ln/>
        </p:spPr>
        <p:txBody>
          <a:bodyPr wrap="square" rtlCol="0" anchor="ctr"/>
          <a:lstStyle/>
          <a:p>
            <a:pPr algn="ctr" indent="0" marL="0">
              <a:buNone/>
            </a:pPr>
            <a:r>
              <a:rPr lang="en-US" sz="2800" b="1" dirty="0">
                <a:solidFill>
                  <a:srgbClr val="FFFFFF"/>
                </a:solidFill>
                <a:latin typeface="Cambria" pitchFamily="34" charset="0"/>
                <a:ea typeface="Cambria" pitchFamily="34" charset="-122"/>
                <a:cs typeface="Cambria" pitchFamily="34" charset="-120"/>
              </a:rPr>
              <a:t>Well done, Junior Editors.</a:t>
            </a:r>
            <a:endParaRPr lang="en-US" sz="2800" dirty="0"/>
          </a:p>
        </p:txBody>
      </p:sp>
      <p:sp>
        <p:nvSpPr>
          <p:cNvPr id="8" name="Text 5"/>
          <p:cNvSpPr/>
          <p:nvPr/>
        </p:nvSpPr>
        <p:spPr>
          <a:xfrm>
            <a:off x="914400" y="1993392"/>
            <a:ext cx="7315200" cy="594360"/>
          </a:xfrm>
          <a:prstGeom prst="rect">
            <a:avLst/>
          </a:prstGeom>
          <a:noFill/>
          <a:ln/>
        </p:spPr>
        <p:txBody>
          <a:bodyPr wrap="square" rtlCol="0" anchor="ctr"/>
          <a:lstStyle/>
          <a:p>
            <a:pPr algn="ctr" indent="0" marL="0">
              <a:buNone/>
            </a:pPr>
            <a:r>
              <a:rPr lang="en-US" sz="1500" i="1" dirty="0">
                <a:solidFill>
                  <a:srgbClr val="D6F2FB"/>
                </a:solidFill>
                <a:latin typeface="Calibri" pitchFamily="34" charset="0"/>
                <a:ea typeface="Calibri" pitchFamily="34" charset="-122"/>
                <a:cs typeface="Calibri" pitchFamily="34" charset="-120"/>
              </a:rPr>
              <a:t>Today you discovered the Gazette's standard: every claim must have all three -- Claim, Evidence, and Reasoning.</a:t>
            </a:r>
            <a:endParaRPr lang="en-US" sz="1500" dirty="0"/>
          </a:p>
        </p:txBody>
      </p:sp>
      <p:sp>
        <p:nvSpPr>
          <p:cNvPr id="9" name="Shape 6"/>
          <p:cNvSpPr/>
          <p:nvPr/>
        </p:nvSpPr>
        <p:spPr>
          <a:xfrm>
            <a:off x="1828800" y="2679192"/>
            <a:ext cx="5486400" cy="45720"/>
          </a:xfrm>
          <a:prstGeom prst="rect">
            <a:avLst/>
          </a:prstGeom>
          <a:solidFill>
            <a:srgbClr val="D4943A"/>
          </a:solidFill>
          <a:ln w="12700">
            <a:solidFill>
              <a:srgbClr val="D4943A"/>
            </a:solidFill>
            <a:prstDash val="solid"/>
          </a:ln>
        </p:spPr>
      </p:sp>
      <p:sp>
        <p:nvSpPr>
          <p:cNvPr id="10" name="Shape 7"/>
          <p:cNvSpPr/>
          <p:nvPr/>
        </p:nvSpPr>
        <p:spPr>
          <a:xfrm>
            <a:off x="731520" y="2816352"/>
            <a:ext cx="7680960" cy="1417320"/>
          </a:xfrm>
          <a:prstGeom prst="roundRect">
            <a:avLst>
              <a:gd name="adj" fmla="val 7742"/>
            </a:avLst>
          </a:prstGeom>
          <a:solidFill>
            <a:srgbClr val="1A2D5A">
              <a:alpha val="80000"/>
            </a:srgbClr>
          </a:solidFill>
          <a:ln w="19050">
            <a:solidFill>
              <a:srgbClr val="55C8E8"/>
            </a:solidFill>
            <a:prstDash val="solid"/>
          </a:ln>
        </p:spPr>
      </p:sp>
      <p:sp>
        <p:nvSpPr>
          <p:cNvPr id="11" name="Text 8"/>
          <p:cNvSpPr/>
          <p:nvPr/>
        </p:nvSpPr>
        <p:spPr>
          <a:xfrm>
            <a:off x="914400" y="2880360"/>
            <a:ext cx="7315200" cy="256032"/>
          </a:xfrm>
          <a:prstGeom prst="rect">
            <a:avLst/>
          </a:prstGeom>
          <a:noFill/>
          <a:ln/>
        </p:spPr>
        <p:txBody>
          <a:bodyPr wrap="square" rtlCol="0" anchor="ctr"/>
          <a:lstStyle/>
          <a:p>
            <a:pPr algn="ctr" indent="0" marL="0">
              <a:buNone/>
            </a:pPr>
            <a:r>
              <a:rPr lang="en-US" sz="1000" b="1" spc="150" kern="0" dirty="0">
                <a:solidFill>
                  <a:srgbClr val="55C8E8"/>
                </a:solidFill>
                <a:latin typeface="Calibri" pitchFamily="34" charset="0"/>
                <a:ea typeface="Calibri" pitchFamily="34" charset="-122"/>
                <a:cs typeface="Calibri" pitchFamily="34" charset="-120"/>
              </a:rPr>
              <a:t>IN THE NEXT ISSUE (5.02.01)</a:t>
            </a:r>
            <a:endParaRPr lang="en-US" sz="1000" dirty="0"/>
          </a:p>
        </p:txBody>
      </p:sp>
      <p:sp>
        <p:nvSpPr>
          <p:cNvPr id="12" name="Text 9"/>
          <p:cNvSpPr/>
          <p:nvPr/>
        </p:nvSpPr>
        <p:spPr>
          <a:xfrm>
            <a:off x="914400" y="3163824"/>
            <a:ext cx="7315200" cy="987552"/>
          </a:xfrm>
          <a:prstGeom prst="rect">
            <a:avLst/>
          </a:prstGeom>
          <a:noFill/>
          <a:ln/>
        </p:spPr>
        <p:txBody>
          <a:bodyPr wrap="square" rtlCol="0" anchor="t"/>
          <a:lstStyle/>
          <a:p>
            <a:pPr algn="ctr" indent="0" marL="0">
              <a:buNone/>
            </a:pPr>
            <a:r>
              <a:rPr lang="en-US" sz="1300" i="1" dirty="0">
                <a:solidFill>
                  <a:srgbClr val="D6F2FB"/>
                </a:solidFill>
                <a:latin typeface="Cambria" pitchFamily="34" charset="0"/>
                <a:ea typeface="Cambria" pitchFamily="34" charset="-122"/>
                <a:cs typeface="Cambria" pitchFamily="34" charset="-120"/>
              </a:rPr>
              <a:t>Latitude and Longitude. A new dispatch arrives at the Map Room -- and The Hasty Herald has already rushed to print the claim that latitude and longitude are just numbers on a map.</a:t>
            </a:r>
            <a:endParaRPr lang="en-US" sz="1300" dirty="0"/>
          </a:p>
        </p:txBody>
      </p:sp>
      <p:sp>
        <p:nvSpPr>
          <p:cNvPr id="13" name="Text 10"/>
          <p:cNvSpPr/>
          <p:nvPr/>
        </p:nvSpPr>
        <p:spPr>
          <a:xfrm>
            <a:off x="457200" y="4754880"/>
            <a:ext cx="8229600" cy="256032"/>
          </a:xfrm>
          <a:prstGeom prst="rect">
            <a:avLst/>
          </a:prstGeom>
          <a:noFill/>
          <a:ln/>
        </p:spPr>
        <p:txBody>
          <a:bodyPr wrap="square" rtlCol="0" anchor="ctr"/>
          <a:lstStyle/>
          <a:p>
            <a:pPr algn="ctr" indent="0" marL="0">
              <a:buNone/>
            </a:pPr>
            <a:r>
              <a:rPr lang="en-US" sz="1000" dirty="0">
                <a:solidFill>
                  <a:srgbClr val="7A88A8"/>
                </a:solidFill>
                <a:latin typeface="Calibri" pitchFamily="34" charset="0"/>
                <a:ea typeface="Calibri" pitchFamily="34" charset="-122"/>
                <a:cs typeface="Calibri" pitchFamily="34" charset="-120"/>
              </a:rPr>
              <a:t>Standards: SS.5.A.1.1  |  SS.5.A.1.2  |  SS.5.G.1.1</a:t>
            </a:r>
            <a:endParaRPr lang="en-US" sz="10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22</Slides>
  <Notes>22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22</vt:i4>
      </vt:variant>
    </vt:vector>
  </HeadingPairs>
  <TitlesOfParts>
    <vt:vector size="25"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Optima Academy Online</dc:creator>
  <cp:lastModifiedBy>Optima Academy Online</cp:lastModifiedBy>
  <cp:revision>1</cp:revision>
  <dcterms:created xsi:type="dcterms:W3CDTF">2026-07-16T17:03:22Z</dcterms:created>
  <dcterms:modified xsi:type="dcterms:W3CDTF">2026-07-16T17:03:22Z</dcterms:modified>
</cp:coreProperties>
</file>