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or landscape view of the Andes Mountains with a winding Inca road or Machu Picchu in the distance — dramatic, epic scaleTEACHER: Welcome students to Issue 13. Briefly recap the Aztec Correction from last issue (the team showed that Tenochtitlan was just one part of a vast empire). Introduce today's civilization — the Inca — largest empire in the pre-Columbian Americas. Hold up the Herald's claim for class reaction. Under 2 minutes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Display the Herald's claim. Ask students to react — what feels off about it? Validate that roads DO exist for travel — the Herald isn't fully wrong. But what might they be missing? Use chat frames to prime thinking. Don't reveal the answer yet. Transition: 'Let's get our dispatch from Ms. Avery.'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Warm-lit newsroom interior — desks, maps on walls, editors at work — editorial energy but calm and professionalTEACHER: Read (or paraphrase) Ms. Avery's dispatch. Emphasize the word 'full purpose' — that's the editorial standard today. Point to the beat panel. Transition: 'Let's meet the Inca Empire.'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students through the map. Emphasize scale — 2,500 miles is roughly the distance from New York to Los Angeles. Ask: if YOU were in charge of 12 million people spread across mountains, deserts, and rainforests, how would you keep them connected? Hold that question — the road system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scaffolds Editor's Notebook Question 1 ('Describe at least two features of the Inca road system. What made it remarkable?'). Surface the distinction — the Herald got the physical facts right but stopped there. Prompt students to articulate at least 2 features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overhead view of an Inca road cutting through the Andes, with text overlay — convey power and purpose, not just a pathTEACHER: This is the big reveal. Read each panel aloud. Pause after each one. Ask: 'So was the Herald right that it was just for travel?' Let students articulate the distinction. Key phrase: 'The road WAS the government.' That's the Gazette's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scaffolds Editor's Notebook Question 2 ('How did the road system help the Inca govern their empire? Give at least one specific example.'). Have students identify at least ONE specific example from the right column. Ask: which example is the strongest evidence against the Herald?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We Do moment for Q2. Push students to name a specific example, not just 'it helped them govern.' Model: 'Chasqui relay runners carried messages across the empire in days — that means a ruler in Cusco could respond to a crisis in Ecuador within the week. THAT is governing.' Have 2-3 students share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60-90 seconds of silent observation. Then open discussion using the notice prompts. Key teaching point: the Inca had no metal tools and no wheel — yet they built with precision that modern engineers marvel at. Connect to the road system: the same civilization that fitted stones perfectly also engineered 25,000 miles of mountain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Connect the source study back to the road debate. The stonework proves the Inca were master builders and engineers — which makes the road system's governing purpose even more credible. Transition: 'Now let's check the Herald's claim head-to-head.'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Let students absorb both panels. Ask: 'What's the modern equivalent of the chasqui? (Phone/internet.) What's the modern equivalent of the quipu? (Spreadsheet/database.)' The Inca built sophisticated governing tools — just in a different form. This directly supports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directly scaffolds Editor's Notebook Q3 ('What's partly right about the Herald's claim? What's missing?'). Walk through both columns. Key point: being partly right is different from being fully right. A newspaper that stops at the surface fact misleads its readers just as much as one that lies. That's why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We Do moment for Q3. The word 'just' is key — have students explain why that one word makes the Herald's claim misleading even though the surface facts are correct. This builds the critical thinking skill: partial truths can mislead just as much as lies. Have 2-3 students share full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Connect the Inca story to the bigger idea of infrastructure as governance. Ask: what do roads, internet, and postal systems have in common? They're all tools governments use to reach and connect their people. The Inca solved this with ropes and runners — that's remarkable.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reporter's notebook with a pencil, focused and careful — suggesting deliberate, responsible reportingTEACHER: Ask students to connect responsibility to their own work today. Where did they have to go BEYOND the obvious to find the deeper meaning? This virtue connects directly to the Front Page Brief they're about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 Do — read the model aloud and point to its structure (claim + example + significance). We Do — call on students to fill in the blanks together. You Do — 2-3 minutes of individual writing. Error Analysis — display the weak response and ask what's missing. Tricky question: 'Could a road be BOTH for travel AND for governing at the same time?' (Yes —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every item. Emphasize the word 'exact wording' for all three notebook questions — students should answer THOSE questions, not just write generally. The Archive Line should be one careful, specific sentence — not 'the Inca were important.' Model: 'The Inca road system was the foundation of their government, allowing 12 million people to be connected, taxed, and protected from a single capital without writing or metal tools.'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Republic Gazette newsroom at day's end — warm light, sense of a published edition, satisfied editorsTEACHER: Congratulate students warmly. Restate the key lesson in your own words. Tease the next lesson — the comparison issue. Ask: 'Based on what you know about the Maya, Aztec, and Inca — do you think they all developed the same way?' Let students predict before dismissing. About 1 minute, warm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47472"/>
            <a:ext cx="9144000" cy="347472"/>
          </a:xfrm>
          <a:prstGeom prst="rect">
            <a:avLst/>
          </a:prstGeom>
          <a:solidFill>
            <a:srgbClr val="D4943A">
              <a:alpha val="90000"/>
            </a:srgbClr>
          </a:solidFill>
          <a:ln w="12700">
            <a:solidFill>
              <a:srgbClr val="D4943A"/>
            </a:solidFill>
            <a:prstDash val="solid"/>
          </a:ln>
        </p:spPr>
      </p:sp>
      <p:sp>
        <p:nvSpPr>
          <p:cNvPr id="6" name="Text 3"/>
          <p:cNvSpPr/>
          <p:nvPr/>
        </p:nvSpPr>
        <p:spPr>
          <a:xfrm>
            <a:off x="0" y="347472"/>
            <a:ext cx="9144000" cy="347472"/>
          </a:xfrm>
          <a:prstGeom prst="rect">
            <a:avLst/>
          </a:prstGeom>
          <a:noFill/>
          <a:ln/>
        </p:spPr>
        <p:txBody>
          <a:bodyPr wrap="square"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THE REPUBLIC GAZETTE  ·  Vol. 1  ·  Issue 13  ·  Before Colonization Special Edition</a:t>
            </a:r>
            <a:endParaRPr lang="en-US" sz="1000" dirty="0"/>
          </a:p>
        </p:txBody>
      </p:sp>
      <p:sp>
        <p:nvSpPr>
          <p:cNvPr id="7" name="Text 4"/>
          <p:cNvSpPr/>
          <p:nvPr/>
        </p:nvSpPr>
        <p:spPr>
          <a:xfrm>
            <a:off x="457200" y="54864"/>
            <a:ext cx="8229600" cy="27432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Honest Reporting · Evidence First · For Every Citizen</a:t>
            </a:r>
            <a:endParaRPr lang="en-US" sz="900" dirty="0"/>
          </a:p>
        </p:txBody>
      </p:sp>
      <p:sp>
        <p:nvSpPr>
          <p:cNvPr id="8" name="Text 5"/>
          <p:cNvSpPr/>
          <p:nvPr/>
        </p:nvSpPr>
        <p:spPr>
          <a:xfrm>
            <a:off x="457200" y="914400"/>
            <a:ext cx="8229600" cy="91440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Inca Civilization</a:t>
            </a:r>
            <a:endParaRPr lang="en-US" sz="4800" dirty="0"/>
          </a:p>
        </p:txBody>
      </p:sp>
      <p:sp>
        <p:nvSpPr>
          <p:cNvPr id="9" name="Text 6"/>
          <p:cNvSpPr/>
          <p:nvPr/>
        </p:nvSpPr>
        <p:spPr>
          <a:xfrm>
            <a:off x="457200" y="1874520"/>
            <a:ext cx="8229600" cy="274320"/>
          </a:xfrm>
          <a:prstGeom prst="rect">
            <a:avLst/>
          </a:prstGeom>
          <a:noFill/>
          <a:ln/>
        </p:spPr>
        <p:txBody>
          <a:bodyPr wrap="square" rtlCol="0" anchor="ctr"/>
          <a:lstStyle/>
          <a:p>
            <a:pPr algn="ctr" indent="0" marL="0">
              <a:buNone/>
            </a:pPr>
            <a:r>
              <a:rPr lang="en-US" sz="1100" spc="50" kern="0" dirty="0">
                <a:solidFill>
                  <a:srgbClr val="55C8E8"/>
                </a:solidFill>
                <a:latin typeface="Calibri" pitchFamily="34" charset="0"/>
                <a:ea typeface="Calibri" pitchFamily="34" charset="-122"/>
                <a:cs typeface="Calibri" pitchFamily="34" charset="-120"/>
              </a:rPr>
              <a:t>Lesson 5.03.05  ·  Unit 3: Early American Civilizations  ·  Week 7, Q1</a:t>
            </a:r>
            <a:endParaRPr lang="en-US" sz="1100" dirty="0"/>
          </a:p>
        </p:txBody>
      </p:sp>
      <p:sp>
        <p:nvSpPr>
          <p:cNvPr id="10" name="Shape 7"/>
          <p:cNvSpPr/>
          <p:nvPr/>
        </p:nvSpPr>
        <p:spPr>
          <a:xfrm>
            <a:off x="1371600" y="2286000"/>
            <a:ext cx="6400800" cy="658368"/>
          </a:xfrm>
          <a:prstGeom prst="roundRect">
            <a:avLst>
              <a:gd name="adj" fmla="val 13889"/>
            </a:avLst>
          </a:prstGeom>
          <a:solidFill>
            <a:srgbClr val="1A2D5A">
              <a:alpha val="90000"/>
            </a:srgbClr>
          </a:solidFill>
          <a:ln w="19050">
            <a:solidFill>
              <a:srgbClr val="55C8E8"/>
            </a:solidFill>
            <a:prstDash val="solid"/>
          </a:ln>
        </p:spPr>
      </p:sp>
      <p:sp>
        <p:nvSpPr>
          <p:cNvPr id="11" name="Text 8"/>
          <p:cNvSpPr/>
          <p:nvPr/>
        </p:nvSpPr>
        <p:spPr>
          <a:xfrm>
            <a:off x="1508760" y="2331720"/>
            <a:ext cx="6126480" cy="566928"/>
          </a:xfrm>
          <a:prstGeom prst="rect">
            <a:avLst/>
          </a:prstGeom>
          <a:noFill/>
          <a:ln/>
        </p:spPr>
        <p:txBody>
          <a:bodyPr wrap="square" rtlCol="0" anchor="ctr"/>
          <a:lstStyle/>
          <a:p>
            <a:pPr algn="ctr" indent="0" marL="0">
              <a:buNone/>
            </a:pPr>
            <a:r>
              <a:rPr lang="en-US" sz="1300" i="1" dirty="0">
                <a:solidFill>
                  <a:srgbClr val="D6F2FB"/>
                </a:solidFill>
                <a:latin typeface="Cambria" pitchFamily="34" charset="0"/>
                <a:ea typeface="Cambria" pitchFamily="34" charset="-122"/>
                <a:cs typeface="Cambria" pitchFamily="34" charset="-120"/>
              </a:rPr>
              <a:t>Guiding Question: Was the Inca road system really just for travel — or did it serve a much bigger purpose?</a:t>
            </a:r>
            <a:endParaRPr lang="en-US" sz="1300" dirty="0"/>
          </a:p>
        </p:txBody>
      </p:sp>
      <p:sp>
        <p:nvSpPr>
          <p:cNvPr id="12" name="Shape 9"/>
          <p:cNvSpPr/>
          <p:nvPr/>
        </p:nvSpPr>
        <p:spPr>
          <a:xfrm>
            <a:off x="1645920" y="3127248"/>
            <a:ext cx="5852160" cy="475488"/>
          </a:xfrm>
          <a:prstGeom prst="roundRect">
            <a:avLst>
              <a:gd name="adj" fmla="val 15385"/>
            </a:avLst>
          </a:prstGeom>
          <a:solidFill>
            <a:srgbClr val="E8636B">
              <a:alpha val="85000"/>
            </a:srgbClr>
          </a:solidFill>
          <a:ln w="19050">
            <a:solidFill>
              <a:srgbClr val="E8636B"/>
            </a:solidFill>
            <a:prstDash val="solid"/>
          </a:ln>
        </p:spPr>
      </p:sp>
      <p:sp>
        <p:nvSpPr>
          <p:cNvPr id="13" name="Text 10"/>
          <p:cNvSpPr/>
          <p:nvPr/>
        </p:nvSpPr>
        <p:spPr>
          <a:xfrm>
            <a:off x="1828800" y="3163824"/>
            <a:ext cx="5486400" cy="402336"/>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HASTY HERALD CLAIMS: "The Inca road system was just for travel, not for governing."</a:t>
            </a:r>
            <a:endParaRPr lang="en-US" sz="1050" dirty="0"/>
          </a:p>
        </p:txBody>
      </p:sp>
      <p:sp>
        <p:nvSpPr>
          <p:cNvPr id="14" name="Text 11"/>
          <p:cNvSpPr/>
          <p:nvPr/>
        </p:nvSpPr>
        <p:spPr>
          <a:xfrm>
            <a:off x="457200" y="3749040"/>
            <a:ext cx="8229600" cy="256032"/>
          </a:xfrm>
          <a:prstGeom prst="rect">
            <a:avLst/>
          </a:prstGeom>
          <a:noFill/>
          <a:ln/>
        </p:spPr>
        <p:txBody>
          <a:bodyPr wrap="square" rtlCol="0" anchor="ctr"/>
          <a:lstStyle/>
          <a:p>
            <a:pPr algn="ctr" indent="0" marL="0">
              <a:buNone/>
            </a:pPr>
            <a:r>
              <a:rPr lang="en-US" sz="950" b="1" spc="80" kern="0" dirty="0">
                <a:solidFill>
                  <a:srgbClr val="D4943A"/>
                </a:solidFill>
                <a:latin typeface="Calibri" pitchFamily="34" charset="0"/>
                <a:ea typeface="Calibri" pitchFamily="34" charset="-122"/>
                <a:cs typeface="Calibri" pitchFamily="34" charset="-120"/>
              </a:rPr>
              <a:t>Virtue: Responsibility  ·  SS.5.A.2.1 · SS.5.G.1.1 · SS.5.G.1.4</a:t>
            </a:r>
            <a:endParaRPr lang="en-US" sz="950" dirty="0"/>
          </a:p>
        </p:txBody>
      </p:sp>
      <p:sp>
        <p:nvSpPr>
          <p:cNvPr id="15" name="Text 12"/>
          <p:cNvSpPr/>
          <p:nvPr/>
        </p:nvSpPr>
        <p:spPr>
          <a:xfrm>
            <a:off x="457200" y="4069080"/>
            <a:ext cx="8229600" cy="274320"/>
          </a:xfrm>
          <a:prstGeom prst="rect">
            <a:avLst/>
          </a:prstGeom>
          <a:noFill/>
          <a:ln/>
        </p:spPr>
        <p:txBody>
          <a:bodyPr wrap="square" rtlCol="0" anchor="ctr"/>
          <a:lstStyle/>
          <a:p>
            <a:pPr algn="ctr" indent="0" marL="0">
              <a:buNone/>
            </a:pPr>
            <a:r>
              <a:rPr lang="en-US" sz="1050" i="1" dirty="0">
                <a:solidFill>
                  <a:srgbClr val="B0C8E8"/>
                </a:solidFill>
                <a:latin typeface="Calibri" pitchFamily="34" charset="0"/>
                <a:ea typeface="Calibri" pitchFamily="34" charset="-122"/>
                <a:cs typeface="Calibri" pitchFamily="34" charset="-120"/>
              </a:rPr>
              <a:t>You are a Junior Editor on the Front Page Desk at The Republic Gazette.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E8636B"/>
          </a:solidFill>
          <a:ln w="12700">
            <a:solidFill>
              <a:srgbClr val="E8636B"/>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THE HASTY HERALD  ·  Rushed to Print!</a:t>
            </a:r>
            <a:endParaRPr lang="en-US" sz="1100" dirty="0"/>
          </a:p>
        </p:txBody>
      </p:sp>
      <p:sp>
        <p:nvSpPr>
          <p:cNvPr id="5" name="Shape 3"/>
          <p:cNvSpPr/>
          <p:nvPr/>
        </p:nvSpPr>
        <p:spPr>
          <a:xfrm>
            <a:off x="274320" y="640080"/>
            <a:ext cx="4023360" cy="2560320"/>
          </a:xfrm>
          <a:prstGeom prst="roundRect">
            <a:avLst>
              <a:gd name="adj" fmla="val 4286"/>
            </a:avLst>
          </a:prstGeom>
          <a:solidFill>
            <a:srgbClr val="FFFFFF"/>
          </a:solidFill>
          <a:ln w="25400">
            <a:solidFill>
              <a:srgbClr val="E8636B"/>
            </a:solidFill>
            <a:prstDash val="solid"/>
          </a:ln>
        </p:spPr>
      </p:sp>
      <p:sp>
        <p:nvSpPr>
          <p:cNvPr id="6" name="Text 4"/>
          <p:cNvSpPr/>
          <p:nvPr/>
        </p:nvSpPr>
        <p:spPr>
          <a:xfrm>
            <a:off x="320040" y="685800"/>
            <a:ext cx="3931920" cy="292608"/>
          </a:xfrm>
          <a:prstGeom prst="rect">
            <a:avLst/>
          </a:prstGeom>
          <a:noFill/>
          <a:ln/>
        </p:spPr>
        <p:txBody>
          <a:bodyPr wrap="square" rtlCol="0" anchor="ctr"/>
          <a:lstStyle/>
          <a:p>
            <a:pPr algn="ctr" indent="0" marL="0">
              <a:buNone/>
            </a:pPr>
            <a:r>
              <a:rPr lang="en-US" sz="1100" b="1" spc="200" kern="0" dirty="0">
                <a:solidFill>
                  <a:srgbClr val="E8636B"/>
                </a:solidFill>
                <a:latin typeface="Cambria" pitchFamily="34" charset="0"/>
                <a:ea typeface="Cambria" pitchFamily="34" charset="-122"/>
                <a:cs typeface="Cambria" pitchFamily="34" charset="-120"/>
              </a:rPr>
              <a:t>THE HASTY HERALD</a:t>
            </a:r>
            <a:endParaRPr lang="en-US" sz="1100" dirty="0"/>
          </a:p>
        </p:txBody>
      </p:sp>
      <p:sp>
        <p:nvSpPr>
          <p:cNvPr id="7" name="Text 5"/>
          <p:cNvSpPr/>
          <p:nvPr/>
        </p:nvSpPr>
        <p:spPr>
          <a:xfrm>
            <a:off x="320040" y="960120"/>
            <a:ext cx="3931920" cy="201168"/>
          </a:xfrm>
          <a:prstGeom prst="rect">
            <a:avLst/>
          </a:prstGeom>
          <a:noFill/>
          <a:ln/>
        </p:spPr>
        <p:txBody>
          <a:bodyPr wrap="square" rtlCol="0" anchor="ctr"/>
          <a:lstStyle/>
          <a:p>
            <a:pPr algn="ctr" indent="0" marL="0">
              <a:buNone/>
            </a:pPr>
            <a:r>
              <a:rPr lang="en-US" sz="850" i="1" dirty="0">
                <a:solidFill>
                  <a:srgbClr val="7A88A8"/>
                </a:solidFill>
                <a:latin typeface="Calibri" pitchFamily="34" charset="0"/>
                <a:ea typeface="Calibri" pitchFamily="34" charset="-122"/>
                <a:cs typeface="Calibri" pitchFamily="34" charset="-120"/>
              </a:rPr>
              <a:t>Today's News · Yesterday · Maybe</a:t>
            </a:r>
            <a:endParaRPr lang="en-US" sz="850" dirty="0"/>
          </a:p>
        </p:txBody>
      </p:sp>
      <p:sp>
        <p:nvSpPr>
          <p:cNvPr id="8" name="Shape 6"/>
          <p:cNvSpPr/>
          <p:nvPr/>
        </p:nvSpPr>
        <p:spPr>
          <a:xfrm>
            <a:off x="457200" y="1170432"/>
            <a:ext cx="3657600" cy="18288"/>
          </a:xfrm>
          <a:prstGeom prst="rect">
            <a:avLst/>
          </a:prstGeom>
          <a:solidFill>
            <a:srgbClr val="E8636B"/>
          </a:solidFill>
          <a:ln w="12700">
            <a:solidFill>
              <a:srgbClr val="E8636B"/>
            </a:solidFill>
            <a:prstDash val="solid"/>
          </a:ln>
        </p:spPr>
      </p:sp>
      <p:sp>
        <p:nvSpPr>
          <p:cNvPr id="9" name="Text 7"/>
          <p:cNvSpPr/>
          <p:nvPr/>
        </p:nvSpPr>
        <p:spPr>
          <a:xfrm>
            <a:off x="365760" y="1234440"/>
            <a:ext cx="3840480" cy="457200"/>
          </a:xfrm>
          <a:prstGeom prst="rect">
            <a:avLst/>
          </a:prstGeom>
          <a:noFill/>
          <a:ln/>
        </p:spPr>
        <p:txBody>
          <a:bodyPr wrap="square" rtlCol="0" anchor="ctr"/>
          <a:lstStyle/>
          <a:p>
            <a:pPr algn="ctr" indent="0" marL="0">
              <a:buNone/>
            </a:pPr>
            <a:r>
              <a:rPr lang="en-US" sz="1400" b="1" dirty="0">
                <a:solidFill>
                  <a:srgbClr val="1A1A2E"/>
                </a:solidFill>
                <a:latin typeface="Cambria" pitchFamily="34" charset="0"/>
                <a:ea typeface="Cambria" pitchFamily="34" charset="-122"/>
                <a:cs typeface="Cambria" pitchFamily="34" charset="-120"/>
              </a:rPr>
              <a:t>Inca Roads: Just Paths in the Mountains!</a:t>
            </a:r>
            <a:endParaRPr lang="en-US" sz="1400" dirty="0"/>
          </a:p>
        </p:txBody>
      </p:sp>
      <p:sp>
        <p:nvSpPr>
          <p:cNvPr id="10" name="Text 8"/>
          <p:cNvSpPr/>
          <p:nvPr/>
        </p:nvSpPr>
        <p:spPr>
          <a:xfrm>
            <a:off x="457200" y="1737360"/>
            <a:ext cx="3657600" cy="457200"/>
          </a:xfrm>
          <a:prstGeom prst="rect">
            <a:avLst/>
          </a:prstGeom>
          <a:noFill/>
          <a:ln/>
        </p:spPr>
        <p:txBody>
          <a:bodyPr wrap="square" rtlCol="0" anchor="ctr"/>
          <a:lstStyle/>
          <a:p>
            <a:pPr algn="ctr" indent="0" marL="0">
              <a:buNone/>
            </a:pPr>
            <a:r>
              <a:rPr lang="en-US" sz="1100" i="1" dirty="0">
                <a:solidFill>
                  <a:srgbClr val="3A3A5A"/>
                </a:solidFill>
                <a:latin typeface="Calibri" pitchFamily="34" charset="0"/>
                <a:ea typeface="Calibri" pitchFamily="34" charset="-122"/>
                <a:cs typeface="Calibri" pitchFamily="34" charset="-120"/>
              </a:rPr>
              <a:t>The Inca road system was just for travel, not for governing.</a:t>
            </a:r>
            <a:endParaRPr lang="en-US" sz="1100" dirty="0"/>
          </a:p>
        </p:txBody>
      </p:sp>
      <p:sp>
        <p:nvSpPr>
          <p:cNvPr id="11" name="Shape 9"/>
          <p:cNvSpPr/>
          <p:nvPr/>
        </p:nvSpPr>
        <p:spPr>
          <a:xfrm>
            <a:off x="822960" y="2286000"/>
            <a:ext cx="2560320" cy="320040"/>
          </a:xfrm>
          <a:prstGeom prst="roundRect">
            <a:avLst>
              <a:gd name="adj" fmla="val 22857"/>
            </a:avLst>
          </a:prstGeom>
          <a:solidFill>
            <a:srgbClr val="E8636B"/>
          </a:solidFill>
          <a:ln w="12700">
            <a:solidFill>
              <a:srgbClr val="E8636B"/>
            </a:solidFill>
            <a:prstDash val="solid"/>
          </a:ln>
        </p:spPr>
      </p:sp>
      <p:sp>
        <p:nvSpPr>
          <p:cNvPr id="12" name="Text 10"/>
          <p:cNvSpPr/>
          <p:nvPr/>
        </p:nvSpPr>
        <p:spPr>
          <a:xfrm>
            <a:off x="822960" y="2304288"/>
            <a:ext cx="2560320" cy="283464"/>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RUSHED TO PRINT!</a:t>
            </a:r>
            <a:endParaRPr lang="en-US" sz="1000" dirty="0"/>
          </a:p>
        </p:txBody>
      </p:sp>
      <p:sp>
        <p:nvSpPr>
          <p:cNvPr id="13" name="Text 11"/>
          <p:cNvSpPr/>
          <p:nvPr/>
        </p:nvSpPr>
        <p:spPr>
          <a:xfrm>
            <a:off x="320040" y="2788920"/>
            <a:ext cx="3931920" cy="228600"/>
          </a:xfrm>
          <a:prstGeom prst="rect">
            <a:avLst/>
          </a:prstGeom>
          <a:noFill/>
          <a:ln/>
        </p:spPr>
        <p:txBody>
          <a:bodyPr wrap="square" rtlCol="0" anchor="ctr"/>
          <a:lstStyle/>
          <a:p>
            <a:pPr algn="ctr" indent="0" marL="0">
              <a:buNone/>
            </a:pPr>
            <a:r>
              <a:rPr lang="en-US" sz="850" i="1" dirty="0">
                <a:solidFill>
                  <a:srgbClr val="7A88A8"/>
                </a:solidFill>
                <a:latin typeface="Calibri" pitchFamily="34" charset="0"/>
                <a:ea typeface="Calibri" pitchFamily="34" charset="-122"/>
                <a:cs typeface="Calibri" pitchFamily="34" charset="-120"/>
              </a:rPr>
              <a:t>Filed by The Herald, minutes ago</a:t>
            </a:r>
            <a:endParaRPr lang="en-US" sz="850" dirty="0"/>
          </a:p>
        </p:txBody>
      </p:sp>
      <p:sp>
        <p:nvSpPr>
          <p:cNvPr id="14" name="Shape 12"/>
          <p:cNvSpPr/>
          <p:nvPr/>
        </p:nvSpPr>
        <p:spPr>
          <a:xfrm>
            <a:off x="4572000" y="621792"/>
            <a:ext cx="4114800" cy="1691640"/>
          </a:xfrm>
          <a:prstGeom prst="roundRect">
            <a:avLst>
              <a:gd name="adj" fmla="val 6486"/>
            </a:avLst>
          </a:prstGeom>
          <a:solidFill>
            <a:srgbClr val="1A2D5A"/>
          </a:solidFill>
          <a:ln w="12700">
            <a:solidFill>
              <a:srgbClr val="2A4070"/>
            </a:solidFill>
            <a:prstDash val="solid"/>
          </a:ln>
        </p:spPr>
      </p:sp>
      <p:sp>
        <p:nvSpPr>
          <p:cNvPr id="15" name="Text 13"/>
          <p:cNvSpPr/>
          <p:nvPr/>
        </p:nvSpPr>
        <p:spPr>
          <a:xfrm>
            <a:off x="4709160" y="676656"/>
            <a:ext cx="38404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4754880" y="941832"/>
            <a:ext cx="3749040" cy="12801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 you notice about the Herald's claim? Is it completely wrong — or just incomplete?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you need to know before deciding if roads are 'just for travel'?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might a reporter rush to the obvious surface fact and miss the deeper story?</a:t>
            </a:r>
            <a:endParaRPr lang="en-US" sz="1100" dirty="0"/>
          </a:p>
        </p:txBody>
      </p:sp>
      <p:sp>
        <p:nvSpPr>
          <p:cNvPr id="17" name="Shape 15"/>
          <p:cNvSpPr/>
          <p:nvPr/>
        </p:nvSpPr>
        <p:spPr>
          <a:xfrm>
            <a:off x="4572000" y="2423160"/>
            <a:ext cx="4114800" cy="1371600"/>
          </a:xfrm>
          <a:prstGeom prst="roundRect">
            <a:avLst>
              <a:gd name="adj" fmla="val 8000"/>
            </a:avLst>
          </a:prstGeom>
          <a:solidFill>
            <a:srgbClr val="FFF3DC"/>
          </a:solidFill>
          <a:ln w="19050">
            <a:solidFill>
              <a:srgbClr val="F5E6C8"/>
            </a:solidFill>
            <a:prstDash val="solid"/>
          </a:ln>
        </p:spPr>
      </p:sp>
      <p:sp>
        <p:nvSpPr>
          <p:cNvPr id="18" name="Text 16"/>
          <p:cNvSpPr/>
          <p:nvPr/>
        </p:nvSpPr>
        <p:spPr>
          <a:xfrm>
            <a:off x="4709160" y="247802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4709160" y="2679192"/>
            <a:ext cx="384048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Herald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road could also be used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"Before I agree or disagree, I would want to know..."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56032"/>
            <a:ext cx="8229600" cy="274320"/>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FROM THE EDITOR'S DESK</a:t>
            </a:r>
            <a:endParaRPr lang="en-US" sz="900" dirty="0"/>
          </a:p>
        </p:txBody>
      </p:sp>
      <p:sp>
        <p:nvSpPr>
          <p:cNvPr id="6" name="Text 3"/>
          <p:cNvSpPr/>
          <p:nvPr/>
        </p:nvSpPr>
        <p:spPr>
          <a:xfrm>
            <a:off x="457200" y="566928"/>
            <a:ext cx="8229600" cy="5029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Today's Dispatch</a:t>
            </a:r>
            <a:endParaRPr lang="en-US" sz="3000" dirty="0"/>
          </a:p>
        </p:txBody>
      </p:sp>
      <p:sp>
        <p:nvSpPr>
          <p:cNvPr id="7" name="Shape 4"/>
          <p:cNvSpPr/>
          <p:nvPr/>
        </p:nvSpPr>
        <p:spPr>
          <a:xfrm>
            <a:off x="365760" y="1170432"/>
            <a:ext cx="5029200" cy="2286000"/>
          </a:xfrm>
          <a:prstGeom prst="roundRect">
            <a:avLst>
              <a:gd name="adj" fmla="val 4800"/>
            </a:avLst>
          </a:prstGeom>
          <a:solidFill>
            <a:srgbClr val="0E1C42">
              <a:alpha val="80000"/>
            </a:srgbClr>
          </a:solidFill>
          <a:ln w="25400">
            <a:solidFill>
              <a:srgbClr val="D4943A"/>
            </a:solidFill>
            <a:prstDash val="solid"/>
          </a:ln>
        </p:spPr>
      </p:sp>
      <p:sp>
        <p:nvSpPr>
          <p:cNvPr id="8" name="Text 5"/>
          <p:cNvSpPr/>
          <p:nvPr/>
        </p:nvSpPr>
        <p:spPr>
          <a:xfrm>
            <a:off x="548640" y="1234440"/>
            <a:ext cx="466344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Ms. Avery — Editor-in-Chief</a:t>
            </a:r>
            <a:endParaRPr lang="en-US" sz="1000" dirty="0"/>
          </a:p>
        </p:txBody>
      </p:sp>
      <p:sp>
        <p:nvSpPr>
          <p:cNvPr id="9" name="Text 6"/>
          <p:cNvSpPr/>
          <p:nvPr/>
        </p:nvSpPr>
        <p:spPr>
          <a:xfrm>
            <a:off x="548640" y="1536192"/>
            <a:ext cx="4663440" cy="1828800"/>
          </a:xfrm>
          <a:prstGeom prst="rect">
            <a:avLst/>
          </a:prstGeom>
          <a:noFill/>
          <a:ln/>
        </p:spPr>
        <p:txBody>
          <a:bodyPr wrap="square" rtlCol="0" anchor="t"/>
          <a:lstStyle/>
          <a:p>
            <a:pPr indent="0" marL="0">
              <a:buNone/>
            </a:pPr>
            <a:r>
              <a:rPr lang="en-US" sz="1100" dirty="0">
                <a:solidFill>
                  <a:srgbClr val="D6F2FB"/>
                </a:solidFill>
                <a:latin typeface="Calibri" pitchFamily="34" charset="0"/>
                <a:ea typeface="Calibri" pitchFamily="34" charset="-122"/>
                <a:cs typeface="Calibri" pitchFamily="34" charset="-120"/>
              </a:rPr>
              <a:t>Last issue, the Gazette corrected the Herald's oversimplified story about the Aztec. Now a new file arrives: 5.03.05 — Inca Civilization.</a:t>
            </a:r>
            <a:endParaRPr lang="en-US" sz="1100" dirty="0"/>
          </a:p>
          <a:p>
            <a:pPr indent="0" marL="0">
              <a:buNone/>
            </a:pPr>
            <a:endParaRPr lang="en-US" sz="1100" dirty="0"/>
          </a:p>
          <a:p>
            <a:pPr indent="0" marL="0">
              <a:buNone/>
            </a:pPr>
            <a:r>
              <a:rPr lang="en-US" sz="1100" dirty="0">
                <a:solidFill>
                  <a:srgbClr val="D6F2FB"/>
                </a:solidFill>
                <a:latin typeface="Calibri" pitchFamily="34" charset="0"/>
                <a:ea typeface="Calibri" pitchFamily="34" charset="-122"/>
                <a:cs typeface="Calibri" pitchFamily="34" charset="-120"/>
              </a:rPr>
              <a:t>High in the Andes Mountains, the Inca built the largest empire in the Americas — connecting thousands of miles of mountains, valleys, and coastline with a road system unlike anything else in the ancient world.</a:t>
            </a:r>
            <a:endParaRPr lang="en-US" sz="1100" dirty="0"/>
          </a:p>
          <a:p>
            <a:pPr indent="0" marL="0">
              <a:buNone/>
            </a:pPr>
            <a:endParaRPr lang="en-US" sz="1100" dirty="0"/>
          </a:p>
          <a:p>
            <a:pPr indent="0" marL="0">
              <a:buNone/>
            </a:pPr>
            <a:r>
              <a:rPr lang="en-US" sz="1100" dirty="0">
                <a:solidFill>
                  <a:srgbClr val="D6F2FB"/>
                </a:solidFill>
                <a:latin typeface="Calibri" pitchFamily="34" charset="0"/>
                <a:ea typeface="Calibri" pitchFamily="34" charset="-122"/>
                <a:cs typeface="Calibri" pitchFamily="34" charset="-120"/>
              </a:rPr>
              <a:t>The Herald has already rushed their version to print. Junior Editors, your job is to find out what the roads actually meant.</a:t>
            </a:r>
            <a:endParaRPr lang="en-US" sz="1100" dirty="0"/>
          </a:p>
        </p:txBody>
      </p:sp>
      <p:sp>
        <p:nvSpPr>
          <p:cNvPr id="10" name="Shape 7"/>
          <p:cNvSpPr/>
          <p:nvPr/>
        </p:nvSpPr>
        <p:spPr>
          <a:xfrm>
            <a:off x="5577840" y="1170432"/>
            <a:ext cx="3200400" cy="2286000"/>
          </a:xfrm>
          <a:prstGeom prst="roundRect">
            <a:avLst>
              <a:gd name="adj" fmla="val 4800"/>
            </a:avLst>
          </a:prstGeom>
          <a:solidFill>
            <a:srgbClr val="1A2D5A"/>
          </a:solidFill>
          <a:ln w="19050">
            <a:solidFill>
              <a:srgbClr val="55C8E8"/>
            </a:solidFill>
            <a:prstDash val="solid"/>
          </a:ln>
        </p:spPr>
      </p:sp>
      <p:sp>
        <p:nvSpPr>
          <p:cNvPr id="11" name="Text 8"/>
          <p:cNvSpPr/>
          <p:nvPr/>
        </p:nvSpPr>
        <p:spPr>
          <a:xfrm>
            <a:off x="5715000" y="1234440"/>
            <a:ext cx="292608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BEAT</a:t>
            </a:r>
            <a:endParaRPr lang="en-US" sz="900" dirty="0"/>
          </a:p>
        </p:txBody>
      </p:sp>
      <p:sp>
        <p:nvSpPr>
          <p:cNvPr id="12" name="Text 9"/>
          <p:cNvSpPr/>
          <p:nvPr/>
        </p:nvSpPr>
        <p:spPr>
          <a:xfrm>
            <a:off x="5715000" y="1508760"/>
            <a:ext cx="2926080" cy="1828800"/>
          </a:xfrm>
          <a:prstGeom prst="rect">
            <a:avLst/>
          </a:prstGeom>
          <a:noFill/>
          <a:ln/>
        </p:spPr>
        <p:txBody>
          <a:bodyPr wrap="square" rtlCol="0" anchor="t"/>
          <a:lstStyle/>
          <a:p>
            <a:pPr indent="0" marL="0">
              <a:spcAft>
                <a:spcPts val="500"/>
              </a:spcAft>
              <a:buNone/>
            </a:pPr>
            <a:r>
              <a:rPr lang="en-US" sz="1100" dirty="0">
                <a:solidFill>
                  <a:srgbClr val="D6F2FB"/>
                </a:solidFill>
                <a:latin typeface="Calibri" pitchFamily="34" charset="0"/>
                <a:ea typeface="Calibri" pitchFamily="34" charset="-122"/>
                <a:cs typeface="Calibri" pitchFamily="34" charset="-120"/>
              </a:rPr>
              <a:t>▸  Desk: Front Page</a:t>
            </a:r>
            <a:endParaRPr lang="en-US" sz="1100" dirty="0"/>
          </a:p>
          <a:p>
            <a:pPr indent="0" marL="0">
              <a:spcAft>
                <a:spcPts val="500"/>
              </a:spcAft>
              <a:buNone/>
            </a:pPr>
            <a:r>
              <a:rPr lang="en-US" sz="1100" dirty="0">
                <a:solidFill>
                  <a:srgbClr val="D6F2FB"/>
                </a:solidFill>
                <a:latin typeface="Calibri" pitchFamily="34" charset="0"/>
                <a:ea typeface="Calibri" pitchFamily="34" charset="-122"/>
                <a:cs typeface="Calibri" pitchFamily="34" charset="-120"/>
              </a:rPr>
              <a:t>▸  Role: Junior Editor</a:t>
            </a:r>
            <a:endParaRPr lang="en-US" sz="1100" dirty="0"/>
          </a:p>
          <a:p>
            <a:pPr indent="0" marL="0">
              <a:spcAft>
                <a:spcPts val="500"/>
              </a:spcAft>
              <a:buNone/>
            </a:pPr>
            <a:r>
              <a:rPr lang="en-US" sz="1100" dirty="0">
                <a:solidFill>
                  <a:srgbClr val="D6F2FB"/>
                </a:solidFill>
                <a:latin typeface="Calibri" pitchFamily="34" charset="0"/>
                <a:ea typeface="Calibri" pitchFamily="34" charset="-122"/>
                <a:cs typeface="Calibri" pitchFamily="34" charset="-120"/>
              </a:rPr>
              <a:t>▸  Topic: Inca Civilization</a:t>
            </a:r>
            <a:endParaRPr lang="en-US" sz="1100" dirty="0"/>
          </a:p>
          <a:p>
            <a:pPr indent="0" marL="0">
              <a:spcAft>
                <a:spcPts val="500"/>
              </a:spcAft>
              <a:buNone/>
            </a:pPr>
            <a:r>
              <a:rPr lang="en-US" sz="1100" dirty="0">
                <a:solidFill>
                  <a:srgbClr val="D6F2FB"/>
                </a:solidFill>
                <a:latin typeface="Calibri" pitchFamily="34" charset="0"/>
                <a:ea typeface="Calibri" pitchFamily="34" charset="-122"/>
                <a:cs typeface="Calibri" pitchFamily="34" charset="-120"/>
              </a:rPr>
              <a:t>▸  Mission: Report the FULL purpose of the Inca road system</a:t>
            </a:r>
            <a:endParaRPr lang="en-US" sz="1100" dirty="0"/>
          </a:p>
          <a:p>
            <a:pPr indent="0" marL="0">
              <a:spcAft>
                <a:spcPts val="500"/>
              </a:spcAft>
              <a:buNone/>
            </a:pPr>
            <a:r>
              <a:rPr lang="en-US" sz="1100" dirty="0">
                <a:solidFill>
                  <a:srgbClr val="D6F2FB"/>
                </a:solidFill>
                <a:latin typeface="Calibri" pitchFamily="34" charset="0"/>
                <a:ea typeface="Calibri" pitchFamily="34" charset="-122"/>
                <a:cs typeface="Calibri" pitchFamily="34" charset="-120"/>
              </a:rPr>
              <a:t>▸  Rival: The Hasty Herald is already in print</a:t>
            </a:r>
            <a:endParaRPr lang="en-US" sz="1100" dirty="0"/>
          </a:p>
        </p:txBody>
      </p:sp>
      <p:sp>
        <p:nvSpPr>
          <p:cNvPr id="13" name="Shape 10"/>
          <p:cNvSpPr/>
          <p:nvPr/>
        </p:nvSpPr>
        <p:spPr>
          <a:xfrm>
            <a:off x="365760" y="3657600"/>
            <a:ext cx="8412480" cy="548640"/>
          </a:xfrm>
          <a:prstGeom prst="roundRect">
            <a:avLst>
              <a:gd name="adj" fmla="val 16667"/>
            </a:avLst>
          </a:prstGeom>
          <a:solidFill>
            <a:srgbClr val="34B76F">
              <a:alpha val="80000"/>
            </a:srgbClr>
          </a:solidFill>
          <a:ln w="12700">
            <a:solidFill>
              <a:srgbClr val="34B76F"/>
            </a:solidFill>
            <a:prstDash val="solid"/>
          </a:ln>
        </p:spPr>
      </p:sp>
      <p:sp>
        <p:nvSpPr>
          <p:cNvPr id="14" name="Text 11"/>
          <p:cNvSpPr/>
          <p:nvPr/>
        </p:nvSpPr>
        <p:spPr>
          <a:xfrm>
            <a:off x="548640" y="3703320"/>
            <a:ext cx="8046720"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Virtue Lens — Responsibility: A responsible editor reports the FULL purpose behind the facts, not just the surface.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CLUE BOX 1  ·  Meet the Inca Empire</a:t>
            </a:r>
            <a:endParaRPr lang="en-US" sz="1100" dirty="0"/>
          </a:p>
        </p:txBody>
      </p:sp>
      <p:sp>
        <p:nvSpPr>
          <p:cNvPr id="5" name="Shape 3"/>
          <p:cNvSpPr/>
          <p:nvPr/>
        </p:nvSpPr>
        <p:spPr>
          <a:xfrm>
            <a:off x="274320" y="594360"/>
            <a:ext cx="411480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274320" y="59436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868680"/>
            <a:ext cx="384048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South America showing the Inca Empire (Tawantinsuyu) stretching ~2,500 miles along the Andes from present-day Colombia/Ecuador to Chile, with Cusco marked as the capital in Peru</a:t>
            </a:r>
            <a:endParaRPr lang="en-US" sz="1100" dirty="0"/>
          </a:p>
        </p:txBody>
      </p:sp>
      <p:sp>
        <p:nvSpPr>
          <p:cNvPr id="8" name="Shape 6"/>
          <p:cNvSpPr/>
          <p:nvPr/>
        </p:nvSpPr>
        <p:spPr>
          <a:xfrm>
            <a:off x="4617720" y="594360"/>
            <a:ext cx="4114800" cy="3474720"/>
          </a:xfrm>
          <a:prstGeom prst="roundRect">
            <a:avLst>
              <a:gd name="adj" fmla="val 3158"/>
            </a:avLst>
          </a:prstGeom>
          <a:solidFill>
            <a:srgbClr val="FFFFFF"/>
          </a:solidFill>
          <a:ln w="12700">
            <a:solidFill>
              <a:srgbClr val="B0B8CC"/>
            </a:solidFill>
            <a:prstDash val="solid"/>
          </a:ln>
        </p:spPr>
      </p:sp>
      <p:sp>
        <p:nvSpPr>
          <p:cNvPr id="9" name="Text 7"/>
          <p:cNvSpPr/>
          <p:nvPr/>
        </p:nvSpPr>
        <p:spPr>
          <a:xfrm>
            <a:off x="4754880" y="658368"/>
            <a:ext cx="384048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FAST FACTS — INCA EMPIRE</a:t>
            </a:r>
            <a:endParaRPr lang="en-US" sz="900" dirty="0"/>
          </a:p>
        </p:txBody>
      </p:sp>
      <p:sp>
        <p:nvSpPr>
          <p:cNvPr id="10" name="Text 8"/>
          <p:cNvSpPr/>
          <p:nvPr/>
        </p:nvSpPr>
        <p:spPr>
          <a:xfrm>
            <a:off x="4754880" y="960120"/>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Name: </a:t>
            </a:r>
            <a:pPr indent="0" marL="0">
              <a:buNone/>
            </a:pPr>
            <a:r>
              <a:rPr lang="en-US" sz="1050" dirty="0">
                <a:solidFill>
                  <a:srgbClr val="3A3A5A"/>
                </a:solidFill>
                <a:latin typeface="Calibri" pitchFamily="34" charset="0"/>
                <a:ea typeface="Calibri" pitchFamily="34" charset="-122"/>
                <a:cs typeface="Calibri" pitchFamily="34" charset="-120"/>
              </a:rPr>
              <a:t>Tawantinsuyu — "Land of Four Quarters"</a:t>
            </a:r>
            <a:endParaRPr lang="en-US" sz="1050" dirty="0"/>
          </a:p>
        </p:txBody>
      </p:sp>
      <p:sp>
        <p:nvSpPr>
          <p:cNvPr id="11" name="Text 9"/>
          <p:cNvSpPr/>
          <p:nvPr/>
        </p:nvSpPr>
        <p:spPr>
          <a:xfrm>
            <a:off x="4754880" y="1362456"/>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Location: </a:t>
            </a:r>
            <a:pPr indent="0" marL="0">
              <a:buNone/>
            </a:pPr>
            <a:r>
              <a:rPr lang="en-US" sz="1050" dirty="0">
                <a:solidFill>
                  <a:srgbClr val="3A3A5A"/>
                </a:solidFill>
                <a:latin typeface="Calibri" pitchFamily="34" charset="0"/>
                <a:ea typeface="Calibri" pitchFamily="34" charset="-122"/>
                <a:cs typeface="Calibri" pitchFamily="34" charset="-120"/>
              </a:rPr>
              <a:t>Western coast &amp; Andes, South America</a:t>
            </a:r>
            <a:endParaRPr lang="en-US" sz="1050" dirty="0"/>
          </a:p>
        </p:txBody>
      </p:sp>
      <p:sp>
        <p:nvSpPr>
          <p:cNvPr id="12" name="Text 10"/>
          <p:cNvSpPr/>
          <p:nvPr/>
        </p:nvSpPr>
        <p:spPr>
          <a:xfrm>
            <a:off x="4754880" y="1764792"/>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Extent: </a:t>
            </a:r>
            <a:pPr indent="0" marL="0">
              <a:buNone/>
            </a:pPr>
            <a:r>
              <a:rPr lang="en-US" sz="1050" dirty="0">
                <a:solidFill>
                  <a:srgbClr val="3A3A5A"/>
                </a:solidFill>
                <a:latin typeface="Calibri" pitchFamily="34" charset="0"/>
                <a:ea typeface="Calibri" pitchFamily="34" charset="-122"/>
                <a:cs typeface="Calibri" pitchFamily="34" charset="-120"/>
              </a:rPr>
              <a:t>~2,500 miles (Colombia to Chile)</a:t>
            </a:r>
            <a:endParaRPr lang="en-US" sz="1050" dirty="0"/>
          </a:p>
        </p:txBody>
      </p:sp>
      <p:sp>
        <p:nvSpPr>
          <p:cNvPr id="13" name="Text 11"/>
          <p:cNvSpPr/>
          <p:nvPr/>
        </p:nvSpPr>
        <p:spPr>
          <a:xfrm>
            <a:off x="4754880" y="2167128"/>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Capital: </a:t>
            </a:r>
            <a:pPr indent="0" marL="0">
              <a:buNone/>
            </a:pPr>
            <a:r>
              <a:rPr lang="en-US" sz="1050" dirty="0">
                <a:solidFill>
                  <a:srgbClr val="3A3A5A"/>
                </a:solidFill>
                <a:latin typeface="Calibri" pitchFamily="34" charset="0"/>
                <a:ea typeface="Calibri" pitchFamily="34" charset="-122"/>
                <a:cs typeface="Calibri" pitchFamily="34" charset="-120"/>
              </a:rPr>
              <a:t>Cusco, present-day Peru</a:t>
            </a:r>
            <a:endParaRPr lang="en-US" sz="1050" dirty="0"/>
          </a:p>
        </p:txBody>
      </p:sp>
      <p:sp>
        <p:nvSpPr>
          <p:cNvPr id="14" name="Text 12"/>
          <p:cNvSpPr/>
          <p:nvPr/>
        </p:nvSpPr>
        <p:spPr>
          <a:xfrm>
            <a:off x="4754880" y="2569464"/>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Peak: </a:t>
            </a:r>
            <a:pPr indent="0" marL="0">
              <a:buNone/>
            </a:pPr>
            <a:r>
              <a:rPr lang="en-US" sz="1050" dirty="0">
                <a:solidFill>
                  <a:srgbClr val="3A3A5A"/>
                </a:solidFill>
                <a:latin typeface="Calibri" pitchFamily="34" charset="0"/>
                <a:ea typeface="Calibri" pitchFamily="34" charset="-122"/>
                <a:cs typeface="Calibri" pitchFamily="34" charset="-120"/>
              </a:rPr>
              <a:t>Early 1500s — largest empire in the Americas</a:t>
            </a:r>
            <a:endParaRPr lang="en-US" sz="1050" dirty="0"/>
          </a:p>
        </p:txBody>
      </p:sp>
      <p:sp>
        <p:nvSpPr>
          <p:cNvPr id="15" name="Text 13"/>
          <p:cNvSpPr/>
          <p:nvPr/>
        </p:nvSpPr>
        <p:spPr>
          <a:xfrm>
            <a:off x="4754880" y="2971800"/>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Population: </a:t>
            </a:r>
            <a:pPr indent="0" marL="0">
              <a:buNone/>
            </a:pPr>
            <a:r>
              <a:rPr lang="en-US" sz="1050" dirty="0">
                <a:solidFill>
                  <a:srgbClr val="3A3A5A"/>
                </a:solidFill>
                <a:latin typeface="Calibri" pitchFamily="34" charset="0"/>
                <a:ea typeface="Calibri" pitchFamily="34" charset="-122"/>
                <a:cs typeface="Calibri" pitchFamily="34" charset="-120"/>
              </a:rPr>
              <a:t>~12 million people governed</a:t>
            </a:r>
            <a:endParaRPr lang="en-US" sz="1050" dirty="0"/>
          </a:p>
        </p:txBody>
      </p:sp>
      <p:sp>
        <p:nvSpPr>
          <p:cNvPr id="16" name="Text 14"/>
          <p:cNvSpPr/>
          <p:nvPr/>
        </p:nvSpPr>
        <p:spPr>
          <a:xfrm>
            <a:off x="4754880" y="3374136"/>
            <a:ext cx="3840480" cy="365760"/>
          </a:xfrm>
          <a:prstGeom prst="rect">
            <a:avLst/>
          </a:prstGeom>
          <a:noFill/>
          <a:ln/>
        </p:spPr>
        <p:txBody>
          <a:bodyPr wrap="square" rtlCol="0" anchor="t"/>
          <a:lstStyle/>
          <a:p>
            <a:pPr indent="0" marL="0">
              <a:buNone/>
            </a:pPr>
            <a:r>
              <a:rPr lang="en-US" sz="1050" b="1" dirty="0">
                <a:solidFill>
                  <a:srgbClr val="0E1C42"/>
                </a:solidFill>
                <a:latin typeface="Calibri" pitchFamily="34" charset="0"/>
                <a:ea typeface="Calibri" pitchFamily="34" charset="-122"/>
                <a:cs typeface="Calibri" pitchFamily="34" charset="-120"/>
              </a:rPr>
              <a:t>Stonework: </a:t>
            </a:r>
            <a:pPr indent="0" marL="0">
              <a:buNone/>
            </a:pPr>
            <a:r>
              <a:rPr lang="en-US" sz="1050" dirty="0">
                <a:solidFill>
                  <a:srgbClr val="3A3A5A"/>
                </a:solidFill>
                <a:latin typeface="Calibri" pitchFamily="34" charset="0"/>
                <a:ea typeface="Calibri" pitchFamily="34" charset="-122"/>
                <a:cs typeface="Calibri" pitchFamily="34" charset="-120"/>
              </a:rPr>
              <a:t>Massive blocks fitted without mortar — knife blade couldn't slip between them</a:t>
            </a:r>
            <a:endParaRPr lang="en-US" sz="1050" dirty="0"/>
          </a:p>
        </p:txBody>
      </p:sp>
      <p:sp>
        <p:nvSpPr>
          <p:cNvPr id="17" name="Text 15"/>
          <p:cNvSpPr/>
          <p:nvPr/>
        </p:nvSpPr>
        <p:spPr>
          <a:xfrm>
            <a:off x="274320" y="4160520"/>
            <a:ext cx="8412480" cy="292608"/>
          </a:xfrm>
          <a:prstGeom prst="rect">
            <a:avLst/>
          </a:prstGeom>
          <a:noFill/>
          <a:ln/>
        </p:spPr>
        <p:txBody>
          <a:bodyPr wrap="square" rtlCol="0" anchor="ctr"/>
          <a:lstStyle/>
          <a:p>
            <a:pPr indent="0" marL="0">
              <a:buNone/>
            </a:pPr>
            <a:r>
              <a:rPr lang="en-US" sz="1050" b="1" i="1" dirty="0">
                <a:solidFill>
                  <a:srgbClr val="1A8A7D"/>
                </a:solidFill>
                <a:latin typeface="Calibri" pitchFamily="34" charset="0"/>
                <a:ea typeface="Calibri" pitchFamily="34" charset="-122"/>
                <a:cs typeface="Calibri" pitchFamily="34" charset="-120"/>
              </a:rPr>
              <a:t>Notice: What does the scale of this empire tell us about how complex governing it must have been?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1A8A7D"/>
          </a:solidFill>
          <a:ln w="12700">
            <a:solidFill>
              <a:srgbClr val="1A8A7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CLUE BOX 2  ·  The Inca Road System — What the Herald Saw</a:t>
            </a:r>
            <a:endParaRPr lang="en-US" sz="1100" dirty="0"/>
          </a:p>
        </p:txBody>
      </p:sp>
      <p:sp>
        <p:nvSpPr>
          <p:cNvPr id="5" name="Shape 3"/>
          <p:cNvSpPr/>
          <p:nvPr/>
        </p:nvSpPr>
        <p:spPr>
          <a:xfrm>
            <a:off x="274320" y="621792"/>
            <a:ext cx="4754880" cy="2651760"/>
          </a:xfrm>
          <a:prstGeom prst="roundRect">
            <a:avLst>
              <a:gd name="adj" fmla="val 4138"/>
            </a:avLst>
          </a:prstGeom>
          <a:solidFill>
            <a:srgbClr val="FFFFFF"/>
          </a:solidFill>
          <a:ln w="19050">
            <a:solidFill>
              <a:srgbClr val="1A8A7D"/>
            </a:solidFill>
            <a:prstDash val="solid"/>
          </a:ln>
        </p:spPr>
      </p:sp>
      <p:sp>
        <p:nvSpPr>
          <p:cNvPr id="6" name="Text 4"/>
          <p:cNvSpPr/>
          <p:nvPr/>
        </p:nvSpPr>
        <p:spPr>
          <a:xfrm>
            <a:off x="411480" y="685800"/>
            <a:ext cx="448056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THE HERALD REPORTED</a:t>
            </a:r>
            <a:endParaRPr lang="en-US" sz="900" dirty="0"/>
          </a:p>
        </p:txBody>
      </p:sp>
      <p:sp>
        <p:nvSpPr>
          <p:cNvPr id="7" name="Text 5"/>
          <p:cNvSpPr/>
          <p:nvPr/>
        </p:nvSpPr>
        <p:spPr>
          <a:xfrm>
            <a:off x="411480" y="914400"/>
            <a:ext cx="4480560" cy="201168"/>
          </a:xfrm>
          <a:prstGeom prst="rect">
            <a:avLst/>
          </a:prstGeom>
          <a:noFill/>
          <a:ln/>
        </p:spPr>
        <p:txBody>
          <a:bodyPr wrap="square"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(Surface Facts — Partly Correct)</a:t>
            </a:r>
            <a:endParaRPr lang="en-US" sz="900" dirty="0"/>
          </a:p>
        </p:txBody>
      </p:sp>
      <p:sp>
        <p:nvSpPr>
          <p:cNvPr id="8" name="Text 6"/>
          <p:cNvSpPr/>
          <p:nvPr/>
        </p:nvSpPr>
        <p:spPr>
          <a:xfrm>
            <a:off x="457200" y="1170432"/>
            <a:ext cx="438912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  Over 25,000 miles of roads</a:t>
            </a:r>
            <a:endParaRPr lang="en-US" sz="1100" dirty="0"/>
          </a:p>
        </p:txBody>
      </p:sp>
      <p:sp>
        <p:nvSpPr>
          <p:cNvPr id="9" name="Text 7"/>
          <p:cNvSpPr/>
          <p:nvPr/>
        </p:nvSpPr>
        <p:spPr>
          <a:xfrm>
            <a:off x="457200" y="1517904"/>
            <a:ext cx="438912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  Crossed mountains, deserts, and rainforests</a:t>
            </a:r>
            <a:endParaRPr lang="en-US" sz="1100" dirty="0"/>
          </a:p>
        </p:txBody>
      </p:sp>
      <p:sp>
        <p:nvSpPr>
          <p:cNvPr id="10" name="Text 8"/>
          <p:cNvSpPr/>
          <p:nvPr/>
        </p:nvSpPr>
        <p:spPr>
          <a:xfrm>
            <a:off x="457200" y="1865376"/>
            <a:ext cx="438912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  Relay runners called chasqui carried messages</a:t>
            </a:r>
            <a:endParaRPr lang="en-US" sz="1100" dirty="0"/>
          </a:p>
        </p:txBody>
      </p:sp>
      <p:sp>
        <p:nvSpPr>
          <p:cNvPr id="11" name="Text 9"/>
          <p:cNvSpPr/>
          <p:nvPr/>
        </p:nvSpPr>
        <p:spPr>
          <a:xfrm>
            <a:off x="457200" y="2212848"/>
            <a:ext cx="438912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  Rope bridges spanned deep gorges</a:t>
            </a:r>
            <a:endParaRPr lang="en-US" sz="1100" dirty="0"/>
          </a:p>
        </p:txBody>
      </p:sp>
      <p:sp>
        <p:nvSpPr>
          <p:cNvPr id="12" name="Text 10"/>
          <p:cNvSpPr/>
          <p:nvPr/>
        </p:nvSpPr>
        <p:spPr>
          <a:xfrm>
            <a:off x="457200" y="2560320"/>
            <a:ext cx="438912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  Rest stations called tambos along the routes</a:t>
            </a:r>
            <a:endParaRPr lang="en-US" sz="1100" dirty="0"/>
          </a:p>
        </p:txBody>
      </p:sp>
      <p:sp>
        <p:nvSpPr>
          <p:cNvPr id="13" name="Shape 11"/>
          <p:cNvSpPr/>
          <p:nvPr/>
        </p:nvSpPr>
        <p:spPr>
          <a:xfrm>
            <a:off x="5212080" y="621792"/>
            <a:ext cx="3474720" cy="2651760"/>
          </a:xfrm>
          <a:prstGeom prst="roundRect">
            <a:avLst>
              <a:gd name="adj" fmla="val 4138"/>
            </a:avLst>
          </a:prstGeom>
          <a:solidFill>
            <a:srgbClr val="E2E8F4"/>
          </a:solidFill>
          <a:ln w="19050">
            <a:solidFill>
              <a:srgbClr val="B0B8CC"/>
            </a:solidFill>
            <a:prstDash val="dash"/>
          </a:ln>
        </p:spPr>
      </p:sp>
      <p:sp>
        <p:nvSpPr>
          <p:cNvPr id="14" name="Text 12"/>
          <p:cNvSpPr/>
          <p:nvPr/>
        </p:nvSpPr>
        <p:spPr>
          <a:xfrm>
            <a:off x="5212080" y="621792"/>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5349240" y="896112"/>
            <a:ext cx="3200400" cy="2286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or illustration of an Inca road winding through the Andes — stone-paved path, steep terrain, rope bridge visible in distance</a:t>
            </a:r>
            <a:endParaRPr lang="en-US" sz="1100" dirty="0"/>
          </a:p>
        </p:txBody>
      </p:sp>
      <p:sp>
        <p:nvSpPr>
          <p:cNvPr id="16" name="Shape 14"/>
          <p:cNvSpPr/>
          <p:nvPr/>
        </p:nvSpPr>
        <p:spPr>
          <a:xfrm>
            <a:off x="274320" y="3364992"/>
            <a:ext cx="4754880" cy="1463040"/>
          </a:xfrm>
          <a:prstGeom prst="roundRect">
            <a:avLst>
              <a:gd name="adj" fmla="val 7500"/>
            </a:avLst>
          </a:prstGeom>
          <a:solidFill>
            <a:srgbClr val="1A2D5A"/>
          </a:solidFill>
          <a:ln w="12700">
            <a:solidFill>
              <a:srgbClr val="2A4070"/>
            </a:solidFill>
            <a:prstDash val="solid"/>
          </a:ln>
        </p:spPr>
      </p:sp>
      <p:sp>
        <p:nvSpPr>
          <p:cNvPr id="17" name="Text 15"/>
          <p:cNvSpPr/>
          <p:nvPr/>
        </p:nvSpPr>
        <p:spPr>
          <a:xfrm>
            <a:off x="411480" y="3419856"/>
            <a:ext cx="44805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457200" y="3685032"/>
            <a:ext cx="4389120" cy="10515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These facts are REAL. So is the Herald completely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'25,000 miles through mountains and rainforests' suggest about the builders?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chasqui could carry a message across the empire in days. What does THAT tell you?</a:t>
            </a:r>
            <a:endParaRPr lang="en-US" sz="1100" dirty="0"/>
          </a:p>
        </p:txBody>
      </p:sp>
      <p:sp>
        <p:nvSpPr>
          <p:cNvPr id="19" name="Shape 17"/>
          <p:cNvSpPr/>
          <p:nvPr/>
        </p:nvSpPr>
        <p:spPr>
          <a:xfrm>
            <a:off x="5074920" y="3364992"/>
            <a:ext cx="3749040" cy="1463040"/>
          </a:xfrm>
          <a:prstGeom prst="roundRect">
            <a:avLst>
              <a:gd name="adj" fmla="val 7500"/>
            </a:avLst>
          </a:prstGeom>
          <a:solidFill>
            <a:srgbClr val="FFF3DC"/>
          </a:solidFill>
          <a:ln w="19050">
            <a:solidFill>
              <a:srgbClr val="F5E6C8"/>
            </a:solidFill>
            <a:prstDash val="solid"/>
          </a:ln>
        </p:spPr>
      </p:sp>
      <p:sp>
        <p:nvSpPr>
          <p:cNvPr id="20" name="Text 18"/>
          <p:cNvSpPr/>
          <p:nvPr/>
        </p:nvSpPr>
        <p:spPr>
          <a:xfrm>
            <a:off x="5212080" y="3419856"/>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5212080" y="3621024"/>
            <a:ext cx="347472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feature that made the roads remarkable was..."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took serious skill and effort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tell this wasn't 'just travel'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56032"/>
            <a:ext cx="8229600" cy="274320"/>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WHAT THE GAZETTE REVEALS</a:t>
            </a:r>
            <a:endParaRPr lang="en-US" sz="900" dirty="0"/>
          </a:p>
        </p:txBody>
      </p:sp>
      <p:sp>
        <p:nvSpPr>
          <p:cNvPr id="6" name="Text 3"/>
          <p:cNvSpPr/>
          <p:nvPr/>
        </p:nvSpPr>
        <p:spPr>
          <a:xfrm>
            <a:off x="457200" y="566928"/>
            <a:ext cx="8229600" cy="5943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The Road Was the Government</a:t>
            </a:r>
            <a:endParaRPr lang="en-US" sz="3400" dirty="0"/>
          </a:p>
        </p:txBody>
      </p:sp>
      <p:sp>
        <p:nvSpPr>
          <p:cNvPr id="7" name="Shape 4"/>
          <p:cNvSpPr/>
          <p:nvPr/>
        </p:nvSpPr>
        <p:spPr>
          <a:xfrm>
            <a:off x="274320" y="1325880"/>
            <a:ext cx="4206240" cy="1207008"/>
          </a:xfrm>
          <a:prstGeom prst="roundRect">
            <a:avLst>
              <a:gd name="adj" fmla="val 7576"/>
            </a:avLst>
          </a:prstGeom>
          <a:solidFill>
            <a:srgbClr val="1A2D5A">
              <a:alpha val="90000"/>
            </a:srgbClr>
          </a:solidFill>
          <a:ln w="19050">
            <a:solidFill>
              <a:srgbClr val="D4943A"/>
            </a:solidFill>
            <a:prstDash val="solid"/>
          </a:ln>
        </p:spPr>
      </p:sp>
      <p:sp>
        <p:nvSpPr>
          <p:cNvPr id="8" name="Text 5"/>
          <p:cNvSpPr/>
          <p:nvPr/>
        </p:nvSpPr>
        <p:spPr>
          <a:xfrm>
            <a:off x="411480" y="1389888"/>
            <a:ext cx="39319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COMMUNICATION</a:t>
            </a:r>
            <a:endParaRPr lang="en-US" sz="900" dirty="0"/>
          </a:p>
        </p:txBody>
      </p:sp>
      <p:sp>
        <p:nvSpPr>
          <p:cNvPr id="9" name="Text 6"/>
          <p:cNvSpPr/>
          <p:nvPr/>
        </p:nvSpPr>
        <p:spPr>
          <a:xfrm>
            <a:off x="411480" y="1618488"/>
            <a:ext cx="3931920" cy="841248"/>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Chasqui relay runners carried messages across the entire empire in a matter of days — faster than any other government of the time.</a:t>
            </a:r>
            <a:endParaRPr lang="en-US" sz="1150" dirty="0"/>
          </a:p>
        </p:txBody>
      </p:sp>
      <p:sp>
        <p:nvSpPr>
          <p:cNvPr id="10" name="Shape 7"/>
          <p:cNvSpPr/>
          <p:nvPr/>
        </p:nvSpPr>
        <p:spPr>
          <a:xfrm>
            <a:off x="274320" y="2651760"/>
            <a:ext cx="4206240" cy="1207008"/>
          </a:xfrm>
          <a:prstGeom prst="roundRect">
            <a:avLst>
              <a:gd name="adj" fmla="val 7576"/>
            </a:avLst>
          </a:prstGeom>
          <a:solidFill>
            <a:srgbClr val="1A2D5A">
              <a:alpha val="90000"/>
            </a:srgbClr>
          </a:solidFill>
          <a:ln w="19050">
            <a:solidFill>
              <a:srgbClr val="D4943A"/>
            </a:solidFill>
            <a:prstDash val="solid"/>
          </a:ln>
        </p:spPr>
      </p:sp>
      <p:sp>
        <p:nvSpPr>
          <p:cNvPr id="11" name="Text 8"/>
          <p:cNvSpPr/>
          <p:nvPr/>
        </p:nvSpPr>
        <p:spPr>
          <a:xfrm>
            <a:off x="411480" y="2715768"/>
            <a:ext cx="39319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RECORD-KEEPING</a:t>
            </a:r>
            <a:endParaRPr lang="en-US" sz="900" dirty="0"/>
          </a:p>
        </p:txBody>
      </p:sp>
      <p:sp>
        <p:nvSpPr>
          <p:cNvPr id="12" name="Text 9"/>
          <p:cNvSpPr/>
          <p:nvPr/>
        </p:nvSpPr>
        <p:spPr>
          <a:xfrm>
            <a:off x="411480" y="2944368"/>
            <a:ext cx="3931920" cy="841248"/>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Quipu — knotted strings — recorded population counts, harvests, and tribute collected. No writing system, but complete accounting.</a:t>
            </a:r>
            <a:endParaRPr lang="en-US" sz="1150" dirty="0"/>
          </a:p>
        </p:txBody>
      </p:sp>
      <p:sp>
        <p:nvSpPr>
          <p:cNvPr id="13" name="Shape 10"/>
          <p:cNvSpPr/>
          <p:nvPr/>
        </p:nvSpPr>
        <p:spPr>
          <a:xfrm>
            <a:off x="4663440" y="1325880"/>
            <a:ext cx="4206240" cy="1207008"/>
          </a:xfrm>
          <a:prstGeom prst="roundRect">
            <a:avLst>
              <a:gd name="adj" fmla="val 7576"/>
            </a:avLst>
          </a:prstGeom>
          <a:solidFill>
            <a:srgbClr val="1A2D5A">
              <a:alpha val="90000"/>
            </a:srgbClr>
          </a:solidFill>
          <a:ln w="19050">
            <a:solidFill>
              <a:srgbClr val="D4943A"/>
            </a:solidFill>
            <a:prstDash val="solid"/>
          </a:ln>
        </p:spPr>
      </p:sp>
      <p:sp>
        <p:nvSpPr>
          <p:cNvPr id="14" name="Text 11"/>
          <p:cNvSpPr/>
          <p:nvPr/>
        </p:nvSpPr>
        <p:spPr>
          <a:xfrm>
            <a:off x="4800600" y="1389888"/>
            <a:ext cx="39319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TAX &amp; TRIBUTE</a:t>
            </a:r>
            <a:endParaRPr lang="en-US" sz="900" dirty="0"/>
          </a:p>
        </p:txBody>
      </p:sp>
      <p:sp>
        <p:nvSpPr>
          <p:cNvPr id="15" name="Text 12"/>
          <p:cNvSpPr/>
          <p:nvPr/>
        </p:nvSpPr>
        <p:spPr>
          <a:xfrm>
            <a:off x="4800600" y="1618488"/>
            <a:ext cx="3931920" cy="841248"/>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Tax collectors used the roads to reach every corner of the empire, collect goods, and return them to Cusco.</a:t>
            </a:r>
            <a:endParaRPr lang="en-US" sz="1150" dirty="0"/>
          </a:p>
        </p:txBody>
      </p:sp>
      <p:sp>
        <p:nvSpPr>
          <p:cNvPr id="16" name="Shape 13"/>
          <p:cNvSpPr/>
          <p:nvPr/>
        </p:nvSpPr>
        <p:spPr>
          <a:xfrm>
            <a:off x="4663440" y="2651760"/>
            <a:ext cx="4206240" cy="1207008"/>
          </a:xfrm>
          <a:prstGeom prst="roundRect">
            <a:avLst>
              <a:gd name="adj" fmla="val 7576"/>
            </a:avLst>
          </a:prstGeom>
          <a:solidFill>
            <a:srgbClr val="1A2D5A">
              <a:alpha val="90000"/>
            </a:srgbClr>
          </a:solidFill>
          <a:ln w="19050">
            <a:solidFill>
              <a:srgbClr val="D4943A"/>
            </a:solidFill>
            <a:prstDash val="solid"/>
          </a:ln>
        </p:spPr>
      </p:sp>
      <p:sp>
        <p:nvSpPr>
          <p:cNvPr id="17" name="Text 14"/>
          <p:cNvSpPr/>
          <p:nvPr/>
        </p:nvSpPr>
        <p:spPr>
          <a:xfrm>
            <a:off x="4800600" y="2715768"/>
            <a:ext cx="39319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MILITARY CONTROL</a:t>
            </a:r>
            <a:endParaRPr lang="en-US" sz="900" dirty="0"/>
          </a:p>
        </p:txBody>
      </p:sp>
      <p:sp>
        <p:nvSpPr>
          <p:cNvPr id="18" name="Text 15"/>
          <p:cNvSpPr/>
          <p:nvPr/>
        </p:nvSpPr>
        <p:spPr>
          <a:xfrm>
            <a:off x="4800600" y="2944368"/>
            <a:ext cx="3931920" cy="841248"/>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Soldiers and officials moved quickly along the roads, allowing the Inca to respond to uprisings or threats anywhere in the empire.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CLUE BOX 3  ·  How Roads Held 12 Million People Together</a:t>
            </a:r>
            <a:endParaRPr lang="en-US" sz="1100" dirty="0"/>
          </a:p>
        </p:txBody>
      </p:sp>
      <p:sp>
        <p:nvSpPr>
          <p:cNvPr id="5" name="Shape 3"/>
          <p:cNvSpPr/>
          <p:nvPr/>
        </p:nvSpPr>
        <p:spPr>
          <a:xfrm>
            <a:off x="274320" y="621792"/>
            <a:ext cx="4114800" cy="3200400"/>
          </a:xfrm>
          <a:prstGeom prst="roundRect">
            <a:avLst>
              <a:gd name="adj" fmla="val 3429"/>
            </a:avLst>
          </a:prstGeom>
          <a:solidFill>
            <a:srgbClr val="FFFFFF"/>
          </a:solidFill>
          <a:ln w="12700">
            <a:solidFill>
              <a:srgbClr val="B0B8CC"/>
            </a:solidFill>
            <a:prstDash val="solid"/>
          </a:ln>
        </p:spPr>
      </p:sp>
      <p:sp>
        <p:nvSpPr>
          <p:cNvPr id="6" name="Text 4"/>
          <p:cNvSpPr/>
          <p:nvPr/>
        </p:nvSpPr>
        <p:spPr>
          <a:xfrm>
            <a:off x="411480" y="685800"/>
            <a:ext cx="384048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THE ROADS</a:t>
            </a:r>
            <a:endParaRPr lang="en-US" sz="900" dirty="0"/>
          </a:p>
        </p:txBody>
      </p:sp>
      <p:sp>
        <p:nvSpPr>
          <p:cNvPr id="7" name="Text 5"/>
          <p:cNvSpPr/>
          <p:nvPr/>
        </p:nvSpPr>
        <p:spPr>
          <a:xfrm>
            <a:off x="411480" y="941832"/>
            <a:ext cx="3840480" cy="201168"/>
          </a:xfrm>
          <a:prstGeom prst="rect">
            <a:avLst/>
          </a:prstGeom>
          <a:noFill/>
          <a:ln/>
        </p:spPr>
        <p:txBody>
          <a:bodyPr wrap="square"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Physical Infrastructure</a:t>
            </a:r>
            <a:endParaRPr lang="en-US" sz="900" dirty="0"/>
          </a:p>
        </p:txBody>
      </p:sp>
      <p:sp>
        <p:nvSpPr>
          <p:cNvPr id="8" name="Text 6"/>
          <p:cNvSpPr/>
          <p:nvPr/>
        </p:nvSpPr>
        <p:spPr>
          <a:xfrm>
            <a:off x="457200" y="1207008"/>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25,000+ miles of paved routes</a:t>
            </a:r>
            <a:endParaRPr lang="en-US" sz="1100" dirty="0"/>
          </a:p>
        </p:txBody>
      </p:sp>
      <p:sp>
        <p:nvSpPr>
          <p:cNvPr id="9" name="Text 7"/>
          <p:cNvSpPr/>
          <p:nvPr/>
        </p:nvSpPr>
        <p:spPr>
          <a:xfrm>
            <a:off x="457200" y="1554480"/>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Through mountains, deserts, rainforests</a:t>
            </a:r>
            <a:endParaRPr lang="en-US" sz="1100" dirty="0"/>
          </a:p>
        </p:txBody>
      </p:sp>
      <p:sp>
        <p:nvSpPr>
          <p:cNvPr id="10" name="Text 8"/>
          <p:cNvSpPr/>
          <p:nvPr/>
        </p:nvSpPr>
        <p:spPr>
          <a:xfrm>
            <a:off x="457200" y="1901952"/>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Stone paving, steps cut into cliffs</a:t>
            </a:r>
            <a:endParaRPr lang="en-US" sz="1100" dirty="0"/>
          </a:p>
        </p:txBody>
      </p:sp>
      <p:sp>
        <p:nvSpPr>
          <p:cNvPr id="11" name="Text 9"/>
          <p:cNvSpPr/>
          <p:nvPr/>
        </p:nvSpPr>
        <p:spPr>
          <a:xfrm>
            <a:off x="457200" y="2249424"/>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Rope bridges over deep gorges</a:t>
            </a:r>
            <a:endParaRPr lang="en-US" sz="1100" dirty="0"/>
          </a:p>
        </p:txBody>
      </p:sp>
      <p:sp>
        <p:nvSpPr>
          <p:cNvPr id="12" name="Text 10"/>
          <p:cNvSpPr/>
          <p:nvPr/>
        </p:nvSpPr>
        <p:spPr>
          <a:xfrm>
            <a:off x="457200" y="2596896"/>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Tambos (rest stations) every ~12 miles</a:t>
            </a:r>
            <a:endParaRPr lang="en-US" sz="1100" dirty="0"/>
          </a:p>
        </p:txBody>
      </p:sp>
      <p:sp>
        <p:nvSpPr>
          <p:cNvPr id="13" name="Text 11"/>
          <p:cNvSpPr/>
          <p:nvPr/>
        </p:nvSpPr>
        <p:spPr>
          <a:xfrm>
            <a:off x="457200" y="2944368"/>
            <a:ext cx="3749040" cy="320040"/>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Chasqui relay stations</a:t>
            </a:r>
            <a:endParaRPr lang="en-US" sz="1100" dirty="0"/>
          </a:p>
        </p:txBody>
      </p:sp>
      <p:sp>
        <p:nvSpPr>
          <p:cNvPr id="14" name="Shape 12"/>
          <p:cNvSpPr/>
          <p:nvPr/>
        </p:nvSpPr>
        <p:spPr>
          <a:xfrm>
            <a:off x="4617720" y="621792"/>
            <a:ext cx="4114800" cy="3200400"/>
          </a:xfrm>
          <a:prstGeom prst="roundRect">
            <a:avLst>
              <a:gd name="adj" fmla="val 3429"/>
            </a:avLst>
          </a:prstGeom>
          <a:solidFill>
            <a:srgbClr val="1A2D5A"/>
          </a:solidFill>
          <a:ln w="19050">
            <a:solidFill>
              <a:srgbClr val="55C8E8"/>
            </a:solidFill>
            <a:prstDash val="solid"/>
          </a:ln>
        </p:spPr>
      </p:sp>
      <p:sp>
        <p:nvSpPr>
          <p:cNvPr id="15" name="Text 13"/>
          <p:cNvSpPr/>
          <p:nvPr/>
        </p:nvSpPr>
        <p:spPr>
          <a:xfrm>
            <a:off x="4754880" y="685800"/>
            <a:ext cx="384048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GOVERNING PURPOSE</a:t>
            </a:r>
            <a:endParaRPr lang="en-US" sz="900" dirty="0"/>
          </a:p>
        </p:txBody>
      </p:sp>
      <p:sp>
        <p:nvSpPr>
          <p:cNvPr id="16" name="Text 14"/>
          <p:cNvSpPr/>
          <p:nvPr/>
        </p:nvSpPr>
        <p:spPr>
          <a:xfrm>
            <a:off x="4754880" y="941832"/>
            <a:ext cx="3840480" cy="201168"/>
          </a:xfrm>
          <a:prstGeom prst="rect">
            <a:avLst/>
          </a:prstGeom>
          <a:noFill/>
          <a:ln/>
        </p:spPr>
        <p:txBody>
          <a:bodyPr wrap="square"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What the Roads Actually Did</a:t>
            </a:r>
            <a:endParaRPr lang="en-US" sz="900" dirty="0"/>
          </a:p>
        </p:txBody>
      </p:sp>
      <p:sp>
        <p:nvSpPr>
          <p:cNvPr id="17" name="Text 15"/>
          <p:cNvSpPr/>
          <p:nvPr/>
        </p:nvSpPr>
        <p:spPr>
          <a:xfrm>
            <a:off x="4754880" y="1207008"/>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Messages crossed the empire in days</a:t>
            </a:r>
            <a:endParaRPr lang="en-US" sz="1100" dirty="0"/>
          </a:p>
        </p:txBody>
      </p:sp>
      <p:sp>
        <p:nvSpPr>
          <p:cNvPr id="18" name="Text 16"/>
          <p:cNvSpPr/>
          <p:nvPr/>
        </p:nvSpPr>
        <p:spPr>
          <a:xfrm>
            <a:off x="4754880" y="1554480"/>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Quipu tracked taxes, population, harvests</a:t>
            </a:r>
            <a:endParaRPr lang="en-US" sz="1100" dirty="0"/>
          </a:p>
        </p:txBody>
      </p:sp>
      <p:sp>
        <p:nvSpPr>
          <p:cNvPr id="19" name="Text 17"/>
          <p:cNvSpPr/>
          <p:nvPr/>
        </p:nvSpPr>
        <p:spPr>
          <a:xfrm>
            <a:off x="4754880" y="1901952"/>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Armies moved quickly to any threat</a:t>
            </a:r>
            <a:endParaRPr lang="en-US" sz="1100" dirty="0"/>
          </a:p>
        </p:txBody>
      </p:sp>
      <p:sp>
        <p:nvSpPr>
          <p:cNvPr id="20" name="Text 18"/>
          <p:cNvSpPr/>
          <p:nvPr/>
        </p:nvSpPr>
        <p:spPr>
          <a:xfrm>
            <a:off x="4754880" y="2249424"/>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Officials enforced tribute collection</a:t>
            </a:r>
            <a:endParaRPr lang="en-US" sz="1100" dirty="0"/>
          </a:p>
        </p:txBody>
      </p:sp>
      <p:sp>
        <p:nvSpPr>
          <p:cNvPr id="21" name="Text 19"/>
          <p:cNvSpPr/>
          <p:nvPr/>
        </p:nvSpPr>
        <p:spPr>
          <a:xfrm>
            <a:off x="4754880" y="2596896"/>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Connected 12 million people to Cusco</a:t>
            </a:r>
            <a:endParaRPr lang="en-US" sz="1100" dirty="0"/>
          </a:p>
        </p:txBody>
      </p:sp>
      <p:sp>
        <p:nvSpPr>
          <p:cNvPr id="22" name="Text 20"/>
          <p:cNvSpPr/>
          <p:nvPr/>
        </p:nvSpPr>
        <p:spPr>
          <a:xfrm>
            <a:off x="4754880" y="2944368"/>
            <a:ext cx="3840480" cy="320040"/>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Held the empire together without writing</a:t>
            </a:r>
            <a:endParaRPr lang="en-US" sz="1100" dirty="0"/>
          </a:p>
        </p:txBody>
      </p:sp>
      <p:sp>
        <p:nvSpPr>
          <p:cNvPr id="23" name="Text 21"/>
          <p:cNvSpPr/>
          <p:nvPr/>
        </p:nvSpPr>
        <p:spPr>
          <a:xfrm>
            <a:off x="274320" y="3913632"/>
            <a:ext cx="8412480" cy="292608"/>
          </a:xfrm>
          <a:prstGeom prst="rect">
            <a:avLst/>
          </a:prstGeom>
          <a:noFill/>
          <a:ln/>
        </p:spPr>
        <p:txBody>
          <a:bodyPr wrap="square" rtlCol="0" anchor="ctr"/>
          <a:lstStyle/>
          <a:p>
            <a:pPr algn="ctr" indent="0" marL="0">
              <a:buNone/>
            </a:pPr>
            <a:r>
              <a:rPr lang="en-US" sz="1100" b="1" i="1" dirty="0">
                <a:solidFill>
                  <a:srgbClr val="D4943A"/>
                </a:solidFill>
                <a:latin typeface="Calibri" pitchFamily="34" charset="0"/>
                <a:ea typeface="Calibri" pitchFamily="34" charset="-122"/>
                <a:cs typeface="Calibri" pitchFamily="34" charset="-120"/>
              </a:rPr>
              <a:t>A responsible editor looks at BOTH columns — not just the left 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1A8A7D"/>
          </a:solidFill>
          <a:ln w="12700">
            <a:solidFill>
              <a:srgbClr val="1A8A7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DISCUSSION  ·  Scaffolding Q2 — Governing Purpose</a:t>
            </a:r>
            <a:endParaRPr lang="en-US" sz="1100" dirty="0"/>
          </a:p>
        </p:txBody>
      </p:sp>
      <p:sp>
        <p:nvSpPr>
          <p:cNvPr id="5" name="Shape 3"/>
          <p:cNvSpPr/>
          <p:nvPr/>
        </p:nvSpPr>
        <p:spPr>
          <a:xfrm>
            <a:off x="274320" y="621792"/>
            <a:ext cx="4754880" cy="2926080"/>
          </a:xfrm>
          <a:prstGeom prst="roundRect">
            <a:avLst>
              <a:gd name="adj" fmla="val 3750"/>
            </a:avLst>
          </a:prstGeom>
          <a:solidFill>
            <a:srgbClr val="1A2D5A"/>
          </a:solidFill>
          <a:ln w="12700">
            <a:solidFill>
              <a:srgbClr val="2A4070"/>
            </a:solidFill>
            <a:prstDash val="solid"/>
          </a:ln>
        </p:spPr>
      </p:sp>
      <p:sp>
        <p:nvSpPr>
          <p:cNvPr id="6" name="Text 4"/>
          <p:cNvSpPr/>
          <p:nvPr/>
        </p:nvSpPr>
        <p:spPr>
          <a:xfrm>
            <a:off x="411480" y="676656"/>
            <a:ext cx="44805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457200" y="941832"/>
            <a:ext cx="4389120" cy="25146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the chasqui could carry a message across the entire empire in days, what problem does that solve for a ruler?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is a quipu (knotted string) doing the same job that a government spreadsheet does today?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you had to pick ONE example that best proves the roads were for governing — which would you choose and why?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happen to the Inca Empire if the roads were destroyed?</a:t>
            </a:r>
            <a:endParaRPr lang="en-US" sz="1100" dirty="0"/>
          </a:p>
        </p:txBody>
      </p:sp>
      <p:sp>
        <p:nvSpPr>
          <p:cNvPr id="8" name="Shape 6"/>
          <p:cNvSpPr/>
          <p:nvPr/>
        </p:nvSpPr>
        <p:spPr>
          <a:xfrm>
            <a:off x="5074920" y="621792"/>
            <a:ext cx="3749040" cy="2926080"/>
          </a:xfrm>
          <a:prstGeom prst="roundRect">
            <a:avLst>
              <a:gd name="adj" fmla="val 3750"/>
            </a:avLst>
          </a:prstGeom>
          <a:solidFill>
            <a:srgbClr val="FFF3DC"/>
          </a:solidFill>
          <a:ln w="19050">
            <a:solidFill>
              <a:srgbClr val="F5E6C8"/>
            </a:solidFill>
            <a:prstDash val="solid"/>
          </a:ln>
        </p:spPr>
      </p:sp>
      <p:sp>
        <p:nvSpPr>
          <p:cNvPr id="9" name="Text 7"/>
          <p:cNvSpPr/>
          <p:nvPr/>
        </p:nvSpPr>
        <p:spPr>
          <a:xfrm>
            <a:off x="5212080" y="676656"/>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212080" y="877824"/>
            <a:ext cx="3474720" cy="2606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road system helped govern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specific example is... because it shows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the roads, the empire would have..."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evidence is... because..."</a:t>
            </a:r>
            <a:endParaRPr lang="en-US" sz="1200" dirty="0"/>
          </a:p>
        </p:txBody>
      </p:sp>
      <p:sp>
        <p:nvSpPr>
          <p:cNvPr id="11" name="Shape 9"/>
          <p:cNvSpPr/>
          <p:nvPr/>
        </p:nvSpPr>
        <p:spPr>
          <a:xfrm>
            <a:off x="274320" y="3657600"/>
            <a:ext cx="8412480" cy="594360"/>
          </a:xfrm>
          <a:prstGeom prst="roundRect">
            <a:avLst>
              <a:gd name="adj" fmla="val 15385"/>
            </a:avLst>
          </a:prstGeom>
          <a:solidFill>
            <a:srgbClr val="FFF3DC"/>
          </a:solidFill>
          <a:ln w="19050">
            <a:solidFill>
              <a:srgbClr val="D4943A"/>
            </a:solidFill>
            <a:prstDash val="solid"/>
          </a:ln>
        </p:spPr>
      </p:sp>
      <p:sp>
        <p:nvSpPr>
          <p:cNvPr id="12" name="Text 10"/>
          <p:cNvSpPr/>
          <p:nvPr/>
        </p:nvSpPr>
        <p:spPr>
          <a:xfrm>
            <a:off x="457200" y="3703320"/>
            <a:ext cx="8046720" cy="502920"/>
          </a:xfrm>
          <a:prstGeom prst="rect">
            <a:avLst/>
          </a:prstGeom>
          <a:noFill/>
          <a:ln/>
        </p:spPr>
        <p:txBody>
          <a:bodyPr wrap="square" rtlCol="0" anchor="ctr"/>
          <a:lstStyle/>
          <a:p>
            <a:pPr indent="0" marL="0">
              <a:buNone/>
            </a:pPr>
            <a:r>
              <a:rPr lang="en-US" sz="1100" b="1" dirty="0">
                <a:solidFill>
                  <a:srgbClr val="5A4A3A"/>
                </a:solidFill>
                <a:latin typeface="Calibri" pitchFamily="34" charset="0"/>
                <a:ea typeface="Calibri" pitchFamily="34" charset="-122"/>
                <a:cs typeface="Calibri" pitchFamily="34" charset="-120"/>
              </a:rPr>
              <a:t>Editor's Notebook Q2: How did the road system help the Inca govern their empire? Give at least one specific example.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8B6FC0"/>
          </a:solidFill>
          <a:ln w="12700">
            <a:solidFill>
              <a:srgbClr val="8B6FC0"/>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SOURCE DESK  ·  Study the Evidence — Inca Stonework</a:t>
            </a:r>
            <a:endParaRPr lang="en-US" sz="1100" dirty="0"/>
          </a:p>
        </p:txBody>
      </p:sp>
      <p:sp>
        <p:nvSpPr>
          <p:cNvPr id="5" name="Shape 3"/>
          <p:cNvSpPr/>
          <p:nvPr/>
        </p:nvSpPr>
        <p:spPr>
          <a:xfrm>
            <a:off x="274320" y="621792"/>
            <a:ext cx="4572000" cy="3200400"/>
          </a:xfrm>
          <a:prstGeom prst="roundRect">
            <a:avLst>
              <a:gd name="adj" fmla="val 3429"/>
            </a:avLst>
          </a:prstGeom>
          <a:solidFill>
            <a:srgbClr val="E2E8F4"/>
          </a:solidFill>
          <a:ln w="19050">
            <a:solidFill>
              <a:srgbClr val="B0B8CC"/>
            </a:solidFill>
            <a:prstDash val="dash"/>
          </a:ln>
        </p:spPr>
      </p:sp>
      <p:sp>
        <p:nvSpPr>
          <p:cNvPr id="6" name="Text 4"/>
          <p:cNvSpPr/>
          <p:nvPr/>
        </p:nvSpPr>
        <p:spPr>
          <a:xfrm>
            <a:off x="274320" y="621792"/>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896112"/>
            <a:ext cx="429768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Inca stonework at Machu Picchu or Sacsayhuaman — massive stones fitted together without mortar, extreme precision visible in the joints. SAVE AS: source-5-03-05-inca-stonework.jpg</a:t>
            </a:r>
            <a:endParaRPr lang="en-US" sz="1100" dirty="0"/>
          </a:p>
        </p:txBody>
      </p:sp>
      <p:sp>
        <p:nvSpPr>
          <p:cNvPr id="8" name="Shape 6"/>
          <p:cNvSpPr/>
          <p:nvPr/>
        </p:nvSpPr>
        <p:spPr>
          <a:xfrm>
            <a:off x="5074920" y="621792"/>
            <a:ext cx="3749040" cy="3200400"/>
          </a:xfrm>
          <a:prstGeom prst="roundRect">
            <a:avLst>
              <a:gd name="adj" fmla="val 3429"/>
            </a:avLst>
          </a:prstGeom>
          <a:solidFill>
            <a:srgbClr val="FFFFFF"/>
          </a:solidFill>
          <a:ln w="19050">
            <a:solidFill>
              <a:srgbClr val="8B6FC0"/>
            </a:solidFill>
            <a:prstDash val="solid"/>
          </a:ln>
        </p:spPr>
      </p:sp>
      <p:sp>
        <p:nvSpPr>
          <p:cNvPr id="9" name="Text 7"/>
          <p:cNvSpPr/>
          <p:nvPr/>
        </p:nvSpPr>
        <p:spPr>
          <a:xfrm>
            <a:off x="5212080" y="685800"/>
            <a:ext cx="347472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WHAT TO NOTICE</a:t>
            </a:r>
            <a:endParaRPr lang="en-US" sz="900" dirty="0"/>
          </a:p>
        </p:txBody>
      </p:sp>
      <p:sp>
        <p:nvSpPr>
          <p:cNvPr id="10" name="Text 8"/>
          <p:cNvSpPr/>
          <p:nvPr/>
        </p:nvSpPr>
        <p:spPr>
          <a:xfrm>
            <a:off x="5212080" y="987552"/>
            <a:ext cx="3474720" cy="384048"/>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How large are the individual stones?</a:t>
            </a:r>
            <a:endParaRPr lang="en-US" sz="1100" dirty="0"/>
          </a:p>
        </p:txBody>
      </p:sp>
      <p:sp>
        <p:nvSpPr>
          <p:cNvPr id="11" name="Text 9"/>
          <p:cNvSpPr/>
          <p:nvPr/>
        </p:nvSpPr>
        <p:spPr>
          <a:xfrm>
            <a:off x="5212080" y="1426464"/>
            <a:ext cx="3474720" cy="384048"/>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Can you see gaps or mortar between the stones?</a:t>
            </a:r>
            <a:endParaRPr lang="en-US" sz="1100" dirty="0"/>
          </a:p>
        </p:txBody>
      </p:sp>
      <p:sp>
        <p:nvSpPr>
          <p:cNvPr id="12" name="Text 10"/>
          <p:cNvSpPr/>
          <p:nvPr/>
        </p:nvSpPr>
        <p:spPr>
          <a:xfrm>
            <a:off x="5212080" y="1865376"/>
            <a:ext cx="3474720" cy="384048"/>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How do the stones fit together at the corners?</a:t>
            </a:r>
            <a:endParaRPr lang="en-US" sz="1100" dirty="0"/>
          </a:p>
        </p:txBody>
      </p:sp>
      <p:sp>
        <p:nvSpPr>
          <p:cNvPr id="13" name="Text 11"/>
          <p:cNvSpPr/>
          <p:nvPr/>
        </p:nvSpPr>
        <p:spPr>
          <a:xfrm>
            <a:off x="5212080" y="2304288"/>
            <a:ext cx="3474720" cy="384048"/>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What tools would be needed to cut stone this precisely — without metal tools?</a:t>
            </a:r>
            <a:endParaRPr lang="en-US" sz="1100" dirty="0"/>
          </a:p>
        </p:txBody>
      </p:sp>
      <p:sp>
        <p:nvSpPr>
          <p:cNvPr id="14" name="Text 12"/>
          <p:cNvSpPr/>
          <p:nvPr/>
        </p:nvSpPr>
        <p:spPr>
          <a:xfrm>
            <a:off x="5212080" y="2743200"/>
            <a:ext cx="3474720" cy="384048"/>
          </a:xfrm>
          <a:prstGeom prst="rect">
            <a:avLst/>
          </a:prstGeom>
          <a:noFill/>
          <a:ln/>
        </p:spPr>
        <p:txBody>
          <a:bodyPr wrap="square" rtlCol="0" anchor="ctr"/>
          <a:lstStyle/>
          <a:p>
            <a:pPr indent="0" marL="0">
              <a:buNone/>
            </a:pPr>
            <a:r>
              <a:rPr lang="en-US" sz="1100" dirty="0">
                <a:solidFill>
                  <a:srgbClr val="3A3A5A"/>
                </a:solidFill>
                <a:latin typeface="Calibri" pitchFamily="34" charset="0"/>
                <a:ea typeface="Calibri" pitchFamily="34" charset="-122"/>
                <a:cs typeface="Calibri" pitchFamily="34" charset="-120"/>
              </a:rPr>
              <a:t>▸  What does this level of craftsmanship tell you about the builders?</a:t>
            </a:r>
            <a:endParaRPr lang="en-US" sz="1100" dirty="0"/>
          </a:p>
        </p:txBody>
      </p:sp>
      <p:sp>
        <p:nvSpPr>
          <p:cNvPr id="15" name="Shape 13"/>
          <p:cNvSpPr/>
          <p:nvPr/>
        </p:nvSpPr>
        <p:spPr>
          <a:xfrm>
            <a:off x="274320" y="3913632"/>
            <a:ext cx="8412480" cy="530352"/>
          </a:xfrm>
          <a:prstGeom prst="roundRect">
            <a:avLst>
              <a:gd name="adj" fmla="val 17241"/>
            </a:avLst>
          </a:prstGeom>
          <a:solidFill>
            <a:srgbClr val="1A2D5A"/>
          </a:solidFill>
          <a:ln w="19050">
            <a:solidFill>
              <a:srgbClr val="8B6FC0"/>
            </a:solidFill>
            <a:prstDash val="solid"/>
          </a:ln>
        </p:spPr>
      </p:sp>
      <p:sp>
        <p:nvSpPr>
          <p:cNvPr id="16" name="Text 14"/>
          <p:cNvSpPr/>
          <p:nvPr/>
        </p:nvSpPr>
        <p:spPr>
          <a:xfrm>
            <a:off x="457200" y="3959352"/>
            <a:ext cx="8046720" cy="438912"/>
          </a:xfrm>
          <a:prstGeom prst="rect">
            <a:avLst/>
          </a:prstGeom>
          <a:noFill/>
          <a:ln/>
        </p:spPr>
        <p:txBody>
          <a:bodyPr wrap="square" rtlCol="0" anchor="ctr"/>
          <a:lstStyle/>
          <a:p>
            <a:pPr indent="0" marL="0">
              <a:buNone/>
            </a:pPr>
            <a:r>
              <a:rPr lang="en-US" sz="1150" b="1" i="1" dirty="0">
                <a:solidFill>
                  <a:srgbClr val="D6F2FB"/>
                </a:solidFill>
                <a:latin typeface="Calibri" pitchFamily="34" charset="0"/>
                <a:ea typeface="Calibri" pitchFamily="34" charset="-122"/>
                <a:cs typeface="Calibri" pitchFamily="34" charset="-120"/>
              </a:rPr>
              <a:t>Source Question: How were these stones cut and fitted so precisely — and what does that tell you about the builders?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8B6FC0"/>
          </a:solidFill>
          <a:ln w="12700">
            <a:solidFill>
              <a:srgbClr val="8B6FC0"/>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SOURCE DISCUSSION  ·  Reading the Stone</a:t>
            </a:r>
            <a:endParaRPr lang="en-US" sz="1100" dirty="0"/>
          </a:p>
        </p:txBody>
      </p:sp>
      <p:sp>
        <p:nvSpPr>
          <p:cNvPr id="5" name="Shape 3"/>
          <p:cNvSpPr/>
          <p:nvPr/>
        </p:nvSpPr>
        <p:spPr>
          <a:xfrm>
            <a:off x="274320" y="621792"/>
            <a:ext cx="4754880" cy="2286000"/>
          </a:xfrm>
          <a:prstGeom prst="roundRect">
            <a:avLst>
              <a:gd name="adj" fmla="val 4800"/>
            </a:avLst>
          </a:prstGeom>
          <a:solidFill>
            <a:srgbClr val="1A2D5A"/>
          </a:solidFill>
          <a:ln w="12700">
            <a:solidFill>
              <a:srgbClr val="2A4070"/>
            </a:solidFill>
            <a:prstDash val="solid"/>
          </a:ln>
        </p:spPr>
      </p:sp>
      <p:sp>
        <p:nvSpPr>
          <p:cNvPr id="6" name="Text 4"/>
          <p:cNvSpPr/>
          <p:nvPr/>
        </p:nvSpPr>
        <p:spPr>
          <a:xfrm>
            <a:off x="411480" y="676656"/>
            <a:ext cx="44805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457200" y="941832"/>
            <a:ext cx="4389120" cy="18745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a knife blade couldn't slip between those stones — what does that reveal about Inca knowledge and skill?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evidence of careful stonework change how you think about the road system? How?</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makes this photograph primary source evidence — and what are its limits?</a:t>
            </a:r>
            <a:endParaRPr lang="en-US" sz="1100" dirty="0"/>
          </a:p>
        </p:txBody>
      </p:sp>
      <p:sp>
        <p:nvSpPr>
          <p:cNvPr id="8" name="Shape 6"/>
          <p:cNvSpPr/>
          <p:nvPr/>
        </p:nvSpPr>
        <p:spPr>
          <a:xfrm>
            <a:off x="5074920" y="621792"/>
            <a:ext cx="374904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212080" y="676656"/>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212080" y="877824"/>
            <a:ext cx="347472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stonework shows that the Inca..."</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changes my thinking about the roads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limit of this photograph as evidence is..."</a:t>
            </a:r>
            <a:endParaRPr lang="en-US" sz="1200" dirty="0"/>
          </a:p>
        </p:txBody>
      </p:sp>
      <p:sp>
        <p:nvSpPr>
          <p:cNvPr id="11" name="Shape 9"/>
          <p:cNvSpPr/>
          <p:nvPr/>
        </p:nvSpPr>
        <p:spPr>
          <a:xfrm>
            <a:off x="274320" y="3017520"/>
            <a:ext cx="8412480" cy="1280160"/>
          </a:xfrm>
          <a:prstGeom prst="roundRect">
            <a:avLst>
              <a:gd name="adj" fmla="val 8571"/>
            </a:avLst>
          </a:prstGeom>
          <a:solidFill>
            <a:srgbClr val="FFFFFF"/>
          </a:solidFill>
          <a:ln w="19050">
            <a:solidFill>
              <a:srgbClr val="D4943A"/>
            </a:solidFill>
            <a:prstDash val="solid"/>
          </a:ln>
        </p:spPr>
      </p:sp>
      <p:sp>
        <p:nvSpPr>
          <p:cNvPr id="12" name="Text 10"/>
          <p:cNvSpPr/>
          <p:nvPr/>
        </p:nvSpPr>
        <p:spPr>
          <a:xfrm>
            <a:off x="457200" y="3090672"/>
            <a:ext cx="804672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CONNECTING THE EVIDENCE</a:t>
            </a:r>
            <a:endParaRPr lang="en-US" sz="900" dirty="0"/>
          </a:p>
        </p:txBody>
      </p:sp>
      <p:sp>
        <p:nvSpPr>
          <p:cNvPr id="13" name="Text 11"/>
          <p:cNvSpPr/>
          <p:nvPr/>
        </p:nvSpPr>
        <p:spPr>
          <a:xfrm>
            <a:off x="457200" y="3337560"/>
            <a:ext cx="8046720" cy="868680"/>
          </a:xfrm>
          <a:prstGeom prst="rect">
            <a:avLst/>
          </a:prstGeom>
          <a:noFill/>
          <a:ln/>
        </p:spPr>
        <p:txBody>
          <a:bodyPr wrap="square" rtlCol="0" anchor="ctr"/>
          <a:lstStyle/>
          <a:p>
            <a:pPr indent="0" marL="0">
              <a:buNone/>
            </a:pPr>
            <a:r>
              <a:rPr lang="en-US" sz="1150" dirty="0">
                <a:solidFill>
                  <a:srgbClr val="3A3A5A"/>
                </a:solidFill>
                <a:latin typeface="Calibri" pitchFamily="34" charset="0"/>
                <a:ea typeface="Calibri" pitchFamily="34" charset="-122"/>
                <a:cs typeface="Calibri" pitchFamily="34" charset="-120"/>
              </a:rPr>
              <a:t>The same civilization that fitted massive stones without mortar also engineered 25,000 miles of mountain roads — with rope bridges and relay stations. This is NOT the work of a civilization 'just' doing anything. Precision stonework + mountain road engineering = a sophisticated governing state.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1A8A7D"/>
          </a:solidFill>
          <a:ln w="12700">
            <a:solidFill>
              <a:srgbClr val="1A8A7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FRONT PAGE DESK  ·  Chasqui &amp; Quipu — The Empire's Nervous System</a:t>
            </a:r>
            <a:endParaRPr lang="en-US" sz="1100" dirty="0"/>
          </a:p>
        </p:txBody>
      </p:sp>
      <p:sp>
        <p:nvSpPr>
          <p:cNvPr id="5" name="Shape 3"/>
          <p:cNvSpPr/>
          <p:nvPr/>
        </p:nvSpPr>
        <p:spPr>
          <a:xfrm>
            <a:off x="274320" y="621792"/>
            <a:ext cx="4023360" cy="2926080"/>
          </a:xfrm>
          <a:prstGeom prst="roundRect">
            <a:avLst>
              <a:gd name="adj" fmla="val 3750"/>
            </a:avLst>
          </a:prstGeom>
          <a:solidFill>
            <a:srgbClr val="FFFFFF"/>
          </a:solidFill>
          <a:ln w="19050">
            <a:solidFill>
              <a:srgbClr val="1A8A7D"/>
            </a:solidFill>
            <a:prstDash val="solid"/>
          </a:ln>
        </p:spPr>
      </p:sp>
      <p:sp>
        <p:nvSpPr>
          <p:cNvPr id="6" name="Text 4"/>
          <p:cNvSpPr/>
          <p:nvPr/>
        </p:nvSpPr>
        <p:spPr>
          <a:xfrm>
            <a:off x="411480" y="685800"/>
            <a:ext cx="3749040" cy="256032"/>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CHASQUI — Relay Runners</a:t>
            </a:r>
            <a:endParaRPr lang="en-US" sz="1000" dirty="0"/>
          </a:p>
        </p:txBody>
      </p:sp>
      <p:sp>
        <p:nvSpPr>
          <p:cNvPr id="7" name="Shape 5"/>
          <p:cNvSpPr/>
          <p:nvPr/>
        </p:nvSpPr>
        <p:spPr>
          <a:xfrm>
            <a:off x="411480" y="1005840"/>
            <a:ext cx="1828800" cy="1463040"/>
          </a:xfrm>
          <a:prstGeom prst="roundRect">
            <a:avLst>
              <a:gd name="adj" fmla="val 7500"/>
            </a:avLst>
          </a:prstGeom>
          <a:solidFill>
            <a:srgbClr val="E2E8F4"/>
          </a:solidFill>
          <a:ln w="19050">
            <a:solidFill>
              <a:srgbClr val="B0B8CC"/>
            </a:solidFill>
            <a:prstDash val="dash"/>
          </a:ln>
        </p:spPr>
      </p:sp>
      <p:sp>
        <p:nvSpPr>
          <p:cNvPr id="8" name="Text 6"/>
          <p:cNvSpPr/>
          <p:nvPr/>
        </p:nvSpPr>
        <p:spPr>
          <a:xfrm>
            <a:off x="411480" y="1005840"/>
            <a:ext cx="1828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48640" y="1280160"/>
            <a:ext cx="1554480" cy="109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chasqui relay runner — young Inca man running along a mountain road, carrying a quipu</a:t>
            </a:r>
            <a:endParaRPr lang="en-US" sz="1100" dirty="0"/>
          </a:p>
        </p:txBody>
      </p:sp>
      <p:sp>
        <p:nvSpPr>
          <p:cNvPr id="10" name="Text 8"/>
          <p:cNvSpPr/>
          <p:nvPr/>
        </p:nvSpPr>
        <p:spPr>
          <a:xfrm>
            <a:off x="2331720" y="1005840"/>
            <a:ext cx="1828800" cy="1463040"/>
          </a:xfrm>
          <a:prstGeom prst="rect">
            <a:avLst/>
          </a:prstGeom>
          <a:noFill/>
          <a:ln/>
        </p:spPr>
        <p:txBody>
          <a:bodyPr wrap="square" rtlCol="0" anchor="ctr"/>
          <a:lstStyle/>
          <a:p>
            <a:pPr indent="0" marL="0">
              <a:buNone/>
            </a:pPr>
            <a:r>
              <a:rPr lang="en-US" sz="1050" dirty="0">
                <a:solidFill>
                  <a:srgbClr val="3A3A5A"/>
                </a:solidFill>
                <a:latin typeface="Calibri" pitchFamily="34" charset="0"/>
                <a:ea typeface="Calibri" pitchFamily="34" charset="-122"/>
                <a:cs typeface="Calibri" pitchFamily="34" charset="-120"/>
              </a:rPr>
              <a:t>Specially trained runners stationed every ~1.5 miles along the roads. When a message arrived, the next runner was already waiting and running. A message could cross the entire empire — thousands of miles — in just a few days. This was the Inca's communication network, not a postal hobby.</a:t>
            </a:r>
            <a:endParaRPr lang="en-US" sz="1050" dirty="0"/>
          </a:p>
        </p:txBody>
      </p:sp>
      <p:sp>
        <p:nvSpPr>
          <p:cNvPr id="11" name="Text 9"/>
          <p:cNvSpPr/>
          <p:nvPr/>
        </p:nvSpPr>
        <p:spPr>
          <a:xfrm>
            <a:off x="411480" y="2542032"/>
            <a:ext cx="3749040" cy="475488"/>
          </a:xfrm>
          <a:prstGeom prst="rect">
            <a:avLst/>
          </a:prstGeom>
          <a:noFill/>
          <a:ln/>
        </p:spPr>
        <p:txBody>
          <a:bodyPr wrap="square" rtlCol="0" anchor="ctr"/>
          <a:lstStyle/>
          <a:p>
            <a:pPr indent="0" marL="0">
              <a:buNone/>
            </a:pPr>
            <a:r>
              <a:rPr lang="en-US" sz="1000" b="1" i="1" dirty="0">
                <a:solidFill>
                  <a:srgbClr val="D4943A"/>
                </a:solidFill>
                <a:latin typeface="Calibri" pitchFamily="34" charset="0"/>
                <a:ea typeface="Calibri" pitchFamily="34" charset="-122"/>
                <a:cs typeface="Calibri" pitchFamily="34" charset="-120"/>
              </a:rPr>
              <a:t>Why it matters: A king in Cusco could know about a flood, rebellion, or harvest failure in Ecuador within DAYS.</a:t>
            </a:r>
            <a:endParaRPr lang="en-US" sz="1000" dirty="0"/>
          </a:p>
        </p:txBody>
      </p:sp>
      <p:sp>
        <p:nvSpPr>
          <p:cNvPr id="12" name="Shape 10"/>
          <p:cNvSpPr/>
          <p:nvPr/>
        </p:nvSpPr>
        <p:spPr>
          <a:xfrm>
            <a:off x="4572000" y="621792"/>
            <a:ext cx="4114800" cy="2926080"/>
          </a:xfrm>
          <a:prstGeom prst="roundRect">
            <a:avLst>
              <a:gd name="adj" fmla="val 3750"/>
            </a:avLst>
          </a:prstGeom>
          <a:solidFill>
            <a:srgbClr val="FFFFFF"/>
          </a:solidFill>
          <a:ln w="19050">
            <a:solidFill>
              <a:srgbClr val="8B6FC0"/>
            </a:solidFill>
            <a:prstDash val="solid"/>
          </a:ln>
        </p:spPr>
      </p:sp>
      <p:sp>
        <p:nvSpPr>
          <p:cNvPr id="13" name="Text 11"/>
          <p:cNvSpPr/>
          <p:nvPr/>
        </p:nvSpPr>
        <p:spPr>
          <a:xfrm>
            <a:off x="4709160" y="685800"/>
            <a:ext cx="3840480" cy="256032"/>
          </a:xfrm>
          <a:prstGeom prst="rect">
            <a:avLst/>
          </a:prstGeom>
          <a:noFill/>
          <a:ln/>
        </p:spPr>
        <p:txBody>
          <a:bodyPr wrap="square" rtlCol="0" anchor="ctr"/>
          <a:lstStyle/>
          <a:p>
            <a:pPr indent="0" marL="0">
              <a:buNone/>
            </a:pPr>
            <a:r>
              <a:rPr lang="en-US" sz="1000" b="1" dirty="0">
                <a:solidFill>
                  <a:srgbClr val="8B6FC0"/>
                </a:solidFill>
                <a:latin typeface="Calibri" pitchFamily="34" charset="0"/>
                <a:ea typeface="Calibri" pitchFamily="34" charset="-122"/>
                <a:cs typeface="Calibri" pitchFamily="34" charset="-120"/>
              </a:rPr>
              <a:t>QUIPU — Knotted Records</a:t>
            </a:r>
            <a:endParaRPr lang="en-US" sz="1000" dirty="0"/>
          </a:p>
        </p:txBody>
      </p:sp>
      <p:sp>
        <p:nvSpPr>
          <p:cNvPr id="14" name="Shape 12"/>
          <p:cNvSpPr/>
          <p:nvPr/>
        </p:nvSpPr>
        <p:spPr>
          <a:xfrm>
            <a:off x="4709160" y="1005840"/>
            <a:ext cx="1828800" cy="1463040"/>
          </a:xfrm>
          <a:prstGeom prst="roundRect">
            <a:avLst>
              <a:gd name="adj" fmla="val 7500"/>
            </a:avLst>
          </a:prstGeom>
          <a:solidFill>
            <a:srgbClr val="E2E8F4"/>
          </a:solidFill>
          <a:ln w="19050">
            <a:solidFill>
              <a:srgbClr val="B0B8CC"/>
            </a:solidFill>
            <a:prstDash val="dash"/>
          </a:ln>
        </p:spPr>
      </p:sp>
      <p:sp>
        <p:nvSpPr>
          <p:cNvPr id="15" name="Text 13"/>
          <p:cNvSpPr/>
          <p:nvPr/>
        </p:nvSpPr>
        <p:spPr>
          <a:xfrm>
            <a:off x="4709160" y="1005840"/>
            <a:ext cx="1828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4846320" y="1280160"/>
            <a:ext cx="1554480" cy="109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an authentic quipu — colorful knotted strings hanging from a main cord, showing the complexity of the record system</a:t>
            </a:r>
            <a:endParaRPr lang="en-US" sz="1100" dirty="0"/>
          </a:p>
        </p:txBody>
      </p:sp>
      <p:sp>
        <p:nvSpPr>
          <p:cNvPr id="17" name="Text 15"/>
          <p:cNvSpPr/>
          <p:nvPr/>
        </p:nvSpPr>
        <p:spPr>
          <a:xfrm>
            <a:off x="6629400" y="1005840"/>
            <a:ext cx="1920240" cy="1463040"/>
          </a:xfrm>
          <a:prstGeom prst="rect">
            <a:avLst/>
          </a:prstGeom>
          <a:noFill/>
          <a:ln/>
        </p:spPr>
        <p:txBody>
          <a:bodyPr wrap="square" rtlCol="0" anchor="ctr"/>
          <a:lstStyle/>
          <a:p>
            <a:pPr indent="0" marL="0">
              <a:buNone/>
            </a:pPr>
            <a:r>
              <a:rPr lang="en-US" sz="1050" dirty="0">
                <a:solidFill>
                  <a:srgbClr val="3A3A5A"/>
                </a:solidFill>
                <a:latin typeface="Calibri" pitchFamily="34" charset="0"/>
                <a:ea typeface="Calibri" pitchFamily="34" charset="-122"/>
                <a:cs typeface="Calibri" pitchFamily="34" charset="-120"/>
              </a:rPr>
              <a:t>Knotted strings (quipu) recorded population counts, harvests, tribute owed, and goods collected. Without a written alphabet, the Inca used knot types, colors, and positions to encode complex data. Officials carried quipu along the roads to keep track of the empire's accounting.</a:t>
            </a:r>
            <a:endParaRPr lang="en-US" sz="1050" dirty="0"/>
          </a:p>
        </p:txBody>
      </p:sp>
      <p:sp>
        <p:nvSpPr>
          <p:cNvPr id="18" name="Text 16"/>
          <p:cNvSpPr/>
          <p:nvPr/>
        </p:nvSpPr>
        <p:spPr>
          <a:xfrm>
            <a:off x="4709160" y="2542032"/>
            <a:ext cx="3840480" cy="475488"/>
          </a:xfrm>
          <a:prstGeom prst="rect">
            <a:avLst/>
          </a:prstGeom>
          <a:noFill/>
          <a:ln/>
        </p:spPr>
        <p:txBody>
          <a:bodyPr wrap="square" rtlCol="0" anchor="ctr"/>
          <a:lstStyle/>
          <a:p>
            <a:pPr indent="0" marL="0">
              <a:buNone/>
            </a:pPr>
            <a:r>
              <a:rPr lang="en-US" sz="1000" b="1" i="1" dirty="0">
                <a:solidFill>
                  <a:srgbClr val="8B6FC0"/>
                </a:solidFill>
                <a:latin typeface="Calibri" pitchFamily="34" charset="0"/>
                <a:ea typeface="Calibri" pitchFamily="34" charset="-122"/>
                <a:cs typeface="Calibri" pitchFamily="34" charset="-120"/>
              </a:rPr>
              <a:t>Why it matters: The roads weren't just paths — they were the delivery system for the Inca's data network.</a:t>
            </a:r>
            <a:endParaRPr lang="en-US" sz="1000" dirty="0"/>
          </a:p>
        </p:txBody>
      </p:sp>
      <p:sp>
        <p:nvSpPr>
          <p:cNvPr id="19" name="Text 17"/>
          <p:cNvSpPr/>
          <p:nvPr/>
        </p:nvSpPr>
        <p:spPr>
          <a:xfrm>
            <a:off x="274320" y="3657600"/>
            <a:ext cx="8412480" cy="365760"/>
          </a:xfrm>
          <a:prstGeom prst="rect">
            <a:avLst/>
          </a:prstGeom>
          <a:noFill/>
          <a:ln/>
        </p:spPr>
        <p:txBody>
          <a:bodyPr wrap="square"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Together: Chasqui + Quipu + Roads = A governing network that connected 12 million people with no internet, no writing, no metal tools.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E8636B"/>
          </a:solidFill>
          <a:ln w="12700">
            <a:solidFill>
              <a:srgbClr val="E8636B"/>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FACT-CHECK ROOM  ·  Herald vs. Gazette — What's Right, What's Missing</a:t>
            </a:r>
            <a:endParaRPr lang="en-US" sz="1100" dirty="0"/>
          </a:p>
        </p:txBody>
      </p:sp>
      <p:sp>
        <p:nvSpPr>
          <p:cNvPr id="5" name="Shape 3"/>
          <p:cNvSpPr/>
          <p:nvPr/>
        </p:nvSpPr>
        <p:spPr>
          <a:xfrm>
            <a:off x="274320" y="621792"/>
            <a:ext cx="3931920" cy="3200400"/>
          </a:xfrm>
          <a:prstGeom prst="roundRect">
            <a:avLst>
              <a:gd name="adj" fmla="val 3429"/>
            </a:avLst>
          </a:prstGeom>
          <a:solidFill>
            <a:srgbClr val="FFF3DC"/>
          </a:solidFill>
          <a:ln w="25400">
            <a:solidFill>
              <a:srgbClr val="D4943A"/>
            </a:solidFill>
            <a:prstDash val="solid"/>
          </a:ln>
        </p:spPr>
      </p:sp>
      <p:sp>
        <p:nvSpPr>
          <p:cNvPr id="6" name="Text 4"/>
          <p:cNvSpPr/>
          <p:nvPr/>
        </p:nvSpPr>
        <p:spPr>
          <a:xfrm>
            <a:off x="411480" y="685800"/>
            <a:ext cx="3657600" cy="27432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THE HERALD IS PARTLY RIGHT...</a:t>
            </a:r>
            <a:endParaRPr lang="en-US" sz="900" dirty="0"/>
          </a:p>
        </p:txBody>
      </p:sp>
      <p:sp>
        <p:nvSpPr>
          <p:cNvPr id="7" name="Text 5"/>
          <p:cNvSpPr/>
          <p:nvPr/>
        </p:nvSpPr>
        <p:spPr>
          <a:xfrm>
            <a:off x="411480" y="941832"/>
            <a:ext cx="3657600" cy="201168"/>
          </a:xfrm>
          <a:prstGeom prst="rect">
            <a:avLst/>
          </a:prstGeom>
          <a:noFill/>
          <a:ln/>
        </p:spPr>
        <p:txBody>
          <a:bodyPr wrap="square"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(Surface Facts — Accurate)</a:t>
            </a:r>
            <a:endParaRPr lang="en-US" sz="900" dirty="0"/>
          </a:p>
        </p:txBody>
      </p:sp>
      <p:sp>
        <p:nvSpPr>
          <p:cNvPr id="8" name="Text 6"/>
          <p:cNvSpPr/>
          <p:nvPr/>
        </p:nvSpPr>
        <p:spPr>
          <a:xfrm>
            <a:off x="457200" y="1207008"/>
            <a:ext cx="3566160" cy="420624"/>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  The roads ARE physical paths through the mountains</a:t>
            </a:r>
            <a:endParaRPr lang="en-US" sz="1100" dirty="0"/>
          </a:p>
        </p:txBody>
      </p:sp>
      <p:sp>
        <p:nvSpPr>
          <p:cNvPr id="9" name="Text 7"/>
          <p:cNvSpPr/>
          <p:nvPr/>
        </p:nvSpPr>
        <p:spPr>
          <a:xfrm>
            <a:off x="457200" y="1682496"/>
            <a:ext cx="3566160" cy="420624"/>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  People and goods DID travel on them</a:t>
            </a:r>
            <a:endParaRPr lang="en-US" sz="1100" dirty="0"/>
          </a:p>
        </p:txBody>
      </p:sp>
      <p:sp>
        <p:nvSpPr>
          <p:cNvPr id="10" name="Text 8"/>
          <p:cNvSpPr/>
          <p:nvPr/>
        </p:nvSpPr>
        <p:spPr>
          <a:xfrm>
            <a:off x="457200" y="2157984"/>
            <a:ext cx="3566160" cy="420624"/>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  The roads WERE remarkable engineering</a:t>
            </a:r>
            <a:endParaRPr lang="en-US" sz="1100" dirty="0"/>
          </a:p>
        </p:txBody>
      </p:sp>
      <p:sp>
        <p:nvSpPr>
          <p:cNvPr id="11" name="Text 9"/>
          <p:cNvSpPr/>
          <p:nvPr/>
        </p:nvSpPr>
        <p:spPr>
          <a:xfrm>
            <a:off x="457200" y="2633472"/>
            <a:ext cx="3566160" cy="420624"/>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  25,000 miles is a real, accurate number</a:t>
            </a:r>
            <a:endParaRPr lang="en-US" sz="1100" dirty="0"/>
          </a:p>
        </p:txBody>
      </p:sp>
      <p:sp>
        <p:nvSpPr>
          <p:cNvPr id="12" name="Shape 10"/>
          <p:cNvSpPr/>
          <p:nvPr/>
        </p:nvSpPr>
        <p:spPr>
          <a:xfrm>
            <a:off x="4663440" y="621792"/>
            <a:ext cx="4114800" cy="3200400"/>
          </a:xfrm>
          <a:prstGeom prst="roundRect">
            <a:avLst>
              <a:gd name="adj" fmla="val 3429"/>
            </a:avLst>
          </a:prstGeom>
          <a:solidFill>
            <a:srgbClr val="1A2D5A"/>
          </a:solidFill>
          <a:ln w="25400">
            <a:solidFill>
              <a:srgbClr val="55C8E8"/>
            </a:solidFill>
            <a:prstDash val="solid"/>
          </a:ln>
        </p:spPr>
      </p:sp>
      <p:sp>
        <p:nvSpPr>
          <p:cNvPr id="13" name="Text 11"/>
          <p:cNvSpPr/>
          <p:nvPr/>
        </p:nvSpPr>
        <p:spPr>
          <a:xfrm>
            <a:off x="4800600" y="685800"/>
            <a:ext cx="3840480" cy="274320"/>
          </a:xfrm>
          <a:prstGeom prst="rect">
            <a:avLst/>
          </a:prstGeom>
          <a:noFill/>
          <a:ln/>
        </p:spPr>
        <p:txBody>
          <a:bodyPr wrap="square"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...BUT THE GAZETTE SHOWS WHAT'S MISSING</a:t>
            </a:r>
            <a:endParaRPr lang="en-US" sz="900" dirty="0"/>
          </a:p>
        </p:txBody>
      </p:sp>
      <p:sp>
        <p:nvSpPr>
          <p:cNvPr id="14" name="Text 12"/>
          <p:cNvSpPr/>
          <p:nvPr/>
        </p:nvSpPr>
        <p:spPr>
          <a:xfrm>
            <a:off x="4800600" y="941832"/>
            <a:ext cx="3840480" cy="201168"/>
          </a:xfrm>
          <a:prstGeom prst="rect">
            <a:avLst/>
          </a:prstGeom>
          <a:noFill/>
          <a:ln/>
        </p:spPr>
        <p:txBody>
          <a:bodyPr wrap="square"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(Deeper Purpose — Unreported)</a:t>
            </a:r>
            <a:endParaRPr lang="en-US" sz="900" dirty="0"/>
          </a:p>
        </p:txBody>
      </p:sp>
      <p:sp>
        <p:nvSpPr>
          <p:cNvPr id="15" name="Text 13"/>
          <p:cNvSpPr/>
          <p:nvPr/>
        </p:nvSpPr>
        <p:spPr>
          <a:xfrm>
            <a:off x="4800600" y="1207008"/>
            <a:ext cx="3840480" cy="347472"/>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Chasqui relay runners = a communication network</a:t>
            </a:r>
            <a:endParaRPr lang="en-US" sz="1100" dirty="0"/>
          </a:p>
        </p:txBody>
      </p:sp>
      <p:sp>
        <p:nvSpPr>
          <p:cNvPr id="16" name="Text 14"/>
          <p:cNvSpPr/>
          <p:nvPr/>
        </p:nvSpPr>
        <p:spPr>
          <a:xfrm>
            <a:off x="4800600" y="1609344"/>
            <a:ext cx="3840480" cy="347472"/>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Quipu on the roads = a data/tax system</a:t>
            </a:r>
            <a:endParaRPr lang="en-US" sz="1100" dirty="0"/>
          </a:p>
        </p:txBody>
      </p:sp>
      <p:sp>
        <p:nvSpPr>
          <p:cNvPr id="17" name="Text 15"/>
          <p:cNvSpPr/>
          <p:nvPr/>
        </p:nvSpPr>
        <p:spPr>
          <a:xfrm>
            <a:off x="4800600" y="2011680"/>
            <a:ext cx="3840480" cy="347472"/>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Soldiers on the roads = military control</a:t>
            </a:r>
            <a:endParaRPr lang="en-US" sz="1100" dirty="0"/>
          </a:p>
        </p:txBody>
      </p:sp>
      <p:sp>
        <p:nvSpPr>
          <p:cNvPr id="18" name="Text 16"/>
          <p:cNvSpPr/>
          <p:nvPr/>
        </p:nvSpPr>
        <p:spPr>
          <a:xfrm>
            <a:off x="4800600" y="2414016"/>
            <a:ext cx="3840480" cy="347472"/>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Officials on the roads = governance and tribute</a:t>
            </a:r>
            <a:endParaRPr lang="en-US" sz="1100" dirty="0"/>
          </a:p>
        </p:txBody>
      </p:sp>
      <p:sp>
        <p:nvSpPr>
          <p:cNvPr id="19" name="Text 17"/>
          <p:cNvSpPr/>
          <p:nvPr/>
        </p:nvSpPr>
        <p:spPr>
          <a:xfrm>
            <a:off x="4800600" y="2816352"/>
            <a:ext cx="3840480" cy="347472"/>
          </a:xfrm>
          <a:prstGeom prst="rect">
            <a:avLst/>
          </a:prstGeom>
          <a:noFill/>
          <a:ln/>
        </p:spPr>
        <p:txBody>
          <a:bodyPr wrap="square" rtlCol="0" anchor="ctr"/>
          <a:lstStyle/>
          <a:p>
            <a:pPr indent="0" marL="0">
              <a:buNone/>
            </a:pPr>
            <a:r>
              <a:rPr lang="en-US" sz="1100" dirty="0">
                <a:solidFill>
                  <a:srgbClr val="D6F2FB"/>
                </a:solidFill>
                <a:latin typeface="Calibri" pitchFamily="34" charset="0"/>
                <a:ea typeface="Calibri" pitchFamily="34" charset="-122"/>
                <a:cs typeface="Calibri" pitchFamily="34" charset="-120"/>
              </a:rPr>
              <a:t>✕  Roads made governing 12 million people possible</a:t>
            </a:r>
            <a:endParaRPr lang="en-US" sz="1100" dirty="0"/>
          </a:p>
        </p:txBody>
      </p:sp>
      <p:sp>
        <p:nvSpPr>
          <p:cNvPr id="20" name="Shape 18"/>
          <p:cNvSpPr/>
          <p:nvPr/>
        </p:nvSpPr>
        <p:spPr>
          <a:xfrm>
            <a:off x="274320" y="3913632"/>
            <a:ext cx="8412480" cy="530352"/>
          </a:xfrm>
          <a:prstGeom prst="roundRect">
            <a:avLst>
              <a:gd name="adj" fmla="val 17241"/>
            </a:avLst>
          </a:prstGeom>
          <a:solidFill>
            <a:srgbClr val="E8636B">
              <a:alpha val="85000"/>
            </a:srgbClr>
          </a:solidFill>
          <a:ln w="12700">
            <a:solidFill>
              <a:srgbClr val="E8636B"/>
            </a:solidFill>
            <a:prstDash val="solid"/>
          </a:ln>
        </p:spPr>
      </p:sp>
      <p:sp>
        <p:nvSpPr>
          <p:cNvPr id="21" name="Text 19"/>
          <p:cNvSpPr/>
          <p:nvPr/>
        </p:nvSpPr>
        <p:spPr>
          <a:xfrm>
            <a:off x="457200" y="3959352"/>
            <a:ext cx="8046720" cy="438912"/>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 responsible editor finds BOTH — the surface fact AND the deeper purpose. That's the difference between the Herald and the Gazette.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E8636B"/>
          </a:solidFill>
          <a:ln w="12700">
            <a:solidFill>
              <a:srgbClr val="E8636B"/>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DISCUSSION  ·  Scaffolding Q3 — Evaluating the Herald's Claim</a:t>
            </a:r>
            <a:endParaRPr lang="en-US" sz="1100" dirty="0"/>
          </a:p>
        </p:txBody>
      </p:sp>
      <p:sp>
        <p:nvSpPr>
          <p:cNvPr id="5" name="Shape 3"/>
          <p:cNvSpPr/>
          <p:nvPr/>
        </p:nvSpPr>
        <p:spPr>
          <a:xfrm>
            <a:off x="274320" y="621792"/>
            <a:ext cx="4754880" cy="2743200"/>
          </a:xfrm>
          <a:prstGeom prst="roundRect">
            <a:avLst>
              <a:gd name="adj" fmla="val 4000"/>
            </a:avLst>
          </a:prstGeom>
          <a:solidFill>
            <a:srgbClr val="1A2D5A"/>
          </a:solidFill>
          <a:ln w="12700">
            <a:solidFill>
              <a:srgbClr val="2A4070"/>
            </a:solidFill>
            <a:prstDash val="solid"/>
          </a:ln>
        </p:spPr>
      </p:sp>
      <p:sp>
        <p:nvSpPr>
          <p:cNvPr id="6" name="Text 4"/>
          <p:cNvSpPr/>
          <p:nvPr/>
        </p:nvSpPr>
        <p:spPr>
          <a:xfrm>
            <a:off x="411480" y="676656"/>
            <a:ext cx="44805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457200" y="941832"/>
            <a:ext cx="4389120" cy="23317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Herald said 'just for travel.' Which word does the most damage — 'just'? Why?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something be partly true and still be misleading? Give an example from today.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fact would you add to the Herald's story to make it honest reporting?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you were Ms. Avery reviewing the Herald's article, what correction would you require?</a:t>
            </a:r>
            <a:endParaRPr lang="en-US" sz="1100" dirty="0"/>
          </a:p>
        </p:txBody>
      </p:sp>
      <p:sp>
        <p:nvSpPr>
          <p:cNvPr id="8" name="Shape 6"/>
          <p:cNvSpPr/>
          <p:nvPr/>
        </p:nvSpPr>
        <p:spPr>
          <a:xfrm>
            <a:off x="5074920" y="621792"/>
            <a:ext cx="3749040" cy="2743200"/>
          </a:xfrm>
          <a:prstGeom prst="roundRect">
            <a:avLst>
              <a:gd name="adj" fmla="val 4000"/>
            </a:avLst>
          </a:prstGeom>
          <a:solidFill>
            <a:srgbClr val="FFF3DC"/>
          </a:solidFill>
          <a:ln w="19050">
            <a:solidFill>
              <a:srgbClr val="F5E6C8"/>
            </a:solidFill>
            <a:prstDash val="solid"/>
          </a:ln>
        </p:spPr>
      </p:sp>
      <p:sp>
        <p:nvSpPr>
          <p:cNvPr id="9" name="Text 7"/>
          <p:cNvSpPr/>
          <p:nvPr/>
        </p:nvSpPr>
        <p:spPr>
          <a:xfrm>
            <a:off x="5212080" y="676656"/>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212080" y="877824"/>
            <a:ext cx="3474720" cy="2423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"What's partly right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"What's missing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word 'just' is a problem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honest headline would say..."</a:t>
            </a:r>
            <a:endParaRPr lang="en-US" sz="1200" dirty="0"/>
          </a:p>
        </p:txBody>
      </p:sp>
      <p:sp>
        <p:nvSpPr>
          <p:cNvPr id="11" name="Shape 9"/>
          <p:cNvSpPr/>
          <p:nvPr/>
        </p:nvSpPr>
        <p:spPr>
          <a:xfrm>
            <a:off x="274320" y="3493008"/>
            <a:ext cx="8412480" cy="749808"/>
          </a:xfrm>
          <a:prstGeom prst="roundRect">
            <a:avLst>
              <a:gd name="adj" fmla="val 12195"/>
            </a:avLst>
          </a:prstGeom>
          <a:solidFill>
            <a:srgbClr val="FFF3DC"/>
          </a:solidFill>
          <a:ln w="19050">
            <a:solidFill>
              <a:srgbClr val="D4943A"/>
            </a:solidFill>
            <a:prstDash val="solid"/>
          </a:ln>
        </p:spPr>
      </p:sp>
      <p:sp>
        <p:nvSpPr>
          <p:cNvPr id="12" name="Text 10"/>
          <p:cNvSpPr/>
          <p:nvPr/>
        </p:nvSpPr>
        <p:spPr>
          <a:xfrm>
            <a:off x="457200" y="3547872"/>
            <a:ext cx="804672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Editor's Notebook Q3:</a:t>
            </a:r>
            <a:endParaRPr lang="en-US" sz="900" dirty="0"/>
          </a:p>
        </p:txBody>
      </p:sp>
      <p:sp>
        <p:nvSpPr>
          <p:cNvPr id="13" name="Text 11"/>
          <p:cNvSpPr/>
          <p:nvPr/>
        </p:nvSpPr>
        <p:spPr>
          <a:xfrm>
            <a:off x="457200" y="3749040"/>
            <a:ext cx="8046720" cy="420624"/>
          </a:xfrm>
          <a:prstGeom prst="rect">
            <a:avLst/>
          </a:prstGeom>
          <a:noFill/>
          <a:ln/>
        </p:spPr>
        <p:txBody>
          <a:bodyPr wrap="square" rtlCol="0" anchor="ctr"/>
          <a:lstStyle/>
          <a:p>
            <a:pPr indent="0" marL="0">
              <a:buNone/>
            </a:pPr>
            <a:r>
              <a:rPr lang="en-US" sz="1100" b="1" dirty="0">
                <a:solidFill>
                  <a:srgbClr val="5A4A3A"/>
                </a:solidFill>
                <a:latin typeface="Calibri" pitchFamily="34" charset="0"/>
                <a:ea typeface="Calibri" pitchFamily="34" charset="-122"/>
                <a:cs typeface="Calibri" pitchFamily="34" charset="-120"/>
              </a:rPr>
              <a:t>The Hasty Herald said 'the Inca road system was just for travel, not for governing.' What's partly right about that? What's missing?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34B76F"/>
          </a:solidFill>
          <a:ln w="12700">
            <a:solidFill>
              <a:srgbClr val="34B76F"/>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WHY IT MATTERS  ·  Roads as Governing Tools</a:t>
            </a:r>
            <a:endParaRPr lang="en-US" sz="1100" dirty="0"/>
          </a:p>
        </p:txBody>
      </p:sp>
      <p:sp>
        <p:nvSpPr>
          <p:cNvPr id="5" name="Shape 3"/>
          <p:cNvSpPr/>
          <p:nvPr/>
        </p:nvSpPr>
        <p:spPr>
          <a:xfrm>
            <a:off x="274320" y="621792"/>
            <a:ext cx="8412480" cy="1005840"/>
          </a:xfrm>
          <a:prstGeom prst="roundRect">
            <a:avLst>
              <a:gd name="adj" fmla="val 10909"/>
            </a:avLst>
          </a:prstGeom>
          <a:solidFill>
            <a:srgbClr val="34B76F">
              <a:alpha val="85000"/>
            </a:srgbClr>
          </a:solidFill>
          <a:ln w="19050">
            <a:solidFill>
              <a:srgbClr val="34B76F"/>
            </a:solidFill>
            <a:prstDash val="solid"/>
          </a:ln>
        </p:spPr>
      </p:sp>
      <p:sp>
        <p:nvSpPr>
          <p:cNvPr id="6" name="Text 4"/>
          <p:cNvSpPr/>
          <p:nvPr/>
        </p:nvSpPr>
        <p:spPr>
          <a:xfrm>
            <a:off x="457200" y="667512"/>
            <a:ext cx="8046720" cy="896112"/>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Inca road system wasn't just engineering — it was how one of the largest empires in history held itself together. Understanding this changes how we see the Inca: not as isolated mountain people with nice paths, but as sophisticated governors who solved the problem of connecting 12 million people without writing, metal tools, or wheels.</a:t>
            </a:r>
            <a:endParaRPr lang="en-US" sz="1200" dirty="0"/>
          </a:p>
        </p:txBody>
      </p:sp>
      <p:sp>
        <p:nvSpPr>
          <p:cNvPr id="7" name="Shape 5"/>
          <p:cNvSpPr/>
          <p:nvPr/>
        </p:nvSpPr>
        <p:spPr>
          <a:xfrm>
            <a:off x="274320" y="1755648"/>
            <a:ext cx="2697480" cy="2377440"/>
          </a:xfrm>
          <a:prstGeom prst="roundRect">
            <a:avLst>
              <a:gd name="adj" fmla="val 4615"/>
            </a:avLst>
          </a:prstGeom>
          <a:solidFill>
            <a:srgbClr val="FFFFFF"/>
          </a:solidFill>
          <a:ln w="19050">
            <a:solidFill>
              <a:srgbClr val="34B76F"/>
            </a:solidFill>
            <a:prstDash val="solid"/>
          </a:ln>
        </p:spPr>
      </p:sp>
      <p:sp>
        <p:nvSpPr>
          <p:cNvPr id="8" name="Text 6"/>
          <p:cNvSpPr/>
          <p:nvPr/>
        </p:nvSpPr>
        <p:spPr>
          <a:xfrm>
            <a:off x="384048" y="1810512"/>
            <a:ext cx="2487168" cy="2560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FOR HISTORIANS</a:t>
            </a:r>
            <a:endParaRPr lang="en-US" sz="900" dirty="0"/>
          </a:p>
        </p:txBody>
      </p:sp>
      <p:sp>
        <p:nvSpPr>
          <p:cNvPr id="9" name="Text 7"/>
          <p:cNvSpPr/>
          <p:nvPr/>
        </p:nvSpPr>
        <p:spPr>
          <a:xfrm>
            <a:off x="384048" y="2103120"/>
            <a:ext cx="2487168" cy="1920240"/>
          </a:xfrm>
          <a:prstGeom prst="rect">
            <a:avLst/>
          </a:prstGeom>
          <a:noFill/>
          <a:ln/>
        </p:spPr>
        <p:txBody>
          <a:bodyPr wrap="square" rtlCol="0" anchor="t"/>
          <a:lstStyle/>
          <a:p>
            <a:pPr indent="0" marL="0">
              <a:buNone/>
            </a:pPr>
            <a:r>
              <a:rPr lang="en-US" sz="1100" dirty="0">
                <a:solidFill>
                  <a:srgbClr val="3A3A5A"/>
                </a:solidFill>
                <a:latin typeface="Calibri" pitchFamily="34" charset="0"/>
                <a:ea typeface="Calibri" pitchFamily="34" charset="-122"/>
                <a:cs typeface="Calibri" pitchFamily="34" charset="-120"/>
              </a:rPr>
              <a:t>The roads are physical evidence that survives. Studying them tells us how the Inca solved real governing problems. Without this evidence, we'd have a much smaller picture of Inca sophistication.</a:t>
            </a:r>
            <a:endParaRPr lang="en-US" sz="1100" dirty="0"/>
          </a:p>
        </p:txBody>
      </p:sp>
      <p:sp>
        <p:nvSpPr>
          <p:cNvPr id="10" name="Shape 8"/>
          <p:cNvSpPr/>
          <p:nvPr/>
        </p:nvSpPr>
        <p:spPr>
          <a:xfrm>
            <a:off x="3154680" y="1755648"/>
            <a:ext cx="2697480" cy="2377440"/>
          </a:xfrm>
          <a:prstGeom prst="roundRect">
            <a:avLst>
              <a:gd name="adj" fmla="val 4615"/>
            </a:avLst>
          </a:prstGeom>
          <a:solidFill>
            <a:srgbClr val="FFFFFF"/>
          </a:solidFill>
          <a:ln w="19050">
            <a:solidFill>
              <a:srgbClr val="34B76F"/>
            </a:solidFill>
            <a:prstDash val="solid"/>
          </a:ln>
        </p:spPr>
      </p:sp>
      <p:sp>
        <p:nvSpPr>
          <p:cNvPr id="11" name="Text 9"/>
          <p:cNvSpPr/>
          <p:nvPr/>
        </p:nvSpPr>
        <p:spPr>
          <a:xfrm>
            <a:off x="3264408" y="1810512"/>
            <a:ext cx="2487168" cy="2560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FOR CITIZENS TODAY</a:t>
            </a:r>
            <a:endParaRPr lang="en-US" sz="900" dirty="0"/>
          </a:p>
        </p:txBody>
      </p:sp>
      <p:sp>
        <p:nvSpPr>
          <p:cNvPr id="12" name="Text 10"/>
          <p:cNvSpPr/>
          <p:nvPr/>
        </p:nvSpPr>
        <p:spPr>
          <a:xfrm>
            <a:off x="3264408" y="2103120"/>
            <a:ext cx="2487168" cy="1920240"/>
          </a:xfrm>
          <a:prstGeom prst="rect">
            <a:avLst/>
          </a:prstGeom>
          <a:noFill/>
          <a:ln/>
        </p:spPr>
        <p:txBody>
          <a:bodyPr wrap="square" rtlCol="0" anchor="t"/>
          <a:lstStyle/>
          <a:p>
            <a:pPr indent="0" marL="0">
              <a:buNone/>
            </a:pPr>
            <a:r>
              <a:rPr lang="en-US" sz="1100" dirty="0">
                <a:solidFill>
                  <a:srgbClr val="3A3A5A"/>
                </a:solidFill>
                <a:latin typeface="Calibri" pitchFamily="34" charset="0"/>
                <a:ea typeface="Calibri" pitchFamily="34" charset="-122"/>
                <a:cs typeface="Calibri" pitchFamily="34" charset="-120"/>
              </a:rPr>
              <a:t>Governments still build infrastructure — roads, internet, postal systems — to govern. The Inca did this 600 years ago at massive scale. That's worth knowing.</a:t>
            </a:r>
            <a:endParaRPr lang="en-US" sz="1100" dirty="0"/>
          </a:p>
        </p:txBody>
      </p:sp>
      <p:sp>
        <p:nvSpPr>
          <p:cNvPr id="13" name="Shape 11"/>
          <p:cNvSpPr/>
          <p:nvPr/>
        </p:nvSpPr>
        <p:spPr>
          <a:xfrm>
            <a:off x="6035040" y="1755648"/>
            <a:ext cx="2697480" cy="2377440"/>
          </a:xfrm>
          <a:prstGeom prst="roundRect">
            <a:avLst>
              <a:gd name="adj" fmla="val 4615"/>
            </a:avLst>
          </a:prstGeom>
          <a:solidFill>
            <a:srgbClr val="FFFFFF"/>
          </a:solidFill>
          <a:ln w="19050">
            <a:solidFill>
              <a:srgbClr val="34B76F"/>
            </a:solidFill>
            <a:prstDash val="solid"/>
          </a:ln>
        </p:spPr>
      </p:sp>
      <p:sp>
        <p:nvSpPr>
          <p:cNvPr id="14" name="Text 12"/>
          <p:cNvSpPr/>
          <p:nvPr/>
        </p:nvSpPr>
        <p:spPr>
          <a:xfrm>
            <a:off x="6144768" y="1810512"/>
            <a:ext cx="2487168" cy="2560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FOR REPORTERS</a:t>
            </a:r>
            <a:endParaRPr lang="en-US" sz="900" dirty="0"/>
          </a:p>
        </p:txBody>
      </p:sp>
      <p:sp>
        <p:nvSpPr>
          <p:cNvPr id="15" name="Text 13"/>
          <p:cNvSpPr/>
          <p:nvPr/>
        </p:nvSpPr>
        <p:spPr>
          <a:xfrm>
            <a:off x="6144768" y="2103120"/>
            <a:ext cx="2487168" cy="1920240"/>
          </a:xfrm>
          <a:prstGeom prst="rect">
            <a:avLst/>
          </a:prstGeom>
          <a:noFill/>
          <a:ln/>
        </p:spPr>
        <p:txBody>
          <a:bodyPr wrap="square" rtlCol="0" anchor="t"/>
          <a:lstStyle/>
          <a:p>
            <a:pPr indent="0" marL="0">
              <a:buNone/>
            </a:pPr>
            <a:r>
              <a:rPr lang="en-US" sz="1100" dirty="0">
                <a:solidFill>
                  <a:srgbClr val="3A3A5A"/>
                </a:solidFill>
                <a:latin typeface="Calibri" pitchFamily="34" charset="0"/>
                <a:ea typeface="Calibri" pitchFamily="34" charset="-122"/>
                <a:cs typeface="Calibri" pitchFamily="34" charset="-120"/>
              </a:rPr>
              <a:t>The Herald's mistake is common: report the surface fact, miss the deeper purpose. A responsible reporter asks: what is this infrastructure FOR? What problem is it solving?</a:t>
            </a:r>
            <a:endParaRPr lang="en-US" sz="1100" dirty="0"/>
          </a:p>
        </p:txBody>
      </p:sp>
      <p:sp>
        <p:nvSpPr>
          <p:cNvPr id="16" name="Text 14"/>
          <p:cNvSpPr/>
          <p:nvPr/>
        </p:nvSpPr>
        <p:spPr>
          <a:xfrm>
            <a:off x="274320" y="4224528"/>
            <a:ext cx="8412480" cy="292608"/>
          </a:xfrm>
          <a:prstGeom prst="rect">
            <a:avLst/>
          </a:prstGeom>
          <a:noFill/>
          <a:ln/>
        </p:spPr>
        <p:txBody>
          <a:bodyPr wrap="square" rtlCol="0" anchor="ctr"/>
          <a:lstStyle/>
          <a:p>
            <a:pPr algn="ctr" indent="0" marL="0">
              <a:buNone/>
            </a:pPr>
            <a:r>
              <a:rPr lang="en-US" sz="1100" b="1" i="1" dirty="0">
                <a:solidFill>
                  <a:srgbClr val="D4943A"/>
                </a:solidFill>
                <a:latin typeface="Calibri" pitchFamily="34" charset="0"/>
                <a:ea typeface="Calibri" pitchFamily="34" charset="-122"/>
                <a:cs typeface="Calibri" pitchFamily="34" charset="-120"/>
              </a:rPr>
              <a:t>The Gazette's job: report what the roads were FOR — not just that they existed.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84048"/>
            <a:ext cx="8229600" cy="274320"/>
          </a:xfrm>
          <a:prstGeom prst="rect">
            <a:avLst/>
          </a:prstGeom>
          <a:noFill/>
          <a:ln/>
        </p:spPr>
        <p:txBody>
          <a:bodyPr wrap="square"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VIRTUE LENS</a:t>
            </a:r>
            <a:endParaRPr lang="en-US" sz="900" dirty="0"/>
          </a:p>
        </p:txBody>
      </p:sp>
      <p:sp>
        <p:nvSpPr>
          <p:cNvPr id="6" name="Text 3"/>
          <p:cNvSpPr/>
          <p:nvPr/>
        </p:nvSpPr>
        <p:spPr>
          <a:xfrm>
            <a:off x="457200" y="713232"/>
            <a:ext cx="8229600" cy="658368"/>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Responsibility</a:t>
            </a:r>
            <a:endParaRPr lang="en-US" sz="4400" dirty="0"/>
          </a:p>
        </p:txBody>
      </p:sp>
      <p:sp>
        <p:nvSpPr>
          <p:cNvPr id="7" name="Shape 4"/>
          <p:cNvSpPr/>
          <p:nvPr/>
        </p:nvSpPr>
        <p:spPr>
          <a:xfrm>
            <a:off x="3200400" y="1417320"/>
            <a:ext cx="2743200" cy="36576"/>
          </a:xfrm>
          <a:prstGeom prst="rect">
            <a:avLst/>
          </a:prstGeom>
          <a:solidFill>
            <a:srgbClr val="D4943A"/>
          </a:solidFill>
          <a:ln w="12700">
            <a:solidFill>
              <a:srgbClr val="D4943A"/>
            </a:solidFill>
            <a:prstDash val="solid"/>
          </a:ln>
        </p:spPr>
      </p:sp>
      <p:sp>
        <p:nvSpPr>
          <p:cNvPr id="8" name="Text 5"/>
          <p:cNvSpPr/>
          <p:nvPr/>
        </p:nvSpPr>
        <p:spPr>
          <a:xfrm>
            <a:off x="1097280" y="1572768"/>
            <a:ext cx="6949440" cy="1371600"/>
          </a:xfrm>
          <a:prstGeom prst="rect">
            <a:avLst/>
          </a:prstGeom>
          <a:noFill/>
          <a:ln/>
        </p:spPr>
        <p:txBody>
          <a:bodyPr wrap="square" rtlCol="0" anchor="ctr"/>
          <a:lstStyle/>
          <a:p>
            <a:pPr algn="ctr" indent="0" marL="0">
              <a:buNone/>
            </a:pPr>
            <a:r>
              <a:rPr lang="en-US" sz="1350" i="1" dirty="0">
                <a:solidFill>
                  <a:srgbClr val="D6F2FB"/>
                </a:solidFill>
                <a:latin typeface="Cambria" pitchFamily="34" charset="0"/>
                <a:ea typeface="Cambria" pitchFamily="34" charset="-122"/>
                <a:cs typeface="Cambria" pitchFamily="34" charset="-120"/>
              </a:rPr>
              <a:t>A responsible editor reports the FULL purpose behind the facts — not just the surface.</a:t>
            </a:r>
            <a:endParaRPr lang="en-US" sz="1350" dirty="0"/>
          </a:p>
          <a:p>
            <a:pPr algn="ctr" indent="0" marL="0">
              <a:buNone/>
            </a:pPr>
            <a:endParaRPr lang="en-US" sz="1350" dirty="0"/>
          </a:p>
          <a:p>
            <a:pPr algn="ctr" indent="0" marL="0">
              <a:buNone/>
            </a:pPr>
            <a:r>
              <a:rPr lang="en-US" sz="1350" i="1" dirty="0">
                <a:solidFill>
                  <a:srgbClr val="D6F2FB"/>
                </a:solidFill>
                <a:latin typeface="Cambria" pitchFamily="34" charset="0"/>
                <a:ea typeface="Cambria" pitchFamily="34" charset="-122"/>
                <a:cs typeface="Cambria" pitchFamily="34" charset="-120"/>
              </a:rPr>
              <a:t>Today, responsibility means explaining what the Inca road system was actually for, rather than treating it as a simple travel route and moving on.</a:t>
            </a:r>
            <a:endParaRPr lang="en-US" sz="1350" dirty="0"/>
          </a:p>
        </p:txBody>
      </p:sp>
      <p:sp>
        <p:nvSpPr>
          <p:cNvPr id="9" name="Shape 6"/>
          <p:cNvSpPr/>
          <p:nvPr/>
        </p:nvSpPr>
        <p:spPr>
          <a:xfrm>
            <a:off x="457200" y="3127248"/>
            <a:ext cx="2606040" cy="1280160"/>
          </a:xfrm>
          <a:prstGeom prst="roundRect">
            <a:avLst>
              <a:gd name="adj" fmla="val 7143"/>
            </a:avLst>
          </a:prstGeom>
          <a:solidFill>
            <a:srgbClr val="1A2D5A">
              <a:alpha val="85000"/>
            </a:srgbClr>
          </a:solidFill>
          <a:ln w="19050">
            <a:solidFill>
              <a:srgbClr val="D4943A"/>
            </a:solidFill>
            <a:prstDash val="solid"/>
          </a:ln>
        </p:spPr>
      </p:sp>
      <p:sp>
        <p:nvSpPr>
          <p:cNvPr id="10" name="Text 7"/>
          <p:cNvSpPr/>
          <p:nvPr/>
        </p:nvSpPr>
        <p:spPr>
          <a:xfrm>
            <a:off x="566928" y="3182112"/>
            <a:ext cx="2395728" cy="237744"/>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NOTICE</a:t>
            </a:r>
            <a:endParaRPr lang="en-US" sz="900" dirty="0"/>
          </a:p>
        </p:txBody>
      </p:sp>
      <p:sp>
        <p:nvSpPr>
          <p:cNvPr id="11" name="Text 8"/>
          <p:cNvSpPr/>
          <p:nvPr/>
        </p:nvSpPr>
        <p:spPr>
          <a:xfrm>
            <a:off x="566928" y="3438144"/>
            <a:ext cx="2395728" cy="859536"/>
          </a:xfrm>
          <a:prstGeom prst="rect">
            <a:avLst/>
          </a:prstGeom>
          <a:noFill/>
          <a:ln/>
        </p:spPr>
        <p:txBody>
          <a:bodyPr wrap="square" rtlCol="0" anchor="t"/>
          <a:lstStyle/>
          <a:p>
            <a:pPr indent="0" marL="0">
              <a:buNone/>
            </a:pPr>
            <a:r>
              <a:rPr lang="en-US" sz="1050" dirty="0">
                <a:solidFill>
                  <a:srgbClr val="D6F2FB"/>
                </a:solidFill>
                <a:latin typeface="Calibri" pitchFamily="34" charset="0"/>
                <a:ea typeface="Calibri" pitchFamily="34" charset="-122"/>
                <a:cs typeface="Calibri" pitchFamily="34" charset="-120"/>
              </a:rPr>
              <a:t>The Herald noticed the roads exist and people traveled on them.</a:t>
            </a:r>
            <a:endParaRPr lang="en-US" sz="1050" dirty="0"/>
          </a:p>
        </p:txBody>
      </p:sp>
      <p:sp>
        <p:nvSpPr>
          <p:cNvPr id="12" name="Shape 9"/>
          <p:cNvSpPr/>
          <p:nvPr/>
        </p:nvSpPr>
        <p:spPr>
          <a:xfrm>
            <a:off x="3291840" y="3127248"/>
            <a:ext cx="2606040" cy="1280160"/>
          </a:xfrm>
          <a:prstGeom prst="roundRect">
            <a:avLst>
              <a:gd name="adj" fmla="val 7143"/>
            </a:avLst>
          </a:prstGeom>
          <a:solidFill>
            <a:srgbClr val="1A2D5A">
              <a:alpha val="85000"/>
            </a:srgbClr>
          </a:solidFill>
          <a:ln w="19050">
            <a:solidFill>
              <a:srgbClr val="D4943A"/>
            </a:solidFill>
            <a:prstDash val="solid"/>
          </a:ln>
        </p:spPr>
      </p:sp>
      <p:sp>
        <p:nvSpPr>
          <p:cNvPr id="13" name="Text 10"/>
          <p:cNvSpPr/>
          <p:nvPr/>
        </p:nvSpPr>
        <p:spPr>
          <a:xfrm>
            <a:off x="3401568" y="3182112"/>
            <a:ext cx="2395728" cy="237744"/>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INVESTIGATE</a:t>
            </a:r>
            <a:endParaRPr lang="en-US" sz="900" dirty="0"/>
          </a:p>
        </p:txBody>
      </p:sp>
      <p:sp>
        <p:nvSpPr>
          <p:cNvPr id="14" name="Text 11"/>
          <p:cNvSpPr/>
          <p:nvPr/>
        </p:nvSpPr>
        <p:spPr>
          <a:xfrm>
            <a:off x="3401568" y="3438144"/>
            <a:ext cx="2395728" cy="859536"/>
          </a:xfrm>
          <a:prstGeom prst="rect">
            <a:avLst/>
          </a:prstGeom>
          <a:noFill/>
          <a:ln/>
        </p:spPr>
        <p:txBody>
          <a:bodyPr wrap="square" rtlCol="0" anchor="t"/>
          <a:lstStyle/>
          <a:p>
            <a:pPr indent="0" marL="0">
              <a:buNone/>
            </a:pPr>
            <a:r>
              <a:rPr lang="en-US" sz="1050" dirty="0">
                <a:solidFill>
                  <a:srgbClr val="D6F2FB"/>
                </a:solidFill>
                <a:latin typeface="Calibri" pitchFamily="34" charset="0"/>
                <a:ea typeface="Calibri" pitchFamily="34" charset="-122"/>
                <a:cs typeface="Calibri" pitchFamily="34" charset="-120"/>
              </a:rPr>
              <a:t>The Gazette investigated what the roads were actually FOR.</a:t>
            </a:r>
            <a:endParaRPr lang="en-US" sz="1050" dirty="0"/>
          </a:p>
        </p:txBody>
      </p:sp>
      <p:sp>
        <p:nvSpPr>
          <p:cNvPr id="15" name="Shape 12"/>
          <p:cNvSpPr/>
          <p:nvPr/>
        </p:nvSpPr>
        <p:spPr>
          <a:xfrm>
            <a:off x="6126480" y="3127248"/>
            <a:ext cx="2606040" cy="1280160"/>
          </a:xfrm>
          <a:prstGeom prst="roundRect">
            <a:avLst>
              <a:gd name="adj" fmla="val 7143"/>
            </a:avLst>
          </a:prstGeom>
          <a:solidFill>
            <a:srgbClr val="1A2D5A">
              <a:alpha val="85000"/>
            </a:srgbClr>
          </a:solidFill>
          <a:ln w="19050">
            <a:solidFill>
              <a:srgbClr val="D4943A"/>
            </a:solidFill>
            <a:prstDash val="solid"/>
          </a:ln>
        </p:spPr>
      </p:sp>
      <p:sp>
        <p:nvSpPr>
          <p:cNvPr id="16" name="Text 13"/>
          <p:cNvSpPr/>
          <p:nvPr/>
        </p:nvSpPr>
        <p:spPr>
          <a:xfrm>
            <a:off x="6236208" y="3182112"/>
            <a:ext cx="2395728" cy="237744"/>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REPORT FULLY</a:t>
            </a:r>
            <a:endParaRPr lang="en-US" sz="900" dirty="0"/>
          </a:p>
        </p:txBody>
      </p:sp>
      <p:sp>
        <p:nvSpPr>
          <p:cNvPr id="17" name="Text 14"/>
          <p:cNvSpPr/>
          <p:nvPr/>
        </p:nvSpPr>
        <p:spPr>
          <a:xfrm>
            <a:off x="6236208" y="3438144"/>
            <a:ext cx="2395728" cy="859536"/>
          </a:xfrm>
          <a:prstGeom prst="rect">
            <a:avLst/>
          </a:prstGeom>
          <a:noFill/>
          <a:ln/>
        </p:spPr>
        <p:txBody>
          <a:bodyPr wrap="square" rtlCol="0" anchor="t"/>
          <a:lstStyle/>
          <a:p>
            <a:pPr indent="0" marL="0">
              <a:buNone/>
            </a:pPr>
            <a:r>
              <a:rPr lang="en-US" sz="1050" dirty="0">
                <a:solidFill>
                  <a:srgbClr val="D6F2FB"/>
                </a:solidFill>
                <a:latin typeface="Calibri" pitchFamily="34" charset="0"/>
                <a:ea typeface="Calibri" pitchFamily="34" charset="-122"/>
                <a:cs typeface="Calibri" pitchFamily="34" charset="-120"/>
              </a:rPr>
              <a:t>Responsible editors publish the deeper purpose — not just the obvious fact.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D4943A"/>
          </a:solidFill>
          <a:ln w="12700">
            <a:solidFill>
              <a:srgbClr val="D4943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GUIDED PRACTICE  ·  I Do — We Do — You Do</a:t>
            </a:r>
            <a:endParaRPr lang="en-US" sz="1100" dirty="0"/>
          </a:p>
        </p:txBody>
      </p:sp>
      <p:sp>
        <p:nvSpPr>
          <p:cNvPr id="5" name="Shape 3"/>
          <p:cNvSpPr/>
          <p:nvPr/>
        </p:nvSpPr>
        <p:spPr>
          <a:xfrm>
            <a:off x="274320" y="621792"/>
            <a:ext cx="2560320" cy="3657600"/>
          </a:xfrm>
          <a:prstGeom prst="roundRect">
            <a:avLst>
              <a:gd name="adj" fmla="val 4286"/>
            </a:avLst>
          </a:prstGeom>
          <a:solidFill>
            <a:srgbClr val="0E1C42"/>
          </a:solidFill>
          <a:ln w="19050">
            <a:solidFill>
              <a:srgbClr val="D4943A"/>
            </a:solidFill>
            <a:prstDash val="solid"/>
          </a:ln>
        </p:spPr>
      </p:sp>
      <p:sp>
        <p:nvSpPr>
          <p:cNvPr id="6" name="Text 4"/>
          <p:cNvSpPr/>
          <p:nvPr/>
        </p:nvSpPr>
        <p:spPr>
          <a:xfrm>
            <a:off x="365760" y="676656"/>
            <a:ext cx="2377440" cy="256032"/>
          </a:xfrm>
          <a:prstGeom prst="rect">
            <a:avLst/>
          </a:prstGeom>
          <a:noFill/>
          <a:ln/>
        </p:spPr>
        <p:txBody>
          <a:bodyPr wrap="square"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I DO</a:t>
            </a:r>
            <a:endParaRPr lang="en-US" sz="1100" dirty="0"/>
          </a:p>
        </p:txBody>
      </p:sp>
      <p:sp>
        <p:nvSpPr>
          <p:cNvPr id="7" name="Text 5"/>
          <p:cNvSpPr/>
          <p:nvPr/>
        </p:nvSpPr>
        <p:spPr>
          <a:xfrm>
            <a:off x="365760" y="950976"/>
            <a:ext cx="2377440" cy="201168"/>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Ms. Avery models:</a:t>
            </a:r>
            <a:endParaRPr lang="en-US" sz="900" dirty="0"/>
          </a:p>
        </p:txBody>
      </p:sp>
      <p:sp>
        <p:nvSpPr>
          <p:cNvPr id="8" name="Text 6"/>
          <p:cNvSpPr/>
          <p:nvPr/>
        </p:nvSpPr>
        <p:spPr>
          <a:xfrm>
            <a:off x="384048" y="1188720"/>
            <a:ext cx="2359152" cy="2560320"/>
          </a:xfrm>
          <a:prstGeom prst="rect">
            <a:avLst/>
          </a:prstGeom>
          <a:noFill/>
          <a:ln/>
        </p:spPr>
        <p:txBody>
          <a:bodyPr wrap="square" rtlCol="0" anchor="t"/>
          <a:lstStyle/>
          <a:p>
            <a:pPr indent="0" marL="0">
              <a:buNone/>
            </a:pPr>
            <a:r>
              <a:rPr lang="en-US" sz="1050" i="1" dirty="0">
                <a:solidFill>
                  <a:srgbClr val="D6F2FB"/>
                </a:solidFill>
                <a:latin typeface="Calibri" pitchFamily="34" charset="0"/>
                <a:ea typeface="Calibri" pitchFamily="34" charset="-122"/>
                <a:cs typeface="Calibri" pitchFamily="34" charset="-120"/>
              </a:rPr>
              <a:t>"The Inca road system helped the Inca govern their empire because it allowed chasqui relay runners to carry messages across thousands of miles in days. This meant rulers in Cusco could respond quickly to crises anywhere in the empire — that is a governing tool, not just a travel route."</a:t>
            </a:r>
            <a:endParaRPr lang="en-US" sz="1050" dirty="0"/>
          </a:p>
        </p:txBody>
      </p:sp>
      <p:sp>
        <p:nvSpPr>
          <p:cNvPr id="9" name="Text 7"/>
          <p:cNvSpPr/>
          <p:nvPr/>
        </p:nvSpPr>
        <p:spPr>
          <a:xfrm>
            <a:off x="384048" y="3822192"/>
            <a:ext cx="2359152" cy="329184"/>
          </a:xfrm>
          <a:prstGeom prst="rect">
            <a:avLst/>
          </a:prstGeom>
          <a:noFill/>
          <a:ln/>
        </p:spPr>
        <p:txBody>
          <a:bodyPr wrap="square" rtlCol="0" anchor="ctr"/>
          <a:lstStyle/>
          <a:p>
            <a:pPr indent="0" marL="0">
              <a:buNone/>
            </a:pPr>
            <a:r>
              <a:rPr lang="en-US" sz="900" i="1" dirty="0">
                <a:solidFill>
                  <a:srgbClr val="55C8E8"/>
                </a:solidFill>
                <a:latin typeface="Calibri" pitchFamily="34" charset="0"/>
                <a:ea typeface="Calibri" pitchFamily="34" charset="-122"/>
                <a:cs typeface="Calibri" pitchFamily="34" charset="-120"/>
              </a:rPr>
              <a:t>Notice: claim + specific example + why it proves the point</a:t>
            </a:r>
            <a:endParaRPr lang="en-US" sz="900" dirty="0"/>
          </a:p>
        </p:txBody>
      </p:sp>
      <p:sp>
        <p:nvSpPr>
          <p:cNvPr id="10" name="Shape 8"/>
          <p:cNvSpPr/>
          <p:nvPr/>
        </p:nvSpPr>
        <p:spPr>
          <a:xfrm>
            <a:off x="3063240" y="621792"/>
            <a:ext cx="2560320" cy="3657600"/>
          </a:xfrm>
          <a:prstGeom prst="roundRect">
            <a:avLst>
              <a:gd name="adj" fmla="val 4286"/>
            </a:avLst>
          </a:prstGeom>
          <a:solidFill>
            <a:srgbClr val="1A2D5A"/>
          </a:solidFill>
          <a:ln w="19050">
            <a:solidFill>
              <a:srgbClr val="55C8E8"/>
            </a:solidFill>
            <a:prstDash val="solid"/>
          </a:ln>
        </p:spPr>
      </p:sp>
      <p:sp>
        <p:nvSpPr>
          <p:cNvPr id="11" name="Text 9"/>
          <p:cNvSpPr/>
          <p:nvPr/>
        </p:nvSpPr>
        <p:spPr>
          <a:xfrm>
            <a:off x="3154680" y="676656"/>
            <a:ext cx="2377440" cy="256032"/>
          </a:xfrm>
          <a:prstGeom prst="rect">
            <a:avLst/>
          </a:prstGeom>
          <a:noFill/>
          <a:ln/>
        </p:spPr>
        <p:txBody>
          <a:bodyPr wrap="square"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WE DO</a:t>
            </a:r>
            <a:endParaRPr lang="en-US" sz="1100" dirty="0"/>
          </a:p>
        </p:txBody>
      </p:sp>
      <p:sp>
        <p:nvSpPr>
          <p:cNvPr id="12" name="Text 10"/>
          <p:cNvSpPr/>
          <p:nvPr/>
        </p:nvSpPr>
        <p:spPr>
          <a:xfrm>
            <a:off x="3154680" y="950976"/>
            <a:ext cx="2377440" cy="201168"/>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Together, fill in:</a:t>
            </a:r>
            <a:endParaRPr lang="en-US" sz="900" dirty="0"/>
          </a:p>
        </p:txBody>
      </p:sp>
      <p:sp>
        <p:nvSpPr>
          <p:cNvPr id="13" name="Text 11"/>
          <p:cNvSpPr/>
          <p:nvPr/>
        </p:nvSpPr>
        <p:spPr>
          <a:xfrm>
            <a:off x="3172968" y="1188720"/>
            <a:ext cx="2359152" cy="2560320"/>
          </a:xfrm>
          <a:prstGeom prst="rect">
            <a:avLst/>
          </a:prstGeom>
          <a:noFill/>
          <a:ln/>
        </p:spPr>
        <p:txBody>
          <a:bodyPr wrap="square" rtlCol="0" anchor="t"/>
          <a:lstStyle/>
          <a:p>
            <a:pPr indent="0" marL="0">
              <a:buNone/>
            </a:pPr>
            <a:r>
              <a:rPr lang="en-US" sz="1050" dirty="0">
                <a:solidFill>
                  <a:srgbClr val="D6F2FB"/>
                </a:solidFill>
                <a:latin typeface="Calibri" pitchFamily="34" charset="0"/>
                <a:ea typeface="Calibri" pitchFamily="34" charset="-122"/>
                <a:cs typeface="Calibri" pitchFamily="34" charset="-120"/>
              </a:rPr>
              <a:t>"The quipu helped the Inca govern because it allowed ________ to track ________ along the roads, which meant the Inca could ________ without a written language."</a:t>
            </a:r>
            <a:endParaRPr lang="en-US" sz="1050" dirty="0"/>
          </a:p>
          <a:p>
            <a:pPr indent="0" marL="0">
              <a:buNone/>
            </a:pPr>
            <a:endParaRPr lang="en-US" sz="1050" dirty="0"/>
          </a:p>
          <a:p>
            <a:pPr indent="0" marL="0">
              <a:buNone/>
            </a:pPr>
            <a:r>
              <a:rPr lang="en-US" sz="1050" dirty="0">
                <a:solidFill>
                  <a:srgbClr val="D6F2FB"/>
                </a:solidFill>
                <a:latin typeface="Calibri" pitchFamily="34" charset="0"/>
                <a:ea typeface="Calibri" pitchFamily="34" charset="-122"/>
                <a:cs typeface="Calibri" pitchFamily="34" charset="-120"/>
              </a:rPr>
              <a:t>Fill in: officials / population counts, harvests, tribute / manage 12 million people</a:t>
            </a:r>
            <a:endParaRPr lang="en-US" sz="1050" dirty="0"/>
          </a:p>
        </p:txBody>
      </p:sp>
      <p:sp>
        <p:nvSpPr>
          <p:cNvPr id="14" name="Text 12"/>
          <p:cNvSpPr/>
          <p:nvPr/>
        </p:nvSpPr>
        <p:spPr>
          <a:xfrm>
            <a:off x="3172968" y="3822192"/>
            <a:ext cx="2359152" cy="329184"/>
          </a:xfrm>
          <a:prstGeom prst="rect">
            <a:avLst/>
          </a:prstGeom>
          <a:noFill/>
          <a:ln/>
        </p:spPr>
        <p:txBody>
          <a:bodyPr wrap="square" rtlCol="0" anchor="ctr"/>
          <a:lstStyle/>
          <a:p>
            <a:pPr indent="0" marL="0">
              <a:buNone/>
            </a:pPr>
            <a:r>
              <a:rPr lang="en-US" sz="900" i="1" dirty="0">
                <a:solidFill>
                  <a:srgbClr val="55C8E8"/>
                </a:solidFill>
                <a:latin typeface="Calibri" pitchFamily="34" charset="0"/>
                <a:ea typeface="Calibri" pitchFamily="34" charset="-122"/>
                <a:cs typeface="Calibri" pitchFamily="34" charset="-120"/>
              </a:rPr>
              <a:t>Work together, call on students</a:t>
            </a:r>
            <a:endParaRPr lang="en-US" sz="900" dirty="0"/>
          </a:p>
        </p:txBody>
      </p:sp>
      <p:sp>
        <p:nvSpPr>
          <p:cNvPr id="15" name="Shape 13"/>
          <p:cNvSpPr/>
          <p:nvPr/>
        </p:nvSpPr>
        <p:spPr>
          <a:xfrm>
            <a:off x="5852160" y="621792"/>
            <a:ext cx="2926080" cy="1737360"/>
          </a:xfrm>
          <a:prstGeom prst="roundRect">
            <a:avLst>
              <a:gd name="adj" fmla="val 6316"/>
            </a:avLst>
          </a:prstGeom>
          <a:solidFill>
            <a:srgbClr val="34B76F">
              <a:alpha val="80000"/>
            </a:srgbClr>
          </a:solidFill>
          <a:ln w="19050">
            <a:solidFill>
              <a:srgbClr val="34B76F"/>
            </a:solidFill>
            <a:prstDash val="solid"/>
          </a:ln>
        </p:spPr>
      </p:sp>
      <p:sp>
        <p:nvSpPr>
          <p:cNvPr id="16" name="Text 14"/>
          <p:cNvSpPr/>
          <p:nvPr/>
        </p:nvSpPr>
        <p:spPr>
          <a:xfrm>
            <a:off x="5943600" y="676656"/>
            <a:ext cx="2743200" cy="256032"/>
          </a:xfrm>
          <a:prstGeom prst="rect">
            <a:avLst/>
          </a:prstGeom>
          <a:noFill/>
          <a:ln/>
        </p:spPr>
        <p:txBody>
          <a:bodyPr wrap="square"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YOU DO</a:t>
            </a:r>
            <a:endParaRPr lang="en-US" sz="1100" dirty="0"/>
          </a:p>
        </p:txBody>
      </p:sp>
      <p:sp>
        <p:nvSpPr>
          <p:cNvPr id="17" name="Text 15"/>
          <p:cNvSpPr/>
          <p:nvPr/>
        </p:nvSpPr>
        <p:spPr>
          <a:xfrm>
            <a:off x="5943600" y="960120"/>
            <a:ext cx="2743200" cy="1280160"/>
          </a:xfrm>
          <a:prstGeom prst="rect">
            <a:avLst/>
          </a:prstGeom>
          <a:noFill/>
          <a:ln/>
        </p:spPr>
        <p:txBody>
          <a:bodyPr wrap="square" rtlCol="0" anchor="t"/>
          <a:lstStyle/>
          <a:p>
            <a:pPr indent="0" marL="0">
              <a:buNone/>
            </a:pPr>
            <a:r>
              <a:rPr lang="en-US" sz="1050" dirty="0">
                <a:solidFill>
                  <a:srgbClr val="0E1C42"/>
                </a:solidFill>
                <a:latin typeface="Calibri" pitchFamily="34" charset="0"/>
                <a:ea typeface="Calibri" pitchFamily="34" charset="-122"/>
                <a:cs typeface="Calibri" pitchFamily="34" charset="-120"/>
              </a:rPr>
              <a:t>Write one sentence: Describe one feature of the Inca road system and explain what it proves about the Inca as governors.</a:t>
            </a:r>
            <a:endParaRPr lang="en-US" sz="1050" dirty="0"/>
          </a:p>
        </p:txBody>
      </p:sp>
      <p:sp>
        <p:nvSpPr>
          <p:cNvPr id="18" name="Shape 16"/>
          <p:cNvSpPr/>
          <p:nvPr/>
        </p:nvSpPr>
        <p:spPr>
          <a:xfrm>
            <a:off x="5852160" y="2487168"/>
            <a:ext cx="2926080" cy="1828800"/>
          </a:xfrm>
          <a:prstGeom prst="roundRect">
            <a:avLst>
              <a:gd name="adj" fmla="val 6000"/>
            </a:avLst>
          </a:prstGeom>
          <a:solidFill>
            <a:srgbClr val="E8636B">
              <a:alpha val="80000"/>
            </a:srgbClr>
          </a:solidFill>
          <a:ln w="19050">
            <a:solidFill>
              <a:srgbClr val="E8636B"/>
            </a:solidFill>
            <a:prstDash val="solid"/>
          </a:ln>
        </p:spPr>
      </p:sp>
      <p:sp>
        <p:nvSpPr>
          <p:cNvPr id="19" name="Text 17"/>
          <p:cNvSpPr/>
          <p:nvPr/>
        </p:nvSpPr>
        <p:spPr>
          <a:xfrm>
            <a:off x="5943600" y="2542032"/>
            <a:ext cx="2743200" cy="256032"/>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ERROR ANALYSIS</a:t>
            </a:r>
            <a:endParaRPr lang="en-US" sz="900" dirty="0"/>
          </a:p>
        </p:txBody>
      </p:sp>
      <p:sp>
        <p:nvSpPr>
          <p:cNvPr id="20" name="Text 18"/>
          <p:cNvSpPr/>
          <p:nvPr/>
        </p:nvSpPr>
        <p:spPr>
          <a:xfrm>
            <a:off x="5943600" y="2816352"/>
            <a:ext cx="2743200" cy="1371600"/>
          </a:xfrm>
          <a:prstGeom prst="rect">
            <a:avLst/>
          </a:prstGeom>
          <a:noFill/>
          <a:ln/>
        </p:spPr>
        <p:txBody>
          <a:bodyPr wrap="square" rtlCol="0" anchor="t"/>
          <a:lstStyle/>
          <a:p>
            <a:pPr indent="0" marL="0">
              <a:buNone/>
            </a:pPr>
            <a:r>
              <a:rPr lang="en-US" sz="1000" i="1" dirty="0">
                <a:solidFill>
                  <a:srgbClr val="3A3A5A"/>
                </a:solidFill>
                <a:latin typeface="Calibri" pitchFamily="34" charset="0"/>
                <a:ea typeface="Calibri" pitchFamily="34" charset="-122"/>
                <a:cs typeface="Calibri" pitchFamily="34" charset="-120"/>
              </a:rPr>
              <a:t>"The Inca roads were for travel, so they helped people move around."</a:t>
            </a:r>
            <a:endParaRPr lang="en-US" sz="1000" dirty="0"/>
          </a:p>
          <a:p>
            <a:pPr indent="0" marL="0">
              <a:buNone/>
            </a:pPr>
            <a:endParaRPr lang="en-US" sz="1000" dirty="0"/>
          </a:p>
          <a:p>
            <a:pPr indent="0" marL="0">
              <a:buNone/>
            </a:pPr>
            <a:r>
              <a:rPr lang="en-US" sz="1000" i="1" dirty="0">
                <a:solidFill>
                  <a:srgbClr val="3A3A5A"/>
                </a:solidFill>
                <a:latin typeface="Calibri" pitchFamily="34" charset="0"/>
                <a:ea typeface="Calibri" pitchFamily="34" charset="-122"/>
                <a:cs typeface="Calibri" pitchFamily="34" charset="-120"/>
              </a:rPr>
              <a:t>What's wrong? What's missing?</a:t>
            </a:r>
            <a:endParaRPr lang="en-US" sz="1000" dirty="0"/>
          </a:p>
          <a:p>
            <a:pPr indent="0" marL="0">
              <a:buNone/>
            </a:pPr>
            <a:endParaRPr lang="en-US" sz="1000" dirty="0"/>
          </a:p>
          <a:p>
            <a:pPr indent="0" marL="0">
              <a:buNone/>
            </a:pPr>
            <a:r>
              <a:rPr lang="en-US" sz="1000" i="1" dirty="0">
                <a:solidFill>
                  <a:srgbClr val="3A3A5A"/>
                </a:solidFill>
                <a:latin typeface="Calibri" pitchFamily="34" charset="0"/>
                <a:ea typeface="Calibri" pitchFamily="34" charset="-122"/>
                <a:cs typeface="Calibri" pitchFamily="34" charset="-120"/>
              </a:rPr>
              <a:t>(Missing: governing purpose — messages, taxes, military, officials)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100" b="1" spc="120" kern="0" dirty="0">
                <a:solidFill>
                  <a:srgbClr val="FFFFFF"/>
                </a:solidFill>
                <a:latin typeface="Calibri" pitchFamily="34" charset="0"/>
                <a:ea typeface="Calibri" pitchFamily="34" charset="-122"/>
                <a:cs typeface="Calibri" pitchFamily="34" charset="-120"/>
              </a:rPr>
              <a:t>GO TO PRESS  ·  Front Page Brief — Junior Editor's Submission</a:t>
            </a:r>
            <a:endParaRPr lang="en-US" sz="1100" dirty="0"/>
          </a:p>
        </p:txBody>
      </p:sp>
      <p:sp>
        <p:nvSpPr>
          <p:cNvPr id="5" name="Shape 3"/>
          <p:cNvSpPr/>
          <p:nvPr/>
        </p:nvSpPr>
        <p:spPr>
          <a:xfrm>
            <a:off x="274320" y="621792"/>
            <a:ext cx="8412480" cy="502920"/>
          </a:xfrm>
          <a:prstGeom prst="roundRect">
            <a:avLst>
              <a:gd name="adj" fmla="val 14545"/>
            </a:avLst>
          </a:prstGeom>
          <a:solidFill>
            <a:srgbClr val="0E1C42"/>
          </a:solidFill>
          <a:ln w="19050">
            <a:solidFill>
              <a:srgbClr val="D4943A"/>
            </a:solidFill>
            <a:prstDash val="solid"/>
          </a:ln>
        </p:spPr>
      </p:sp>
      <p:sp>
        <p:nvSpPr>
          <p:cNvPr id="6" name="Text 4"/>
          <p:cNvSpPr/>
          <p:nvPr/>
        </p:nvSpPr>
        <p:spPr>
          <a:xfrm>
            <a:off x="457200" y="658368"/>
            <a:ext cx="8046720" cy="429768"/>
          </a:xfrm>
          <a:prstGeom prst="rect">
            <a:avLst/>
          </a:prstGeom>
          <a:noFill/>
          <a:ln/>
        </p:spPr>
        <p:txBody>
          <a:bodyPr wrap="square" rtlCol="0" anchor="ctr"/>
          <a:lstStyle/>
          <a:p>
            <a:pPr algn="ctr" indent="0" marL="0">
              <a:buNone/>
            </a:pPr>
            <a:r>
              <a:rPr lang="en-US" sz="1000" b="1" dirty="0">
                <a:solidFill>
                  <a:srgbClr val="D4943A"/>
                </a:solidFill>
                <a:latin typeface="Cambria" pitchFamily="34" charset="0"/>
                <a:ea typeface="Cambria" pitchFamily="34" charset="-122"/>
                <a:cs typeface="Cambria" pitchFamily="34" charset="-120"/>
              </a:rPr>
              <a:t>Vol. 1 · Issue 13  ·  THE REPUBLIC GAZETTE  ·  Front Page Brief  ·  Honest Reporting · Evidence First</a:t>
            </a:r>
            <a:endParaRPr lang="en-US" sz="1000" dirty="0"/>
          </a:p>
        </p:txBody>
      </p:sp>
      <p:sp>
        <p:nvSpPr>
          <p:cNvPr id="7" name="Shape 5"/>
          <p:cNvSpPr/>
          <p:nvPr/>
        </p:nvSpPr>
        <p:spPr>
          <a:xfrm>
            <a:off x="274320" y="1234440"/>
            <a:ext cx="5120640" cy="2651760"/>
          </a:xfrm>
          <a:prstGeom prst="roundRect">
            <a:avLst>
              <a:gd name="adj" fmla="val 4138"/>
            </a:avLst>
          </a:prstGeom>
          <a:solidFill>
            <a:srgbClr val="FFFFFF"/>
          </a:solidFill>
          <a:ln w="19050">
            <a:solidFill>
              <a:srgbClr val="0E1C42"/>
            </a:solidFill>
            <a:prstDash val="solid"/>
          </a:ln>
        </p:spPr>
      </p:sp>
      <p:sp>
        <p:nvSpPr>
          <p:cNvPr id="8" name="Text 6"/>
          <p:cNvSpPr/>
          <p:nvPr/>
        </p:nvSpPr>
        <p:spPr>
          <a:xfrm>
            <a:off x="411480" y="1298448"/>
            <a:ext cx="484632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EDITOR'S NOTEBOOK — All 3 Questions</a:t>
            </a:r>
            <a:endParaRPr lang="en-US" sz="900" dirty="0"/>
          </a:p>
        </p:txBody>
      </p:sp>
      <p:sp>
        <p:nvSpPr>
          <p:cNvPr id="9" name="Text 7"/>
          <p:cNvSpPr/>
          <p:nvPr/>
        </p:nvSpPr>
        <p:spPr>
          <a:xfrm>
            <a:off x="457200" y="1572768"/>
            <a:ext cx="4754880" cy="6858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1.  Describe at least two features of the Inca road system. What made it remarkable?</a:t>
            </a:r>
            <a:endParaRPr lang="en-US" sz="1100" dirty="0"/>
          </a:p>
        </p:txBody>
      </p:sp>
      <p:sp>
        <p:nvSpPr>
          <p:cNvPr id="10" name="Text 8"/>
          <p:cNvSpPr/>
          <p:nvPr/>
        </p:nvSpPr>
        <p:spPr>
          <a:xfrm>
            <a:off x="457200" y="2322576"/>
            <a:ext cx="4754880" cy="6858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2.  How did the road system help the Inca govern their empire? Give at least one specific example.</a:t>
            </a:r>
            <a:endParaRPr lang="en-US" sz="1100" dirty="0"/>
          </a:p>
        </p:txBody>
      </p:sp>
      <p:sp>
        <p:nvSpPr>
          <p:cNvPr id="11" name="Text 9"/>
          <p:cNvSpPr/>
          <p:nvPr/>
        </p:nvSpPr>
        <p:spPr>
          <a:xfrm>
            <a:off x="457200" y="3072384"/>
            <a:ext cx="4754880" cy="6858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3.  The Hasty Herald said "the Inca road system was just for travel, not for governing." What's partly right about that? What's missing?</a:t>
            </a:r>
            <a:endParaRPr lang="en-US" sz="1100" dirty="0"/>
          </a:p>
        </p:txBody>
      </p:sp>
      <p:sp>
        <p:nvSpPr>
          <p:cNvPr id="12" name="Shape 10"/>
          <p:cNvSpPr/>
          <p:nvPr/>
        </p:nvSpPr>
        <p:spPr>
          <a:xfrm>
            <a:off x="5577840" y="1234440"/>
            <a:ext cx="3200400" cy="1417320"/>
          </a:xfrm>
          <a:prstGeom prst="roundRect">
            <a:avLst>
              <a:gd name="adj" fmla="val 7742"/>
            </a:avLst>
          </a:prstGeom>
          <a:solidFill>
            <a:srgbClr val="FFF3DC"/>
          </a:solidFill>
          <a:ln w="19050">
            <a:solidFill>
              <a:srgbClr val="D4943A"/>
            </a:solidFill>
            <a:prstDash val="solid"/>
          </a:ln>
        </p:spPr>
      </p:sp>
      <p:sp>
        <p:nvSpPr>
          <p:cNvPr id="13" name="Text 11"/>
          <p:cNvSpPr/>
          <p:nvPr/>
        </p:nvSpPr>
        <p:spPr>
          <a:xfrm>
            <a:off x="5715000" y="1298448"/>
            <a:ext cx="292608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FRONT PAGE BRIEF</a:t>
            </a:r>
            <a:endParaRPr lang="en-US" sz="900" dirty="0"/>
          </a:p>
        </p:txBody>
      </p:sp>
      <p:sp>
        <p:nvSpPr>
          <p:cNvPr id="14" name="Text 12"/>
          <p:cNvSpPr/>
          <p:nvPr/>
        </p:nvSpPr>
        <p:spPr>
          <a:xfrm>
            <a:off x="5715000" y="1554480"/>
            <a:ext cx="2926080" cy="1005840"/>
          </a:xfrm>
          <a:prstGeom prst="rect">
            <a:avLst/>
          </a:prstGeom>
          <a:noFill/>
          <a:ln/>
        </p:spPr>
        <p:txBody>
          <a:bodyPr wrap="square" rtlCol="0" anchor="t"/>
          <a:lstStyle/>
          <a:p>
            <a:pPr indent="0" marL="0">
              <a:buNone/>
            </a:pPr>
            <a:r>
              <a:rPr lang="en-US" sz="1050" dirty="0">
                <a:solidFill>
                  <a:srgbClr val="5A4A3A"/>
                </a:solidFill>
                <a:latin typeface="Calibri" pitchFamily="34" charset="0"/>
                <a:ea typeface="Calibri" pitchFamily="34" charset="-122"/>
                <a:cs typeface="Calibri" pitchFamily="34" charset="-120"/>
              </a:rPr>
              <a:t>(1) A clear claim about the Inca Empire.</a:t>
            </a:r>
            <a:endParaRPr lang="en-US" sz="1050" dirty="0"/>
          </a:p>
          <a:p>
            <a:pPr indent="0" marL="0">
              <a:buNone/>
            </a:pPr>
            <a:r>
              <a:rPr lang="en-US" sz="1050" dirty="0">
                <a:solidFill>
                  <a:srgbClr val="5A4A3A"/>
                </a:solidFill>
                <a:latin typeface="Calibri" pitchFamily="34" charset="0"/>
                <a:ea typeface="Calibri" pitchFamily="34" charset="-122"/>
                <a:cs typeface="Calibri" pitchFamily="34" charset="-120"/>
              </a:rPr>
              <a:t>(2) One piece of evidence about the road system's governing purpose.</a:t>
            </a:r>
            <a:endParaRPr lang="en-US" sz="1050" dirty="0"/>
          </a:p>
          <a:p>
            <a:pPr indent="0" marL="0">
              <a:buNone/>
            </a:pPr>
            <a:r>
              <a:rPr lang="en-US" sz="1050" dirty="0">
                <a:solidFill>
                  <a:srgbClr val="5A4A3A"/>
                </a:solidFill>
                <a:latin typeface="Calibri" pitchFamily="34" charset="0"/>
                <a:ea typeface="Calibri" pitchFamily="34" charset="-122"/>
                <a:cs typeface="Calibri" pitchFamily="34" charset="-120"/>
              </a:rPr>
              <a:t>(3) Why this matters — what should readers understand?</a:t>
            </a:r>
            <a:endParaRPr lang="en-US" sz="1050" dirty="0"/>
          </a:p>
        </p:txBody>
      </p:sp>
      <p:sp>
        <p:nvSpPr>
          <p:cNvPr id="15" name="Shape 13"/>
          <p:cNvSpPr/>
          <p:nvPr/>
        </p:nvSpPr>
        <p:spPr>
          <a:xfrm>
            <a:off x="5577840" y="2743200"/>
            <a:ext cx="3200400" cy="1170432"/>
          </a:xfrm>
          <a:prstGeom prst="roundRect">
            <a:avLst>
              <a:gd name="adj" fmla="val 9375"/>
            </a:avLst>
          </a:prstGeom>
          <a:solidFill>
            <a:srgbClr val="1A2D5A"/>
          </a:solidFill>
          <a:ln w="19050">
            <a:solidFill>
              <a:srgbClr val="55C8E8"/>
            </a:solidFill>
            <a:prstDash val="solid"/>
          </a:ln>
        </p:spPr>
      </p:sp>
      <p:sp>
        <p:nvSpPr>
          <p:cNvPr id="16" name="Text 14"/>
          <p:cNvSpPr/>
          <p:nvPr/>
        </p:nvSpPr>
        <p:spPr>
          <a:xfrm>
            <a:off x="5715000" y="2807208"/>
            <a:ext cx="292608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FOR THE ARCHIVE</a:t>
            </a:r>
            <a:endParaRPr lang="en-US" sz="900" dirty="0"/>
          </a:p>
        </p:txBody>
      </p:sp>
      <p:sp>
        <p:nvSpPr>
          <p:cNvPr id="17" name="Text 15"/>
          <p:cNvSpPr/>
          <p:nvPr/>
        </p:nvSpPr>
        <p:spPr>
          <a:xfrm>
            <a:off x="5715000" y="3054096"/>
            <a:ext cx="2926080" cy="749808"/>
          </a:xfrm>
          <a:prstGeom prst="rect">
            <a:avLst/>
          </a:prstGeom>
          <a:noFill/>
          <a:ln/>
        </p:spPr>
        <p:txBody>
          <a:bodyPr wrap="square" rtlCol="0" anchor="t"/>
          <a:lstStyle/>
          <a:p>
            <a:pPr indent="0" marL="0">
              <a:buNone/>
            </a:pPr>
            <a:r>
              <a:rPr lang="en-US" sz="1050" i="1" dirty="0">
                <a:solidFill>
                  <a:srgbClr val="D6F2FB"/>
                </a:solidFill>
                <a:latin typeface="Calibri" pitchFamily="34" charset="0"/>
                <a:ea typeface="Calibri" pitchFamily="34" charset="-122"/>
                <a:cs typeface="Calibri" pitchFamily="34" charset="-120"/>
              </a:rPr>
              <a:t>Archive Line: In one careful sentence, write what future citizens should remember about Inca civilization.</a:t>
            </a:r>
            <a:endParaRPr lang="en-US" sz="1050" dirty="0"/>
          </a:p>
        </p:txBody>
      </p:sp>
      <p:sp>
        <p:nvSpPr>
          <p:cNvPr id="18" name="Shape 16"/>
          <p:cNvSpPr/>
          <p:nvPr/>
        </p:nvSpPr>
        <p:spPr>
          <a:xfrm>
            <a:off x="274320" y="3950208"/>
            <a:ext cx="8412480" cy="777240"/>
          </a:xfrm>
          <a:prstGeom prst="roundRect">
            <a:avLst>
              <a:gd name="adj" fmla="val 11765"/>
            </a:avLst>
          </a:prstGeom>
          <a:solidFill>
            <a:srgbClr val="E2E8F4"/>
          </a:solidFill>
          <a:ln w="12700">
            <a:solidFill>
              <a:srgbClr val="B0B8CC"/>
            </a:solidFill>
            <a:prstDash val="solid"/>
          </a:ln>
        </p:spPr>
      </p:sp>
      <p:sp>
        <p:nvSpPr>
          <p:cNvPr id="19" name="Text 17"/>
          <p:cNvSpPr/>
          <p:nvPr/>
        </p:nvSpPr>
        <p:spPr>
          <a:xfrm>
            <a:off x="457200" y="3986784"/>
            <a:ext cx="1828800" cy="219456"/>
          </a:xfrm>
          <a:prstGeom prst="rect">
            <a:avLst/>
          </a:prstGeom>
          <a:noFill/>
          <a:ln/>
        </p:spPr>
        <p:txBody>
          <a:bodyPr wrap="square" rtlCol="0" anchor="ctr"/>
          <a:lstStyle/>
          <a:p>
            <a:pPr indent="0" marL="0">
              <a:buNone/>
            </a:pPr>
            <a:r>
              <a:rPr lang="en-US" sz="850" b="1" spc="100" kern="0" dirty="0">
                <a:solidFill>
                  <a:srgbClr val="0E1C42"/>
                </a:solidFill>
                <a:latin typeface="Calibri" pitchFamily="34" charset="0"/>
                <a:ea typeface="Calibri" pitchFamily="34" charset="-122"/>
                <a:cs typeface="Calibri" pitchFamily="34" charset="-120"/>
              </a:rPr>
              <a:t>BEFORE YOU SUBMIT:</a:t>
            </a:r>
            <a:endParaRPr lang="en-US" sz="850" dirty="0"/>
          </a:p>
        </p:txBody>
      </p:sp>
      <p:sp>
        <p:nvSpPr>
          <p:cNvPr id="20" name="Text 18"/>
          <p:cNvSpPr/>
          <p:nvPr/>
        </p:nvSpPr>
        <p:spPr>
          <a:xfrm>
            <a:off x="457200" y="4224528"/>
            <a:ext cx="8229600" cy="420624"/>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All 3 Notebook Qs   </a:t>
            </a:r>
            <a:pPr indent="0" marL="0">
              <a:buNone/>
            </a:pPr>
            <a:r>
              <a:rPr lang="en-US" sz="1000" dirty="0">
                <a:solidFill>
                  <a:srgbClr val="0E1C42"/>
                </a:solidFill>
                <a:latin typeface="Calibri" pitchFamily="34" charset="0"/>
                <a:ea typeface="Calibri" pitchFamily="34" charset="-122"/>
                <a:cs typeface="Calibri" pitchFamily="34" charset="-120"/>
              </a:rPr>
              <a:t>☐  Fact-Check done   </a:t>
            </a:r>
            <a:pPr indent="0" marL="0">
              <a:buNone/>
            </a:pPr>
            <a:r>
              <a:rPr lang="en-US" sz="1000" dirty="0">
                <a:solidFill>
                  <a:srgbClr val="0E1C42"/>
                </a:solidFill>
                <a:latin typeface="Calibri" pitchFamily="34" charset="0"/>
                <a:ea typeface="Calibri" pitchFamily="34" charset="-122"/>
                <a:cs typeface="Calibri" pitchFamily="34" charset="-120"/>
              </a:rPr>
              <a:t>☐  Headline + Brief written   </a:t>
            </a:r>
            <a:pPr indent="0" marL="0">
              <a:buNone/>
            </a:pPr>
            <a:r>
              <a:rPr lang="en-US" sz="1000" dirty="0">
                <a:solidFill>
                  <a:srgbClr val="0E1C42"/>
                </a:solidFill>
                <a:latin typeface="Calibri" pitchFamily="34" charset="0"/>
                <a:ea typeface="Calibri" pitchFamily="34" charset="-122"/>
                <a:cs typeface="Calibri" pitchFamily="34" charset="-120"/>
              </a:rPr>
              <a:t>☐  Byline with name   </a:t>
            </a:r>
            <a:pPr indent="0" marL="0">
              <a:buNone/>
            </a:pPr>
            <a:r>
              <a:rPr lang="en-US" sz="1000" dirty="0">
                <a:solidFill>
                  <a:srgbClr val="0E1C42"/>
                </a:solidFill>
                <a:latin typeface="Calibri" pitchFamily="34" charset="0"/>
                <a:ea typeface="Calibri" pitchFamily="34" charset="-122"/>
                <a:cs typeface="Calibri" pitchFamily="34" charset="-120"/>
              </a:rPr>
              <a:t>☐  Archive Line written   </a:t>
            </a:r>
            <a:pPr indent="0" marL="0">
              <a:buNone/>
            </a:pPr>
            <a:r>
              <a:rPr lang="en-US" sz="1000" dirty="0">
                <a:solidFill>
                  <a:srgbClr val="0E1C42"/>
                </a:solidFill>
                <a:latin typeface="Calibri" pitchFamily="34" charset="0"/>
                <a:ea typeface="Calibri" pitchFamily="34" charset="-122"/>
                <a:cs typeface="Calibri" pitchFamily="34" charset="-120"/>
              </a:rPr>
              <a:t>☐  Copied/downloaded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74320"/>
            <a:ext cx="8229600" cy="292608"/>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THE REPUBLIC GAZETTE  ·  Issue 13 Filed</a:t>
            </a:r>
            <a:endParaRPr lang="en-US" sz="900" dirty="0"/>
          </a:p>
        </p:txBody>
      </p:sp>
      <p:sp>
        <p:nvSpPr>
          <p:cNvPr id="6" name="Text 3"/>
          <p:cNvSpPr/>
          <p:nvPr/>
        </p:nvSpPr>
        <p:spPr>
          <a:xfrm>
            <a:off x="457200" y="658368"/>
            <a:ext cx="8229600" cy="50292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Well done, Junior Editor.</a:t>
            </a:r>
            <a:endParaRPr lang="en-US" sz="2800" dirty="0"/>
          </a:p>
        </p:txBody>
      </p:sp>
      <p:sp>
        <p:nvSpPr>
          <p:cNvPr id="7" name="Shape 4"/>
          <p:cNvSpPr/>
          <p:nvPr/>
        </p:nvSpPr>
        <p:spPr>
          <a:xfrm>
            <a:off x="1097280" y="1261872"/>
            <a:ext cx="6949440" cy="1005840"/>
          </a:xfrm>
          <a:prstGeom prst="roundRect">
            <a:avLst>
              <a:gd name="adj" fmla="val 10909"/>
            </a:avLst>
          </a:prstGeom>
          <a:solidFill>
            <a:srgbClr val="1A2D5A">
              <a:alpha val="85000"/>
            </a:srgbClr>
          </a:solidFill>
          <a:ln w="19050">
            <a:solidFill>
              <a:srgbClr val="D4943A"/>
            </a:solidFill>
            <a:prstDash val="solid"/>
          </a:ln>
        </p:spPr>
      </p:sp>
      <p:sp>
        <p:nvSpPr>
          <p:cNvPr id="8" name="Text 5"/>
          <p:cNvSpPr/>
          <p:nvPr/>
        </p:nvSpPr>
        <p:spPr>
          <a:xfrm>
            <a:off x="1280160" y="1316736"/>
            <a:ext cx="6583680" cy="896112"/>
          </a:xfrm>
          <a:prstGeom prst="rect">
            <a:avLst/>
          </a:prstGeom>
          <a:noFill/>
          <a:ln/>
        </p:spPr>
        <p:txBody>
          <a:bodyPr wrap="square" rtlCol="0" anchor="ctr"/>
          <a:lstStyle/>
          <a:p>
            <a:pPr algn="ctr" indent="0" marL="0">
              <a:buNone/>
            </a:pPr>
            <a:r>
              <a:rPr lang="en-US" sz="1250" i="1" dirty="0">
                <a:solidFill>
                  <a:srgbClr val="D6F2FB"/>
                </a:solidFill>
                <a:latin typeface="Cambria" pitchFamily="34" charset="0"/>
                <a:ea typeface="Cambria" pitchFamily="34" charset="-122"/>
                <a:cs typeface="Cambria" pitchFamily="34" charset="-120"/>
              </a:rPr>
              <a:t>You reported on the Inca with evidence and responsibility — the Gazette's readers now understand that roads can be a governing tool, not just pathways. The Herald's claim didn't hold up. Yours did.</a:t>
            </a:r>
            <a:endParaRPr lang="en-US" sz="1250" dirty="0"/>
          </a:p>
        </p:txBody>
      </p:sp>
      <p:sp>
        <p:nvSpPr>
          <p:cNvPr id="9" name="Shape 6"/>
          <p:cNvSpPr/>
          <p:nvPr/>
        </p:nvSpPr>
        <p:spPr>
          <a:xfrm>
            <a:off x="457200" y="2395728"/>
            <a:ext cx="8229600" cy="566928"/>
          </a:xfrm>
          <a:prstGeom prst="roundRect">
            <a:avLst>
              <a:gd name="adj" fmla="val 16129"/>
            </a:avLst>
          </a:prstGeom>
          <a:solidFill>
            <a:srgbClr val="D4943A">
              <a:alpha val="90000"/>
            </a:srgbClr>
          </a:solidFill>
          <a:ln w="12700">
            <a:solidFill>
              <a:srgbClr val="D4943A"/>
            </a:solidFill>
            <a:prstDash val="solid"/>
          </a:ln>
        </p:spPr>
      </p:sp>
      <p:sp>
        <p:nvSpPr>
          <p:cNvPr id="10" name="Text 7"/>
          <p:cNvSpPr/>
          <p:nvPr/>
        </p:nvSpPr>
        <p:spPr>
          <a:xfrm>
            <a:off x="640080" y="2441448"/>
            <a:ext cx="7863840" cy="475488"/>
          </a:xfrm>
          <a:prstGeom prst="rect">
            <a:avLst/>
          </a:prstGeom>
          <a:noFill/>
          <a:ln/>
        </p:spPr>
        <p:txBody>
          <a:bodyPr wrap="square"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Today's Lesson: The Inca road system was the empire's governing backbone — connecting communication, taxation, military control, and record-keeping across 12 million people.</a:t>
            </a:r>
            <a:endParaRPr lang="en-US" sz="1150" dirty="0"/>
          </a:p>
        </p:txBody>
      </p:sp>
      <p:sp>
        <p:nvSpPr>
          <p:cNvPr id="11" name="Shape 8"/>
          <p:cNvSpPr/>
          <p:nvPr/>
        </p:nvSpPr>
        <p:spPr>
          <a:xfrm>
            <a:off x="1371600" y="3127248"/>
            <a:ext cx="6400800" cy="1261872"/>
          </a:xfrm>
          <a:prstGeom prst="roundRect">
            <a:avLst>
              <a:gd name="adj" fmla="val 8696"/>
            </a:avLst>
          </a:prstGeom>
          <a:solidFill>
            <a:srgbClr val="0E1C42">
              <a:alpha val="85000"/>
            </a:srgbClr>
          </a:solidFill>
          <a:ln w="19050">
            <a:solidFill>
              <a:srgbClr val="55C8E8"/>
            </a:solidFill>
            <a:prstDash val="solid"/>
          </a:ln>
        </p:spPr>
      </p:sp>
      <p:sp>
        <p:nvSpPr>
          <p:cNvPr id="12" name="Text 9"/>
          <p:cNvSpPr/>
          <p:nvPr/>
        </p:nvSpPr>
        <p:spPr>
          <a:xfrm>
            <a:off x="1508760" y="3182112"/>
            <a:ext cx="6126480" cy="256032"/>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IN THE NEXT ISSUE — 5.03.06</a:t>
            </a:r>
            <a:endParaRPr lang="en-US" sz="900" dirty="0"/>
          </a:p>
        </p:txBody>
      </p:sp>
      <p:sp>
        <p:nvSpPr>
          <p:cNvPr id="13" name="Text 10"/>
          <p:cNvSpPr/>
          <p:nvPr/>
        </p:nvSpPr>
        <p:spPr>
          <a:xfrm>
            <a:off x="1508760" y="3456432"/>
            <a:ext cx="6126480" cy="347472"/>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Compare Ancient American Civilizations</a:t>
            </a:r>
            <a:endParaRPr lang="en-US" sz="1800" dirty="0"/>
          </a:p>
        </p:txBody>
      </p:sp>
      <p:sp>
        <p:nvSpPr>
          <p:cNvPr id="14" name="Text 11"/>
          <p:cNvSpPr/>
          <p:nvPr/>
        </p:nvSpPr>
        <p:spPr>
          <a:xfrm>
            <a:off x="1508760" y="3813048"/>
            <a:ext cx="6126480" cy="475488"/>
          </a:xfrm>
          <a:prstGeom prst="rect">
            <a:avLst/>
          </a:prstGeom>
          <a:noFill/>
          <a:ln/>
        </p:spPr>
        <p:txBody>
          <a:bodyPr wrap="square" rtlCol="0" anchor="ctr"/>
          <a:lstStyle/>
          <a:p>
            <a:pPr algn="ctr" indent="0" marL="0">
              <a:buNone/>
            </a:pPr>
            <a:r>
              <a:rPr lang="en-US" sz="1000" i="1" dirty="0">
                <a:solidFill>
                  <a:srgbClr val="B0C8E8"/>
                </a:solidFill>
                <a:latin typeface="Calibri" pitchFamily="34" charset="0"/>
                <a:ea typeface="Calibri" pitchFamily="34" charset="-122"/>
                <a:cs typeface="Calibri" pitchFamily="34" charset="-120"/>
              </a:rPr>
              <a:t>A new dispatch arrives at the Source Desk — and The Hasty Herald has already rushed to print a claim that all ancient American civilizations developed in basically the same way. Editors, sharpen your pencils.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2026-07-16T17:14:56Z</dcterms:created>
  <dcterms:modified xsi:type="dcterms:W3CDTF">2026-07-16T17:14:56Z</dcterms:modified>
</cp:coreProperties>
</file>