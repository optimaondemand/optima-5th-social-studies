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bird's-eye view of a river delta meeting the coast — showing settlement dots, farmland, and geographic patterns from above — Unit 2 finale, grand and conclusive editorial feelIMAGE TO INSERT: Bird's-eye view of a river delta with visible settlement patterns — grand, conclusive, Unit 2 finale feel. Welcome back. This is the Map Room's final issue of Unit 2. Recap the Unit 2 journey: Issue 5 (coordinates), Issue 6 (physical features), Issue 7 (states/territories/colonies). Today's question is the biggest yet: does geography explain history — or did it all just happen by chance? The Herald says chance. We have four issues of evidence that say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Herald's final claim is actually the most interesting — because the truth is nuanced. Geography DOES shape patterns, but it doesn't DETERMINE outcomes. Students already have three issues of evidence to draw on. Let them bring that prior knowledge to this discussion before teaching the three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large editorial map room with multiple historical maps on the walls — Appalachians, Mississippi, colonial settlements, thematic economic maps — the whole Unit 2 story visible at onceThis is the Unit 2 finale. Everything converges here: coordinates, physical features, political units — all of it explains the three patterns. Courtesy is the virtue: present the evidence FIRST, let readers see the pattern, THEN state the claim. That's the opposite of the Herald, who states conclusions without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Silence first. Students should notice: different regions = different economies. The goal is to SEE the pattern before naming the geographic explanation. Ask: does this look random to you? Or does the geography seem to explain it? Hold the geographic explanation until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settlers chose water locations — none of them are chance. Food, transportation, trade, fresh water. Ask students: if you were founding a colony in 1620 with no roads, no supermarkets, no trucks — where would YOU choose to settle? The geography speaks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discussion scaffolds Notebook Q1, pattern choice 1 ('Choose one pattern and explain the geographic evidence that supports it'). Students should be able to make a specific geographic claim with map evidence, not just say 'settlers liked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pattern connects Issues 5 (latitude = climate) and 6 (physical features shape movement). The latitude bands are the geographic logic of westward expansion. Ask: if you were a tobacco farmer from Virginia, would you move to the cold forests of Maine or to the warm lowlands of Tennessee? The latitude makes the pattern rational, not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visually complex slide — take time with it. For each region: describe the geographic features, then show the economic choice they produced. The logic column is the crucial link. Pattern 3 is also the best setup for Notebook Q2 (choose a region and explain how its geography shaped its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discussion is the direct scaffold for Notebook Q2. Students must make a choice (region) and defend it with geographic evidence. Push them to use the specific geographic features from the previous slide — not just 'the South was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Wide panoramic view of American landscape showing three zones — northeastern coastline, central farmland valleys, and southern lowlands — the three regional geographies visible in one image, dramatic golden lightThe Unit 2 central finding: Geography shapes conditions. Conditions shape choices. Choices make history. This is the transferable pattern — students can apply it to any topic they haven't seen yet. Run a retrieval: cover the screen, name all three patterns and the geographic logic behind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An editor carefully laying out evidence on a desk before writing a headline — maps, notes, sources organized clearly — the evidence first, then the claim — warm deliberate editorial atmosphereCourtesy here = epistemic respect. You don't shove a conclusion at your reader; you walk them through the evidence and let them arrive there themselves. This is how the Gazette's Map Note is structured: what the Herald got right → map evidence → corrected claim. Evidence before conclusion,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four-step pattern explanation. Show students the structure: name the pattern, cite the geographic evidence, explain the connection, state the claim. The final claim sentence is the Gazette standard — evidence before conclusion. This is the model for Notebook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their region and apply the four steps. This is the direct practice for Notebook Q2. Circulate (or cold-call): ask which region they chose and why. The goal is a specific geographic claim, not just 'it was warm in the South.'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errors: (1) 'Liked the ocean' is NOT geographic evidence — it's preference. The geographic evidence is rocky soil, long coastline, short growing season. (2) 'Determined everything' is too strong — geography shapes CONDITIONS but people make choices. The more precise Gazette claim: geography shapes conditions, not outcomes. (3) This is also discourteous — states conclusion first with no evidence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Tricky One of all four lessons. The nuanced position: geography shapes CONDITIONS that make certain choices more likely — but does not determine outcomes. Individual decisions, accidents, trade relationships, and political choices all matter. The Map Room's central claim is that geography explains PATTERNS, not every event. Reasonable historians can hold this nuanced position. Don't resolve it into 'geography wins' — hold the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scaffold for Notebook Q3. Students should be able to say: the Herald is right that human choice matters — but wrong to ignore the geographic conditions that shaped those choices. The Gazette's standard: geography shapes conditions, conditions shape choices, choices make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questions fully scaffolded: Q1 on slides 5-6 and 12, Q2 on slides 8-9 and 13, Q3 on slide 16. The Map Note structure respects the Courtesy virtue: evidence before claim. This is Issue 8 — the milestone issue closing Unit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fact-check questions from the HTML. Q3 ties directly to the Courtesy virtue — presenting evidence before the claim is both good journalism AND good historical reasoning. Celebrate students who get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proud newsroom with multiple issues of The Republic Gazette displayed on the wall — Issues 5, 6, 7, 8 — each showing a different Map Note headline, warm celebratory light — milestone moment, Unit 2 completeBig celebration moment — Unit 2 is complete. Four issues, four Map Notes, four carefully argued geographic claims. Restate the central finding: Geography shapes conditions. Conditions shape choices. Choices make history. An editor who ignores geography is only telling half the story. Tease Unit 3: the Front Page Desk opens. New challenge, new Herald claim. See you at the next dispatch, Junior Editors.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THE REPUBLIC GAZETTE  ·  Vol. 1, Issue 8  ·  Week 4 · Unit 2 Finale</a:t>
            </a:r>
            <a:endParaRPr lang="en-US" sz="1100" dirty="0"/>
          </a:p>
        </p:txBody>
      </p:sp>
      <p:sp>
        <p:nvSpPr>
          <p:cNvPr id="7" name="Text 4"/>
          <p:cNvSpPr/>
          <p:nvPr/>
        </p:nvSpPr>
        <p:spPr>
          <a:xfrm>
            <a:off x="457200" y="640080"/>
            <a:ext cx="8229600" cy="530352"/>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USING GEOGRAPHY TO EXPLAIN</a:t>
            </a:r>
            <a:endParaRPr lang="en-US" sz="3600" dirty="0"/>
          </a:p>
        </p:txBody>
      </p:sp>
      <p:sp>
        <p:nvSpPr>
          <p:cNvPr id="8" name="Text 5"/>
          <p:cNvSpPr/>
          <p:nvPr/>
        </p:nvSpPr>
        <p:spPr>
          <a:xfrm>
            <a:off x="457200" y="1188720"/>
            <a:ext cx="8229600" cy="475488"/>
          </a:xfrm>
          <a:prstGeom prst="rect">
            <a:avLst/>
          </a:prstGeom>
          <a:noFill/>
          <a:ln/>
        </p:spPr>
        <p:txBody>
          <a:bodyPr wrap="square"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HISTORICAL PATTERNS</a:t>
            </a:r>
            <a:endParaRPr lang="en-US" sz="3000" dirty="0"/>
          </a:p>
        </p:txBody>
      </p:sp>
      <p:sp>
        <p:nvSpPr>
          <p:cNvPr id="9" name="Text 6"/>
          <p:cNvSpPr/>
          <p:nvPr/>
        </p:nvSpPr>
        <p:spPr>
          <a:xfrm>
            <a:off x="457200" y="1719072"/>
            <a:ext cx="8229600" cy="274320"/>
          </a:xfrm>
          <a:prstGeom prst="rect">
            <a:avLst/>
          </a:prstGeom>
          <a:noFill/>
          <a:ln/>
        </p:spPr>
        <p:txBody>
          <a:bodyPr wrap="square" rtlCol="0" anchor="ctr"/>
          <a:lstStyle/>
          <a:p>
            <a:pPr algn="ctr" indent="0" marL="0">
              <a:buNone/>
            </a:pPr>
            <a:r>
              <a:rPr lang="en-US" sz="1300" dirty="0">
                <a:solidFill>
                  <a:srgbClr val="7A88A8"/>
                </a:solidFill>
                <a:latin typeface="Calibri" pitchFamily="34" charset="0"/>
                <a:ea typeface="Calibri" pitchFamily="34" charset="-122"/>
                <a:cs typeface="Calibri" pitchFamily="34" charset="-120"/>
              </a:rPr>
              <a:t>Lesson 5.02.04  ·  Week 4, Q1  ·  Unit 2 Finale: Geography of North America</a:t>
            </a:r>
            <a:endParaRPr lang="en-US" sz="1300" dirty="0"/>
          </a:p>
        </p:txBody>
      </p:sp>
      <p:sp>
        <p:nvSpPr>
          <p:cNvPr id="10" name="Shape 7"/>
          <p:cNvSpPr/>
          <p:nvPr/>
        </p:nvSpPr>
        <p:spPr>
          <a:xfrm>
            <a:off x="1097280" y="2103120"/>
            <a:ext cx="6949440" cy="685800"/>
          </a:xfrm>
          <a:prstGeom prst="roundRect">
            <a:avLst>
              <a:gd name="adj" fmla="val 16000"/>
            </a:avLst>
          </a:prstGeom>
          <a:solidFill>
            <a:srgbClr val="1A2D5A"/>
          </a:solidFill>
          <a:ln w="19050">
            <a:solidFill>
              <a:srgbClr val="55C8E8"/>
            </a:solidFill>
            <a:prstDash val="solid"/>
          </a:ln>
        </p:spPr>
      </p:sp>
      <p:sp>
        <p:nvSpPr>
          <p:cNvPr id="11" name="Text 8"/>
          <p:cNvSpPr/>
          <p:nvPr/>
        </p:nvSpPr>
        <p:spPr>
          <a:xfrm>
            <a:off x="1280160" y="2167128"/>
            <a:ext cx="6583680" cy="557784"/>
          </a:xfrm>
          <a:prstGeom prst="rect">
            <a:avLst/>
          </a:prstGeom>
          <a:noFill/>
          <a:ln/>
        </p:spPr>
        <p:txBody>
          <a:bodyPr wrap="square"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Can a map explain WHY American history unfolded the way it did — or did the big patterns just happen by chance?</a:t>
            </a:r>
            <a:endParaRPr lang="en-US" sz="1400" dirty="0"/>
          </a:p>
        </p:txBody>
      </p:sp>
      <p:sp>
        <p:nvSpPr>
          <p:cNvPr id="12" name="Shape 9"/>
          <p:cNvSpPr/>
          <p:nvPr/>
        </p:nvSpPr>
        <p:spPr>
          <a:xfrm>
            <a:off x="1097280" y="2907792"/>
            <a:ext cx="6949440" cy="594360"/>
          </a:xfrm>
          <a:prstGeom prst="roundRect">
            <a:avLst>
              <a:gd name="adj" fmla="val 15385"/>
            </a:avLst>
          </a:prstGeom>
          <a:solidFill>
            <a:srgbClr val="E8636B">
              <a:alpha val="80000"/>
            </a:srgbClr>
          </a:solidFill>
          <a:ln w="19050">
            <a:solidFill>
              <a:srgbClr val="E8636B"/>
            </a:solidFill>
            <a:prstDash val="solid"/>
          </a:ln>
        </p:spPr>
      </p:sp>
      <p:sp>
        <p:nvSpPr>
          <p:cNvPr id="13" name="Text 10"/>
          <p:cNvSpPr/>
          <p:nvPr/>
        </p:nvSpPr>
        <p:spPr>
          <a:xfrm>
            <a:off x="1280160" y="2962656"/>
            <a:ext cx="6583680" cy="48463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HASTY HERALD CLAIMS: "Historical patterns happen mostly by chance, not because of geography."</a:t>
            </a:r>
            <a:endParaRPr lang="en-US" sz="1300" dirty="0"/>
          </a:p>
        </p:txBody>
      </p:sp>
      <p:sp>
        <p:nvSpPr>
          <p:cNvPr id="14" name="Text 11"/>
          <p:cNvSpPr/>
          <p:nvPr/>
        </p:nvSpPr>
        <p:spPr>
          <a:xfrm>
            <a:off x="457200" y="3657600"/>
            <a:ext cx="8229600" cy="274320"/>
          </a:xfrm>
          <a:prstGeom prst="rect">
            <a:avLst/>
          </a:prstGeom>
          <a:noFill/>
          <a:ln/>
        </p:spPr>
        <p:txBody>
          <a:bodyPr wrap="square"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Junior Editors  ·  The Map Room  ·  Virtue: Courtesy  ·  SS.5.G.1.1 · 2.1 · 3.1 · 4.1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640080"/>
          </a:xfrm>
          <a:prstGeom prst="rect">
            <a:avLst/>
          </a:prstGeom>
          <a:solidFill>
            <a:srgbClr val="E8636B"/>
          </a:solidFill>
          <a:ln/>
        </p:spPr>
      </p:sp>
      <p:sp>
        <p:nvSpPr>
          <p:cNvPr id="4" name="Text 2"/>
          <p:cNvSpPr/>
          <p:nvPr/>
        </p:nvSpPr>
        <p:spPr>
          <a:xfrm>
            <a:off x="182880" y="109728"/>
            <a:ext cx="8778240" cy="41148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THE HASTY HERALD  ·  Final Claim of Unit 2</a:t>
            </a:r>
            <a:endParaRPr lang="en-US" sz="1400" dirty="0"/>
          </a:p>
        </p:txBody>
      </p:sp>
      <p:sp>
        <p:nvSpPr>
          <p:cNvPr id="5" name="Shape 3"/>
          <p:cNvSpPr/>
          <p:nvPr/>
        </p:nvSpPr>
        <p:spPr>
          <a:xfrm>
            <a:off x="457200" y="777240"/>
            <a:ext cx="8229600" cy="914400"/>
          </a:xfrm>
          <a:prstGeom prst="roundRect">
            <a:avLst>
              <a:gd name="adj" fmla="val 10000"/>
            </a:avLst>
          </a:prstGeom>
          <a:solidFill>
            <a:srgbClr val="FFFFFF"/>
          </a:solidFill>
          <a:ln w="25400">
            <a:solidFill>
              <a:srgbClr val="E8636B"/>
            </a:solidFill>
            <a:prstDash val="solid"/>
          </a:ln>
        </p:spPr>
      </p:sp>
      <p:sp>
        <p:nvSpPr>
          <p:cNvPr id="6" name="Text 4"/>
          <p:cNvSpPr/>
          <p:nvPr/>
        </p:nvSpPr>
        <p:spPr>
          <a:xfrm>
            <a:off x="594360" y="841248"/>
            <a:ext cx="7955280" cy="384048"/>
          </a:xfrm>
          <a:prstGeom prst="rect">
            <a:avLst/>
          </a:prstGeom>
          <a:noFill/>
          <a:ln/>
        </p:spPr>
        <p:txBody>
          <a:bodyPr wrap="square" rtlCol="0" anchor="ctr"/>
          <a:lstStyle/>
          <a:p>
            <a:pPr algn="ctr" indent="0" marL="0">
              <a:buNone/>
            </a:pPr>
            <a:r>
              <a:rPr lang="en-US" sz="2400" b="1" dirty="0">
                <a:solidFill>
                  <a:srgbClr val="E8636B"/>
                </a:solidFill>
                <a:latin typeface="Cambria" pitchFamily="34" charset="0"/>
                <a:ea typeface="Cambria" pitchFamily="34" charset="-122"/>
                <a:cs typeface="Cambria" pitchFamily="34" charset="-120"/>
              </a:rPr>
              <a:t>HISTORY IS JUST RANDOM CHANCE!</a:t>
            </a:r>
            <a:endParaRPr lang="en-US" sz="2400" dirty="0"/>
          </a:p>
        </p:txBody>
      </p:sp>
      <p:sp>
        <p:nvSpPr>
          <p:cNvPr id="7" name="Text 5"/>
          <p:cNvSpPr/>
          <p:nvPr/>
        </p:nvSpPr>
        <p:spPr>
          <a:xfrm>
            <a:off x="594360" y="1243584"/>
            <a:ext cx="7955280" cy="347472"/>
          </a:xfrm>
          <a:prstGeom prst="rect">
            <a:avLst/>
          </a:prstGeom>
          <a:noFill/>
          <a:ln/>
        </p:spPr>
        <p:txBody>
          <a:bodyPr wrap="square" rtlCol="0" anchor="ctr"/>
          <a:lstStyle/>
          <a:p>
            <a:pPr algn="ctr" indent="0" marL="0">
              <a:buNone/>
            </a:pPr>
            <a:r>
              <a:rPr lang="en-US" sz="1300" i="1" dirty="0">
                <a:solidFill>
                  <a:srgbClr val="5A4A3A"/>
                </a:solidFill>
                <a:latin typeface="Calibri" pitchFamily="34" charset="0"/>
                <a:ea typeface="Calibri" pitchFamily="34" charset="-122"/>
                <a:cs typeface="Calibri" pitchFamily="34" charset="-120"/>
              </a:rPr>
              <a:t>"Historical patterns happen mostly by chance, not because of geography."  — Filed by The Herald, minutes ago</a:t>
            </a:r>
            <a:endParaRPr lang="en-US" sz="1300" dirty="0"/>
          </a:p>
        </p:txBody>
      </p:sp>
      <p:sp>
        <p:nvSpPr>
          <p:cNvPr id="8" name="Shape 6"/>
          <p:cNvSpPr/>
          <p:nvPr/>
        </p:nvSpPr>
        <p:spPr>
          <a:xfrm>
            <a:off x="3474720" y="1828800"/>
            <a:ext cx="2194560" cy="347472"/>
          </a:xfrm>
          <a:prstGeom prst="roundRect">
            <a:avLst>
              <a:gd name="adj" fmla="val 26316"/>
            </a:avLst>
          </a:prstGeom>
          <a:solidFill>
            <a:srgbClr val="E8636B"/>
          </a:solidFill>
          <a:ln/>
        </p:spPr>
      </p:sp>
      <p:sp>
        <p:nvSpPr>
          <p:cNvPr id="9" name="Text 7"/>
          <p:cNvSpPr/>
          <p:nvPr/>
        </p:nvSpPr>
        <p:spPr>
          <a:xfrm>
            <a:off x="3520440" y="1883664"/>
            <a:ext cx="2103120" cy="256032"/>
          </a:xfrm>
          <a:prstGeom prst="rect">
            <a:avLst/>
          </a:prstGeom>
          <a:noFill/>
          <a:ln/>
        </p:spPr>
        <p:txBody>
          <a:bodyPr wrap="square"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RUSHED TO PRINT!</a:t>
            </a:r>
            <a:endParaRPr lang="en-US" sz="1000" dirty="0"/>
          </a:p>
        </p:txBody>
      </p:sp>
      <p:sp>
        <p:nvSpPr>
          <p:cNvPr id="10" name="Shape 8"/>
          <p:cNvSpPr/>
          <p:nvPr/>
        </p:nvSpPr>
        <p:spPr>
          <a:xfrm>
            <a:off x="274320" y="2313432"/>
            <a:ext cx="8595360" cy="685800"/>
          </a:xfrm>
          <a:prstGeom prst="roundRect">
            <a:avLst>
              <a:gd name="adj" fmla="val 13333"/>
            </a:avLst>
          </a:prstGeom>
          <a:solidFill>
            <a:srgbClr val="1A2D5A"/>
          </a:solidFill>
          <a:ln/>
        </p:spPr>
      </p:sp>
      <p:sp>
        <p:nvSpPr>
          <p:cNvPr id="11" name="Text 9"/>
          <p:cNvSpPr/>
          <p:nvPr/>
        </p:nvSpPr>
        <p:spPr>
          <a:xfrm>
            <a:off x="457200" y="2395728"/>
            <a:ext cx="8229600" cy="530352"/>
          </a:xfrm>
          <a:prstGeom prst="rect">
            <a:avLst/>
          </a:prstGeom>
          <a:noFill/>
          <a:ln/>
        </p:spPr>
        <p:txBody>
          <a:bodyPr wrap="square" rtlCol="0" anchor="ctr"/>
          <a:lstStyle/>
          <a:p>
            <a:pPr indent="0" marL="0">
              <a:buNone/>
            </a:pPr>
            <a:r>
              <a:rPr lang="en-US" sz="1200" i="1" dirty="0">
                <a:solidFill>
                  <a:srgbClr val="D6F2FB"/>
                </a:solidFill>
                <a:latin typeface="Calibri" pitchFamily="34" charset="0"/>
                <a:ea typeface="Calibri" pitchFamily="34" charset="-122"/>
                <a:cs typeface="Calibri" pitchFamily="34" charset="-120"/>
              </a:rPr>
              <a:t>WHAT WE ALREADY KNOW (Issues 5-7): Coordinates explained WHERE settlers chose to go. Physical features explained HOW they moved and traded. Political units explained the legal framework of expansion.</a:t>
            </a:r>
            <a:endParaRPr lang="en-US" sz="1200" dirty="0"/>
          </a:p>
        </p:txBody>
      </p:sp>
      <p:sp>
        <p:nvSpPr>
          <p:cNvPr id="12" name="Shape 10"/>
          <p:cNvSpPr/>
          <p:nvPr/>
        </p:nvSpPr>
        <p:spPr>
          <a:xfrm>
            <a:off x="274320" y="3127248"/>
            <a:ext cx="4297680" cy="1783080"/>
          </a:xfrm>
          <a:prstGeom prst="roundRect">
            <a:avLst>
              <a:gd name="adj" fmla="val 6154"/>
            </a:avLst>
          </a:prstGeom>
          <a:solidFill>
            <a:srgbClr val="1A2D5A"/>
          </a:solidFill>
          <a:ln w="12700">
            <a:solidFill>
              <a:srgbClr val="2A4070"/>
            </a:solidFill>
            <a:prstDash val="solid"/>
          </a:ln>
        </p:spPr>
      </p:sp>
      <p:sp>
        <p:nvSpPr>
          <p:cNvPr id="13" name="Text 11"/>
          <p:cNvSpPr/>
          <p:nvPr/>
        </p:nvSpPr>
        <p:spPr>
          <a:xfrm>
            <a:off x="411480" y="3182112"/>
            <a:ext cx="40233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457200" y="3447288"/>
            <a:ext cx="3931920" cy="137160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After four issues of Map Room evidence — does the Herald's 'chance' claim still seem credible?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it mean if history WERE mostly chance? How would that change how historians work?</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evidence from Issues 5-7 already challenges this claim?</a:t>
            </a:r>
            <a:endParaRPr lang="en-US" sz="1100" dirty="0"/>
          </a:p>
        </p:txBody>
      </p:sp>
      <p:sp>
        <p:nvSpPr>
          <p:cNvPr id="15" name="Shape 13"/>
          <p:cNvSpPr/>
          <p:nvPr/>
        </p:nvSpPr>
        <p:spPr>
          <a:xfrm>
            <a:off x="4754880" y="3127248"/>
            <a:ext cx="4114800" cy="1783080"/>
          </a:xfrm>
          <a:prstGeom prst="roundRect">
            <a:avLst>
              <a:gd name="adj" fmla="val 6154"/>
            </a:avLst>
          </a:prstGeom>
          <a:solidFill>
            <a:srgbClr val="FFF3DC"/>
          </a:solidFill>
          <a:ln w="19050">
            <a:solidFill>
              <a:srgbClr val="F5E6C8"/>
            </a:solidFill>
            <a:prstDash val="solid"/>
          </a:ln>
        </p:spPr>
      </p:sp>
      <p:sp>
        <p:nvSpPr>
          <p:cNvPr id="16" name="Text 14"/>
          <p:cNvSpPr/>
          <p:nvPr/>
        </p:nvSpPr>
        <p:spPr>
          <a:xfrm>
            <a:off x="4892040" y="3182112"/>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4892040" y="3383280"/>
            <a:ext cx="3840480" cy="14630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Herald's claim seems wrong because in Issue 5 we learned..."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"Geography explains patterns like... but the Herald would say..."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strongest counter-evidence is..."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000" b="1" dirty="0">
                <a:solidFill>
                  <a:srgbClr val="0E1C42"/>
                </a:solidFill>
                <a:latin typeface="Cambria" pitchFamily="34" charset="0"/>
                <a:ea typeface="Cambria" pitchFamily="34" charset="-122"/>
                <a:cs typeface="Cambria" pitchFamily="34" charset="-120"/>
              </a:rPr>
              <a:t>DISPATCH 5.02.04  ·  THE MAP ROOM'S FINAL ISSUE OF UNIT 2</a:t>
            </a:r>
            <a:endParaRPr lang="en-US" sz="1000" dirty="0"/>
          </a:p>
        </p:txBody>
      </p:sp>
      <p:sp>
        <p:nvSpPr>
          <p:cNvPr id="7" name="Text 4"/>
          <p:cNvSpPr/>
          <p:nvPr/>
        </p:nvSpPr>
        <p:spPr>
          <a:xfrm>
            <a:off x="457200" y="640080"/>
            <a:ext cx="8229600" cy="50292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The Map Room Closes Unit 2 With Its Biggest Claim</a:t>
            </a:r>
            <a:endParaRPr lang="en-US" sz="2600" dirty="0"/>
          </a:p>
        </p:txBody>
      </p:sp>
      <p:sp>
        <p:nvSpPr>
          <p:cNvPr id="8" name="Shape 5"/>
          <p:cNvSpPr/>
          <p:nvPr/>
        </p:nvSpPr>
        <p:spPr>
          <a:xfrm>
            <a:off x="457200" y="1261872"/>
            <a:ext cx="8229600" cy="1097280"/>
          </a:xfrm>
          <a:prstGeom prst="roundRect">
            <a:avLst>
              <a:gd name="adj" fmla="val 10000"/>
            </a:avLst>
          </a:prstGeom>
          <a:solidFill>
            <a:srgbClr val="1A2D5A"/>
          </a:solidFill>
          <a:ln w="25400">
            <a:solidFill>
              <a:srgbClr val="D4943A"/>
            </a:solidFill>
            <a:prstDash val="solid"/>
          </a:ln>
        </p:spPr>
      </p:sp>
      <p:sp>
        <p:nvSpPr>
          <p:cNvPr id="9" name="Text 6"/>
          <p:cNvSpPr/>
          <p:nvPr/>
        </p:nvSpPr>
        <p:spPr>
          <a:xfrm>
            <a:off x="640080" y="1325880"/>
            <a:ext cx="7863840" cy="256032"/>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 Ms. Avery, Editor-in-Chief</a:t>
            </a:r>
            <a:endParaRPr lang="en-US" sz="1000" dirty="0"/>
          </a:p>
        </p:txBody>
      </p:sp>
      <p:sp>
        <p:nvSpPr>
          <p:cNvPr id="10" name="Text 7"/>
          <p:cNvSpPr/>
          <p:nvPr/>
        </p:nvSpPr>
        <p:spPr>
          <a:xfrm>
            <a:off x="640080" y="1600200"/>
            <a:ext cx="7863840" cy="685800"/>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"A courteous editor presents evidence clearly and fairly — letting the patterns speak, rather than forcing readers to a conclusion before they've seen the proof. Today: show readers the evidence first, then state the claim. Respect the reader's ability to follow the reasoning."</a:t>
            </a:r>
            <a:endParaRPr lang="en-US" sz="1300" dirty="0"/>
          </a:p>
        </p:txBody>
      </p:sp>
      <p:sp>
        <p:nvSpPr>
          <p:cNvPr id="11" name="Shape 8"/>
          <p:cNvSpPr/>
          <p:nvPr/>
        </p:nvSpPr>
        <p:spPr>
          <a:xfrm>
            <a:off x="457200" y="2487168"/>
            <a:ext cx="8229600" cy="2331720"/>
          </a:xfrm>
          <a:prstGeom prst="roundRect">
            <a:avLst>
              <a:gd name="adj" fmla="val 4706"/>
            </a:avLst>
          </a:prstGeom>
          <a:solidFill>
            <a:srgbClr val="FFFFFF">
              <a:alpha val="88000"/>
            </a:srgbClr>
          </a:solidFill>
          <a:ln w="12700">
            <a:solidFill>
              <a:srgbClr val="55C8E8"/>
            </a:solidFill>
            <a:prstDash val="solid"/>
          </a:ln>
        </p:spPr>
      </p:sp>
      <p:sp>
        <p:nvSpPr>
          <p:cNvPr id="12" name="Text 9"/>
          <p:cNvSpPr/>
          <p:nvPr/>
        </p:nvSpPr>
        <p:spPr>
          <a:xfrm>
            <a:off x="640080" y="2560320"/>
            <a:ext cx="4114800" cy="256032"/>
          </a:xfrm>
          <a:prstGeom prst="rect">
            <a:avLst/>
          </a:prstGeom>
          <a:noFill/>
          <a:ln/>
        </p:spPr>
        <p:txBody>
          <a:bodyPr wrap="square"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THREE PATTERNS TO INVESTIGATE</a:t>
            </a:r>
            <a:endParaRPr lang="en-US" sz="1000" dirty="0"/>
          </a:p>
        </p:txBody>
      </p:sp>
      <p:sp>
        <p:nvSpPr>
          <p:cNvPr id="13" name="Text 10"/>
          <p:cNvSpPr/>
          <p:nvPr/>
        </p:nvSpPr>
        <p:spPr>
          <a:xfrm>
            <a:off x="5029200" y="2560320"/>
            <a:ext cx="3383280" cy="256032"/>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VIRTUE: COURTESY</a:t>
            </a:r>
            <a:endParaRPr lang="en-US" sz="1000" dirty="0"/>
          </a:p>
        </p:txBody>
      </p:sp>
      <p:sp>
        <p:nvSpPr>
          <p:cNvPr id="14" name="Text 11"/>
          <p:cNvSpPr/>
          <p:nvPr/>
        </p:nvSpPr>
        <p:spPr>
          <a:xfrm>
            <a:off x="640080" y="2880360"/>
            <a:ext cx="4206240" cy="53035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Pattern 1: Settlement near water — why did nearly every colony, city, and trade center sit on a river, harbor, or coast?</a:t>
            </a:r>
            <a:endParaRPr lang="en-US" sz="1100" dirty="0"/>
          </a:p>
        </p:txBody>
      </p:sp>
      <p:sp>
        <p:nvSpPr>
          <p:cNvPr id="15" name="Text 12"/>
          <p:cNvSpPr/>
          <p:nvPr/>
        </p:nvSpPr>
        <p:spPr>
          <a:xfrm>
            <a:off x="640080" y="3474720"/>
            <a:ext cx="4206240" cy="53035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Pattern 2: Westward expansion along latitudes — why did Americans move west along similar latitude bands as the original colonies?</a:t>
            </a:r>
            <a:endParaRPr lang="en-US" sz="1100" dirty="0"/>
          </a:p>
        </p:txBody>
      </p:sp>
      <p:sp>
        <p:nvSpPr>
          <p:cNvPr id="16" name="Text 13"/>
          <p:cNvSpPr/>
          <p:nvPr/>
        </p:nvSpPr>
        <p:spPr>
          <a:xfrm>
            <a:off x="640080" y="4069080"/>
            <a:ext cx="4206240" cy="53035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Pattern 3: Regional economic specialization — why did New England, Middle, and Southern economies differ so dramatically?</a:t>
            </a:r>
            <a:endParaRPr lang="en-US" sz="1100" dirty="0"/>
          </a:p>
        </p:txBody>
      </p:sp>
      <p:sp>
        <p:nvSpPr>
          <p:cNvPr id="17" name="Text 14"/>
          <p:cNvSpPr/>
          <p:nvPr/>
        </p:nvSpPr>
        <p:spPr>
          <a:xfrm>
            <a:off x="5029200" y="2880360"/>
            <a:ext cx="3383280" cy="1645920"/>
          </a:xfrm>
          <a:prstGeom prst="rect">
            <a:avLst/>
          </a:prstGeom>
          <a:noFill/>
          <a:ln/>
        </p:spPr>
        <p:txBody>
          <a:bodyPr wrap="square" rtlCol="0" anchor="t"/>
          <a:lstStyle/>
          <a:p>
            <a:pPr indent="0" marL="0">
              <a:buNone/>
            </a:pPr>
            <a:r>
              <a:rPr lang="en-US" sz="1300" dirty="0">
                <a:solidFill>
                  <a:srgbClr val="D6F2FB"/>
                </a:solidFill>
                <a:latin typeface="Calibri" pitchFamily="34" charset="0"/>
                <a:ea typeface="Calibri" pitchFamily="34" charset="-122"/>
                <a:cs typeface="Calibri" pitchFamily="34" charset="-120"/>
              </a:rPr>
              <a:t>Courtesy: presenting evidence first, then the claim — not forcing readers to a conclusion before they've seen the proof.</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1A8A7D"/>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CLUE BOX  ·  READ THE ECONOMIC MAP</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Does the Economy Tell You About the Land?</a:t>
            </a:r>
            <a:endParaRPr lang="en-US" sz="2200" dirty="0"/>
          </a:p>
        </p:txBody>
      </p:sp>
      <p:sp>
        <p:nvSpPr>
          <p:cNvPr id="6" name="Shape 4"/>
          <p:cNvSpPr/>
          <p:nvPr/>
        </p:nvSpPr>
        <p:spPr>
          <a:xfrm>
            <a:off x="274320" y="1170432"/>
            <a:ext cx="5303520" cy="3474720"/>
          </a:xfrm>
          <a:prstGeom prst="roundRect">
            <a:avLst>
              <a:gd name="adj" fmla="val 3158"/>
            </a:avLst>
          </a:prstGeom>
          <a:solidFill>
            <a:srgbClr val="E2E8F4"/>
          </a:solidFill>
          <a:ln w="19050">
            <a:solidFill>
              <a:srgbClr val="B0B8CC"/>
            </a:solidFill>
            <a:prstDash val="dash"/>
          </a:ln>
        </p:spPr>
      </p:sp>
      <p:sp>
        <p:nvSpPr>
          <p:cNvPr id="7" name="Text 5"/>
          <p:cNvSpPr/>
          <p:nvPr/>
        </p:nvSpPr>
        <p:spPr>
          <a:xfrm>
            <a:off x="274320" y="1170432"/>
            <a:ext cx="5303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411480" y="1444752"/>
            <a:ext cx="502920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Thematic map of the thirteen colonies showing regional economic specialization — New England (fishing, shipbuilding, trade), Middle Colonies (grain farming, flour mills), Southern Colonies (tobacco, rice, indigo plantations). Map should show legend or visual indicators of economic activity by region. Library of Congress, historical atlas, or National Geographic-style colonial economies map.</a:t>
            </a:r>
            <a:endParaRPr lang="en-US" sz="1100" dirty="0"/>
          </a:p>
        </p:txBody>
      </p:sp>
      <p:sp>
        <p:nvSpPr>
          <p:cNvPr id="9" name="Shape 7"/>
          <p:cNvSpPr/>
          <p:nvPr/>
        </p:nvSpPr>
        <p:spPr>
          <a:xfrm>
            <a:off x="5760720" y="1170432"/>
            <a:ext cx="3108960" cy="1737360"/>
          </a:xfrm>
          <a:prstGeom prst="roundRect">
            <a:avLst>
              <a:gd name="adj" fmla="val 5263"/>
            </a:avLst>
          </a:prstGeom>
          <a:solidFill>
            <a:srgbClr val="FFFFFF"/>
          </a:solidFill>
          <a:ln w="19050">
            <a:solidFill>
              <a:srgbClr val="1A8A7D"/>
            </a:solidFill>
            <a:prstDash val="solid"/>
          </a:ln>
        </p:spPr>
      </p:sp>
      <p:sp>
        <p:nvSpPr>
          <p:cNvPr id="10" name="Text 8"/>
          <p:cNvSpPr/>
          <p:nvPr/>
        </p:nvSpPr>
        <p:spPr>
          <a:xfrm>
            <a:off x="5897880" y="1234440"/>
            <a:ext cx="2834640" cy="228600"/>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MAP DETECTIVE</a:t>
            </a:r>
            <a:endParaRPr lang="en-US" sz="900" dirty="0"/>
          </a:p>
        </p:txBody>
      </p:sp>
      <p:sp>
        <p:nvSpPr>
          <p:cNvPr id="11" name="Text 9"/>
          <p:cNvSpPr/>
          <p:nvPr/>
        </p:nvSpPr>
        <p:spPr>
          <a:xfrm>
            <a:off x="5897880" y="1490472"/>
            <a:ext cx="2834640" cy="132588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Look at the economic activities shown in each region.</a:t>
            </a:r>
            <a:endParaRPr lang="en-US" sz="1200" dirty="0"/>
          </a:p>
          <a:p>
            <a:pPr indent="0" marL="0">
              <a:buNone/>
            </a:pP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geographic feature in each region most directly explains what people produced there?</a:t>
            </a:r>
            <a:endParaRPr lang="en-US" sz="1200" dirty="0"/>
          </a:p>
        </p:txBody>
      </p:sp>
      <p:sp>
        <p:nvSpPr>
          <p:cNvPr id="12" name="Shape 10"/>
          <p:cNvSpPr/>
          <p:nvPr/>
        </p:nvSpPr>
        <p:spPr>
          <a:xfrm>
            <a:off x="5760720" y="2999232"/>
            <a:ext cx="3108960" cy="530352"/>
          </a:xfrm>
          <a:prstGeom prst="roundRect">
            <a:avLst>
              <a:gd name="adj" fmla="val 17241"/>
            </a:avLst>
          </a:prstGeom>
          <a:solidFill>
            <a:srgbClr val="1A2D5A"/>
          </a:solidFill>
          <a:ln/>
        </p:spPr>
      </p:sp>
      <p:sp>
        <p:nvSpPr>
          <p:cNvPr id="13" name="Text 11"/>
          <p:cNvSpPr/>
          <p:nvPr/>
        </p:nvSpPr>
        <p:spPr>
          <a:xfrm>
            <a:off x="5852160" y="3090672"/>
            <a:ext cx="2926080" cy="347472"/>
          </a:xfrm>
          <a:prstGeom prst="rect">
            <a:avLst/>
          </a:prstGeom>
          <a:noFill/>
          <a:ln/>
        </p:spPr>
        <p:txBody>
          <a:bodyPr wrap="square" rtlCol="0" anchor="ctr"/>
          <a:lstStyle/>
          <a:p>
            <a:pPr algn="ctr" indent="0" marL="0">
              <a:buNone/>
            </a:pPr>
            <a:r>
              <a:rPr lang="en-US" sz="1100" i="1" dirty="0">
                <a:solidFill>
                  <a:srgbClr val="55C8E8"/>
                </a:solidFill>
                <a:latin typeface="Calibri" pitchFamily="34" charset="0"/>
                <a:ea typeface="Calibri" pitchFamily="34" charset="-122"/>
                <a:cs typeface="Calibri" pitchFamily="34" charset="-120"/>
              </a:rPr>
              <a:t>5 seconds of silence — look before we talk</a:t>
            </a:r>
            <a:endParaRPr lang="en-US" sz="1100" dirty="0"/>
          </a:p>
        </p:txBody>
      </p:sp>
      <p:sp>
        <p:nvSpPr>
          <p:cNvPr id="14" name="Shape 12"/>
          <p:cNvSpPr/>
          <p:nvPr/>
        </p:nvSpPr>
        <p:spPr>
          <a:xfrm>
            <a:off x="5760720" y="3611880"/>
            <a:ext cx="3108960" cy="1234440"/>
          </a:xfrm>
          <a:prstGeom prst="roundRect">
            <a:avLst>
              <a:gd name="adj" fmla="val 8889"/>
            </a:avLst>
          </a:prstGeom>
          <a:solidFill>
            <a:srgbClr val="FFF3DC"/>
          </a:solidFill>
          <a:ln w="19050">
            <a:solidFill>
              <a:srgbClr val="F5E6C8"/>
            </a:solidFill>
            <a:prstDash val="solid"/>
          </a:ln>
        </p:spPr>
      </p:sp>
      <p:sp>
        <p:nvSpPr>
          <p:cNvPr id="15" name="Text 13"/>
          <p:cNvSpPr/>
          <p:nvPr/>
        </p:nvSpPr>
        <p:spPr>
          <a:xfrm>
            <a:off x="5897880" y="3666744"/>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897880" y="3867912"/>
            <a:ext cx="2834640" cy="914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"New England shows... which suggests the geography there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Southern region shows... which connects to the geography of..."</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pattern I notice is..."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0E1C42"/>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PATTERN 1  ·  SETTLEMENT NEAR WATER</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Not Chance — Geography</a:t>
            </a:r>
            <a:endParaRPr lang="en-US" sz="2800" dirty="0"/>
          </a:p>
        </p:txBody>
      </p:sp>
      <p:sp>
        <p:nvSpPr>
          <p:cNvPr id="6" name="Shape 4"/>
          <p:cNvSpPr/>
          <p:nvPr/>
        </p:nvSpPr>
        <p:spPr>
          <a:xfrm>
            <a:off x="274320" y="1188720"/>
            <a:ext cx="8595360" cy="685800"/>
          </a:xfrm>
          <a:prstGeom prst="roundRect">
            <a:avLst>
              <a:gd name="adj" fmla="val 13333"/>
            </a:avLst>
          </a:prstGeom>
          <a:solidFill>
            <a:srgbClr val="E8636B">
              <a:alpha val="80000"/>
            </a:srgbClr>
          </a:solidFill>
          <a:ln w="19050">
            <a:solidFill>
              <a:srgbClr val="E8636B"/>
            </a:solidFill>
            <a:prstDash val="solid"/>
          </a:ln>
        </p:spPr>
      </p:sp>
      <p:sp>
        <p:nvSpPr>
          <p:cNvPr id="7" name="Text 5"/>
          <p:cNvSpPr/>
          <p:nvPr/>
        </p:nvSpPr>
        <p:spPr>
          <a:xfrm>
            <a:off x="457200" y="1261872"/>
            <a:ext cx="8229600" cy="548640"/>
          </a:xfrm>
          <a:prstGeom prst="rect">
            <a:avLst/>
          </a:prstGeom>
          <a:noFill/>
          <a:ln/>
        </p:spPr>
        <p:txBody>
          <a:bodyPr wrap="square" rtlCol="0" anchor="ctr"/>
          <a:lstStyle/>
          <a:p>
            <a:pPr indent="0" marL="0">
              <a:buNone/>
            </a:pPr>
            <a:r>
              <a:rPr lang="en-US" sz="1200" i="1" dirty="0">
                <a:solidFill>
                  <a:srgbClr val="5A4A3A"/>
                </a:solidFill>
                <a:latin typeface="Calibri" pitchFamily="34" charset="0"/>
                <a:ea typeface="Calibri" pitchFamily="34" charset="-122"/>
                <a:cs typeface="Calibri" pitchFamily="34" charset="-120"/>
              </a:rPr>
              <a:t>HERALD: "Colonies just happened to appear near rivers." "People just happened to settle near the coast." No explanation — no evidence.</a:t>
            </a:r>
            <a:endParaRPr lang="en-US" sz="1200" dirty="0"/>
          </a:p>
        </p:txBody>
      </p:sp>
      <p:sp>
        <p:nvSpPr>
          <p:cNvPr id="8" name="Shape 6"/>
          <p:cNvSpPr/>
          <p:nvPr/>
        </p:nvSpPr>
        <p:spPr>
          <a:xfrm>
            <a:off x="274320" y="2011680"/>
            <a:ext cx="4114800" cy="1261872"/>
          </a:xfrm>
          <a:prstGeom prst="roundRect">
            <a:avLst>
              <a:gd name="adj" fmla="val 7246"/>
            </a:avLst>
          </a:prstGeom>
          <a:solidFill>
            <a:srgbClr val="FFFFFF"/>
          </a:solidFill>
          <a:ln w="19050">
            <a:solidFill>
              <a:srgbClr val="1A8A7D"/>
            </a:solidFill>
            <a:prstDash val="solid"/>
          </a:ln>
        </p:spPr>
      </p:sp>
      <p:sp>
        <p:nvSpPr>
          <p:cNvPr id="9" name="Text 7"/>
          <p:cNvSpPr/>
          <p:nvPr/>
        </p:nvSpPr>
        <p:spPr>
          <a:xfrm>
            <a:off x="411480" y="2075688"/>
            <a:ext cx="3840480" cy="274320"/>
          </a:xfrm>
          <a:prstGeom prst="rect">
            <a:avLst/>
          </a:prstGeom>
          <a:noFill/>
          <a:ln/>
        </p:spPr>
        <p:txBody>
          <a:bodyPr wrap="square" rtlCol="0" anchor="ctr"/>
          <a:lstStyle/>
          <a:p>
            <a:pPr indent="0" marL="0">
              <a:buNone/>
            </a:pPr>
            <a:r>
              <a:rPr lang="en-US" sz="1200" b="1" dirty="0">
                <a:solidFill>
                  <a:srgbClr val="1A8A7D"/>
                </a:solidFill>
                <a:latin typeface="Cambria" pitchFamily="34" charset="0"/>
                <a:ea typeface="Cambria" pitchFamily="34" charset="-122"/>
                <a:cs typeface="Cambria" pitchFamily="34" charset="-120"/>
              </a:rPr>
              <a:t>FOOD</a:t>
            </a:r>
            <a:endParaRPr lang="en-US" sz="1200" dirty="0"/>
          </a:p>
        </p:txBody>
      </p:sp>
      <p:sp>
        <p:nvSpPr>
          <p:cNvPr id="10" name="Text 8"/>
          <p:cNvSpPr/>
          <p:nvPr/>
        </p:nvSpPr>
        <p:spPr>
          <a:xfrm>
            <a:off x="411480" y="2377440"/>
            <a:ext cx="3840480" cy="7772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Rivers and coastlines provided fish, fresh water, and irrigated farmland — fundamental survival needs.</a:t>
            </a:r>
            <a:endParaRPr lang="en-US" sz="1200" dirty="0"/>
          </a:p>
        </p:txBody>
      </p:sp>
      <p:sp>
        <p:nvSpPr>
          <p:cNvPr id="11" name="Shape 9"/>
          <p:cNvSpPr/>
          <p:nvPr/>
        </p:nvSpPr>
        <p:spPr>
          <a:xfrm>
            <a:off x="274320" y="3429000"/>
            <a:ext cx="4114800" cy="1261872"/>
          </a:xfrm>
          <a:prstGeom prst="roundRect">
            <a:avLst>
              <a:gd name="adj" fmla="val 7246"/>
            </a:avLst>
          </a:prstGeom>
          <a:solidFill>
            <a:srgbClr val="FFFFFF"/>
          </a:solidFill>
          <a:ln w="19050">
            <a:solidFill>
              <a:srgbClr val="1A8A7D"/>
            </a:solidFill>
            <a:prstDash val="solid"/>
          </a:ln>
        </p:spPr>
      </p:sp>
      <p:sp>
        <p:nvSpPr>
          <p:cNvPr id="12" name="Text 10"/>
          <p:cNvSpPr/>
          <p:nvPr/>
        </p:nvSpPr>
        <p:spPr>
          <a:xfrm>
            <a:off x="411480" y="3493008"/>
            <a:ext cx="3840480" cy="274320"/>
          </a:xfrm>
          <a:prstGeom prst="rect">
            <a:avLst/>
          </a:prstGeom>
          <a:noFill/>
          <a:ln/>
        </p:spPr>
        <p:txBody>
          <a:bodyPr wrap="square" rtlCol="0" anchor="ctr"/>
          <a:lstStyle/>
          <a:p>
            <a:pPr indent="0" marL="0">
              <a:buNone/>
            </a:pPr>
            <a:r>
              <a:rPr lang="en-US" sz="1200" b="1" dirty="0">
                <a:solidFill>
                  <a:srgbClr val="1A8A7D"/>
                </a:solidFill>
                <a:latin typeface="Cambria" pitchFamily="34" charset="0"/>
                <a:ea typeface="Cambria" pitchFamily="34" charset="-122"/>
                <a:cs typeface="Cambria" pitchFamily="34" charset="-120"/>
              </a:rPr>
              <a:t>TRANSPORTATION</a:t>
            </a:r>
            <a:endParaRPr lang="en-US" sz="1200" dirty="0"/>
          </a:p>
        </p:txBody>
      </p:sp>
      <p:sp>
        <p:nvSpPr>
          <p:cNvPr id="13" name="Text 11"/>
          <p:cNvSpPr/>
          <p:nvPr/>
        </p:nvSpPr>
        <p:spPr>
          <a:xfrm>
            <a:off x="411480" y="3794760"/>
            <a:ext cx="3840480" cy="7772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Water was the fastest, cheapest way to move people and goods in an era before roads or railroads.</a:t>
            </a:r>
            <a:endParaRPr lang="en-US" sz="1200" dirty="0"/>
          </a:p>
        </p:txBody>
      </p:sp>
      <p:sp>
        <p:nvSpPr>
          <p:cNvPr id="14" name="Shape 12"/>
          <p:cNvSpPr/>
          <p:nvPr/>
        </p:nvSpPr>
        <p:spPr>
          <a:xfrm>
            <a:off x="4663440" y="2011680"/>
            <a:ext cx="4114800" cy="1261872"/>
          </a:xfrm>
          <a:prstGeom prst="roundRect">
            <a:avLst>
              <a:gd name="adj" fmla="val 7246"/>
            </a:avLst>
          </a:prstGeom>
          <a:solidFill>
            <a:srgbClr val="FFFFFF"/>
          </a:solidFill>
          <a:ln w="19050">
            <a:solidFill>
              <a:srgbClr val="1A8A7D"/>
            </a:solidFill>
            <a:prstDash val="solid"/>
          </a:ln>
        </p:spPr>
      </p:sp>
      <p:sp>
        <p:nvSpPr>
          <p:cNvPr id="15" name="Text 13"/>
          <p:cNvSpPr/>
          <p:nvPr/>
        </p:nvSpPr>
        <p:spPr>
          <a:xfrm>
            <a:off x="4800600" y="2075688"/>
            <a:ext cx="3840480" cy="274320"/>
          </a:xfrm>
          <a:prstGeom prst="rect">
            <a:avLst/>
          </a:prstGeom>
          <a:noFill/>
          <a:ln/>
        </p:spPr>
        <p:txBody>
          <a:bodyPr wrap="square" rtlCol="0" anchor="ctr"/>
          <a:lstStyle/>
          <a:p>
            <a:pPr indent="0" marL="0">
              <a:buNone/>
            </a:pPr>
            <a:r>
              <a:rPr lang="en-US" sz="1200" b="1" dirty="0">
                <a:solidFill>
                  <a:srgbClr val="1A8A7D"/>
                </a:solidFill>
                <a:latin typeface="Cambria" pitchFamily="34" charset="0"/>
                <a:ea typeface="Cambria" pitchFamily="34" charset="-122"/>
                <a:cs typeface="Cambria" pitchFamily="34" charset="-120"/>
              </a:rPr>
              <a:t>TRADE</a:t>
            </a:r>
            <a:endParaRPr lang="en-US" sz="1200" dirty="0"/>
          </a:p>
        </p:txBody>
      </p:sp>
      <p:sp>
        <p:nvSpPr>
          <p:cNvPr id="16" name="Text 14"/>
          <p:cNvSpPr/>
          <p:nvPr/>
        </p:nvSpPr>
        <p:spPr>
          <a:xfrm>
            <a:off x="4800600" y="2377440"/>
            <a:ext cx="3840480" cy="7772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Harbors connected colonists to Atlantic trade routes — the economic lifeline of colonial economies.</a:t>
            </a:r>
            <a:endParaRPr lang="en-US" sz="1200" dirty="0"/>
          </a:p>
        </p:txBody>
      </p:sp>
      <p:sp>
        <p:nvSpPr>
          <p:cNvPr id="17" name="Shape 15"/>
          <p:cNvSpPr/>
          <p:nvPr/>
        </p:nvSpPr>
        <p:spPr>
          <a:xfrm>
            <a:off x="4663440" y="3429000"/>
            <a:ext cx="4114800" cy="1261872"/>
          </a:xfrm>
          <a:prstGeom prst="roundRect">
            <a:avLst>
              <a:gd name="adj" fmla="val 7246"/>
            </a:avLst>
          </a:prstGeom>
          <a:solidFill>
            <a:srgbClr val="FFFFFF"/>
          </a:solidFill>
          <a:ln w="19050">
            <a:solidFill>
              <a:srgbClr val="1A8A7D"/>
            </a:solidFill>
            <a:prstDash val="solid"/>
          </a:ln>
        </p:spPr>
      </p:sp>
      <p:sp>
        <p:nvSpPr>
          <p:cNvPr id="18" name="Text 16"/>
          <p:cNvSpPr/>
          <p:nvPr/>
        </p:nvSpPr>
        <p:spPr>
          <a:xfrm>
            <a:off x="4800600" y="3493008"/>
            <a:ext cx="3840480" cy="274320"/>
          </a:xfrm>
          <a:prstGeom prst="rect">
            <a:avLst/>
          </a:prstGeom>
          <a:noFill/>
          <a:ln/>
        </p:spPr>
        <p:txBody>
          <a:bodyPr wrap="square" rtlCol="0" anchor="ctr"/>
          <a:lstStyle/>
          <a:p>
            <a:pPr indent="0" marL="0">
              <a:buNone/>
            </a:pPr>
            <a:r>
              <a:rPr lang="en-US" sz="1200" b="1" dirty="0">
                <a:solidFill>
                  <a:srgbClr val="1A8A7D"/>
                </a:solidFill>
                <a:latin typeface="Cambria" pitchFamily="34" charset="0"/>
                <a:ea typeface="Cambria" pitchFamily="34" charset="-122"/>
                <a:cs typeface="Cambria" pitchFamily="34" charset="-120"/>
              </a:rPr>
              <a:t>FRESH WATER</a:t>
            </a:r>
            <a:endParaRPr lang="en-US" sz="1200" dirty="0"/>
          </a:p>
        </p:txBody>
      </p:sp>
      <p:sp>
        <p:nvSpPr>
          <p:cNvPr id="19" name="Text 17"/>
          <p:cNvSpPr/>
          <p:nvPr/>
        </p:nvSpPr>
        <p:spPr>
          <a:xfrm>
            <a:off x="4800600" y="3794760"/>
            <a:ext cx="3840480" cy="77724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Inland settlements without river access faced severe water supply challenges, especially in summer.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0E1C42"/>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DISCUSSION  ·  PATTERN 1: IS THIS REALLY CHANCE?</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What Geographic Evidence Supports Settlement Near Water?</a:t>
            </a:r>
            <a:endParaRPr lang="en-US" sz="2000" dirty="0"/>
          </a:p>
        </p:txBody>
      </p:sp>
      <p:sp>
        <p:nvSpPr>
          <p:cNvPr id="6" name="Shape 4"/>
          <p:cNvSpPr/>
          <p:nvPr/>
        </p:nvSpPr>
        <p:spPr>
          <a:xfrm>
            <a:off x="274320" y="1170432"/>
            <a:ext cx="3931920" cy="3474720"/>
          </a:xfrm>
          <a:prstGeom prst="roundRect">
            <a:avLst>
              <a:gd name="adj" fmla="val 3158"/>
            </a:avLst>
          </a:prstGeom>
          <a:solidFill>
            <a:srgbClr val="E2E8F4"/>
          </a:solidFill>
          <a:ln w="19050">
            <a:solidFill>
              <a:srgbClr val="B0B8CC"/>
            </a:solidFill>
            <a:prstDash val="dash"/>
          </a:ln>
        </p:spPr>
      </p:sp>
      <p:sp>
        <p:nvSpPr>
          <p:cNvPr id="7" name="Text 5"/>
          <p:cNvSpPr/>
          <p:nvPr/>
        </p:nvSpPr>
        <p:spPr>
          <a:xfrm>
            <a:off x="274320" y="1170432"/>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411480" y="1444752"/>
            <a:ext cx="3657600" cy="31089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Physical map of eastern North America showing rivers, harbors, and coastlines with colonial settlement dots overlaid — students should be able to see that nearly every settlement dot sits on or near a water body</a:t>
            </a:r>
            <a:endParaRPr lang="en-US" sz="1100" dirty="0"/>
          </a:p>
        </p:txBody>
      </p:sp>
      <p:sp>
        <p:nvSpPr>
          <p:cNvPr id="9" name="Shape 7"/>
          <p:cNvSpPr/>
          <p:nvPr/>
        </p:nvSpPr>
        <p:spPr>
          <a:xfrm>
            <a:off x="4389120" y="1170432"/>
            <a:ext cx="4480560" cy="2331720"/>
          </a:xfrm>
          <a:prstGeom prst="roundRect">
            <a:avLst>
              <a:gd name="adj" fmla="val 4706"/>
            </a:avLst>
          </a:prstGeom>
          <a:solidFill>
            <a:srgbClr val="1A2D5A"/>
          </a:solidFill>
          <a:ln w="12700">
            <a:solidFill>
              <a:srgbClr val="2A4070"/>
            </a:solidFill>
            <a:prstDash val="solid"/>
          </a:ln>
        </p:spPr>
      </p:sp>
      <p:sp>
        <p:nvSpPr>
          <p:cNvPr id="10" name="Text 8"/>
          <p:cNvSpPr/>
          <p:nvPr/>
        </p:nvSpPr>
        <p:spPr>
          <a:xfrm>
            <a:off x="4526280" y="1225296"/>
            <a:ext cx="420624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4572000" y="1490472"/>
            <a:ext cx="4114800" cy="192024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Looking at the map: do settlements appear near water by pattern or randomly?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geographic evidence best supports the claim that water drove settlement?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Could someone argue settlers chose these locations for NON-geographic reasons? What would they say?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Is 'water is everywhere — maybe it IS coincidence' a strong counterargument? How would you respond?</a:t>
            </a:r>
            <a:endParaRPr lang="en-US" sz="1100" dirty="0"/>
          </a:p>
        </p:txBody>
      </p:sp>
      <p:sp>
        <p:nvSpPr>
          <p:cNvPr id="12" name="Shape 10"/>
          <p:cNvSpPr/>
          <p:nvPr/>
        </p:nvSpPr>
        <p:spPr>
          <a:xfrm>
            <a:off x="4389120" y="3630168"/>
            <a:ext cx="4480560" cy="1234440"/>
          </a:xfrm>
          <a:prstGeom prst="roundRect">
            <a:avLst>
              <a:gd name="adj" fmla="val 8889"/>
            </a:avLst>
          </a:prstGeom>
          <a:solidFill>
            <a:srgbClr val="FFF3DC"/>
          </a:solidFill>
          <a:ln w="19050">
            <a:solidFill>
              <a:srgbClr val="F5E6C8"/>
            </a:solidFill>
            <a:prstDash val="solid"/>
          </a:ln>
        </p:spPr>
      </p:sp>
      <p:sp>
        <p:nvSpPr>
          <p:cNvPr id="13" name="Text 11"/>
          <p:cNvSpPr/>
          <p:nvPr/>
        </p:nvSpPr>
        <p:spPr>
          <a:xfrm>
            <a:off x="4526280" y="3685032"/>
            <a:ext cx="42062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4526280" y="3886200"/>
            <a:ext cx="4206240" cy="914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map shows that settlements near water... The geographic evidence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pattern is NOT chance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"Someone could argue it's coincidence, but I would respond..."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0E1C42"/>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900" b="1" spc="100" kern="0" dirty="0">
                <a:solidFill>
                  <a:srgbClr val="D4943A"/>
                </a:solidFill>
                <a:latin typeface="Calibri" pitchFamily="34" charset="0"/>
                <a:ea typeface="Calibri" pitchFamily="34" charset="-122"/>
                <a:cs typeface="Calibri" pitchFamily="34" charset="-120"/>
              </a:rPr>
              <a:t>PATTERN 2  ·  WESTWARD EXPANSION FOLLOWED THE LATITUDES</a:t>
            </a:r>
            <a:endParaRPr lang="en-US" sz="9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Familiar Climate = Familiar Crops = Familiar Conditions</a:t>
            </a:r>
            <a:endParaRPr lang="en-US" sz="2200" dirty="0"/>
          </a:p>
        </p:txBody>
      </p:sp>
      <p:sp>
        <p:nvSpPr>
          <p:cNvPr id="6" name="Shape 4"/>
          <p:cNvSpPr/>
          <p:nvPr/>
        </p:nvSpPr>
        <p:spPr>
          <a:xfrm>
            <a:off x="274320" y="1188720"/>
            <a:ext cx="8595360" cy="594360"/>
          </a:xfrm>
          <a:prstGeom prst="roundRect">
            <a:avLst>
              <a:gd name="adj" fmla="val 15385"/>
            </a:avLst>
          </a:prstGeom>
          <a:solidFill>
            <a:srgbClr val="E8636B">
              <a:alpha val="80000"/>
            </a:srgbClr>
          </a:solidFill>
          <a:ln w="19050">
            <a:solidFill>
              <a:srgbClr val="E8636B"/>
            </a:solidFill>
            <a:prstDash val="solid"/>
          </a:ln>
        </p:spPr>
      </p:sp>
      <p:sp>
        <p:nvSpPr>
          <p:cNvPr id="7" name="Text 5"/>
          <p:cNvSpPr/>
          <p:nvPr/>
        </p:nvSpPr>
        <p:spPr>
          <a:xfrm>
            <a:off x="457200" y="1261872"/>
            <a:ext cx="8229600" cy="457200"/>
          </a:xfrm>
          <a:prstGeom prst="rect">
            <a:avLst/>
          </a:prstGeom>
          <a:noFill/>
          <a:ln/>
        </p:spPr>
        <p:txBody>
          <a:bodyPr wrap="square" rtlCol="0" anchor="ctr"/>
          <a:lstStyle/>
          <a:p>
            <a:pPr indent="0" marL="0">
              <a:buNone/>
            </a:pPr>
            <a:r>
              <a:rPr lang="en-US" sz="1200" i="1" dirty="0">
                <a:solidFill>
                  <a:srgbClr val="5A4A3A"/>
                </a:solidFill>
                <a:latin typeface="Calibri" pitchFamily="34" charset="0"/>
                <a:ea typeface="Calibri" pitchFamily="34" charset="-122"/>
                <a:cs typeface="Calibri" pitchFamily="34" charset="-120"/>
              </a:rPr>
              <a:t>HERALD: "People just happened to move in that direction." No geographic logic — just randomness.</a:t>
            </a:r>
            <a:endParaRPr lang="en-US" sz="1200" dirty="0"/>
          </a:p>
        </p:txBody>
      </p:sp>
      <p:sp>
        <p:nvSpPr>
          <p:cNvPr id="8" name="Shape 6"/>
          <p:cNvSpPr/>
          <p:nvPr/>
        </p:nvSpPr>
        <p:spPr>
          <a:xfrm>
            <a:off x="274320" y="1920240"/>
            <a:ext cx="8595360" cy="594360"/>
          </a:xfrm>
          <a:prstGeom prst="roundRect">
            <a:avLst>
              <a:gd name="adj" fmla="val 15385"/>
            </a:avLst>
          </a:prstGeom>
          <a:solidFill>
            <a:srgbClr val="1A8A7D">
              <a:alpha val="85000"/>
            </a:srgbClr>
          </a:solidFill>
          <a:ln w="19050">
            <a:solidFill>
              <a:srgbClr val="1A8A7D"/>
            </a:solidFill>
            <a:prstDash val="solid"/>
          </a:ln>
        </p:spPr>
      </p:sp>
      <p:sp>
        <p:nvSpPr>
          <p:cNvPr id="9" name="Text 7"/>
          <p:cNvSpPr/>
          <p:nvPr/>
        </p:nvSpPr>
        <p:spPr>
          <a:xfrm>
            <a:off x="457200" y="1984248"/>
            <a:ext cx="8229600" cy="457200"/>
          </a:xfrm>
          <a:prstGeom prst="rect">
            <a:avLst/>
          </a:prstGeom>
          <a:noFill/>
          <a:ln/>
        </p:spPr>
        <p:txBody>
          <a:bodyPr wrap="square" rtlCol="0" anchor="ctr"/>
          <a:lstStyle/>
          <a:p>
            <a:pPr indent="0" marL="0">
              <a:buNone/>
            </a:pPr>
            <a:r>
              <a:rPr lang="en-US" sz="1300" dirty="0">
                <a:solidFill>
                  <a:srgbClr val="0E1C42"/>
                </a:solidFill>
                <a:latin typeface="Calibri" pitchFamily="34" charset="0"/>
                <a:ea typeface="Calibri" pitchFamily="34" charset="-122"/>
                <a:cs typeface="Calibri" pitchFamily="34" charset="-120"/>
              </a:rPr>
              <a:t>THE GAZETTE'S EVIDENCE: From Issues 5 and 6, we know latitude determines climate. Same latitude = same growing season, same crops, same familiar conditions. Colonists moved west along the latitude bands they already knew.</a:t>
            </a:r>
            <a:endParaRPr lang="en-US" sz="1300" dirty="0"/>
          </a:p>
        </p:txBody>
      </p:sp>
      <p:sp>
        <p:nvSpPr>
          <p:cNvPr id="10" name="Shape 8"/>
          <p:cNvSpPr/>
          <p:nvPr/>
        </p:nvSpPr>
        <p:spPr>
          <a:xfrm>
            <a:off x="274320" y="2651760"/>
            <a:ext cx="2788920" cy="2194560"/>
          </a:xfrm>
          <a:prstGeom prst="roundRect">
            <a:avLst>
              <a:gd name="adj" fmla="val 4167"/>
            </a:avLst>
          </a:prstGeom>
          <a:solidFill>
            <a:srgbClr val="55C8E8">
              <a:alpha val="75000"/>
            </a:srgbClr>
          </a:solidFill>
          <a:ln w="19050">
            <a:solidFill>
              <a:srgbClr val="55C8E8"/>
            </a:solidFill>
            <a:prstDash val="solid"/>
          </a:ln>
        </p:spPr>
      </p:sp>
      <p:sp>
        <p:nvSpPr>
          <p:cNvPr id="11" name="Text 9"/>
          <p:cNvSpPr/>
          <p:nvPr/>
        </p:nvSpPr>
        <p:spPr>
          <a:xfrm>
            <a:off x="411480" y="2715768"/>
            <a:ext cx="2514600" cy="274320"/>
          </a:xfrm>
          <a:prstGeom prst="rect">
            <a:avLst/>
          </a:prstGeom>
          <a:noFill/>
          <a:ln/>
        </p:spPr>
        <p:txBody>
          <a:bodyPr wrap="square"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NEW ENGLAND SETTLERS</a:t>
            </a:r>
            <a:endParaRPr lang="en-US" sz="1100" dirty="0"/>
          </a:p>
        </p:txBody>
      </p:sp>
      <p:sp>
        <p:nvSpPr>
          <p:cNvPr id="12" name="Text 10"/>
          <p:cNvSpPr/>
          <p:nvPr/>
        </p:nvSpPr>
        <p:spPr>
          <a:xfrm>
            <a:off x="411480" y="3017520"/>
            <a:ext cx="2514600" cy="256032"/>
          </a:xfrm>
          <a:prstGeom prst="rect">
            <a:avLst/>
          </a:prstGeom>
          <a:noFill/>
          <a:ln/>
        </p:spPr>
        <p:txBody>
          <a:bodyPr wrap="square"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Latitude: ~40-45°N</a:t>
            </a:r>
            <a:endParaRPr lang="en-US" sz="1100" dirty="0"/>
          </a:p>
        </p:txBody>
      </p:sp>
      <p:sp>
        <p:nvSpPr>
          <p:cNvPr id="13" name="Text 11"/>
          <p:cNvSpPr/>
          <p:nvPr/>
        </p:nvSpPr>
        <p:spPr>
          <a:xfrm>
            <a:off x="411480" y="3310128"/>
            <a:ext cx="2514600" cy="141732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Moved west into New York, Ohio — same latitude, same short summer season, same crop mix.</a:t>
            </a:r>
            <a:endParaRPr lang="en-US" sz="1100" dirty="0"/>
          </a:p>
        </p:txBody>
      </p:sp>
      <p:sp>
        <p:nvSpPr>
          <p:cNvPr id="14" name="Shape 12"/>
          <p:cNvSpPr/>
          <p:nvPr/>
        </p:nvSpPr>
        <p:spPr>
          <a:xfrm>
            <a:off x="3200400" y="2651760"/>
            <a:ext cx="2788920" cy="2194560"/>
          </a:xfrm>
          <a:prstGeom prst="roundRect">
            <a:avLst>
              <a:gd name="adj" fmla="val 4167"/>
            </a:avLst>
          </a:prstGeom>
          <a:solidFill>
            <a:srgbClr val="34B76F">
              <a:alpha val="75000"/>
            </a:srgbClr>
          </a:solidFill>
          <a:ln w="19050">
            <a:solidFill>
              <a:srgbClr val="34B76F"/>
            </a:solidFill>
            <a:prstDash val="solid"/>
          </a:ln>
        </p:spPr>
      </p:sp>
      <p:sp>
        <p:nvSpPr>
          <p:cNvPr id="15" name="Text 13"/>
          <p:cNvSpPr/>
          <p:nvPr/>
        </p:nvSpPr>
        <p:spPr>
          <a:xfrm>
            <a:off x="3337560" y="2715768"/>
            <a:ext cx="2514600" cy="274320"/>
          </a:xfrm>
          <a:prstGeom prst="rect">
            <a:avLst/>
          </a:prstGeom>
          <a:noFill/>
          <a:ln/>
        </p:spPr>
        <p:txBody>
          <a:bodyPr wrap="square"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SOUTHERN COLONISTS</a:t>
            </a:r>
            <a:endParaRPr lang="en-US" sz="1100" dirty="0"/>
          </a:p>
        </p:txBody>
      </p:sp>
      <p:sp>
        <p:nvSpPr>
          <p:cNvPr id="16" name="Text 14"/>
          <p:cNvSpPr/>
          <p:nvPr/>
        </p:nvSpPr>
        <p:spPr>
          <a:xfrm>
            <a:off x="3337560" y="3017520"/>
            <a:ext cx="2514600" cy="256032"/>
          </a:xfrm>
          <a:prstGeom prst="rect">
            <a:avLst/>
          </a:prstGeom>
          <a:noFill/>
          <a:ln/>
        </p:spPr>
        <p:txBody>
          <a:bodyPr wrap="square"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Latitude: ~30-37°N</a:t>
            </a:r>
            <a:endParaRPr lang="en-US" sz="1100" dirty="0"/>
          </a:p>
        </p:txBody>
      </p:sp>
      <p:sp>
        <p:nvSpPr>
          <p:cNvPr id="17" name="Text 15"/>
          <p:cNvSpPr/>
          <p:nvPr/>
        </p:nvSpPr>
        <p:spPr>
          <a:xfrm>
            <a:off x="3337560" y="3310128"/>
            <a:ext cx="2514600" cy="141732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Moved west into Tennessee, Kentucky, Alabama — same warm latitude, same tobacco and cotton climate.</a:t>
            </a:r>
            <a:endParaRPr lang="en-US" sz="1100" dirty="0"/>
          </a:p>
        </p:txBody>
      </p:sp>
      <p:sp>
        <p:nvSpPr>
          <p:cNvPr id="18" name="Shape 16"/>
          <p:cNvSpPr/>
          <p:nvPr/>
        </p:nvSpPr>
        <p:spPr>
          <a:xfrm>
            <a:off x="6126480" y="2651760"/>
            <a:ext cx="2788920" cy="2194560"/>
          </a:xfrm>
          <a:prstGeom prst="roundRect">
            <a:avLst>
              <a:gd name="adj" fmla="val 4167"/>
            </a:avLst>
          </a:prstGeom>
          <a:solidFill>
            <a:srgbClr val="D4943A">
              <a:alpha val="75000"/>
            </a:srgbClr>
          </a:solidFill>
          <a:ln w="19050">
            <a:solidFill>
              <a:srgbClr val="D4943A"/>
            </a:solidFill>
            <a:prstDash val="solid"/>
          </a:ln>
        </p:spPr>
      </p:sp>
      <p:sp>
        <p:nvSpPr>
          <p:cNvPr id="19" name="Text 17"/>
          <p:cNvSpPr/>
          <p:nvPr/>
        </p:nvSpPr>
        <p:spPr>
          <a:xfrm>
            <a:off x="6263640" y="2715768"/>
            <a:ext cx="2514600" cy="274320"/>
          </a:xfrm>
          <a:prstGeom prst="rect">
            <a:avLst/>
          </a:prstGeom>
          <a:noFill/>
          <a:ln/>
        </p:spPr>
        <p:txBody>
          <a:bodyPr wrap="square"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WHY NOT NORTH OR SOUTH?</a:t>
            </a:r>
            <a:endParaRPr lang="en-US" sz="1100" dirty="0"/>
          </a:p>
        </p:txBody>
      </p:sp>
      <p:sp>
        <p:nvSpPr>
          <p:cNvPr id="20" name="Text 18"/>
          <p:cNvSpPr/>
          <p:nvPr/>
        </p:nvSpPr>
        <p:spPr>
          <a:xfrm>
            <a:off x="6263640" y="3017520"/>
            <a:ext cx="2514600" cy="256032"/>
          </a:xfrm>
          <a:prstGeom prst="rect">
            <a:avLst/>
          </a:prstGeom>
          <a:noFill/>
          <a:ln/>
        </p:spPr>
        <p:txBody>
          <a:bodyPr wrap="square"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Latitude: Cross-latitude</a:t>
            </a:r>
            <a:endParaRPr lang="en-US" sz="1100" dirty="0"/>
          </a:p>
        </p:txBody>
      </p:sp>
      <p:sp>
        <p:nvSpPr>
          <p:cNvPr id="21" name="Text 19"/>
          <p:cNvSpPr/>
          <p:nvPr/>
        </p:nvSpPr>
        <p:spPr>
          <a:xfrm>
            <a:off x="6263640" y="3310128"/>
            <a:ext cx="2514600" cy="141732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Moving to a very different latitude meant a completely different climate, unknown crops, and unfamiliar farming conditions.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0E1C42"/>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900" b="1" spc="100" kern="0" dirty="0">
                <a:solidFill>
                  <a:srgbClr val="D4943A"/>
                </a:solidFill>
                <a:latin typeface="Calibri" pitchFamily="34" charset="0"/>
                <a:ea typeface="Calibri" pitchFamily="34" charset="-122"/>
                <a:cs typeface="Calibri" pitchFamily="34" charset="-120"/>
              </a:rPr>
              <a:t>PATTERN 3  ·  REGIONAL ECONOMIC SPECIALIZATION</a:t>
            </a:r>
            <a:endParaRPr lang="en-US" sz="9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Each Region's Economy Reflected Its Geography</a:t>
            </a:r>
            <a:endParaRPr lang="en-US" sz="2200" dirty="0"/>
          </a:p>
        </p:txBody>
      </p:sp>
      <p:sp>
        <p:nvSpPr>
          <p:cNvPr id="6" name="Shape 4"/>
          <p:cNvSpPr/>
          <p:nvPr/>
        </p:nvSpPr>
        <p:spPr>
          <a:xfrm>
            <a:off x="274320" y="1188720"/>
            <a:ext cx="8595360" cy="502920"/>
          </a:xfrm>
          <a:prstGeom prst="roundRect">
            <a:avLst>
              <a:gd name="adj" fmla="val 18182"/>
            </a:avLst>
          </a:prstGeom>
          <a:solidFill>
            <a:srgbClr val="E8636B">
              <a:alpha val="80000"/>
            </a:srgbClr>
          </a:solidFill>
          <a:ln w="19050">
            <a:solidFill>
              <a:srgbClr val="E8636B"/>
            </a:solidFill>
            <a:prstDash val="solid"/>
          </a:ln>
        </p:spPr>
      </p:sp>
      <p:sp>
        <p:nvSpPr>
          <p:cNvPr id="7" name="Text 5"/>
          <p:cNvSpPr/>
          <p:nvPr/>
        </p:nvSpPr>
        <p:spPr>
          <a:xfrm>
            <a:off x="457200" y="1261872"/>
            <a:ext cx="8229600" cy="365760"/>
          </a:xfrm>
          <a:prstGeom prst="rect">
            <a:avLst/>
          </a:prstGeom>
          <a:noFill/>
          <a:ln/>
        </p:spPr>
        <p:txBody>
          <a:bodyPr wrap="square" rtlCol="0" anchor="ctr"/>
          <a:lstStyle/>
          <a:p>
            <a:pPr indent="0" marL="0">
              <a:buNone/>
            </a:pPr>
            <a:r>
              <a:rPr lang="en-US" sz="1200" i="1" dirty="0">
                <a:solidFill>
                  <a:srgbClr val="5A4A3A"/>
                </a:solidFill>
                <a:latin typeface="Calibri" pitchFamily="34" charset="0"/>
                <a:ea typeface="Calibri" pitchFamily="34" charset="-122"/>
                <a:cs typeface="Calibri" pitchFamily="34" charset="-120"/>
              </a:rPr>
              <a:t>HERALD: "The economy just happened to differ by region." Pure coincidence — no geographic logic.</a:t>
            </a:r>
            <a:endParaRPr lang="en-US" sz="1200" dirty="0"/>
          </a:p>
        </p:txBody>
      </p:sp>
      <p:sp>
        <p:nvSpPr>
          <p:cNvPr id="8" name="Shape 6"/>
          <p:cNvSpPr/>
          <p:nvPr/>
        </p:nvSpPr>
        <p:spPr>
          <a:xfrm>
            <a:off x="274320" y="1828800"/>
            <a:ext cx="2788920" cy="3017520"/>
          </a:xfrm>
          <a:prstGeom prst="roundRect">
            <a:avLst>
              <a:gd name="adj" fmla="val 3934"/>
            </a:avLst>
          </a:prstGeom>
          <a:solidFill>
            <a:srgbClr val="55C8E8">
              <a:alpha val="78000"/>
            </a:srgbClr>
          </a:solidFill>
          <a:ln w="25400">
            <a:solidFill>
              <a:srgbClr val="55C8E8"/>
            </a:solidFill>
            <a:prstDash val="solid"/>
          </a:ln>
        </p:spPr>
      </p:sp>
      <p:sp>
        <p:nvSpPr>
          <p:cNvPr id="9" name="Text 7"/>
          <p:cNvSpPr/>
          <p:nvPr/>
        </p:nvSpPr>
        <p:spPr>
          <a:xfrm>
            <a:off x="411480" y="1892808"/>
            <a:ext cx="2514600" cy="301752"/>
          </a:xfrm>
          <a:prstGeom prst="rect">
            <a:avLst/>
          </a:prstGeom>
          <a:noFill/>
          <a:ln/>
        </p:spPr>
        <p:txBody>
          <a:bodyPr wrap="square" rtlCol="0" anchor="ctr"/>
          <a:lstStyle/>
          <a:p>
            <a:pPr algn="ctr" indent="0" marL="0">
              <a:buNone/>
            </a:pPr>
            <a:r>
              <a:rPr lang="en-US" sz="1200" b="1" dirty="0">
                <a:solidFill>
                  <a:srgbClr val="0E1C42"/>
                </a:solidFill>
                <a:latin typeface="Cambria" pitchFamily="34" charset="0"/>
                <a:ea typeface="Cambria" pitchFamily="34" charset="-122"/>
                <a:cs typeface="Cambria" pitchFamily="34" charset="-120"/>
              </a:rPr>
              <a:t>NEW ENGLAND</a:t>
            </a:r>
            <a:endParaRPr lang="en-US" sz="1200" dirty="0"/>
          </a:p>
        </p:txBody>
      </p:sp>
      <p:sp>
        <p:nvSpPr>
          <p:cNvPr id="10" name="Text 8"/>
          <p:cNvSpPr/>
          <p:nvPr/>
        </p:nvSpPr>
        <p:spPr>
          <a:xfrm>
            <a:off x="411480" y="2231136"/>
            <a:ext cx="2514600" cy="228600"/>
          </a:xfrm>
          <a:prstGeom prst="rect">
            <a:avLst/>
          </a:prstGeom>
          <a:noFill/>
          <a:ln/>
        </p:spPr>
        <p:txBody>
          <a:bodyPr wrap="square" rtlCol="0" anchor="ctr"/>
          <a:lstStyle/>
          <a:p>
            <a:pPr indent="0" marL="0">
              <a:buNone/>
            </a:pPr>
            <a:r>
              <a:rPr lang="en-US" sz="900" b="1" dirty="0">
                <a:solidFill>
                  <a:srgbClr val="0E1C42"/>
                </a:solidFill>
                <a:latin typeface="Calibri" pitchFamily="34" charset="0"/>
                <a:ea typeface="Calibri" pitchFamily="34" charset="-122"/>
                <a:cs typeface="Calibri" pitchFamily="34" charset="-120"/>
              </a:rPr>
              <a:t>GEOGRAPHY:</a:t>
            </a:r>
            <a:endParaRPr lang="en-US" sz="900" dirty="0"/>
          </a:p>
        </p:txBody>
      </p:sp>
      <p:sp>
        <p:nvSpPr>
          <p:cNvPr id="11" name="Text 9"/>
          <p:cNvSpPr/>
          <p:nvPr/>
        </p:nvSpPr>
        <p:spPr>
          <a:xfrm>
            <a:off x="411480" y="2468880"/>
            <a:ext cx="2514600" cy="502920"/>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Rocky soil, long coastline, cold winters, short growing season</a:t>
            </a:r>
            <a:endParaRPr lang="en-US" sz="1100" dirty="0"/>
          </a:p>
        </p:txBody>
      </p:sp>
      <p:sp>
        <p:nvSpPr>
          <p:cNvPr id="12" name="Text 10"/>
          <p:cNvSpPr/>
          <p:nvPr/>
        </p:nvSpPr>
        <p:spPr>
          <a:xfrm>
            <a:off x="411480" y="2999232"/>
            <a:ext cx="2514600" cy="228600"/>
          </a:xfrm>
          <a:prstGeom prst="rect">
            <a:avLst/>
          </a:prstGeom>
          <a:noFill/>
          <a:ln/>
        </p:spPr>
        <p:txBody>
          <a:bodyPr wrap="square" rtlCol="0" anchor="ctr"/>
          <a:lstStyle/>
          <a:p>
            <a:pPr indent="0" marL="0">
              <a:buNone/>
            </a:pPr>
            <a:r>
              <a:rPr lang="en-US" sz="900" b="1" dirty="0">
                <a:solidFill>
                  <a:srgbClr val="0E1C42"/>
                </a:solidFill>
                <a:latin typeface="Calibri" pitchFamily="34" charset="0"/>
                <a:ea typeface="Calibri" pitchFamily="34" charset="-122"/>
                <a:cs typeface="Calibri" pitchFamily="34" charset="-120"/>
              </a:rPr>
              <a:t>ECONOMY:</a:t>
            </a:r>
            <a:endParaRPr lang="en-US" sz="900" dirty="0"/>
          </a:p>
        </p:txBody>
      </p:sp>
      <p:sp>
        <p:nvSpPr>
          <p:cNvPr id="13" name="Text 11"/>
          <p:cNvSpPr/>
          <p:nvPr/>
        </p:nvSpPr>
        <p:spPr>
          <a:xfrm>
            <a:off x="411480" y="3236976"/>
            <a:ext cx="2514600" cy="411480"/>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Fishing, shipbuilding, trade, merchant activity</a:t>
            </a:r>
            <a:endParaRPr lang="en-US" sz="1100" dirty="0"/>
          </a:p>
        </p:txBody>
      </p:sp>
      <p:sp>
        <p:nvSpPr>
          <p:cNvPr id="14" name="Text 12"/>
          <p:cNvSpPr/>
          <p:nvPr/>
        </p:nvSpPr>
        <p:spPr>
          <a:xfrm>
            <a:off x="411480" y="3675888"/>
            <a:ext cx="2514600" cy="1051560"/>
          </a:xfrm>
          <a:prstGeom prst="rect">
            <a:avLst/>
          </a:prstGeom>
          <a:noFill/>
          <a:ln/>
        </p:spPr>
        <p:txBody>
          <a:bodyPr wrap="square" rtlCol="0" anchor="t"/>
          <a:lstStyle/>
          <a:p>
            <a:pPr indent="0" marL="0">
              <a:buNone/>
            </a:pPr>
            <a:r>
              <a:rPr lang="en-US" sz="1000" i="1" dirty="0">
                <a:solidFill>
                  <a:srgbClr val="0E1C42"/>
                </a:solidFill>
                <a:latin typeface="Calibri" pitchFamily="34" charset="0"/>
                <a:ea typeface="Calibri" pitchFamily="34" charset="-122"/>
                <a:cs typeface="Calibri" pitchFamily="34" charset="-120"/>
              </a:rPr>
              <a:t>Rocky soil = poor farming. Long coast = fishing + trade. Cold winters = short crops. Geography made trade smarter than farming.</a:t>
            </a:r>
            <a:endParaRPr lang="en-US" sz="1000" dirty="0"/>
          </a:p>
        </p:txBody>
      </p:sp>
      <p:sp>
        <p:nvSpPr>
          <p:cNvPr id="15" name="Shape 13"/>
          <p:cNvSpPr/>
          <p:nvPr/>
        </p:nvSpPr>
        <p:spPr>
          <a:xfrm>
            <a:off x="3200400" y="1828800"/>
            <a:ext cx="2788920" cy="3017520"/>
          </a:xfrm>
          <a:prstGeom prst="roundRect">
            <a:avLst>
              <a:gd name="adj" fmla="val 3934"/>
            </a:avLst>
          </a:prstGeom>
          <a:solidFill>
            <a:srgbClr val="34B76F">
              <a:alpha val="78000"/>
            </a:srgbClr>
          </a:solidFill>
          <a:ln w="25400">
            <a:solidFill>
              <a:srgbClr val="34B76F"/>
            </a:solidFill>
            <a:prstDash val="solid"/>
          </a:ln>
        </p:spPr>
      </p:sp>
      <p:sp>
        <p:nvSpPr>
          <p:cNvPr id="16" name="Text 14"/>
          <p:cNvSpPr/>
          <p:nvPr/>
        </p:nvSpPr>
        <p:spPr>
          <a:xfrm>
            <a:off x="3337560" y="1892808"/>
            <a:ext cx="2514600" cy="301752"/>
          </a:xfrm>
          <a:prstGeom prst="rect">
            <a:avLst/>
          </a:prstGeom>
          <a:noFill/>
          <a:ln/>
        </p:spPr>
        <p:txBody>
          <a:bodyPr wrap="square" rtlCol="0" anchor="ctr"/>
          <a:lstStyle/>
          <a:p>
            <a:pPr algn="ctr" indent="0" marL="0">
              <a:buNone/>
            </a:pPr>
            <a:r>
              <a:rPr lang="en-US" sz="1200" b="1" dirty="0">
                <a:solidFill>
                  <a:srgbClr val="0E1C42"/>
                </a:solidFill>
                <a:latin typeface="Cambria" pitchFamily="34" charset="0"/>
                <a:ea typeface="Cambria" pitchFamily="34" charset="-122"/>
                <a:cs typeface="Cambria" pitchFamily="34" charset="-120"/>
              </a:rPr>
              <a:t>MIDDLE COLONIES</a:t>
            </a:r>
            <a:endParaRPr lang="en-US" sz="1200" dirty="0"/>
          </a:p>
        </p:txBody>
      </p:sp>
      <p:sp>
        <p:nvSpPr>
          <p:cNvPr id="17" name="Text 15"/>
          <p:cNvSpPr/>
          <p:nvPr/>
        </p:nvSpPr>
        <p:spPr>
          <a:xfrm>
            <a:off x="3337560" y="2231136"/>
            <a:ext cx="2514600" cy="228600"/>
          </a:xfrm>
          <a:prstGeom prst="rect">
            <a:avLst/>
          </a:prstGeom>
          <a:noFill/>
          <a:ln/>
        </p:spPr>
        <p:txBody>
          <a:bodyPr wrap="square" rtlCol="0" anchor="ctr"/>
          <a:lstStyle/>
          <a:p>
            <a:pPr indent="0" marL="0">
              <a:buNone/>
            </a:pPr>
            <a:r>
              <a:rPr lang="en-US" sz="900" b="1" dirty="0">
                <a:solidFill>
                  <a:srgbClr val="0E1C42"/>
                </a:solidFill>
                <a:latin typeface="Calibri" pitchFamily="34" charset="0"/>
                <a:ea typeface="Calibri" pitchFamily="34" charset="-122"/>
                <a:cs typeface="Calibri" pitchFamily="34" charset="-120"/>
              </a:rPr>
              <a:t>GEOGRAPHY:</a:t>
            </a:r>
            <a:endParaRPr lang="en-US" sz="900" dirty="0"/>
          </a:p>
        </p:txBody>
      </p:sp>
      <p:sp>
        <p:nvSpPr>
          <p:cNvPr id="18" name="Text 16"/>
          <p:cNvSpPr/>
          <p:nvPr/>
        </p:nvSpPr>
        <p:spPr>
          <a:xfrm>
            <a:off x="3337560" y="2468880"/>
            <a:ext cx="2514600" cy="502920"/>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Fertile river valleys, milder climate, navigable rivers inland</a:t>
            </a:r>
            <a:endParaRPr lang="en-US" sz="1100" dirty="0"/>
          </a:p>
        </p:txBody>
      </p:sp>
      <p:sp>
        <p:nvSpPr>
          <p:cNvPr id="19" name="Text 17"/>
          <p:cNvSpPr/>
          <p:nvPr/>
        </p:nvSpPr>
        <p:spPr>
          <a:xfrm>
            <a:off x="3337560" y="2999232"/>
            <a:ext cx="2514600" cy="228600"/>
          </a:xfrm>
          <a:prstGeom prst="rect">
            <a:avLst/>
          </a:prstGeom>
          <a:noFill/>
          <a:ln/>
        </p:spPr>
        <p:txBody>
          <a:bodyPr wrap="square" rtlCol="0" anchor="ctr"/>
          <a:lstStyle/>
          <a:p>
            <a:pPr indent="0" marL="0">
              <a:buNone/>
            </a:pPr>
            <a:r>
              <a:rPr lang="en-US" sz="900" b="1" dirty="0">
                <a:solidFill>
                  <a:srgbClr val="0E1C42"/>
                </a:solidFill>
                <a:latin typeface="Calibri" pitchFamily="34" charset="0"/>
                <a:ea typeface="Calibri" pitchFamily="34" charset="-122"/>
                <a:cs typeface="Calibri" pitchFamily="34" charset="-120"/>
              </a:rPr>
              <a:t>ECONOMY:</a:t>
            </a:r>
            <a:endParaRPr lang="en-US" sz="900" dirty="0"/>
          </a:p>
        </p:txBody>
      </p:sp>
      <p:sp>
        <p:nvSpPr>
          <p:cNvPr id="20" name="Text 18"/>
          <p:cNvSpPr/>
          <p:nvPr/>
        </p:nvSpPr>
        <p:spPr>
          <a:xfrm>
            <a:off x="3337560" y="3236976"/>
            <a:ext cx="2514600" cy="411480"/>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Grain farming (wheat, corn), flour mills, diverse crops</a:t>
            </a:r>
            <a:endParaRPr lang="en-US" sz="1100" dirty="0"/>
          </a:p>
        </p:txBody>
      </p:sp>
      <p:sp>
        <p:nvSpPr>
          <p:cNvPr id="21" name="Text 19"/>
          <p:cNvSpPr/>
          <p:nvPr/>
        </p:nvSpPr>
        <p:spPr>
          <a:xfrm>
            <a:off x="3337560" y="3675888"/>
            <a:ext cx="2514600" cy="1051560"/>
          </a:xfrm>
          <a:prstGeom prst="rect">
            <a:avLst/>
          </a:prstGeom>
          <a:noFill/>
          <a:ln/>
        </p:spPr>
        <p:txBody>
          <a:bodyPr wrap="square" rtlCol="0" anchor="t"/>
          <a:lstStyle/>
          <a:p>
            <a:pPr indent="0" marL="0">
              <a:buNone/>
            </a:pPr>
            <a:r>
              <a:rPr lang="en-US" sz="1000" i="1" dirty="0">
                <a:solidFill>
                  <a:srgbClr val="0E1C42"/>
                </a:solidFill>
                <a:latin typeface="Calibri" pitchFamily="34" charset="0"/>
                <a:ea typeface="Calibri" pitchFamily="34" charset="-122"/>
                <a:cs typeface="Calibri" pitchFamily="34" charset="-120"/>
              </a:rPr>
              <a:t>Fertile valleys + mild climate = excellent grain. Rivers moved flour to port cities. Geography made grain farming the obvious choice.</a:t>
            </a:r>
            <a:endParaRPr lang="en-US" sz="1000" dirty="0"/>
          </a:p>
        </p:txBody>
      </p:sp>
      <p:sp>
        <p:nvSpPr>
          <p:cNvPr id="22" name="Shape 20"/>
          <p:cNvSpPr/>
          <p:nvPr/>
        </p:nvSpPr>
        <p:spPr>
          <a:xfrm>
            <a:off x="6126480" y="1828800"/>
            <a:ext cx="2788920" cy="3017520"/>
          </a:xfrm>
          <a:prstGeom prst="roundRect">
            <a:avLst>
              <a:gd name="adj" fmla="val 3934"/>
            </a:avLst>
          </a:prstGeom>
          <a:solidFill>
            <a:srgbClr val="D4943A">
              <a:alpha val="78000"/>
            </a:srgbClr>
          </a:solidFill>
          <a:ln w="25400">
            <a:solidFill>
              <a:srgbClr val="D4943A"/>
            </a:solidFill>
            <a:prstDash val="solid"/>
          </a:ln>
        </p:spPr>
      </p:sp>
      <p:sp>
        <p:nvSpPr>
          <p:cNvPr id="23" name="Text 21"/>
          <p:cNvSpPr/>
          <p:nvPr/>
        </p:nvSpPr>
        <p:spPr>
          <a:xfrm>
            <a:off x="6263640" y="1892808"/>
            <a:ext cx="2514600" cy="301752"/>
          </a:xfrm>
          <a:prstGeom prst="rect">
            <a:avLst/>
          </a:prstGeom>
          <a:noFill/>
          <a:ln/>
        </p:spPr>
        <p:txBody>
          <a:bodyPr wrap="square" rtlCol="0" anchor="ctr"/>
          <a:lstStyle/>
          <a:p>
            <a:pPr algn="ctr" indent="0" marL="0">
              <a:buNone/>
            </a:pPr>
            <a:r>
              <a:rPr lang="en-US" sz="1200" b="1" dirty="0">
                <a:solidFill>
                  <a:srgbClr val="0E1C42"/>
                </a:solidFill>
                <a:latin typeface="Cambria" pitchFamily="34" charset="0"/>
                <a:ea typeface="Cambria" pitchFamily="34" charset="-122"/>
                <a:cs typeface="Cambria" pitchFamily="34" charset="-120"/>
              </a:rPr>
              <a:t>SOUTHERN COLONIES</a:t>
            </a:r>
            <a:endParaRPr lang="en-US" sz="1200" dirty="0"/>
          </a:p>
        </p:txBody>
      </p:sp>
      <p:sp>
        <p:nvSpPr>
          <p:cNvPr id="24" name="Text 22"/>
          <p:cNvSpPr/>
          <p:nvPr/>
        </p:nvSpPr>
        <p:spPr>
          <a:xfrm>
            <a:off x="6263640" y="2231136"/>
            <a:ext cx="2514600" cy="228600"/>
          </a:xfrm>
          <a:prstGeom prst="rect">
            <a:avLst/>
          </a:prstGeom>
          <a:noFill/>
          <a:ln/>
        </p:spPr>
        <p:txBody>
          <a:bodyPr wrap="square" rtlCol="0" anchor="ctr"/>
          <a:lstStyle/>
          <a:p>
            <a:pPr indent="0" marL="0">
              <a:buNone/>
            </a:pPr>
            <a:r>
              <a:rPr lang="en-US" sz="900" b="1" dirty="0">
                <a:solidFill>
                  <a:srgbClr val="0E1C42"/>
                </a:solidFill>
                <a:latin typeface="Calibri" pitchFamily="34" charset="0"/>
                <a:ea typeface="Calibri" pitchFamily="34" charset="-122"/>
                <a:cs typeface="Calibri" pitchFamily="34" charset="-120"/>
              </a:rPr>
              <a:t>GEOGRAPHY:</a:t>
            </a:r>
            <a:endParaRPr lang="en-US" sz="900" dirty="0"/>
          </a:p>
        </p:txBody>
      </p:sp>
      <p:sp>
        <p:nvSpPr>
          <p:cNvPr id="25" name="Text 23"/>
          <p:cNvSpPr/>
          <p:nvPr/>
        </p:nvSpPr>
        <p:spPr>
          <a:xfrm>
            <a:off x="6263640" y="2468880"/>
            <a:ext cx="2514600" cy="502920"/>
          </a:xfrm>
          <a:prstGeom prst="rect">
            <a:avLst/>
          </a:prstGeom>
          <a:noFill/>
          <a:ln/>
        </p:spPr>
        <p:txBody>
          <a:bodyPr wrap="square" rtlCol="0" anchor="ctr"/>
          <a:lstStyle/>
          <a:p>
            <a:pPr indent="0" marL="0">
              <a:buNone/>
            </a:pPr>
            <a:r>
              <a:rPr lang="en-US" sz="1100" i="1" dirty="0">
                <a:solidFill>
                  <a:srgbClr val="0E1C42"/>
                </a:solidFill>
                <a:latin typeface="Calibri" pitchFamily="34" charset="0"/>
                <a:ea typeface="Calibri" pitchFamily="34" charset="-122"/>
                <a:cs typeface="Calibri" pitchFamily="34" charset="-120"/>
              </a:rPr>
              <a:t>Warm lowlands, long growing season, flat coastal plain, humidity</a:t>
            </a:r>
            <a:endParaRPr lang="en-US" sz="1100" dirty="0"/>
          </a:p>
        </p:txBody>
      </p:sp>
      <p:sp>
        <p:nvSpPr>
          <p:cNvPr id="26" name="Text 24"/>
          <p:cNvSpPr/>
          <p:nvPr/>
        </p:nvSpPr>
        <p:spPr>
          <a:xfrm>
            <a:off x="6263640" y="2999232"/>
            <a:ext cx="2514600" cy="228600"/>
          </a:xfrm>
          <a:prstGeom prst="rect">
            <a:avLst/>
          </a:prstGeom>
          <a:noFill/>
          <a:ln/>
        </p:spPr>
        <p:txBody>
          <a:bodyPr wrap="square" rtlCol="0" anchor="ctr"/>
          <a:lstStyle/>
          <a:p>
            <a:pPr indent="0" marL="0">
              <a:buNone/>
            </a:pPr>
            <a:r>
              <a:rPr lang="en-US" sz="900" b="1" dirty="0">
                <a:solidFill>
                  <a:srgbClr val="0E1C42"/>
                </a:solidFill>
                <a:latin typeface="Calibri" pitchFamily="34" charset="0"/>
                <a:ea typeface="Calibri" pitchFamily="34" charset="-122"/>
                <a:cs typeface="Calibri" pitchFamily="34" charset="-120"/>
              </a:rPr>
              <a:t>ECONOMY:</a:t>
            </a:r>
            <a:endParaRPr lang="en-US" sz="900" dirty="0"/>
          </a:p>
        </p:txBody>
      </p:sp>
      <p:sp>
        <p:nvSpPr>
          <p:cNvPr id="27" name="Text 25"/>
          <p:cNvSpPr/>
          <p:nvPr/>
        </p:nvSpPr>
        <p:spPr>
          <a:xfrm>
            <a:off x="6263640" y="3236976"/>
            <a:ext cx="2514600" cy="411480"/>
          </a:xfrm>
          <a:prstGeom prst="rect">
            <a:avLst/>
          </a:prstGeom>
          <a:noFill/>
          <a:ln/>
        </p:spPr>
        <p:txBody>
          <a:bodyPr wrap="square"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Tobacco, rice, indigo — plantation agriculture</a:t>
            </a:r>
            <a:endParaRPr lang="en-US" sz="1100" dirty="0"/>
          </a:p>
        </p:txBody>
      </p:sp>
      <p:sp>
        <p:nvSpPr>
          <p:cNvPr id="28" name="Text 26"/>
          <p:cNvSpPr/>
          <p:nvPr/>
        </p:nvSpPr>
        <p:spPr>
          <a:xfrm>
            <a:off x="6263640" y="3675888"/>
            <a:ext cx="2514600" cy="1051560"/>
          </a:xfrm>
          <a:prstGeom prst="rect">
            <a:avLst/>
          </a:prstGeom>
          <a:noFill/>
          <a:ln/>
        </p:spPr>
        <p:txBody>
          <a:bodyPr wrap="square" rtlCol="0" anchor="t"/>
          <a:lstStyle/>
          <a:p>
            <a:pPr indent="0" marL="0">
              <a:buNone/>
            </a:pPr>
            <a:r>
              <a:rPr lang="en-US" sz="1000" i="1" dirty="0">
                <a:solidFill>
                  <a:srgbClr val="0E1C42"/>
                </a:solidFill>
                <a:latin typeface="Calibri" pitchFamily="34" charset="0"/>
                <a:ea typeface="Calibri" pitchFamily="34" charset="-122"/>
                <a:cs typeface="Calibri" pitchFamily="34" charset="-120"/>
              </a:rPr>
              <a:t>Warm humid lowlands = perfect for tobacco, rice, indigo. Long growing season = large harvests. Geography made plantation crops profitable.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0E1C42"/>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DISCUSSION  ·  NOTEBOOK QUESTION 2 SCAFFOLD</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Choose Your Region — Build Your Explanation</a:t>
            </a:r>
            <a:endParaRPr lang="en-US" sz="2200" dirty="0"/>
          </a:p>
        </p:txBody>
      </p:sp>
      <p:sp>
        <p:nvSpPr>
          <p:cNvPr id="6" name="Shape 4"/>
          <p:cNvSpPr/>
          <p:nvPr/>
        </p:nvSpPr>
        <p:spPr>
          <a:xfrm>
            <a:off x="274320" y="1188720"/>
            <a:ext cx="8595360" cy="731520"/>
          </a:xfrm>
          <a:prstGeom prst="roundRect">
            <a:avLst>
              <a:gd name="adj" fmla="val 12500"/>
            </a:avLst>
          </a:prstGeom>
          <a:solidFill>
            <a:srgbClr val="FFFFFF"/>
          </a:solidFill>
          <a:ln w="25400">
            <a:solidFill>
              <a:srgbClr val="D4943A"/>
            </a:solidFill>
            <a:prstDash val="solid"/>
          </a:ln>
        </p:spPr>
      </p:sp>
      <p:sp>
        <p:nvSpPr>
          <p:cNvPr id="7" name="Text 5"/>
          <p:cNvSpPr/>
          <p:nvPr/>
        </p:nvSpPr>
        <p:spPr>
          <a:xfrm>
            <a:off x="457200" y="1261872"/>
            <a:ext cx="8229600" cy="228600"/>
          </a:xfrm>
          <a:prstGeom prst="rect">
            <a:avLst/>
          </a:prstGeom>
          <a:noFill/>
          <a:ln/>
        </p:spPr>
        <p:txBody>
          <a:bodyPr wrap="square"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NOTEBOOK QUESTION 2 (coming up):</a:t>
            </a:r>
            <a:endParaRPr lang="en-US" sz="1000" dirty="0"/>
          </a:p>
        </p:txBody>
      </p:sp>
      <p:sp>
        <p:nvSpPr>
          <p:cNvPr id="8" name="Text 6"/>
          <p:cNvSpPr/>
          <p:nvPr/>
        </p:nvSpPr>
        <p:spPr>
          <a:xfrm>
            <a:off x="457200" y="1508760"/>
            <a:ext cx="8229600" cy="347472"/>
          </a:xfrm>
          <a:prstGeom prst="rect">
            <a:avLst/>
          </a:prstGeom>
          <a:noFill/>
          <a:ln/>
        </p:spPr>
        <p:txBody>
          <a:bodyPr wrap="square" rtlCol="0" anchor="ctr"/>
          <a:lstStyle/>
          <a:p>
            <a:pPr indent="0" marL="0">
              <a:buNone/>
            </a:pPr>
            <a:r>
              <a:rPr lang="en-US" sz="1400" i="1" dirty="0">
                <a:solidFill>
                  <a:srgbClr val="0E1C42"/>
                </a:solidFill>
                <a:latin typeface="Cambria" pitchFamily="34" charset="0"/>
                <a:ea typeface="Cambria" pitchFamily="34" charset="-122"/>
                <a:cs typeface="Cambria" pitchFamily="34" charset="-120"/>
              </a:rPr>
              <a:t>"Look at the map. Choose one region (New England, Middle, or Southern Colonies) and explain how its geography shaped its economy."</a:t>
            </a:r>
            <a:endParaRPr lang="en-US" sz="1400" dirty="0"/>
          </a:p>
        </p:txBody>
      </p:sp>
      <p:sp>
        <p:nvSpPr>
          <p:cNvPr id="9" name="Shape 7"/>
          <p:cNvSpPr/>
          <p:nvPr/>
        </p:nvSpPr>
        <p:spPr>
          <a:xfrm>
            <a:off x="274320" y="2057400"/>
            <a:ext cx="4480560" cy="2651760"/>
          </a:xfrm>
          <a:prstGeom prst="roundRect">
            <a:avLst>
              <a:gd name="adj" fmla="val 4138"/>
            </a:avLst>
          </a:prstGeom>
          <a:solidFill>
            <a:srgbClr val="1A2D5A"/>
          </a:solidFill>
          <a:ln w="12700">
            <a:solidFill>
              <a:srgbClr val="2A4070"/>
            </a:solidFill>
            <a:prstDash val="solid"/>
          </a:ln>
        </p:spPr>
      </p:sp>
      <p:sp>
        <p:nvSpPr>
          <p:cNvPr id="10" name="Text 8"/>
          <p:cNvSpPr/>
          <p:nvPr/>
        </p:nvSpPr>
        <p:spPr>
          <a:xfrm>
            <a:off x="411480" y="2112264"/>
            <a:ext cx="420624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457200" y="2377440"/>
            <a:ext cx="4114800" cy="224028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Which region has the CLEAREST geographic explanation for its economy?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Which evidence is strongest: the New England coast, Middle Colony valleys, or Southern lowlands?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Could someone argue that TRADE routes mattered more than terrain? What would they say?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change your mind about which geographic factor mattered most?</a:t>
            </a:r>
            <a:endParaRPr lang="en-US" sz="1100" dirty="0"/>
          </a:p>
        </p:txBody>
      </p:sp>
      <p:sp>
        <p:nvSpPr>
          <p:cNvPr id="12" name="Shape 10"/>
          <p:cNvSpPr/>
          <p:nvPr/>
        </p:nvSpPr>
        <p:spPr>
          <a:xfrm>
            <a:off x="4937760" y="2057400"/>
            <a:ext cx="3931920" cy="2651760"/>
          </a:xfrm>
          <a:prstGeom prst="roundRect">
            <a:avLst>
              <a:gd name="adj" fmla="val 4138"/>
            </a:avLst>
          </a:prstGeom>
          <a:solidFill>
            <a:srgbClr val="FFF3DC"/>
          </a:solidFill>
          <a:ln w="19050">
            <a:solidFill>
              <a:srgbClr val="F5E6C8"/>
            </a:solidFill>
            <a:prstDash val="solid"/>
          </a:ln>
        </p:spPr>
      </p:sp>
      <p:sp>
        <p:nvSpPr>
          <p:cNvPr id="13" name="Text 11"/>
          <p:cNvSpPr/>
          <p:nvPr/>
        </p:nvSpPr>
        <p:spPr>
          <a:xfrm>
            <a:off x="5074920" y="2112264"/>
            <a:ext cx="3657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074920" y="2313432"/>
            <a:ext cx="3657600" cy="23317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choose [region] because the geographic evidence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geography shaped the economy by... which meant settlers..."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claim: [region]'s geography made [economic activity] more likely because..."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000" b="1" spc="100" kern="0" dirty="0">
                <a:solidFill>
                  <a:srgbClr val="0E1C42"/>
                </a:solidFill>
                <a:latin typeface="Cambria" pitchFamily="34" charset="0"/>
                <a:ea typeface="Cambria" pitchFamily="34" charset="-122"/>
                <a:cs typeface="Cambria" pitchFamily="34" charset="-120"/>
              </a:rPr>
              <a:t>MAP ROOM REVEAL  ·  UNIT 2 CENTRAL FINDING</a:t>
            </a:r>
            <a:endParaRPr lang="en-US" sz="1000" dirty="0"/>
          </a:p>
        </p:txBody>
      </p:sp>
      <p:sp>
        <p:nvSpPr>
          <p:cNvPr id="7" name="Text 4"/>
          <p:cNvSpPr/>
          <p:nvPr/>
        </p:nvSpPr>
        <p:spPr>
          <a:xfrm>
            <a:off x="457200" y="640080"/>
            <a:ext cx="8229600" cy="502920"/>
          </a:xfrm>
          <a:prstGeom prst="rect">
            <a:avLst/>
          </a:prstGeom>
          <a:noFill/>
          <a:ln/>
        </p:spPr>
        <p:txBody>
          <a:bodyPr wrap="square"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GEOGRAPHY SHAPES CONDITIONS.</a:t>
            </a:r>
            <a:endParaRPr lang="en-US" sz="3000" dirty="0"/>
          </a:p>
        </p:txBody>
      </p:sp>
      <p:sp>
        <p:nvSpPr>
          <p:cNvPr id="8" name="Text 5"/>
          <p:cNvSpPr/>
          <p:nvPr/>
        </p:nvSpPr>
        <p:spPr>
          <a:xfrm>
            <a:off x="457200" y="1170432"/>
            <a:ext cx="8229600" cy="41148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CONDITIONS SHAPE CHOICES. CHOICES MAKE HISTORY.</a:t>
            </a:r>
            <a:endParaRPr lang="en-US" sz="2200" dirty="0"/>
          </a:p>
        </p:txBody>
      </p:sp>
      <p:sp>
        <p:nvSpPr>
          <p:cNvPr id="9" name="Text 6"/>
          <p:cNvSpPr/>
          <p:nvPr/>
        </p:nvSpPr>
        <p:spPr>
          <a:xfrm>
            <a:off x="457200" y="1673352"/>
            <a:ext cx="8229600" cy="320040"/>
          </a:xfrm>
          <a:prstGeom prst="rect">
            <a:avLst/>
          </a:prstGeom>
          <a:noFill/>
          <a:ln/>
        </p:spPr>
        <p:txBody>
          <a:bodyPr wrap="square" rtlCol="0" anchor="ctr"/>
          <a:lstStyle/>
          <a:p>
            <a:pPr algn="ctr" indent="0" marL="0">
              <a:buNone/>
            </a:pPr>
            <a:r>
              <a:rPr lang="en-US" sz="1300" i="1" dirty="0">
                <a:solidFill>
                  <a:srgbClr val="55C8E8"/>
                </a:solidFill>
                <a:latin typeface="Cambria" pitchFamily="34" charset="0"/>
                <a:ea typeface="Cambria" pitchFamily="34" charset="-122"/>
                <a:cs typeface="Cambria" pitchFamily="34" charset="-120"/>
              </a:rPr>
              <a:t>The Herald said chance. The Map Room found patterns. Here's what we proved:</a:t>
            </a:r>
            <a:endParaRPr lang="en-US" sz="1300" dirty="0"/>
          </a:p>
        </p:txBody>
      </p:sp>
      <p:sp>
        <p:nvSpPr>
          <p:cNvPr id="10" name="Shape 7"/>
          <p:cNvSpPr/>
          <p:nvPr/>
        </p:nvSpPr>
        <p:spPr>
          <a:xfrm>
            <a:off x="274320" y="2103120"/>
            <a:ext cx="2788920" cy="2697480"/>
          </a:xfrm>
          <a:prstGeom prst="roundRect">
            <a:avLst>
              <a:gd name="adj" fmla="val 4068"/>
            </a:avLst>
          </a:prstGeom>
          <a:solidFill>
            <a:srgbClr val="1A8A7D">
              <a:alpha val="72000"/>
            </a:srgbClr>
          </a:solidFill>
          <a:ln w="25400">
            <a:solidFill>
              <a:srgbClr val="1A8A7D"/>
            </a:solidFill>
            <a:prstDash val="solid"/>
          </a:ln>
        </p:spPr>
      </p:sp>
      <p:sp>
        <p:nvSpPr>
          <p:cNvPr id="11" name="Text 8"/>
          <p:cNvSpPr/>
          <p:nvPr/>
        </p:nvSpPr>
        <p:spPr>
          <a:xfrm>
            <a:off x="411480" y="2167128"/>
            <a:ext cx="2514600" cy="256032"/>
          </a:xfrm>
          <a:prstGeom prst="rect">
            <a:avLst/>
          </a:prstGeom>
          <a:noFill/>
          <a:ln/>
        </p:spPr>
        <p:txBody>
          <a:bodyPr wrap="square" rtlCol="0" anchor="ctr"/>
          <a:lstStyle/>
          <a:p>
            <a:pPr algn="ctr" indent="0" marL="0">
              <a:buNone/>
            </a:pPr>
            <a:r>
              <a:rPr lang="en-US" sz="1000" b="1" spc="100" kern="0" dirty="0">
                <a:solidFill>
                  <a:srgbClr val="D4943A"/>
                </a:solidFill>
                <a:latin typeface="Calibri" pitchFamily="34" charset="0"/>
                <a:ea typeface="Calibri" pitchFamily="34" charset="-122"/>
                <a:cs typeface="Calibri" pitchFamily="34" charset="-120"/>
              </a:rPr>
              <a:t>Pattern 1</a:t>
            </a:r>
            <a:endParaRPr lang="en-US" sz="1000" dirty="0"/>
          </a:p>
        </p:txBody>
      </p:sp>
      <p:sp>
        <p:nvSpPr>
          <p:cNvPr id="12" name="Text 9"/>
          <p:cNvSpPr/>
          <p:nvPr/>
        </p:nvSpPr>
        <p:spPr>
          <a:xfrm>
            <a:off x="411480" y="2450592"/>
            <a:ext cx="2514600" cy="32004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Settlement near water</a:t>
            </a:r>
            <a:endParaRPr lang="en-US" sz="1300" dirty="0"/>
          </a:p>
        </p:txBody>
      </p:sp>
      <p:sp>
        <p:nvSpPr>
          <p:cNvPr id="13" name="Text 10"/>
          <p:cNvSpPr/>
          <p:nvPr/>
        </p:nvSpPr>
        <p:spPr>
          <a:xfrm>
            <a:off x="411480" y="2816352"/>
            <a:ext cx="2514600" cy="182880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Not chance. Water = food + transport + trade. Settlers chose water because survival demanded it.</a:t>
            </a:r>
            <a:endParaRPr lang="en-US" sz="1200" dirty="0"/>
          </a:p>
        </p:txBody>
      </p:sp>
      <p:sp>
        <p:nvSpPr>
          <p:cNvPr id="14" name="Shape 11"/>
          <p:cNvSpPr/>
          <p:nvPr/>
        </p:nvSpPr>
        <p:spPr>
          <a:xfrm>
            <a:off x="3200400" y="2103120"/>
            <a:ext cx="2788920" cy="2697480"/>
          </a:xfrm>
          <a:prstGeom prst="roundRect">
            <a:avLst>
              <a:gd name="adj" fmla="val 4068"/>
            </a:avLst>
          </a:prstGeom>
          <a:solidFill>
            <a:srgbClr val="8B6FC0">
              <a:alpha val="72000"/>
            </a:srgbClr>
          </a:solidFill>
          <a:ln w="25400">
            <a:solidFill>
              <a:srgbClr val="8B6FC0"/>
            </a:solidFill>
            <a:prstDash val="solid"/>
          </a:ln>
        </p:spPr>
      </p:sp>
      <p:sp>
        <p:nvSpPr>
          <p:cNvPr id="15" name="Text 12"/>
          <p:cNvSpPr/>
          <p:nvPr/>
        </p:nvSpPr>
        <p:spPr>
          <a:xfrm>
            <a:off x="3337560" y="2167128"/>
            <a:ext cx="2514600" cy="256032"/>
          </a:xfrm>
          <a:prstGeom prst="rect">
            <a:avLst/>
          </a:prstGeom>
          <a:noFill/>
          <a:ln/>
        </p:spPr>
        <p:txBody>
          <a:bodyPr wrap="square" rtlCol="0" anchor="ctr"/>
          <a:lstStyle/>
          <a:p>
            <a:pPr algn="ctr" indent="0" marL="0">
              <a:buNone/>
            </a:pPr>
            <a:r>
              <a:rPr lang="en-US" sz="1000" b="1" spc="100" kern="0" dirty="0">
                <a:solidFill>
                  <a:srgbClr val="D4943A"/>
                </a:solidFill>
                <a:latin typeface="Calibri" pitchFamily="34" charset="0"/>
                <a:ea typeface="Calibri" pitchFamily="34" charset="-122"/>
                <a:cs typeface="Calibri" pitchFamily="34" charset="-120"/>
              </a:rPr>
              <a:t>Pattern 2</a:t>
            </a:r>
            <a:endParaRPr lang="en-US" sz="1000" dirty="0"/>
          </a:p>
        </p:txBody>
      </p:sp>
      <p:sp>
        <p:nvSpPr>
          <p:cNvPr id="16" name="Text 13"/>
          <p:cNvSpPr/>
          <p:nvPr/>
        </p:nvSpPr>
        <p:spPr>
          <a:xfrm>
            <a:off x="3337560" y="2450592"/>
            <a:ext cx="2514600" cy="32004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Expansion along latitudes</a:t>
            </a:r>
            <a:endParaRPr lang="en-US" sz="1300" dirty="0"/>
          </a:p>
        </p:txBody>
      </p:sp>
      <p:sp>
        <p:nvSpPr>
          <p:cNvPr id="17" name="Text 14"/>
          <p:cNvSpPr/>
          <p:nvPr/>
        </p:nvSpPr>
        <p:spPr>
          <a:xfrm>
            <a:off x="3337560" y="2816352"/>
            <a:ext cx="2514600" cy="182880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Not chance. Same latitude = same climate + same crops. Settlers moved west into conditions they recognized.</a:t>
            </a:r>
            <a:endParaRPr lang="en-US" sz="1200" dirty="0"/>
          </a:p>
        </p:txBody>
      </p:sp>
      <p:sp>
        <p:nvSpPr>
          <p:cNvPr id="18" name="Shape 15"/>
          <p:cNvSpPr/>
          <p:nvPr/>
        </p:nvSpPr>
        <p:spPr>
          <a:xfrm>
            <a:off x="6126480" y="2103120"/>
            <a:ext cx="2788920" cy="2697480"/>
          </a:xfrm>
          <a:prstGeom prst="roundRect">
            <a:avLst>
              <a:gd name="adj" fmla="val 4068"/>
            </a:avLst>
          </a:prstGeom>
          <a:solidFill>
            <a:srgbClr val="D4943A">
              <a:alpha val="72000"/>
            </a:srgbClr>
          </a:solidFill>
          <a:ln w="25400">
            <a:solidFill>
              <a:srgbClr val="D4943A"/>
            </a:solidFill>
            <a:prstDash val="solid"/>
          </a:ln>
        </p:spPr>
      </p:sp>
      <p:sp>
        <p:nvSpPr>
          <p:cNvPr id="19" name="Text 16"/>
          <p:cNvSpPr/>
          <p:nvPr/>
        </p:nvSpPr>
        <p:spPr>
          <a:xfrm>
            <a:off x="6263640" y="2167128"/>
            <a:ext cx="2514600" cy="256032"/>
          </a:xfrm>
          <a:prstGeom prst="rect">
            <a:avLst/>
          </a:prstGeom>
          <a:noFill/>
          <a:ln/>
        </p:spPr>
        <p:txBody>
          <a:bodyPr wrap="square" rtlCol="0" anchor="ctr"/>
          <a:lstStyle/>
          <a:p>
            <a:pPr algn="ctr" indent="0" marL="0">
              <a:buNone/>
            </a:pPr>
            <a:r>
              <a:rPr lang="en-US" sz="1000" b="1" spc="100" kern="0" dirty="0">
                <a:solidFill>
                  <a:srgbClr val="D4943A"/>
                </a:solidFill>
                <a:latin typeface="Calibri" pitchFamily="34" charset="0"/>
                <a:ea typeface="Calibri" pitchFamily="34" charset="-122"/>
                <a:cs typeface="Calibri" pitchFamily="34" charset="-120"/>
              </a:rPr>
              <a:t>Pattern 3</a:t>
            </a:r>
            <a:endParaRPr lang="en-US" sz="1000" dirty="0"/>
          </a:p>
        </p:txBody>
      </p:sp>
      <p:sp>
        <p:nvSpPr>
          <p:cNvPr id="20" name="Text 17"/>
          <p:cNvSpPr/>
          <p:nvPr/>
        </p:nvSpPr>
        <p:spPr>
          <a:xfrm>
            <a:off x="6263640" y="2450592"/>
            <a:ext cx="2514600" cy="32004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Regional specialization</a:t>
            </a:r>
            <a:endParaRPr lang="en-US" sz="1300" dirty="0"/>
          </a:p>
        </p:txBody>
      </p:sp>
      <p:sp>
        <p:nvSpPr>
          <p:cNvPr id="21" name="Text 18"/>
          <p:cNvSpPr/>
          <p:nvPr/>
        </p:nvSpPr>
        <p:spPr>
          <a:xfrm>
            <a:off x="6263640" y="2816352"/>
            <a:ext cx="2514600" cy="182880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Not chance. Rocky coast, fertile valleys, warm lowlands — each geography produced its logical economy.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8B6FC0"/>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000" b="1" spc="150" kern="0" dirty="0">
                <a:solidFill>
                  <a:srgbClr val="FFFFFF"/>
                </a:solidFill>
                <a:latin typeface="Cambria" pitchFamily="34" charset="0"/>
                <a:ea typeface="Cambria" pitchFamily="34" charset="-122"/>
                <a:cs typeface="Cambria" pitchFamily="34" charset="-120"/>
              </a:rPr>
              <a:t>EDITOR'S LENS  ·  VIRTUE SPOTLIGHT</a:t>
            </a:r>
            <a:endParaRPr lang="en-US" sz="1000" dirty="0"/>
          </a:p>
        </p:txBody>
      </p:sp>
      <p:sp>
        <p:nvSpPr>
          <p:cNvPr id="7" name="Text 4"/>
          <p:cNvSpPr/>
          <p:nvPr/>
        </p:nvSpPr>
        <p:spPr>
          <a:xfrm>
            <a:off x="457200" y="640080"/>
            <a:ext cx="8229600" cy="64008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Courtesy</a:t>
            </a:r>
            <a:endParaRPr lang="en-US" sz="4400" dirty="0"/>
          </a:p>
        </p:txBody>
      </p:sp>
      <p:sp>
        <p:nvSpPr>
          <p:cNvPr id="8" name="Shape 5"/>
          <p:cNvSpPr/>
          <p:nvPr/>
        </p:nvSpPr>
        <p:spPr>
          <a:xfrm>
            <a:off x="731520" y="1417320"/>
            <a:ext cx="7680960" cy="685800"/>
          </a:xfrm>
          <a:prstGeom prst="roundRect">
            <a:avLst>
              <a:gd name="adj" fmla="val 13333"/>
            </a:avLst>
          </a:prstGeom>
          <a:solidFill>
            <a:srgbClr val="1A2D5A"/>
          </a:solidFill>
          <a:ln w="19050">
            <a:solidFill>
              <a:srgbClr val="8B6FC0"/>
            </a:solidFill>
            <a:prstDash val="solid"/>
          </a:ln>
        </p:spPr>
      </p:sp>
      <p:sp>
        <p:nvSpPr>
          <p:cNvPr id="9" name="Text 6"/>
          <p:cNvSpPr/>
          <p:nvPr/>
        </p:nvSpPr>
        <p:spPr>
          <a:xfrm>
            <a:off x="914400" y="1481328"/>
            <a:ext cx="7315200" cy="548640"/>
          </a:xfrm>
          <a:prstGeom prst="rect">
            <a:avLst/>
          </a:prstGeom>
          <a:noFill/>
          <a:ln/>
        </p:spPr>
        <p:txBody>
          <a:bodyPr wrap="square" rtlCol="0" anchor="ctr"/>
          <a:lstStyle/>
          <a:p>
            <a:pPr algn="ctr" indent="0" marL="0">
              <a:buNone/>
            </a:pPr>
            <a:r>
              <a:rPr lang="en-US" sz="1400" i="1" dirty="0">
                <a:solidFill>
                  <a:srgbClr val="D6F2FB"/>
                </a:solidFill>
                <a:latin typeface="Cambria" pitchFamily="34" charset="0"/>
                <a:ea typeface="Cambria" pitchFamily="34" charset="-122"/>
                <a:cs typeface="Cambria" pitchFamily="34" charset="-120"/>
              </a:rPr>
              <a:t>Presenting evidence clearly and fairly — letting patterns speak, rather than forcing readers to a conclusion before they've seen the proof.</a:t>
            </a:r>
            <a:endParaRPr lang="en-US" sz="1400" dirty="0"/>
          </a:p>
        </p:txBody>
      </p:sp>
      <p:sp>
        <p:nvSpPr>
          <p:cNvPr id="10" name="Shape 7"/>
          <p:cNvSpPr/>
          <p:nvPr/>
        </p:nvSpPr>
        <p:spPr>
          <a:xfrm>
            <a:off x="274320" y="2286000"/>
            <a:ext cx="2743200" cy="2560320"/>
          </a:xfrm>
          <a:prstGeom prst="roundRect">
            <a:avLst>
              <a:gd name="adj" fmla="val 4286"/>
            </a:avLst>
          </a:prstGeom>
          <a:solidFill>
            <a:srgbClr val="E8636B">
              <a:alpha val="65000"/>
            </a:srgbClr>
          </a:solidFill>
          <a:ln w="19050">
            <a:solidFill>
              <a:srgbClr val="E8636B"/>
            </a:solidFill>
            <a:prstDash val="solid"/>
          </a:ln>
        </p:spPr>
      </p:sp>
      <p:sp>
        <p:nvSpPr>
          <p:cNvPr id="11" name="Text 8"/>
          <p:cNvSpPr/>
          <p:nvPr/>
        </p:nvSpPr>
        <p:spPr>
          <a:xfrm>
            <a:off x="411480" y="2350008"/>
            <a:ext cx="24688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HERALD'S DISCOURTESY</a:t>
            </a:r>
            <a:endParaRPr lang="en-US" sz="1000" dirty="0"/>
          </a:p>
        </p:txBody>
      </p:sp>
      <p:sp>
        <p:nvSpPr>
          <p:cNvPr id="12" name="Text 9"/>
          <p:cNvSpPr/>
          <p:nvPr/>
        </p:nvSpPr>
        <p:spPr>
          <a:xfrm>
            <a:off x="411480" y="2670048"/>
            <a:ext cx="2468880" cy="201168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"History is random chance." Conclusion stated with no evidence offered. Readers forced to accept it without seeing any proof.</a:t>
            </a:r>
            <a:endParaRPr lang="en-US" sz="1200" dirty="0"/>
          </a:p>
        </p:txBody>
      </p:sp>
      <p:sp>
        <p:nvSpPr>
          <p:cNvPr id="13" name="Shape 10"/>
          <p:cNvSpPr/>
          <p:nvPr/>
        </p:nvSpPr>
        <p:spPr>
          <a:xfrm>
            <a:off x="3200400" y="2286000"/>
            <a:ext cx="2743200" cy="2560320"/>
          </a:xfrm>
          <a:prstGeom prst="roundRect">
            <a:avLst>
              <a:gd name="adj" fmla="val 4286"/>
            </a:avLst>
          </a:prstGeom>
          <a:solidFill>
            <a:srgbClr val="34B76F">
              <a:alpha val="65000"/>
            </a:srgbClr>
          </a:solidFill>
          <a:ln w="19050">
            <a:solidFill>
              <a:srgbClr val="34B76F"/>
            </a:solidFill>
            <a:prstDash val="solid"/>
          </a:ln>
        </p:spPr>
      </p:sp>
      <p:sp>
        <p:nvSpPr>
          <p:cNvPr id="14" name="Text 11"/>
          <p:cNvSpPr/>
          <p:nvPr/>
        </p:nvSpPr>
        <p:spPr>
          <a:xfrm>
            <a:off x="3337560" y="2350008"/>
            <a:ext cx="24688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GAZETTE'S COURTESY</a:t>
            </a:r>
            <a:endParaRPr lang="en-US" sz="1000" dirty="0"/>
          </a:p>
        </p:txBody>
      </p:sp>
      <p:sp>
        <p:nvSpPr>
          <p:cNvPr id="15" name="Text 12"/>
          <p:cNvSpPr/>
          <p:nvPr/>
        </p:nvSpPr>
        <p:spPr>
          <a:xfrm>
            <a:off x="3337560" y="2670048"/>
            <a:ext cx="2468880" cy="201168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Show the map. Name the pattern. Let the evidence speak. State the claim AFTER the evidence — not before. Respect the reader's intelligence.</a:t>
            </a:r>
            <a:endParaRPr lang="en-US" sz="1200" dirty="0"/>
          </a:p>
        </p:txBody>
      </p:sp>
      <p:sp>
        <p:nvSpPr>
          <p:cNvPr id="16" name="Shape 13"/>
          <p:cNvSpPr/>
          <p:nvPr/>
        </p:nvSpPr>
        <p:spPr>
          <a:xfrm>
            <a:off x="6126480" y="2286000"/>
            <a:ext cx="2743200" cy="2560320"/>
          </a:xfrm>
          <a:prstGeom prst="roundRect">
            <a:avLst>
              <a:gd name="adj" fmla="val 4286"/>
            </a:avLst>
          </a:prstGeom>
          <a:solidFill>
            <a:srgbClr val="D4943A">
              <a:alpha val="65000"/>
            </a:srgbClr>
          </a:solidFill>
          <a:ln w="19050">
            <a:solidFill>
              <a:srgbClr val="D4943A"/>
            </a:solidFill>
            <a:prstDash val="solid"/>
          </a:ln>
        </p:spPr>
      </p:sp>
      <p:sp>
        <p:nvSpPr>
          <p:cNvPr id="17" name="Text 14"/>
          <p:cNvSpPr/>
          <p:nvPr/>
        </p:nvSpPr>
        <p:spPr>
          <a:xfrm>
            <a:off x="6263640" y="2350008"/>
            <a:ext cx="246888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 TRANSFERABLE PATTERN</a:t>
            </a:r>
            <a:endParaRPr lang="en-US" sz="1000" dirty="0"/>
          </a:p>
        </p:txBody>
      </p:sp>
      <p:sp>
        <p:nvSpPr>
          <p:cNvPr id="18" name="Text 15"/>
          <p:cNvSpPr/>
          <p:nvPr/>
        </p:nvSpPr>
        <p:spPr>
          <a:xfrm>
            <a:off x="6263640" y="2670048"/>
            <a:ext cx="2468880" cy="201168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Courtesy in writing = evidence first, claim second. This isn't just journalism — it's how historians, scientists, and citizens reason well.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34B76F"/>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GUIDED PRACTICE  ·  I DO — TEACHER MODELS</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How to Write a Geographic Pattern Explanation</a:t>
            </a:r>
            <a:endParaRPr lang="en-US" sz="2200" dirty="0"/>
          </a:p>
        </p:txBody>
      </p:sp>
      <p:sp>
        <p:nvSpPr>
          <p:cNvPr id="6" name="Shape 4"/>
          <p:cNvSpPr/>
          <p:nvPr/>
        </p:nvSpPr>
        <p:spPr>
          <a:xfrm>
            <a:off x="274320" y="1188720"/>
            <a:ext cx="8595360" cy="594360"/>
          </a:xfrm>
          <a:prstGeom prst="roundRect">
            <a:avLst>
              <a:gd name="adj" fmla="val 15385"/>
            </a:avLst>
          </a:prstGeom>
          <a:solidFill>
            <a:srgbClr val="FFFFFF"/>
          </a:solidFill>
          <a:ln w="25400">
            <a:solidFill>
              <a:srgbClr val="34B76F"/>
            </a:solidFill>
            <a:prstDash val="solid"/>
          </a:ln>
        </p:spPr>
      </p:sp>
      <p:sp>
        <p:nvSpPr>
          <p:cNvPr id="7" name="Text 5"/>
          <p:cNvSpPr/>
          <p:nvPr/>
        </p:nvSpPr>
        <p:spPr>
          <a:xfrm>
            <a:off x="457200" y="1261872"/>
            <a:ext cx="8229600" cy="457200"/>
          </a:xfrm>
          <a:prstGeom prst="rect">
            <a:avLst/>
          </a:prstGeom>
          <a:noFill/>
          <a:ln/>
        </p:spPr>
        <p:txBody>
          <a:bodyPr wrap="square" rtlCol="0" anchor="ctr"/>
          <a:lstStyle/>
          <a:p>
            <a:pPr indent="0" marL="0">
              <a:buNone/>
            </a:pPr>
            <a:r>
              <a:rPr lang="en-US" sz="1300" i="1" dirty="0">
                <a:solidFill>
                  <a:srgbClr val="5A4A3A"/>
                </a:solidFill>
                <a:latin typeface="Calibri" pitchFamily="34" charset="0"/>
                <a:ea typeface="Calibri" pitchFamily="34" charset="-122"/>
                <a:cs typeface="Calibri" pitchFamily="34" charset="-120"/>
              </a:rPr>
              <a:t>QUESTION: Choose Pattern 1 (settlement near water) and explain the geographic evidence that supports it.</a:t>
            </a:r>
            <a:endParaRPr lang="en-US" sz="1300" dirty="0"/>
          </a:p>
        </p:txBody>
      </p:sp>
      <p:sp>
        <p:nvSpPr>
          <p:cNvPr id="8" name="Shape 6"/>
          <p:cNvSpPr/>
          <p:nvPr/>
        </p:nvSpPr>
        <p:spPr>
          <a:xfrm>
            <a:off x="274320" y="1920240"/>
            <a:ext cx="4114800" cy="1243584"/>
          </a:xfrm>
          <a:prstGeom prst="roundRect">
            <a:avLst>
              <a:gd name="adj" fmla="val 7353"/>
            </a:avLst>
          </a:prstGeom>
          <a:solidFill>
            <a:srgbClr val="FFFFFF"/>
          </a:solidFill>
          <a:ln w="12700">
            <a:solidFill>
              <a:srgbClr val="34B76F"/>
            </a:solidFill>
            <a:prstDash val="solid"/>
          </a:ln>
        </p:spPr>
      </p:sp>
      <p:sp>
        <p:nvSpPr>
          <p:cNvPr id="9" name="Text 7"/>
          <p:cNvSpPr/>
          <p:nvPr/>
        </p:nvSpPr>
        <p:spPr>
          <a:xfrm>
            <a:off x="411480" y="1984248"/>
            <a:ext cx="3840480" cy="256032"/>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STEP 1: Name the pattern</a:t>
            </a:r>
            <a:endParaRPr lang="en-US" sz="1000" dirty="0"/>
          </a:p>
        </p:txBody>
      </p:sp>
      <p:sp>
        <p:nvSpPr>
          <p:cNvPr id="10" name="Text 8"/>
          <p:cNvSpPr/>
          <p:nvPr/>
        </p:nvSpPr>
        <p:spPr>
          <a:xfrm>
            <a:off x="411480" y="2267712"/>
            <a:ext cx="3840480" cy="77724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Pattern 1: Nearly every major early colonial settlement — Jamestown, Plymouth, Boston, Charleston — appears on or very near a river, harbor, or coastline.</a:t>
            </a:r>
            <a:endParaRPr lang="en-US" sz="1100" dirty="0"/>
          </a:p>
        </p:txBody>
      </p:sp>
      <p:sp>
        <p:nvSpPr>
          <p:cNvPr id="11" name="Shape 9"/>
          <p:cNvSpPr/>
          <p:nvPr/>
        </p:nvSpPr>
        <p:spPr>
          <a:xfrm>
            <a:off x="274320" y="3310128"/>
            <a:ext cx="4114800" cy="1243584"/>
          </a:xfrm>
          <a:prstGeom prst="roundRect">
            <a:avLst>
              <a:gd name="adj" fmla="val 7353"/>
            </a:avLst>
          </a:prstGeom>
          <a:solidFill>
            <a:srgbClr val="FFFFFF"/>
          </a:solidFill>
          <a:ln w="12700">
            <a:solidFill>
              <a:srgbClr val="34B76F"/>
            </a:solidFill>
            <a:prstDash val="solid"/>
          </a:ln>
        </p:spPr>
      </p:sp>
      <p:sp>
        <p:nvSpPr>
          <p:cNvPr id="12" name="Text 10"/>
          <p:cNvSpPr/>
          <p:nvPr/>
        </p:nvSpPr>
        <p:spPr>
          <a:xfrm>
            <a:off x="411480" y="3374136"/>
            <a:ext cx="3840480" cy="256032"/>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STEP 2: Name the geographic evidence</a:t>
            </a:r>
            <a:endParaRPr lang="en-US" sz="1000" dirty="0"/>
          </a:p>
        </p:txBody>
      </p:sp>
      <p:sp>
        <p:nvSpPr>
          <p:cNvPr id="13" name="Text 11"/>
          <p:cNvSpPr/>
          <p:nvPr/>
        </p:nvSpPr>
        <p:spPr>
          <a:xfrm>
            <a:off x="411480" y="3657600"/>
            <a:ext cx="3840480" cy="77724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The physical map shows rivers running to harbors. Colonial-era transportation had no roads or railroads — water was the only fast corridor.</a:t>
            </a:r>
            <a:endParaRPr lang="en-US" sz="1100" dirty="0"/>
          </a:p>
        </p:txBody>
      </p:sp>
      <p:sp>
        <p:nvSpPr>
          <p:cNvPr id="14" name="Shape 12"/>
          <p:cNvSpPr/>
          <p:nvPr/>
        </p:nvSpPr>
        <p:spPr>
          <a:xfrm>
            <a:off x="4663440" y="1920240"/>
            <a:ext cx="4114800" cy="1243584"/>
          </a:xfrm>
          <a:prstGeom prst="roundRect">
            <a:avLst>
              <a:gd name="adj" fmla="val 7353"/>
            </a:avLst>
          </a:prstGeom>
          <a:solidFill>
            <a:srgbClr val="FFFFFF"/>
          </a:solidFill>
          <a:ln w="12700">
            <a:solidFill>
              <a:srgbClr val="34B76F"/>
            </a:solidFill>
            <a:prstDash val="solid"/>
          </a:ln>
        </p:spPr>
      </p:sp>
      <p:sp>
        <p:nvSpPr>
          <p:cNvPr id="15" name="Text 13"/>
          <p:cNvSpPr/>
          <p:nvPr/>
        </p:nvSpPr>
        <p:spPr>
          <a:xfrm>
            <a:off x="4800600" y="1984248"/>
            <a:ext cx="3840480" cy="256032"/>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STEP 3: Explain the connection</a:t>
            </a:r>
            <a:endParaRPr lang="en-US" sz="1000" dirty="0"/>
          </a:p>
        </p:txBody>
      </p:sp>
      <p:sp>
        <p:nvSpPr>
          <p:cNvPr id="16" name="Text 14"/>
          <p:cNvSpPr/>
          <p:nvPr/>
        </p:nvSpPr>
        <p:spPr>
          <a:xfrm>
            <a:off x="4800600" y="2267712"/>
            <a:ext cx="3840480" cy="77724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Water meant food (fish, fresh water), transportation (boats faster than carts), and trade (ships connecting to Europe). Settlers who chose water locations survived and traded.</a:t>
            </a:r>
            <a:endParaRPr lang="en-US" sz="1100" dirty="0"/>
          </a:p>
        </p:txBody>
      </p:sp>
      <p:sp>
        <p:nvSpPr>
          <p:cNvPr id="17" name="Shape 15"/>
          <p:cNvSpPr/>
          <p:nvPr/>
        </p:nvSpPr>
        <p:spPr>
          <a:xfrm>
            <a:off x="4663440" y="3310128"/>
            <a:ext cx="4114800" cy="1243584"/>
          </a:xfrm>
          <a:prstGeom prst="roundRect">
            <a:avLst>
              <a:gd name="adj" fmla="val 7353"/>
            </a:avLst>
          </a:prstGeom>
          <a:solidFill>
            <a:srgbClr val="FFFFFF"/>
          </a:solidFill>
          <a:ln w="12700">
            <a:solidFill>
              <a:srgbClr val="34B76F"/>
            </a:solidFill>
            <a:prstDash val="solid"/>
          </a:ln>
        </p:spPr>
      </p:sp>
      <p:sp>
        <p:nvSpPr>
          <p:cNvPr id="18" name="Text 16"/>
          <p:cNvSpPr/>
          <p:nvPr/>
        </p:nvSpPr>
        <p:spPr>
          <a:xfrm>
            <a:off x="4800600" y="3374136"/>
            <a:ext cx="3840480" cy="256032"/>
          </a:xfrm>
          <a:prstGeom prst="rect">
            <a:avLst/>
          </a:prstGeom>
          <a:noFill/>
          <a:ln/>
        </p:spPr>
        <p:txBody>
          <a:bodyPr wrap="square" rtlCol="0" anchor="ctr"/>
          <a:lstStyle/>
          <a:p>
            <a:pPr indent="0" marL="0">
              <a:buNone/>
            </a:pPr>
            <a:r>
              <a:rPr lang="en-US" sz="1000" b="1" dirty="0">
                <a:solidFill>
                  <a:srgbClr val="34B76F"/>
                </a:solidFill>
                <a:latin typeface="Calibri" pitchFamily="34" charset="0"/>
                <a:ea typeface="Calibri" pitchFamily="34" charset="-122"/>
                <a:cs typeface="Calibri" pitchFamily="34" charset="-120"/>
              </a:rPr>
              <a:t>STEP 4: State the claim</a:t>
            </a:r>
            <a:endParaRPr lang="en-US" sz="1000" dirty="0"/>
          </a:p>
        </p:txBody>
      </p:sp>
      <p:sp>
        <p:nvSpPr>
          <p:cNvPr id="19" name="Text 17"/>
          <p:cNvSpPr/>
          <p:nvPr/>
        </p:nvSpPr>
        <p:spPr>
          <a:xfrm>
            <a:off x="4800600" y="3657600"/>
            <a:ext cx="3840480" cy="77724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"Colonial settlements clustered near water because water provided survival necessities and trade access — not by chance, but because geography made it the rational choice."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34B76F"/>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GUIDED PRACTICE  ·  WE DO — TRY TOGETHER</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Now You Try: Pattern 3 — Regional Specialization</a:t>
            </a:r>
            <a:endParaRPr lang="en-US" sz="2200" dirty="0"/>
          </a:p>
        </p:txBody>
      </p:sp>
      <p:sp>
        <p:nvSpPr>
          <p:cNvPr id="6" name="Shape 4"/>
          <p:cNvSpPr/>
          <p:nvPr/>
        </p:nvSpPr>
        <p:spPr>
          <a:xfrm>
            <a:off x="274320" y="1188720"/>
            <a:ext cx="8595360" cy="594360"/>
          </a:xfrm>
          <a:prstGeom prst="roundRect">
            <a:avLst>
              <a:gd name="adj" fmla="val 15385"/>
            </a:avLst>
          </a:prstGeom>
          <a:solidFill>
            <a:srgbClr val="1A2D5A"/>
          </a:solidFill>
          <a:ln/>
        </p:spPr>
      </p:sp>
      <p:sp>
        <p:nvSpPr>
          <p:cNvPr id="7" name="Text 5"/>
          <p:cNvSpPr/>
          <p:nvPr/>
        </p:nvSpPr>
        <p:spPr>
          <a:xfrm>
            <a:off x="457200" y="1261872"/>
            <a:ext cx="822960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CHOOSE ONE: New England (rocky coast, cold) · Middle (fertile valleys) · Southern (warm lowlands). Use the four-step process to explain how its geography shaped its economy.</a:t>
            </a:r>
            <a:endParaRPr lang="en-US" sz="1300" dirty="0"/>
          </a:p>
        </p:txBody>
      </p:sp>
      <p:sp>
        <p:nvSpPr>
          <p:cNvPr id="8" name="Shape 6"/>
          <p:cNvSpPr/>
          <p:nvPr/>
        </p:nvSpPr>
        <p:spPr>
          <a:xfrm>
            <a:off x="274320" y="1920240"/>
            <a:ext cx="4480560" cy="2834640"/>
          </a:xfrm>
          <a:prstGeom prst="roundRect">
            <a:avLst>
              <a:gd name="adj" fmla="val 3871"/>
            </a:avLst>
          </a:prstGeom>
          <a:solidFill>
            <a:srgbClr val="1A2D5A"/>
          </a:solidFill>
          <a:ln w="12700">
            <a:solidFill>
              <a:srgbClr val="2A4070"/>
            </a:solidFill>
            <a:prstDash val="solid"/>
          </a:ln>
        </p:spPr>
      </p:sp>
      <p:sp>
        <p:nvSpPr>
          <p:cNvPr id="9" name="Text 7"/>
          <p:cNvSpPr/>
          <p:nvPr/>
        </p:nvSpPr>
        <p:spPr>
          <a:xfrm>
            <a:off x="411480" y="1975104"/>
            <a:ext cx="420624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457200" y="2240280"/>
            <a:ext cx="4114800" cy="24231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Step 1: What specific geographic features define your chosen region?</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Step 2: What economic activity does the map show in that region?</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Step 3: HOW did those geographic features produce that economic activity?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Step 4: Can you write a claim sentence that puts evidence before conclusion?</a:t>
            </a:r>
            <a:endParaRPr lang="en-US" sz="1100" dirty="0"/>
          </a:p>
        </p:txBody>
      </p:sp>
      <p:sp>
        <p:nvSpPr>
          <p:cNvPr id="11" name="Shape 9"/>
          <p:cNvSpPr/>
          <p:nvPr/>
        </p:nvSpPr>
        <p:spPr>
          <a:xfrm>
            <a:off x="4937760" y="1920240"/>
            <a:ext cx="3931920" cy="2834640"/>
          </a:xfrm>
          <a:prstGeom prst="roundRect">
            <a:avLst>
              <a:gd name="adj" fmla="val 3871"/>
            </a:avLst>
          </a:prstGeom>
          <a:solidFill>
            <a:srgbClr val="FFF3DC"/>
          </a:solidFill>
          <a:ln w="19050">
            <a:solidFill>
              <a:srgbClr val="F5E6C8"/>
            </a:solidFill>
            <a:prstDash val="solid"/>
          </a:ln>
        </p:spPr>
      </p:sp>
      <p:sp>
        <p:nvSpPr>
          <p:cNvPr id="12" name="Text 10"/>
          <p:cNvSpPr/>
          <p:nvPr/>
        </p:nvSpPr>
        <p:spPr>
          <a:xfrm>
            <a:off x="5074920" y="1975104"/>
            <a:ext cx="36576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074920" y="2176272"/>
            <a:ext cx="3657600" cy="25146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chose [region] because the geographic features are..."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economy there was... because the geography made... more practical than..."</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claim: [region]'s [geographic feature] produced [economic activity] because..."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E8636B"/>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ERROR ANALYSIS  ·  FIND THE MISTAKE</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Did This Junior Editor Get Wrong?</a:t>
            </a:r>
            <a:endParaRPr lang="en-US" sz="2400" dirty="0"/>
          </a:p>
        </p:txBody>
      </p:sp>
      <p:sp>
        <p:nvSpPr>
          <p:cNvPr id="6" name="Shape 4"/>
          <p:cNvSpPr/>
          <p:nvPr/>
        </p:nvSpPr>
        <p:spPr>
          <a:xfrm>
            <a:off x="274320" y="1188720"/>
            <a:ext cx="8595360" cy="1508760"/>
          </a:xfrm>
          <a:prstGeom prst="roundRect">
            <a:avLst>
              <a:gd name="adj" fmla="val 7273"/>
            </a:avLst>
          </a:prstGeom>
          <a:solidFill>
            <a:srgbClr val="FFFFFF"/>
          </a:solidFill>
          <a:ln w="25400">
            <a:solidFill>
              <a:srgbClr val="E8636B"/>
            </a:solidFill>
            <a:prstDash val="dash"/>
          </a:ln>
        </p:spPr>
      </p:sp>
      <p:sp>
        <p:nvSpPr>
          <p:cNvPr id="7" name="Text 5"/>
          <p:cNvSpPr/>
          <p:nvPr/>
        </p:nvSpPr>
        <p:spPr>
          <a:xfrm>
            <a:off x="457200" y="1261872"/>
            <a:ext cx="8229600" cy="228600"/>
          </a:xfrm>
          <a:prstGeom prst="rect">
            <a:avLst/>
          </a:prstGeom>
          <a:noFill/>
          <a:ln/>
        </p:spPr>
        <p:txBody>
          <a:bodyPr wrap="square" rtlCol="0" anchor="ctr"/>
          <a:lstStyle/>
          <a:p>
            <a:pPr indent="0" marL="0">
              <a:buNone/>
            </a:pPr>
            <a:r>
              <a:rPr lang="en-US" sz="1000" b="1" dirty="0">
                <a:solidFill>
                  <a:srgbClr val="E8636B"/>
                </a:solidFill>
                <a:latin typeface="Calibri" pitchFamily="34" charset="0"/>
                <a:ea typeface="Calibri" pitchFamily="34" charset="-122"/>
                <a:cs typeface="Calibri" pitchFamily="34" charset="-120"/>
              </a:rPr>
              <a:t>SAMPLE MAP NOTE (contains errors):</a:t>
            </a:r>
            <a:endParaRPr lang="en-US" sz="1000" dirty="0"/>
          </a:p>
        </p:txBody>
      </p:sp>
      <p:sp>
        <p:nvSpPr>
          <p:cNvPr id="8" name="Text 6"/>
          <p:cNvSpPr/>
          <p:nvPr/>
        </p:nvSpPr>
        <p:spPr>
          <a:xfrm>
            <a:off x="457200" y="1508760"/>
            <a:ext cx="8229600" cy="1078992"/>
          </a:xfrm>
          <a:prstGeom prst="rect">
            <a:avLst/>
          </a:prstGeom>
          <a:noFill/>
          <a:ln/>
        </p:spPr>
        <p:txBody>
          <a:bodyPr wrap="square" rtlCol="0" anchor="ctr"/>
          <a:lstStyle/>
          <a:p>
            <a:pPr indent="0" marL="0">
              <a:buNone/>
            </a:pPr>
            <a:r>
              <a:rPr lang="en-US" sz="1200" i="1" dirty="0">
                <a:solidFill>
                  <a:srgbClr val="5A4A3A"/>
                </a:solidFill>
                <a:latin typeface="Cambria" pitchFamily="34" charset="0"/>
                <a:ea typeface="Cambria" pitchFamily="34" charset="-122"/>
                <a:cs typeface="Cambria" pitchFamily="34" charset="-120"/>
              </a:rPr>
              <a:t>"The Herald is wrong — historical patterns definitely happened because of geography, not chance. Geography completely determined everything in American history. New England had fishing because people there liked the ocean. The South grew tobacco because people there were good farmers. Geography is the only explanation for all historical patterns."</a:t>
            </a:r>
            <a:endParaRPr lang="en-US" sz="1200" dirty="0"/>
          </a:p>
        </p:txBody>
      </p:sp>
      <p:sp>
        <p:nvSpPr>
          <p:cNvPr id="9" name="Shape 7"/>
          <p:cNvSpPr/>
          <p:nvPr/>
        </p:nvSpPr>
        <p:spPr>
          <a:xfrm>
            <a:off x="274320" y="2816352"/>
            <a:ext cx="4297680" cy="2011680"/>
          </a:xfrm>
          <a:prstGeom prst="roundRect">
            <a:avLst>
              <a:gd name="adj" fmla="val 5455"/>
            </a:avLst>
          </a:prstGeom>
          <a:solidFill>
            <a:srgbClr val="1A2D5A"/>
          </a:solidFill>
          <a:ln w="12700">
            <a:solidFill>
              <a:srgbClr val="2A4070"/>
            </a:solidFill>
            <a:prstDash val="solid"/>
          </a:ln>
        </p:spPr>
      </p:sp>
      <p:sp>
        <p:nvSpPr>
          <p:cNvPr id="10" name="Text 8"/>
          <p:cNvSpPr/>
          <p:nvPr/>
        </p:nvSpPr>
        <p:spPr>
          <a:xfrm>
            <a:off x="411480" y="2871216"/>
            <a:ext cx="40233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457200" y="3136392"/>
            <a:ext cx="3931920" cy="160020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The conclusion ('wrong — not chance') is correct. But what's wrong with the REASONING?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'Liked the ocean' — is that geographic evidence? What's missing?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'Geography determined EVERYTHING' — is that too strong? What's the more precise claim?</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would you rewrite this to be both accurate AND courteous (evidence first)?</a:t>
            </a:r>
            <a:endParaRPr lang="en-US" sz="1100" dirty="0"/>
          </a:p>
        </p:txBody>
      </p:sp>
      <p:sp>
        <p:nvSpPr>
          <p:cNvPr id="12" name="Shape 10"/>
          <p:cNvSpPr/>
          <p:nvPr/>
        </p:nvSpPr>
        <p:spPr>
          <a:xfrm>
            <a:off x="4754880" y="2816352"/>
            <a:ext cx="4114800" cy="2011680"/>
          </a:xfrm>
          <a:prstGeom prst="roundRect">
            <a:avLst>
              <a:gd name="adj" fmla="val 5455"/>
            </a:avLst>
          </a:prstGeom>
          <a:solidFill>
            <a:srgbClr val="FFF3DC"/>
          </a:solidFill>
          <a:ln w="19050">
            <a:solidFill>
              <a:srgbClr val="F5E6C8"/>
            </a:solidFill>
            <a:prstDash val="solid"/>
          </a:ln>
        </p:spPr>
      </p:sp>
      <p:sp>
        <p:nvSpPr>
          <p:cNvPr id="13" name="Text 11"/>
          <p:cNvSpPr/>
          <p:nvPr/>
        </p:nvSpPr>
        <p:spPr>
          <a:xfrm>
            <a:off x="4892040" y="2871216"/>
            <a:ext cx="38404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4892040" y="3072384"/>
            <a:ext cx="3840480" cy="1691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conclusion is right, but the reasoning is weak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version would say New England fished because the geography..."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note overclaims when it says... A more precise claim is..."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8B6FC0"/>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THE TRICKY ONE  ·  GENUINE DEBATE</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Was the Herald Partly Right? Does Chance Ever Matter?</a:t>
            </a:r>
            <a:endParaRPr lang="en-US" sz="2200" dirty="0"/>
          </a:p>
        </p:txBody>
      </p:sp>
      <p:sp>
        <p:nvSpPr>
          <p:cNvPr id="6" name="Shape 4"/>
          <p:cNvSpPr/>
          <p:nvPr/>
        </p:nvSpPr>
        <p:spPr>
          <a:xfrm>
            <a:off x="274320" y="1188720"/>
            <a:ext cx="8595360" cy="914400"/>
          </a:xfrm>
          <a:prstGeom prst="roundRect">
            <a:avLst>
              <a:gd name="adj" fmla="val 10000"/>
            </a:avLst>
          </a:prstGeom>
          <a:solidFill>
            <a:srgbClr val="8B6FC0">
              <a:alpha val="80000"/>
            </a:srgbClr>
          </a:solidFill>
          <a:ln w="19050">
            <a:solidFill>
              <a:srgbClr val="8B6FC0"/>
            </a:solidFill>
            <a:prstDash val="solid"/>
          </a:ln>
        </p:spPr>
      </p:sp>
      <p:sp>
        <p:nvSpPr>
          <p:cNvPr id="7" name="Text 5"/>
          <p:cNvSpPr/>
          <p:nvPr/>
        </p:nvSpPr>
        <p:spPr>
          <a:xfrm>
            <a:off x="457200" y="1261872"/>
            <a:ext cx="8229600" cy="749808"/>
          </a:xfrm>
          <a:prstGeom prst="rect">
            <a:avLst/>
          </a:prstGeom>
          <a:noFill/>
          <a:ln/>
        </p:spPr>
        <p:txBody>
          <a:bodyPr wrap="square"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Consider: A ship heading for Virginia in 1606 was blown off course and nearly landed in Bermuda. A leader's decision, a storm, a trade deal gone wrong — individual choices and events ALSO shape history. If geography were the only explanation, every place at 37°N would have a colony like Jamestown. They don't.</a:t>
            </a:r>
            <a:endParaRPr lang="en-US" sz="1300" dirty="0"/>
          </a:p>
        </p:txBody>
      </p:sp>
      <p:sp>
        <p:nvSpPr>
          <p:cNvPr id="8" name="Shape 6"/>
          <p:cNvSpPr/>
          <p:nvPr/>
        </p:nvSpPr>
        <p:spPr>
          <a:xfrm>
            <a:off x="274320" y="2240280"/>
            <a:ext cx="4572000" cy="2606040"/>
          </a:xfrm>
          <a:prstGeom prst="roundRect">
            <a:avLst>
              <a:gd name="adj" fmla="val 4211"/>
            </a:avLst>
          </a:prstGeom>
          <a:solidFill>
            <a:srgbClr val="1A2D5A"/>
          </a:solidFill>
          <a:ln w="12700">
            <a:solidFill>
              <a:srgbClr val="2A4070"/>
            </a:solidFill>
            <a:prstDash val="solid"/>
          </a:ln>
        </p:spPr>
      </p:sp>
      <p:sp>
        <p:nvSpPr>
          <p:cNvPr id="9" name="Text 7"/>
          <p:cNvSpPr/>
          <p:nvPr/>
        </p:nvSpPr>
        <p:spPr>
          <a:xfrm>
            <a:off x="411480" y="2295144"/>
            <a:ext cx="42976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457200" y="2560320"/>
            <a:ext cx="4206240" cy="219456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the storm example prove geography doesn't matter — or that it's one factor among many?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Can geography explain PATTERNS without explaining every individual event?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What's the right relationship between 'geography shapes conditions' and 'people make choices'?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Reasonable historians disagree here. What's the strongest case for EACH position?</a:t>
            </a:r>
            <a:endParaRPr lang="en-US" sz="1100" dirty="0"/>
          </a:p>
        </p:txBody>
      </p:sp>
      <p:sp>
        <p:nvSpPr>
          <p:cNvPr id="11" name="Shape 9"/>
          <p:cNvSpPr/>
          <p:nvPr/>
        </p:nvSpPr>
        <p:spPr>
          <a:xfrm>
            <a:off x="5029200" y="2240280"/>
            <a:ext cx="3840480" cy="2606040"/>
          </a:xfrm>
          <a:prstGeom prst="roundRect">
            <a:avLst>
              <a:gd name="adj" fmla="val 4211"/>
            </a:avLst>
          </a:prstGeom>
          <a:solidFill>
            <a:srgbClr val="FFF3DC"/>
          </a:solidFill>
          <a:ln w="19050">
            <a:solidFill>
              <a:srgbClr val="F5E6C8"/>
            </a:solidFill>
            <a:prstDash val="solid"/>
          </a:ln>
        </p:spPr>
      </p:sp>
      <p:sp>
        <p:nvSpPr>
          <p:cNvPr id="12" name="Text 10"/>
          <p:cNvSpPr/>
          <p:nvPr/>
        </p:nvSpPr>
        <p:spPr>
          <a:xfrm>
            <a:off x="5166360" y="2295144"/>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166360" y="2496312"/>
            <a:ext cx="3566160" cy="22860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"Geography explains patterns because... but it doesn't explain every event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 was partly right that... but mostly wrong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most honest claim is: geography _____ (shapes/determines/influences) history because..."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D4943A"/>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0E1C42"/>
                </a:solidFill>
                <a:latin typeface="Calibri" pitchFamily="34" charset="0"/>
                <a:ea typeface="Calibri" pitchFamily="34" charset="-122"/>
                <a:cs typeface="Calibri" pitchFamily="34" charset="-120"/>
              </a:rPr>
              <a:t>NOTEBOOK QUESTION 3  ·  CORRECTING THE HERALD</a:t>
            </a:r>
            <a:endParaRPr lang="en-US" sz="1000" dirty="0"/>
          </a:p>
        </p:txBody>
      </p:sp>
      <p:sp>
        <p:nvSpPr>
          <p:cNvPr id="5" name="Text 3"/>
          <p:cNvSpPr/>
          <p:nvPr/>
        </p:nvSpPr>
        <p:spPr>
          <a:xfrm>
            <a:off x="274320" y="594360"/>
            <a:ext cx="859536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Did the Herald Get Partly Right?</a:t>
            </a:r>
            <a:endParaRPr lang="en-US" sz="2400" dirty="0"/>
          </a:p>
        </p:txBody>
      </p:sp>
      <p:sp>
        <p:nvSpPr>
          <p:cNvPr id="6" name="Shape 4"/>
          <p:cNvSpPr/>
          <p:nvPr/>
        </p:nvSpPr>
        <p:spPr>
          <a:xfrm>
            <a:off x="274320" y="1188720"/>
            <a:ext cx="8595360" cy="594360"/>
          </a:xfrm>
          <a:prstGeom prst="roundRect">
            <a:avLst>
              <a:gd name="adj" fmla="val 15385"/>
            </a:avLst>
          </a:prstGeom>
          <a:solidFill>
            <a:srgbClr val="FFFFFF"/>
          </a:solidFill>
          <a:ln w="25400">
            <a:solidFill>
              <a:srgbClr val="E8636B"/>
            </a:solidFill>
            <a:prstDash val="solid"/>
          </a:ln>
        </p:spPr>
      </p:sp>
      <p:sp>
        <p:nvSpPr>
          <p:cNvPr id="7" name="Text 5"/>
          <p:cNvSpPr/>
          <p:nvPr/>
        </p:nvSpPr>
        <p:spPr>
          <a:xfrm>
            <a:off x="457200" y="1261872"/>
            <a:ext cx="8229600" cy="457200"/>
          </a:xfrm>
          <a:prstGeom prst="rect">
            <a:avLst/>
          </a:prstGeom>
          <a:noFill/>
          <a:ln/>
        </p:spPr>
        <p:txBody>
          <a:bodyPr wrap="square" rtlCol="0" anchor="ctr"/>
          <a:lstStyle/>
          <a:p>
            <a:pPr indent="0" marL="0">
              <a:buNone/>
            </a:pPr>
            <a:r>
              <a:rPr lang="en-US" sz="1400" i="1" dirty="0">
                <a:solidFill>
                  <a:srgbClr val="E8636B"/>
                </a:solidFill>
                <a:latin typeface="Cambria" pitchFamily="34" charset="0"/>
                <a:ea typeface="Cambria" pitchFamily="34" charset="-122"/>
                <a:cs typeface="Cambria" pitchFamily="34" charset="-120"/>
              </a:rPr>
              <a:t>The Herald: "Historical patterns happen mostly by chance, not because of geography."</a:t>
            </a:r>
            <a:endParaRPr lang="en-US" sz="1400" dirty="0"/>
          </a:p>
        </p:txBody>
      </p:sp>
      <p:sp>
        <p:nvSpPr>
          <p:cNvPr id="8" name="Shape 6"/>
          <p:cNvSpPr/>
          <p:nvPr/>
        </p:nvSpPr>
        <p:spPr>
          <a:xfrm>
            <a:off x="274320" y="1920240"/>
            <a:ext cx="4114800" cy="2651760"/>
          </a:xfrm>
          <a:prstGeom prst="roundRect">
            <a:avLst>
              <a:gd name="adj" fmla="val 3448"/>
            </a:avLst>
          </a:prstGeom>
          <a:solidFill>
            <a:srgbClr val="FFFFFF"/>
          </a:solidFill>
          <a:ln w="19050">
            <a:solidFill>
              <a:srgbClr val="34B76F"/>
            </a:solidFill>
            <a:prstDash val="solid"/>
          </a:ln>
        </p:spPr>
      </p:sp>
      <p:sp>
        <p:nvSpPr>
          <p:cNvPr id="9" name="Text 7"/>
          <p:cNvSpPr/>
          <p:nvPr/>
        </p:nvSpPr>
        <p:spPr>
          <a:xfrm>
            <a:off x="457200" y="1993392"/>
            <a:ext cx="3749040" cy="256032"/>
          </a:xfrm>
          <a:prstGeom prst="rect">
            <a:avLst/>
          </a:prstGeom>
          <a:noFill/>
          <a:ln/>
        </p:spPr>
        <p:txBody>
          <a:bodyPr wrap="square" rtlCol="0" anchor="ctr"/>
          <a:lstStyle/>
          <a:p>
            <a:pPr indent="0" marL="0">
              <a:buNone/>
            </a:pPr>
            <a:r>
              <a:rPr lang="en-US" sz="1000" b="1" spc="100" kern="0" dirty="0">
                <a:solidFill>
                  <a:srgbClr val="34B76F"/>
                </a:solidFill>
                <a:latin typeface="Calibri" pitchFamily="34" charset="0"/>
                <a:ea typeface="Calibri" pitchFamily="34" charset="-122"/>
                <a:cs typeface="Calibri" pitchFamily="34" charset="-120"/>
              </a:rPr>
              <a:t>WHAT'S PARTLY RIGHT</a:t>
            </a:r>
            <a:endParaRPr lang="en-US" sz="1000" dirty="0"/>
          </a:p>
        </p:txBody>
      </p:sp>
      <p:sp>
        <p:nvSpPr>
          <p:cNvPr id="10" name="Text 8"/>
          <p:cNvSpPr/>
          <p:nvPr/>
        </p:nvSpPr>
        <p:spPr>
          <a:xfrm>
            <a:off x="457200" y="2286000"/>
            <a:ext cx="3749040" cy="2148840"/>
          </a:xfrm>
          <a:prstGeom prst="rect">
            <a:avLst/>
          </a:prstGeom>
          <a:noFill/>
          <a:ln/>
        </p:spPr>
        <p:txBody>
          <a:bodyPr wrap="square" rtlCol="0" anchor="t"/>
          <a:lstStyle/>
          <a:p>
            <a:pPr indent="0" marL="0">
              <a:buNone/>
            </a:pPr>
            <a:r>
              <a:rPr lang="en-US" sz="1200" dirty="0">
                <a:solidFill>
                  <a:srgbClr val="5A4A3A"/>
                </a:solidFill>
                <a:latin typeface="Calibri" pitchFamily="34" charset="0"/>
                <a:ea typeface="Calibri" pitchFamily="34" charset="-122"/>
                <a:cs typeface="Calibri" pitchFamily="34" charset="-120"/>
              </a:rPr>
              <a:t>Human choices DO matter.</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Individual leaders, accidents, trade decisions, and politics all shape history.</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Geography doesn't control every outcome — people make real decisions.</a:t>
            </a:r>
            <a:endParaRPr lang="en-US" sz="1200" dirty="0"/>
          </a:p>
        </p:txBody>
      </p:sp>
      <p:sp>
        <p:nvSpPr>
          <p:cNvPr id="11" name="Shape 9"/>
          <p:cNvSpPr/>
          <p:nvPr/>
        </p:nvSpPr>
        <p:spPr>
          <a:xfrm>
            <a:off x="4754880" y="1920240"/>
            <a:ext cx="4114800" cy="2651760"/>
          </a:xfrm>
          <a:prstGeom prst="roundRect">
            <a:avLst>
              <a:gd name="adj" fmla="val 3448"/>
            </a:avLst>
          </a:prstGeom>
          <a:solidFill>
            <a:srgbClr val="FFFFFF"/>
          </a:solidFill>
          <a:ln w="19050">
            <a:solidFill>
              <a:srgbClr val="E8636B"/>
            </a:solidFill>
            <a:prstDash val="solid"/>
          </a:ln>
        </p:spPr>
      </p:sp>
      <p:sp>
        <p:nvSpPr>
          <p:cNvPr id="12" name="Text 10"/>
          <p:cNvSpPr/>
          <p:nvPr/>
        </p:nvSpPr>
        <p:spPr>
          <a:xfrm>
            <a:off x="4937760" y="1993392"/>
            <a:ext cx="3749040" cy="256032"/>
          </a:xfrm>
          <a:prstGeom prst="rect">
            <a:avLst/>
          </a:prstGeom>
          <a:noFill/>
          <a:ln/>
        </p:spPr>
        <p:txBody>
          <a:bodyPr wrap="square" rtlCol="0" anchor="ctr"/>
          <a:lstStyle/>
          <a:p>
            <a:pPr indent="0" marL="0">
              <a:buNone/>
            </a:pPr>
            <a:r>
              <a:rPr lang="en-US" sz="1000" b="1" spc="100" kern="0" dirty="0">
                <a:solidFill>
                  <a:srgbClr val="E8636B"/>
                </a:solidFill>
                <a:latin typeface="Calibri" pitchFamily="34" charset="0"/>
                <a:ea typeface="Calibri" pitchFamily="34" charset="-122"/>
                <a:cs typeface="Calibri" pitchFamily="34" charset="-120"/>
              </a:rPr>
              <a:t>WHAT'S MISSING</a:t>
            </a:r>
            <a:endParaRPr lang="en-US" sz="1000" dirty="0"/>
          </a:p>
        </p:txBody>
      </p:sp>
      <p:sp>
        <p:nvSpPr>
          <p:cNvPr id="13" name="Text 11"/>
          <p:cNvSpPr/>
          <p:nvPr/>
        </p:nvSpPr>
        <p:spPr>
          <a:xfrm>
            <a:off x="4937760" y="2286000"/>
            <a:ext cx="3749040" cy="2148840"/>
          </a:xfrm>
          <a:prstGeom prst="rect">
            <a:avLst/>
          </a:prstGeom>
          <a:noFill/>
          <a:ln/>
        </p:spPr>
        <p:txBody>
          <a:bodyPr wrap="square" rtlCol="0" anchor="t"/>
          <a:lstStyle/>
          <a:p>
            <a:pPr indent="0" marL="0">
              <a:buNone/>
            </a:pPr>
            <a:r>
              <a:rPr lang="en-US" sz="1200" dirty="0">
                <a:solidFill>
                  <a:srgbClr val="5A4A3A"/>
                </a:solidFill>
                <a:latin typeface="Calibri" pitchFamily="34" charset="0"/>
                <a:ea typeface="Calibri" pitchFamily="34" charset="-122"/>
                <a:cs typeface="Calibri" pitchFamily="34" charset="-120"/>
              </a:rPr>
              <a:t>Geography shapes the CONDITIONS under which those choices happen.</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Water, latitude, terrain, and soil make certain outcomes MUCH more likely.</a:t>
            </a:r>
            <a:endParaRPr lang="en-US" sz="1200" dirty="0"/>
          </a:p>
          <a:p>
            <a:pPr indent="0" marL="0">
              <a:buNone/>
            </a:pPr>
            <a:r>
              <a:rPr lang="en-US" sz="1200" dirty="0">
                <a:solidFill>
                  <a:srgbClr val="5A4A3A"/>
                </a:solidFill>
                <a:latin typeface="Calibri" pitchFamily="34" charset="0"/>
                <a:ea typeface="Calibri" pitchFamily="34" charset="-122"/>
                <a:cs typeface="Calibri" pitchFamily="34" charset="-120"/>
              </a:rPr>
              <a:t>Ignoring geography means telling only half the story.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02920"/>
          </a:xfrm>
          <a:prstGeom prst="rect">
            <a:avLst/>
          </a:prstGeom>
          <a:solidFill>
            <a:srgbClr val="0E1C42"/>
          </a:solidFill>
          <a:ln/>
        </p:spPr>
      </p:sp>
      <p:sp>
        <p:nvSpPr>
          <p:cNvPr id="4" name="Text 2"/>
          <p:cNvSpPr/>
          <p:nvPr/>
        </p:nvSpPr>
        <p:spPr>
          <a:xfrm>
            <a:off x="182880" y="91440"/>
            <a:ext cx="8778240" cy="320040"/>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GO TO PRESS  ·  VOL. 1, ISSUE 8  ·  UNIT 2 FINALE MAP NOTE</a:t>
            </a:r>
            <a:endParaRPr lang="en-US" sz="1000" dirty="0"/>
          </a:p>
        </p:txBody>
      </p:sp>
      <p:sp>
        <p:nvSpPr>
          <p:cNvPr id="5" name="Text 3"/>
          <p:cNvSpPr/>
          <p:nvPr/>
        </p:nvSpPr>
        <p:spPr>
          <a:xfrm>
            <a:off x="274320" y="640080"/>
            <a:ext cx="859536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Your Assignment: The Unit 2 Finale Map Note</a:t>
            </a:r>
            <a:endParaRPr lang="en-US" sz="2200" dirty="0"/>
          </a:p>
        </p:txBody>
      </p:sp>
      <p:sp>
        <p:nvSpPr>
          <p:cNvPr id="6" name="Shape 4"/>
          <p:cNvSpPr/>
          <p:nvPr/>
        </p:nvSpPr>
        <p:spPr>
          <a:xfrm>
            <a:off x="274320" y="1188720"/>
            <a:ext cx="8595360" cy="2240280"/>
          </a:xfrm>
          <a:prstGeom prst="roundRect">
            <a:avLst>
              <a:gd name="adj" fmla="val 4898"/>
            </a:avLst>
          </a:prstGeom>
          <a:solidFill>
            <a:srgbClr val="FFFFFF"/>
          </a:solidFill>
          <a:ln w="19050">
            <a:solidFill>
              <a:srgbClr val="1A8A7D"/>
            </a:solidFill>
            <a:prstDash val="solid"/>
          </a:ln>
        </p:spPr>
      </p:sp>
      <p:sp>
        <p:nvSpPr>
          <p:cNvPr id="7" name="Text 5"/>
          <p:cNvSpPr/>
          <p:nvPr/>
        </p:nvSpPr>
        <p:spPr>
          <a:xfrm>
            <a:off x="457200" y="1261872"/>
            <a:ext cx="8229600" cy="256032"/>
          </a:xfrm>
          <a:prstGeom prst="rect">
            <a:avLst/>
          </a:prstGeom>
          <a:noFill/>
          <a:ln/>
        </p:spPr>
        <p:txBody>
          <a:bodyPr wrap="square" rtlCol="0" anchor="ctr"/>
          <a:lstStyle/>
          <a:p>
            <a:pPr indent="0" marL="0">
              <a:buNone/>
            </a:pPr>
            <a:r>
              <a:rPr lang="en-US" sz="1000" b="1" spc="100" kern="0" dirty="0">
                <a:solidFill>
                  <a:srgbClr val="1A8A7D"/>
                </a:solidFill>
                <a:latin typeface="Calibri" pitchFamily="34" charset="0"/>
                <a:ea typeface="Calibri" pitchFamily="34" charset="-122"/>
                <a:cs typeface="Calibri" pitchFamily="34" charset="-120"/>
              </a:rPr>
              <a:t>EDITOR'S NOTEBOOK — Answer all three:</a:t>
            </a:r>
            <a:endParaRPr lang="en-US" sz="1000" dirty="0"/>
          </a:p>
        </p:txBody>
      </p:sp>
      <p:sp>
        <p:nvSpPr>
          <p:cNvPr id="8" name="Text 6"/>
          <p:cNvSpPr/>
          <p:nvPr/>
        </p:nvSpPr>
        <p:spPr>
          <a:xfrm>
            <a:off x="457200" y="1554480"/>
            <a:ext cx="8229600" cy="56692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1. Choose one of the three patterns (settlement near water, westward expansion along latitudes, or regional specialization) and explain the geographic evidence that supports it.</a:t>
            </a:r>
            <a:endParaRPr lang="en-US" sz="1200" dirty="0"/>
          </a:p>
        </p:txBody>
      </p:sp>
      <p:sp>
        <p:nvSpPr>
          <p:cNvPr id="9" name="Text 7"/>
          <p:cNvSpPr/>
          <p:nvPr/>
        </p:nvSpPr>
        <p:spPr>
          <a:xfrm>
            <a:off x="457200" y="2194560"/>
            <a:ext cx="8229600" cy="56692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2. Look at the map. Choose one region (New England, Middle, or Southern Colonies) and explain how its geography shaped its economy.</a:t>
            </a:r>
            <a:endParaRPr lang="en-US" sz="1200" dirty="0"/>
          </a:p>
        </p:txBody>
      </p:sp>
      <p:sp>
        <p:nvSpPr>
          <p:cNvPr id="10" name="Text 8"/>
          <p:cNvSpPr/>
          <p:nvPr/>
        </p:nvSpPr>
        <p:spPr>
          <a:xfrm>
            <a:off x="457200" y="2834640"/>
            <a:ext cx="8229600" cy="566928"/>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3. The Hasty Herald said "Historical patterns happen mostly by chance, not because of geography." What's partly right about that? What's missing?</a:t>
            </a:r>
            <a:endParaRPr lang="en-US" sz="1200" dirty="0"/>
          </a:p>
        </p:txBody>
      </p:sp>
      <p:sp>
        <p:nvSpPr>
          <p:cNvPr id="11" name="Shape 9"/>
          <p:cNvSpPr/>
          <p:nvPr/>
        </p:nvSpPr>
        <p:spPr>
          <a:xfrm>
            <a:off x="274320" y="3538728"/>
            <a:ext cx="5029200" cy="1188720"/>
          </a:xfrm>
          <a:prstGeom prst="roundRect">
            <a:avLst>
              <a:gd name="adj" fmla="val 7692"/>
            </a:avLst>
          </a:prstGeom>
          <a:solidFill>
            <a:srgbClr val="1A2D5A"/>
          </a:solidFill>
          <a:ln w="19050">
            <a:solidFill>
              <a:srgbClr val="D4943A"/>
            </a:solidFill>
            <a:prstDash val="solid"/>
          </a:ln>
        </p:spPr>
      </p:sp>
      <p:sp>
        <p:nvSpPr>
          <p:cNvPr id="12" name="Text 10"/>
          <p:cNvSpPr/>
          <p:nvPr/>
        </p:nvSpPr>
        <p:spPr>
          <a:xfrm>
            <a:off x="457200" y="3611880"/>
            <a:ext cx="4663440" cy="228600"/>
          </a:xfrm>
          <a:prstGeom prst="rect">
            <a:avLst/>
          </a:prstGeom>
          <a:noFill/>
          <a:ln/>
        </p:spPr>
        <p:txBody>
          <a:bodyPr wrap="square"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GAZETTE MAP NOTE (Unit 2 Finale):</a:t>
            </a:r>
            <a:endParaRPr lang="en-US" sz="900" dirty="0"/>
          </a:p>
        </p:txBody>
      </p:sp>
      <p:sp>
        <p:nvSpPr>
          <p:cNvPr id="13" name="Text 11"/>
          <p:cNvSpPr/>
          <p:nvPr/>
        </p:nvSpPr>
        <p:spPr>
          <a:xfrm>
            <a:off x="457200" y="3867912"/>
            <a:ext cx="4663440" cy="768096"/>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(1) What Herald got partly right about human choice  ·  (2) Two sentences showing geographic pattern evidence  ·  (3) Gazette's closing claim for Unit 2</a:t>
            </a:r>
            <a:endParaRPr lang="en-US" sz="1200" dirty="0"/>
          </a:p>
        </p:txBody>
      </p:sp>
      <p:sp>
        <p:nvSpPr>
          <p:cNvPr id="14" name="Shape 12"/>
          <p:cNvSpPr/>
          <p:nvPr/>
        </p:nvSpPr>
        <p:spPr>
          <a:xfrm>
            <a:off x="5486400" y="3538728"/>
            <a:ext cx="3383280" cy="1188720"/>
          </a:xfrm>
          <a:prstGeom prst="roundRect">
            <a:avLst>
              <a:gd name="adj" fmla="val 7692"/>
            </a:avLst>
          </a:prstGeom>
          <a:solidFill>
            <a:srgbClr val="D4943A">
              <a:alpha val="85000"/>
            </a:srgbClr>
          </a:solidFill>
          <a:ln w="19050">
            <a:solidFill>
              <a:srgbClr val="D4943A"/>
            </a:solidFill>
            <a:prstDash val="solid"/>
          </a:ln>
        </p:spPr>
      </p:sp>
      <p:sp>
        <p:nvSpPr>
          <p:cNvPr id="15" name="Text 13"/>
          <p:cNvSpPr/>
          <p:nvPr/>
        </p:nvSpPr>
        <p:spPr>
          <a:xfrm>
            <a:off x="5623560" y="3611880"/>
            <a:ext cx="3108960" cy="228600"/>
          </a:xfrm>
          <a:prstGeom prst="rect">
            <a:avLst/>
          </a:prstGeom>
          <a:noFill/>
          <a:ln/>
        </p:spPr>
        <p:txBody>
          <a:bodyPr wrap="square"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ARCHIVE LINE:</a:t>
            </a:r>
            <a:endParaRPr lang="en-US" sz="900" dirty="0"/>
          </a:p>
        </p:txBody>
      </p:sp>
      <p:sp>
        <p:nvSpPr>
          <p:cNvPr id="16" name="Text 14"/>
          <p:cNvSpPr/>
          <p:nvPr/>
        </p:nvSpPr>
        <p:spPr>
          <a:xfrm>
            <a:off x="5623560" y="3867912"/>
            <a:ext cx="3108960" cy="768096"/>
          </a:xfrm>
          <a:prstGeom prst="rect">
            <a:avLst/>
          </a:prstGeom>
          <a:noFill/>
          <a:ln/>
        </p:spPr>
        <p:txBody>
          <a:bodyPr wrap="square" rtlCol="0" anchor="t"/>
          <a:lstStyle/>
          <a:p>
            <a:pPr indent="0" marL="0">
              <a:buNone/>
            </a:pPr>
            <a:r>
              <a:rPr lang="en-US" sz="1100" dirty="0">
                <a:solidFill>
                  <a:srgbClr val="5A4A3A"/>
                </a:solidFill>
                <a:latin typeface="Calibri" pitchFamily="34" charset="0"/>
                <a:ea typeface="Calibri" pitchFamily="34" charset="-122"/>
                <a:cs typeface="Calibri" pitchFamily="34" charset="-120"/>
              </a:rPr>
              <a:t>One careful sentence: what should future citizens remember about using geographic evidence to explain patterns in American history?</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457200"/>
          </a:xfrm>
          <a:prstGeom prst="rect">
            <a:avLst/>
          </a:prstGeom>
          <a:solidFill>
            <a:srgbClr val="1A8A7D"/>
          </a:solidFill>
          <a:ln/>
        </p:spPr>
      </p:sp>
      <p:sp>
        <p:nvSpPr>
          <p:cNvPr id="4" name="Text 2"/>
          <p:cNvSpPr/>
          <p:nvPr/>
        </p:nvSpPr>
        <p:spPr>
          <a:xfrm>
            <a:off x="182880" y="91440"/>
            <a:ext cx="8778240" cy="274320"/>
          </a:xfrm>
          <a:prstGeom prst="rect">
            <a:avLst/>
          </a:prstGeom>
          <a:noFill/>
          <a:ln/>
        </p:spPr>
        <p:txBody>
          <a:bodyPr wrap="square"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FACT-CHECK ROOM  ·  THREE QUICK CHECKS</a:t>
            </a:r>
            <a:endParaRPr lang="en-US" sz="1000" dirty="0"/>
          </a:p>
        </p:txBody>
      </p:sp>
      <p:sp>
        <p:nvSpPr>
          <p:cNvPr id="5" name="Text 3"/>
          <p:cNvSpPr/>
          <p:nvPr/>
        </p:nvSpPr>
        <p:spPr>
          <a:xfrm>
            <a:off x="274320" y="594360"/>
            <a:ext cx="8595360" cy="41148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Can You Answer These Before Publishing Issue 8?</a:t>
            </a:r>
            <a:endParaRPr lang="en-US" sz="2200" dirty="0"/>
          </a:p>
        </p:txBody>
      </p:sp>
      <p:sp>
        <p:nvSpPr>
          <p:cNvPr id="6" name="Shape 4"/>
          <p:cNvSpPr/>
          <p:nvPr/>
        </p:nvSpPr>
        <p:spPr>
          <a:xfrm>
            <a:off x="274320" y="1143000"/>
            <a:ext cx="8595360" cy="1097280"/>
          </a:xfrm>
          <a:prstGeom prst="roundRect">
            <a:avLst>
              <a:gd name="adj" fmla="val 8333"/>
            </a:avLst>
          </a:prstGeom>
          <a:solidFill>
            <a:srgbClr val="FFFFFF"/>
          </a:solidFill>
          <a:ln w="12700">
            <a:solidFill>
              <a:srgbClr val="1A8A7D"/>
            </a:solidFill>
            <a:prstDash val="solid"/>
          </a:ln>
        </p:spPr>
      </p:sp>
      <p:sp>
        <p:nvSpPr>
          <p:cNvPr id="7" name="Text 5"/>
          <p:cNvSpPr/>
          <p:nvPr/>
        </p:nvSpPr>
        <p:spPr>
          <a:xfrm>
            <a:off x="457200" y="1207008"/>
            <a:ext cx="822960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Q1: A historian explaining why New England developed fishing and shipbuilding would point to:</a:t>
            </a:r>
            <a:endParaRPr lang="en-US" sz="1200" dirty="0"/>
          </a:p>
        </p:txBody>
      </p:sp>
      <p:sp>
        <p:nvSpPr>
          <p:cNvPr id="8" name="Text 6"/>
          <p:cNvSpPr/>
          <p:nvPr/>
        </p:nvSpPr>
        <p:spPr>
          <a:xfrm>
            <a:off x="457200" y="1554480"/>
            <a:ext cx="8229600" cy="621792"/>
          </a:xfrm>
          <a:prstGeom prst="rect">
            <a:avLst/>
          </a:prstGeom>
          <a:noFill/>
          <a:ln/>
        </p:spPr>
        <p:txBody>
          <a:bodyPr wrap="square" rtlCol="0" anchor="t"/>
          <a:lstStyle/>
          <a:p>
            <a:pPr indent="0" marL="0">
              <a:buNone/>
            </a:pPr>
            <a:r>
              <a:rPr lang="en-US" sz="1200" i="1" dirty="0">
                <a:solidFill>
                  <a:srgbClr val="1A8A7D"/>
                </a:solidFill>
                <a:latin typeface="Calibri" pitchFamily="34" charset="0"/>
                <a:ea typeface="Calibri" pitchFamily="34" charset="-122"/>
                <a:cs typeface="Calibri" pitchFamily="34" charset="-120"/>
              </a:rPr>
              <a:t>Answer: The region's rocky soil and direct access to the Atlantic Ocean — not chance.</a:t>
            </a:r>
            <a:endParaRPr lang="en-US" sz="1200" dirty="0"/>
          </a:p>
        </p:txBody>
      </p:sp>
      <p:sp>
        <p:nvSpPr>
          <p:cNvPr id="9" name="Shape 7"/>
          <p:cNvSpPr/>
          <p:nvPr/>
        </p:nvSpPr>
        <p:spPr>
          <a:xfrm>
            <a:off x="274320" y="2377440"/>
            <a:ext cx="8595360" cy="1097280"/>
          </a:xfrm>
          <a:prstGeom prst="roundRect">
            <a:avLst>
              <a:gd name="adj" fmla="val 8333"/>
            </a:avLst>
          </a:prstGeom>
          <a:solidFill>
            <a:srgbClr val="FFFFFF"/>
          </a:solidFill>
          <a:ln w="12700">
            <a:solidFill>
              <a:srgbClr val="1A8A7D"/>
            </a:solidFill>
            <a:prstDash val="solid"/>
          </a:ln>
        </p:spPr>
      </p:sp>
      <p:sp>
        <p:nvSpPr>
          <p:cNvPr id="10" name="Text 8"/>
          <p:cNvSpPr/>
          <p:nvPr/>
        </p:nvSpPr>
        <p:spPr>
          <a:xfrm>
            <a:off x="457200" y="2441448"/>
            <a:ext cx="822960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Q2: Westward expansion following similar latitudes as the original colonies is best explained by:</a:t>
            </a:r>
            <a:endParaRPr lang="en-US" sz="1200" dirty="0"/>
          </a:p>
        </p:txBody>
      </p:sp>
      <p:sp>
        <p:nvSpPr>
          <p:cNvPr id="11" name="Text 9"/>
          <p:cNvSpPr/>
          <p:nvPr/>
        </p:nvSpPr>
        <p:spPr>
          <a:xfrm>
            <a:off x="457200" y="2788920"/>
            <a:ext cx="8229600" cy="621792"/>
          </a:xfrm>
          <a:prstGeom prst="rect">
            <a:avLst/>
          </a:prstGeom>
          <a:noFill/>
          <a:ln/>
        </p:spPr>
        <p:txBody>
          <a:bodyPr wrap="square" rtlCol="0" anchor="t"/>
          <a:lstStyle/>
          <a:p>
            <a:pPr indent="0" marL="0">
              <a:buNone/>
            </a:pPr>
            <a:r>
              <a:rPr lang="en-US" sz="1200" i="1" dirty="0">
                <a:solidFill>
                  <a:srgbClr val="1A8A7D"/>
                </a:solidFill>
                <a:latin typeface="Calibri" pitchFamily="34" charset="0"/>
                <a:ea typeface="Calibri" pitchFamily="34" charset="-122"/>
                <a:cs typeface="Calibri" pitchFamily="34" charset="-120"/>
              </a:rPr>
              <a:t>Answer: Geographic factors — similar latitudes meant familiar climate and growing conditions.</a:t>
            </a:r>
            <a:endParaRPr lang="en-US" sz="1200" dirty="0"/>
          </a:p>
        </p:txBody>
      </p:sp>
      <p:sp>
        <p:nvSpPr>
          <p:cNvPr id="12" name="Shape 10"/>
          <p:cNvSpPr/>
          <p:nvPr/>
        </p:nvSpPr>
        <p:spPr>
          <a:xfrm>
            <a:off x="274320" y="3611880"/>
            <a:ext cx="8595360" cy="1097280"/>
          </a:xfrm>
          <a:prstGeom prst="roundRect">
            <a:avLst>
              <a:gd name="adj" fmla="val 8333"/>
            </a:avLst>
          </a:prstGeom>
          <a:solidFill>
            <a:srgbClr val="FFFFFF"/>
          </a:solidFill>
          <a:ln w="12700">
            <a:solidFill>
              <a:srgbClr val="1A8A7D"/>
            </a:solidFill>
            <a:prstDash val="solid"/>
          </a:ln>
        </p:spPr>
      </p:sp>
      <p:sp>
        <p:nvSpPr>
          <p:cNvPr id="13" name="Text 11"/>
          <p:cNvSpPr/>
          <p:nvPr/>
        </p:nvSpPr>
        <p:spPr>
          <a:xfrm>
            <a:off x="457200" y="3675888"/>
            <a:ext cx="8229600" cy="32004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Q3: A courteous editor presenting geographic evidence to explain a historical pattern would:</a:t>
            </a:r>
            <a:endParaRPr lang="en-US" sz="1200" dirty="0"/>
          </a:p>
        </p:txBody>
      </p:sp>
      <p:sp>
        <p:nvSpPr>
          <p:cNvPr id="14" name="Text 12"/>
          <p:cNvSpPr/>
          <p:nvPr/>
        </p:nvSpPr>
        <p:spPr>
          <a:xfrm>
            <a:off x="457200" y="4023360"/>
            <a:ext cx="8229600" cy="621792"/>
          </a:xfrm>
          <a:prstGeom prst="rect">
            <a:avLst/>
          </a:prstGeom>
          <a:noFill/>
          <a:ln/>
        </p:spPr>
        <p:txBody>
          <a:bodyPr wrap="square" rtlCol="0" anchor="t"/>
          <a:lstStyle/>
          <a:p>
            <a:pPr indent="0" marL="0">
              <a:buNone/>
            </a:pPr>
            <a:r>
              <a:rPr lang="en-US" sz="1200" i="1" dirty="0">
                <a:solidFill>
                  <a:srgbClr val="1A8A7D"/>
                </a:solidFill>
                <a:latin typeface="Calibri" pitchFamily="34" charset="0"/>
                <a:ea typeface="Calibri" pitchFamily="34" charset="-122"/>
                <a:cs typeface="Calibri" pitchFamily="34" charset="-120"/>
              </a:rPr>
              <a:t>Answer: Present the map evidence clearly so readers can see the pattern BEFORE the claim is stated.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0"/>
            <a:ext cx="9144000" cy="502920"/>
          </a:xfrm>
          <a:prstGeom prst="rect">
            <a:avLst/>
          </a:prstGeom>
          <a:solidFill>
            <a:srgbClr val="D4943A"/>
          </a:solidFill>
          <a:ln/>
        </p:spPr>
      </p:sp>
      <p:sp>
        <p:nvSpPr>
          <p:cNvPr id="6" name="Text 3"/>
          <p:cNvSpPr/>
          <p:nvPr/>
        </p:nvSpPr>
        <p:spPr>
          <a:xfrm>
            <a:off x="182880" y="91440"/>
            <a:ext cx="8778240" cy="320040"/>
          </a:xfrm>
          <a:prstGeom prst="rect">
            <a:avLst/>
          </a:prstGeom>
          <a:noFill/>
          <a:ln/>
        </p:spPr>
        <p:txBody>
          <a:bodyPr wrap="square" rtlCol="0" anchor="ctr"/>
          <a:lstStyle/>
          <a:p>
            <a:pPr algn="ctr" indent="0" marL="0">
              <a:buNone/>
            </a:pPr>
            <a:r>
              <a:rPr lang="en-US" sz="1100" b="1" dirty="0">
                <a:solidFill>
                  <a:srgbClr val="0E1C42"/>
                </a:solidFill>
                <a:latin typeface="Cambria" pitchFamily="34" charset="0"/>
                <a:ea typeface="Cambria" pitchFamily="34" charset="-122"/>
                <a:cs typeface="Cambria" pitchFamily="34" charset="-120"/>
              </a:rPr>
              <a:t>THE REPUBLIC GAZETTE  ·  ISSUE 8 PUBLISHED  ·  UNIT 2 COMPLETE</a:t>
            </a:r>
            <a:endParaRPr lang="en-US" sz="1100" dirty="0"/>
          </a:p>
        </p:txBody>
      </p:sp>
      <p:sp>
        <p:nvSpPr>
          <p:cNvPr id="7" name="Text 4"/>
          <p:cNvSpPr/>
          <p:nvPr/>
        </p:nvSpPr>
        <p:spPr>
          <a:xfrm>
            <a:off x="457200" y="640080"/>
            <a:ext cx="8229600" cy="530352"/>
          </a:xfrm>
          <a:prstGeom prst="rect">
            <a:avLst/>
          </a:prstGeom>
          <a:noFill/>
          <a:ln/>
        </p:spPr>
        <p:txBody>
          <a:bodyPr wrap="square"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The Map Room Closes Its First Chapter.</a:t>
            </a:r>
            <a:endParaRPr lang="en-US" sz="3200" dirty="0"/>
          </a:p>
        </p:txBody>
      </p:sp>
      <p:sp>
        <p:nvSpPr>
          <p:cNvPr id="8" name="Text 5"/>
          <p:cNvSpPr/>
          <p:nvPr/>
        </p:nvSpPr>
        <p:spPr>
          <a:xfrm>
            <a:off x="457200" y="1234440"/>
            <a:ext cx="8229600" cy="347472"/>
          </a:xfrm>
          <a:prstGeom prst="rect">
            <a:avLst/>
          </a:prstGeom>
          <a:noFill/>
          <a:ln/>
        </p:spPr>
        <p:txBody>
          <a:bodyPr wrap="square" rtlCol="0" anchor="ctr"/>
          <a:lstStyle/>
          <a:p>
            <a:pPr algn="ctr" indent="0" marL="0">
              <a:buNone/>
            </a:pPr>
            <a:r>
              <a:rPr lang="en-US" sz="1500" i="1" dirty="0">
                <a:solidFill>
                  <a:srgbClr val="FFFFFF"/>
                </a:solidFill>
                <a:latin typeface="Cambria" pitchFamily="34" charset="0"/>
                <a:ea typeface="Cambria" pitchFamily="34" charset="-122"/>
                <a:cs typeface="Cambria" pitchFamily="34" charset="-120"/>
              </a:rPr>
              <a:t>Four Map Notes. Four careful arguments. One Unit 2 finding.</a:t>
            </a:r>
            <a:endParaRPr lang="en-US" sz="1500" dirty="0"/>
          </a:p>
        </p:txBody>
      </p:sp>
      <p:sp>
        <p:nvSpPr>
          <p:cNvPr id="9" name="Shape 6"/>
          <p:cNvSpPr/>
          <p:nvPr/>
        </p:nvSpPr>
        <p:spPr>
          <a:xfrm>
            <a:off x="731520" y="1719072"/>
            <a:ext cx="7680960" cy="822960"/>
          </a:xfrm>
          <a:prstGeom prst="roundRect">
            <a:avLst>
              <a:gd name="adj" fmla="val 13333"/>
            </a:avLst>
          </a:prstGeom>
          <a:solidFill>
            <a:srgbClr val="1A2D5A"/>
          </a:solidFill>
          <a:ln w="25400">
            <a:solidFill>
              <a:srgbClr val="D4943A"/>
            </a:solidFill>
            <a:prstDash val="solid"/>
          </a:ln>
        </p:spPr>
      </p:sp>
      <p:sp>
        <p:nvSpPr>
          <p:cNvPr id="10" name="Text 7"/>
          <p:cNvSpPr/>
          <p:nvPr/>
        </p:nvSpPr>
        <p:spPr>
          <a:xfrm>
            <a:off x="914400" y="1783080"/>
            <a:ext cx="7315200" cy="694944"/>
          </a:xfrm>
          <a:prstGeom prst="rect">
            <a:avLst/>
          </a:prstGeom>
          <a:noFill/>
          <a:ln/>
        </p:spPr>
        <p:txBody>
          <a:bodyPr wrap="square" rtlCol="0" anchor="ctr"/>
          <a:lstStyle/>
          <a:p>
            <a:pPr algn="ctr" indent="0" marL="0">
              <a:buNone/>
            </a:pPr>
            <a:r>
              <a:rPr lang="en-US" sz="1500" i="1" dirty="0">
                <a:solidFill>
                  <a:srgbClr val="D6F2FB"/>
                </a:solidFill>
                <a:latin typeface="Cambria" pitchFamily="34" charset="0"/>
                <a:ea typeface="Cambria" pitchFamily="34" charset="-122"/>
                <a:cs typeface="Cambria" pitchFamily="34" charset="-120"/>
              </a:rPr>
              <a:t>"Geography shapes conditions. Conditions shape choices. Choices make history. An editor who ignores geography is only telling half the story."</a:t>
            </a:r>
            <a:endParaRPr lang="en-US" sz="1500" dirty="0"/>
          </a:p>
        </p:txBody>
      </p:sp>
      <p:sp>
        <p:nvSpPr>
          <p:cNvPr id="11" name="Shape 8"/>
          <p:cNvSpPr/>
          <p:nvPr/>
        </p:nvSpPr>
        <p:spPr>
          <a:xfrm>
            <a:off x="274320" y="2724912"/>
            <a:ext cx="2011680" cy="868680"/>
          </a:xfrm>
          <a:prstGeom prst="roundRect">
            <a:avLst>
              <a:gd name="adj" fmla="val 10526"/>
            </a:avLst>
          </a:prstGeom>
          <a:solidFill>
            <a:srgbClr val="1A8A7D">
              <a:alpha val="70000"/>
            </a:srgbClr>
          </a:solidFill>
          <a:ln w="19050">
            <a:solidFill>
              <a:srgbClr val="1A8A7D"/>
            </a:solidFill>
            <a:prstDash val="solid"/>
          </a:ln>
        </p:spPr>
      </p:sp>
      <p:sp>
        <p:nvSpPr>
          <p:cNvPr id="12" name="Text 9"/>
          <p:cNvSpPr/>
          <p:nvPr/>
        </p:nvSpPr>
        <p:spPr>
          <a:xfrm>
            <a:off x="320040" y="2788920"/>
            <a:ext cx="192024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Issue 5</a:t>
            </a:r>
            <a:endParaRPr lang="en-US" sz="1000" dirty="0"/>
          </a:p>
        </p:txBody>
      </p:sp>
      <p:sp>
        <p:nvSpPr>
          <p:cNvPr id="13" name="Text 10"/>
          <p:cNvSpPr/>
          <p:nvPr/>
        </p:nvSpPr>
        <p:spPr>
          <a:xfrm>
            <a:off x="320040" y="3063240"/>
            <a:ext cx="1920240" cy="457200"/>
          </a:xfrm>
          <a:prstGeom prst="rect">
            <a:avLst/>
          </a:prstGeom>
          <a:noFill/>
          <a:ln/>
        </p:spPr>
        <p:txBody>
          <a:bodyPr wrap="square" rtlCol="0" anchor="ctr"/>
          <a:lstStyle/>
          <a:p>
            <a:pPr algn="ctr" indent="0" marL="0">
              <a:buNone/>
            </a:pPr>
            <a:r>
              <a:rPr lang="en-US" sz="1100" i="1" dirty="0">
                <a:solidFill>
                  <a:srgbClr val="D6F2FB"/>
                </a:solidFill>
                <a:latin typeface="Calibri" pitchFamily="34" charset="0"/>
                <a:ea typeface="Calibri" pitchFamily="34" charset="-122"/>
                <a:cs typeface="Calibri" pitchFamily="34" charset="-120"/>
              </a:rPr>
              <a:t>Lat/Long = Evidence</a:t>
            </a:r>
            <a:endParaRPr lang="en-US" sz="1100" dirty="0"/>
          </a:p>
        </p:txBody>
      </p:sp>
      <p:sp>
        <p:nvSpPr>
          <p:cNvPr id="14" name="Shape 11"/>
          <p:cNvSpPr/>
          <p:nvPr/>
        </p:nvSpPr>
        <p:spPr>
          <a:xfrm>
            <a:off x="2450592" y="2724912"/>
            <a:ext cx="2011680" cy="868680"/>
          </a:xfrm>
          <a:prstGeom prst="roundRect">
            <a:avLst>
              <a:gd name="adj" fmla="val 10526"/>
            </a:avLst>
          </a:prstGeom>
          <a:solidFill>
            <a:srgbClr val="8B6FC0">
              <a:alpha val="70000"/>
            </a:srgbClr>
          </a:solidFill>
          <a:ln w="19050">
            <a:solidFill>
              <a:srgbClr val="8B6FC0"/>
            </a:solidFill>
            <a:prstDash val="solid"/>
          </a:ln>
        </p:spPr>
      </p:sp>
      <p:sp>
        <p:nvSpPr>
          <p:cNvPr id="15" name="Text 12"/>
          <p:cNvSpPr/>
          <p:nvPr/>
        </p:nvSpPr>
        <p:spPr>
          <a:xfrm>
            <a:off x="2496312" y="2788920"/>
            <a:ext cx="192024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Issue 6</a:t>
            </a:r>
            <a:endParaRPr lang="en-US" sz="1000" dirty="0"/>
          </a:p>
        </p:txBody>
      </p:sp>
      <p:sp>
        <p:nvSpPr>
          <p:cNvPr id="16" name="Text 13"/>
          <p:cNvSpPr/>
          <p:nvPr/>
        </p:nvSpPr>
        <p:spPr>
          <a:xfrm>
            <a:off x="2496312" y="3063240"/>
            <a:ext cx="1920240" cy="457200"/>
          </a:xfrm>
          <a:prstGeom prst="rect">
            <a:avLst/>
          </a:prstGeom>
          <a:noFill/>
          <a:ln/>
        </p:spPr>
        <p:txBody>
          <a:bodyPr wrap="square" rtlCol="0" anchor="ctr"/>
          <a:lstStyle/>
          <a:p>
            <a:pPr algn="ctr" indent="0" marL="0">
              <a:buNone/>
            </a:pPr>
            <a:r>
              <a:rPr lang="en-US" sz="1100" i="1" dirty="0">
                <a:solidFill>
                  <a:srgbClr val="D6F2FB"/>
                </a:solidFill>
                <a:latin typeface="Calibri" pitchFamily="34" charset="0"/>
                <a:ea typeface="Calibri" pitchFamily="34" charset="-122"/>
                <a:cs typeface="Calibri" pitchFamily="34" charset="-120"/>
              </a:rPr>
              <a:t>Features = Evidence</a:t>
            </a:r>
            <a:endParaRPr lang="en-US" sz="1100" dirty="0"/>
          </a:p>
        </p:txBody>
      </p:sp>
      <p:sp>
        <p:nvSpPr>
          <p:cNvPr id="17" name="Shape 14"/>
          <p:cNvSpPr/>
          <p:nvPr/>
        </p:nvSpPr>
        <p:spPr>
          <a:xfrm>
            <a:off x="4626864" y="2724912"/>
            <a:ext cx="2011680" cy="868680"/>
          </a:xfrm>
          <a:prstGeom prst="roundRect">
            <a:avLst>
              <a:gd name="adj" fmla="val 10526"/>
            </a:avLst>
          </a:prstGeom>
          <a:solidFill>
            <a:srgbClr val="34B76F">
              <a:alpha val="70000"/>
            </a:srgbClr>
          </a:solidFill>
          <a:ln w="19050">
            <a:solidFill>
              <a:srgbClr val="34B76F"/>
            </a:solidFill>
            <a:prstDash val="solid"/>
          </a:ln>
        </p:spPr>
      </p:sp>
      <p:sp>
        <p:nvSpPr>
          <p:cNvPr id="18" name="Text 15"/>
          <p:cNvSpPr/>
          <p:nvPr/>
        </p:nvSpPr>
        <p:spPr>
          <a:xfrm>
            <a:off x="4672584" y="2788920"/>
            <a:ext cx="192024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Issue 7</a:t>
            </a:r>
            <a:endParaRPr lang="en-US" sz="1000" dirty="0"/>
          </a:p>
        </p:txBody>
      </p:sp>
      <p:sp>
        <p:nvSpPr>
          <p:cNvPr id="19" name="Text 16"/>
          <p:cNvSpPr/>
          <p:nvPr/>
        </p:nvSpPr>
        <p:spPr>
          <a:xfrm>
            <a:off x="4672584" y="3063240"/>
            <a:ext cx="1920240" cy="457200"/>
          </a:xfrm>
          <a:prstGeom prst="rect">
            <a:avLst/>
          </a:prstGeom>
          <a:noFill/>
          <a:ln/>
        </p:spPr>
        <p:txBody>
          <a:bodyPr wrap="square" rtlCol="0" anchor="ctr"/>
          <a:lstStyle/>
          <a:p>
            <a:pPr algn="ctr" indent="0" marL="0">
              <a:buNone/>
            </a:pPr>
            <a:r>
              <a:rPr lang="en-US" sz="1100" i="1" dirty="0">
                <a:solidFill>
                  <a:srgbClr val="D6F2FB"/>
                </a:solidFill>
                <a:latin typeface="Calibri" pitchFamily="34" charset="0"/>
                <a:ea typeface="Calibri" pitchFamily="34" charset="-122"/>
                <a:cs typeface="Calibri" pitchFamily="34" charset="-120"/>
              </a:rPr>
              <a:t>Precision Matters</a:t>
            </a:r>
            <a:endParaRPr lang="en-US" sz="1100" dirty="0"/>
          </a:p>
        </p:txBody>
      </p:sp>
      <p:sp>
        <p:nvSpPr>
          <p:cNvPr id="20" name="Shape 17"/>
          <p:cNvSpPr/>
          <p:nvPr/>
        </p:nvSpPr>
        <p:spPr>
          <a:xfrm>
            <a:off x="6803136" y="2724912"/>
            <a:ext cx="2011680" cy="868680"/>
          </a:xfrm>
          <a:prstGeom prst="roundRect">
            <a:avLst>
              <a:gd name="adj" fmla="val 10526"/>
            </a:avLst>
          </a:prstGeom>
          <a:solidFill>
            <a:srgbClr val="D4943A">
              <a:alpha val="70000"/>
            </a:srgbClr>
          </a:solidFill>
          <a:ln w="19050">
            <a:solidFill>
              <a:srgbClr val="D4943A"/>
            </a:solidFill>
            <a:prstDash val="solid"/>
          </a:ln>
        </p:spPr>
      </p:sp>
      <p:sp>
        <p:nvSpPr>
          <p:cNvPr id="21" name="Text 18"/>
          <p:cNvSpPr/>
          <p:nvPr/>
        </p:nvSpPr>
        <p:spPr>
          <a:xfrm>
            <a:off x="6848856" y="2788920"/>
            <a:ext cx="192024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Issue 8</a:t>
            </a:r>
            <a:endParaRPr lang="en-US" sz="1000" dirty="0"/>
          </a:p>
        </p:txBody>
      </p:sp>
      <p:sp>
        <p:nvSpPr>
          <p:cNvPr id="22" name="Text 19"/>
          <p:cNvSpPr/>
          <p:nvPr/>
        </p:nvSpPr>
        <p:spPr>
          <a:xfrm>
            <a:off x="6848856" y="3063240"/>
            <a:ext cx="1920240" cy="457200"/>
          </a:xfrm>
          <a:prstGeom prst="rect">
            <a:avLst/>
          </a:prstGeom>
          <a:noFill/>
          <a:ln/>
        </p:spPr>
        <p:txBody>
          <a:bodyPr wrap="square" rtlCol="0" anchor="ctr"/>
          <a:lstStyle/>
          <a:p>
            <a:pPr algn="ctr" indent="0" marL="0">
              <a:buNone/>
            </a:pPr>
            <a:r>
              <a:rPr lang="en-US" sz="1100" i="1" dirty="0">
                <a:solidFill>
                  <a:srgbClr val="D6F2FB"/>
                </a:solidFill>
                <a:latin typeface="Calibri" pitchFamily="34" charset="0"/>
                <a:ea typeface="Calibri" pitchFamily="34" charset="-122"/>
                <a:cs typeface="Calibri" pitchFamily="34" charset="-120"/>
              </a:rPr>
              <a:t>Geography Explains Patterns</a:t>
            </a:r>
            <a:endParaRPr lang="en-US" sz="1100" dirty="0"/>
          </a:p>
        </p:txBody>
      </p:sp>
      <p:sp>
        <p:nvSpPr>
          <p:cNvPr id="23" name="Shape 20"/>
          <p:cNvSpPr/>
          <p:nvPr/>
        </p:nvSpPr>
        <p:spPr>
          <a:xfrm>
            <a:off x="457200" y="3730752"/>
            <a:ext cx="8229600" cy="1115568"/>
          </a:xfrm>
          <a:prstGeom prst="roundRect">
            <a:avLst>
              <a:gd name="adj" fmla="val 9836"/>
            </a:avLst>
          </a:prstGeom>
          <a:solidFill>
            <a:srgbClr val="E8636B">
              <a:alpha val="75000"/>
            </a:srgbClr>
          </a:solidFill>
          <a:ln w="25400">
            <a:solidFill>
              <a:srgbClr val="E8636B"/>
            </a:solidFill>
            <a:prstDash val="solid"/>
          </a:ln>
        </p:spPr>
      </p:sp>
      <p:sp>
        <p:nvSpPr>
          <p:cNvPr id="24" name="Text 21"/>
          <p:cNvSpPr/>
          <p:nvPr/>
        </p:nvSpPr>
        <p:spPr>
          <a:xfrm>
            <a:off x="640080" y="3803904"/>
            <a:ext cx="7863840" cy="256032"/>
          </a:xfrm>
          <a:prstGeom prst="rect">
            <a:avLst/>
          </a:prstGeom>
          <a:noFill/>
          <a:ln/>
        </p:spPr>
        <p:txBody>
          <a:bodyPr wrap="square"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IN UNIT 3: 5.03.01 — MOUND BUILDERS</a:t>
            </a:r>
            <a:endParaRPr lang="en-US" sz="1000" dirty="0"/>
          </a:p>
        </p:txBody>
      </p:sp>
      <p:sp>
        <p:nvSpPr>
          <p:cNvPr id="25" name="Text 22"/>
          <p:cNvSpPr/>
          <p:nvPr/>
        </p:nvSpPr>
        <p:spPr>
          <a:xfrm>
            <a:off x="640080" y="4087368"/>
            <a:ext cx="7863840" cy="685800"/>
          </a:xfrm>
          <a:prstGeom prst="rect">
            <a:avLst/>
          </a:prstGeom>
          <a:noFill/>
          <a:ln/>
        </p:spPr>
        <p:txBody>
          <a:bodyPr wrap="square" rtlCol="0" anchor="ctr"/>
          <a:lstStyle/>
          <a:p>
            <a:pPr indent="0" marL="0">
              <a:buNone/>
            </a:pPr>
            <a:r>
              <a:rPr lang="en-US" sz="1200" i="1" dirty="0">
                <a:solidFill>
                  <a:srgbClr val="D6F2FB"/>
                </a:solidFill>
                <a:latin typeface="Calibri" pitchFamily="34" charset="0"/>
                <a:ea typeface="Calibri" pitchFamily="34" charset="-122"/>
                <a:cs typeface="Calibri" pitchFamily="34" charset="-120"/>
              </a:rPr>
              <a:t>A new dispatch arrives at the Front Page Desk. The Hasty Herald claims the Mound Builders left no evidence worth studying. The Gazette suspects otherwise. Editors, get ready — the Front Page Desk opens.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2026-07-16T17:25:52Z</dcterms:created>
  <dcterms:modified xsi:type="dcterms:W3CDTF">2026-07-16T17:25:52Z</dcterms:modified>
</cp:coreProperties>
</file>