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photograph of Cahokia Monks Mound at dusk, dramatic earthen mound rising from flat landscapeSLIDE 1 — Title. Orient students to the Gazette frame. Read the guiding question aloud. Tease the Herald claim — 'We'll be fact-checking this all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Hasty Herald. Read the claim aloud dramatically. Ask Socratic questions. Take 2-3 Chat Frame responses. Establish the mission: find evidence to push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Dispatch. Read Ms. Avery's charge. Orient students to their role. Emphasize: 'We don't print until we check the evidence.' Ask: 'What does it mean to consider more than one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a journalist's notebook and pen, warm morning light, suggestive of careful, deliberate writingSLIDE 4 — Virtue Spotlight: Courage. Ask: 'When have you had to be brave about the truth — even when it was complicated?' Connect to today: the Herald took the easy way. We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Who Were the Mound Builders? Read key sections together. Pause at 'many different cultures' — why does that matter? Ask Socratic questions. This scaffolds Q1 of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Clue Box. Replace placeholder with source-5-03-01-mound-builder-site.jpg. Walk through the four observation prompts as a class. Model think-aloud: 'I notice the mound is enormous — that tells me...' Scaffolds Q1 (organization) and Q2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Discussion: Structures. Work through Chat Frames. Build to the Evidence Claim box. Students should be constructing the answer to Q1 (what do mounds tell us about organization?) and Q2 (why did they need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Artist's reconstruction or aerial photograph of Cahokia at its peak (~1100 CE) — the city, plazas, and Monks Mound visibleSLIDE 8 — Reveal: Cahokia. Let the numbers land. Ask: 'If you were a Herald editor seeing these facts, what would you do?' This is the key rebuttal moment. Students should update their mental notes for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Clue Box: Artifacts &amp; Trade. Replace placeholder with trade map. Ask students: 'How did copper from the Great Lakes end up in a mound near St. Louis?' Build toward the idea of organized, connected civilizations. Scaffolds Q1 and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Photographs or illustrations of Mound Builder artifacts: copper ornaments, decorative shells, mica cutouts — arranged on a dark backgroundSLIDE 10 — Reveal: Trade Networks. Read each proof aloud. Ask: 'Which of these four would be hardest for the Herald to argue against?' Students building toward Q3 — what's missing from the Herald's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Vocabulary. Read each word and definition together. Ask students to use the word in a sentence before moving on. 'Cahokia' and 'archaeologist' will appear directly in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I Do. Think aloud through each step. Students should NOT be writing yet — they are watching the process. Pause after Step 3: 'Why do I need both a claim AND evidence?' This directly models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We Do: Q2. Work through 'Let's Think Together' as a class. Take 3-4 Chat Frame responses. Then do the sentence starter together — students call out completions. This builds the scaffold for the written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You Do + Error Analysis. Q3 is the synthesis question — hardest. Read both responses and ask: 'What makes the Gazette response stronger?' Emphasize 'partly right' as an honest answer, not a weak one. This is courageous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Assignment Preview. Walk through each part of the Front Page Brief. Read the three questions again and connect each to what we practiced: Q1 = Slide 12, Q2 = Slide 13, Q3 = Slide 14. 'Now you're ready to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All 3 questions with scaffolding hints. Use this as a reference during independent work time. Project while students write. Remind them: their notes from today's lesson are their evidence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view of the Mississippi River near St. Louis at golden hour — the place where Cahokia once stood, the landscape still marked by the moundsSLIDE 17 — Closing. Celebrate the edition. Read the 'What the Gazette Proved' list together. Preview Issue 9.02: 'The Herald has already rushed a claim about the Ancestral Pueblo — you'll find out what next time.' Have students share one Archive Line aloud before dismissing.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164592" cy="5143500"/>
          </a:xfrm>
          <a:prstGeom prst="rect">
            <a:avLst/>
          </a:prstGeom>
          <a:solidFill>
            <a:srgbClr val="D4943A">
              <a:alpha val="80000"/>
            </a:srgbClr>
          </a:solidFill>
          <a:ln/>
        </p:spPr>
      </p:sp>
      <p:sp>
        <p:nvSpPr>
          <p:cNvPr id="6" name="Shape 3"/>
          <p:cNvSpPr/>
          <p:nvPr/>
        </p:nvSpPr>
        <p:spPr>
          <a:xfrm>
            <a:off x="8979408" y="0"/>
            <a:ext cx="164592" cy="5143500"/>
          </a:xfrm>
          <a:prstGeom prst="rect">
            <a:avLst/>
          </a:prstGeom>
          <a:solidFill>
            <a:srgbClr val="D4943A">
              <a:alpha val="80000"/>
            </a:srgbClr>
          </a:solidFill>
          <a:ln/>
        </p:spPr>
      </p:sp>
      <p:sp>
        <p:nvSpPr>
          <p:cNvPr id="7" name="Shape 4"/>
          <p:cNvSpPr/>
          <p:nvPr/>
        </p:nvSpPr>
        <p:spPr>
          <a:xfrm>
            <a:off x="274320" y="201168"/>
            <a:ext cx="8595360" cy="502920"/>
          </a:xfrm>
          <a:prstGeom prst="rect">
            <a:avLst/>
          </a:prstGeom>
          <a:solidFill>
            <a:srgbClr val="D4943A">
              <a:alpha val="90000"/>
            </a:srgbClr>
          </a:solidFill>
          <a:ln/>
        </p:spPr>
      </p:sp>
      <p:sp>
        <p:nvSpPr>
          <p:cNvPr id="8" name="Text 5"/>
          <p:cNvSpPr/>
          <p:nvPr/>
        </p:nvSpPr>
        <p:spPr>
          <a:xfrm>
            <a:off x="274320" y="201168"/>
            <a:ext cx="8595360" cy="502920"/>
          </a:xfrm>
          <a:prstGeom prst="rect">
            <a:avLst/>
          </a:prstGeom>
          <a:noFill/>
          <a:ln/>
        </p:spPr>
        <p:txBody>
          <a:bodyPr wrap="square" lIns="0" tIns="0" rIns="0" bIns="0" rtlCol="0" anchor="ctr"/>
          <a:lstStyle/>
          <a:p>
            <a:pPr algn="ctr" indent="0" marL="0">
              <a:buNone/>
            </a:pPr>
            <a:r>
              <a:rPr lang="en-US" sz="2200" b="1" spc="400" kern="0" dirty="0">
                <a:solidFill>
                  <a:srgbClr val="FFFFFF"/>
                </a:solidFill>
                <a:latin typeface="Cambria" pitchFamily="34" charset="0"/>
                <a:ea typeface="Cambria" pitchFamily="34" charset="-122"/>
                <a:cs typeface="Cambria" pitchFamily="34" charset="-120"/>
              </a:rPr>
              <a:t>THE REPUBLIC GAZETTE</a:t>
            </a:r>
            <a:endParaRPr lang="en-US" sz="2200" dirty="0"/>
          </a:p>
        </p:txBody>
      </p:sp>
      <p:sp>
        <p:nvSpPr>
          <p:cNvPr id="9" name="Text 6"/>
          <p:cNvSpPr/>
          <p:nvPr/>
        </p:nvSpPr>
        <p:spPr>
          <a:xfrm>
            <a:off x="274320" y="713232"/>
            <a:ext cx="8595360" cy="201168"/>
          </a:xfrm>
          <a:prstGeom prst="rect">
            <a:avLst/>
          </a:prstGeom>
          <a:noFill/>
          <a:ln/>
        </p:spPr>
        <p:txBody>
          <a:bodyPr wrap="square" lIns="0" tIns="0" rIns="0" bIns="0" rtlCol="0" anchor="ctr"/>
          <a:lstStyle/>
          <a:p>
            <a:pPr algn="ctr" indent="0" marL="0">
              <a:buNone/>
            </a:pPr>
            <a:r>
              <a:rPr lang="en-US" sz="950" i="1" dirty="0">
                <a:solidFill>
                  <a:srgbClr val="B0C0E0"/>
                </a:solidFill>
                <a:latin typeface="Calibri" pitchFamily="34" charset="0"/>
                <a:ea typeface="Calibri" pitchFamily="34" charset="-122"/>
                <a:cs typeface="Calibri" pitchFamily="34" charset="-120"/>
              </a:rPr>
              <a:t>Vol. 1  ·  Issue 9  ·  Early American Civilizations  ·  Before Colonization Special Edition</a:t>
            </a:r>
            <a:endParaRPr lang="en-US" sz="950" dirty="0"/>
          </a:p>
        </p:txBody>
      </p:sp>
      <p:sp>
        <p:nvSpPr>
          <p:cNvPr id="10" name="Text 7"/>
          <p:cNvSpPr/>
          <p:nvPr/>
        </p:nvSpPr>
        <p:spPr>
          <a:xfrm>
            <a:off x="274320" y="1051560"/>
            <a:ext cx="8595360"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Mound Builders</a:t>
            </a:r>
            <a:endParaRPr lang="en-US" sz="5400" dirty="0"/>
          </a:p>
        </p:txBody>
      </p:sp>
      <p:sp>
        <p:nvSpPr>
          <p:cNvPr id="11" name="Shape 8"/>
          <p:cNvSpPr/>
          <p:nvPr/>
        </p:nvSpPr>
        <p:spPr>
          <a:xfrm>
            <a:off x="3474720" y="2121408"/>
            <a:ext cx="2194560" cy="292608"/>
          </a:xfrm>
          <a:prstGeom prst="roundRect">
            <a:avLst>
              <a:gd name="adj" fmla="val 25000"/>
            </a:avLst>
          </a:prstGeom>
          <a:solidFill>
            <a:srgbClr val="1A8A7D">
              <a:alpha val="90000"/>
            </a:srgbClr>
          </a:solidFill>
          <a:ln/>
        </p:spPr>
      </p:sp>
      <p:sp>
        <p:nvSpPr>
          <p:cNvPr id="12" name="Text 9"/>
          <p:cNvSpPr/>
          <p:nvPr/>
        </p:nvSpPr>
        <p:spPr>
          <a:xfrm>
            <a:off x="3474720" y="2121408"/>
            <a:ext cx="2194560" cy="29260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Lesson 5.03.01  ·  Week 5  ·  Q1</a:t>
            </a:r>
            <a:endParaRPr lang="en-US" sz="950" dirty="0"/>
          </a:p>
        </p:txBody>
      </p:sp>
      <p:sp>
        <p:nvSpPr>
          <p:cNvPr id="13" name="Shape 10"/>
          <p:cNvSpPr/>
          <p:nvPr/>
        </p:nvSpPr>
        <p:spPr>
          <a:xfrm>
            <a:off x="457200" y="2542032"/>
            <a:ext cx="8229600" cy="777240"/>
          </a:xfrm>
          <a:prstGeom prst="roundRect">
            <a:avLst>
              <a:gd name="adj" fmla="val 11765"/>
            </a:avLst>
          </a:prstGeom>
          <a:solidFill>
            <a:srgbClr val="0E1C42">
              <a:alpha val="80000"/>
            </a:srgbClr>
          </a:solidFill>
          <a:ln w="12700">
            <a:solidFill>
              <a:srgbClr val="55C8E8"/>
            </a:solidFill>
            <a:prstDash val="solid"/>
          </a:ln>
        </p:spPr>
      </p:sp>
      <p:sp>
        <p:nvSpPr>
          <p:cNvPr id="14" name="Text 11"/>
          <p:cNvSpPr/>
          <p:nvPr/>
        </p:nvSpPr>
        <p:spPr>
          <a:xfrm>
            <a:off x="594360" y="2578608"/>
            <a:ext cx="7955280" cy="182880"/>
          </a:xfrm>
          <a:prstGeom prst="rect">
            <a:avLst/>
          </a:prstGeom>
          <a:noFill/>
          <a:ln/>
        </p:spPr>
        <p:txBody>
          <a:bodyPr wrap="square" lIns="0" tIns="0" rIns="0" bIns="0" rtlCol="0" anchor="ctr"/>
          <a:lstStyle/>
          <a:p>
            <a:pPr indent="0" marL="0">
              <a:buNone/>
            </a:pPr>
            <a:r>
              <a:rPr lang="en-US" sz="850" b="1" spc="150" kern="0" dirty="0">
                <a:solidFill>
                  <a:srgbClr val="55C8E8"/>
                </a:solidFill>
                <a:latin typeface="Calibri" pitchFamily="34" charset="0"/>
                <a:ea typeface="Calibri" pitchFamily="34" charset="-122"/>
                <a:cs typeface="Calibri" pitchFamily="34" charset="-120"/>
              </a:rPr>
              <a:t>JUNIOR EDITOR'S QUESTION</a:t>
            </a:r>
            <a:endParaRPr lang="en-US" sz="850" dirty="0"/>
          </a:p>
        </p:txBody>
      </p:sp>
      <p:sp>
        <p:nvSpPr>
          <p:cNvPr id="15" name="Text 12"/>
          <p:cNvSpPr/>
          <p:nvPr/>
        </p:nvSpPr>
        <p:spPr>
          <a:xfrm>
            <a:off x="594360" y="2761488"/>
            <a:ext cx="7955280" cy="502920"/>
          </a:xfrm>
          <a:prstGeom prst="rect">
            <a:avLst/>
          </a:prstGeom>
          <a:noFill/>
          <a:ln/>
        </p:spPr>
        <p:txBody>
          <a:bodyPr wrap="square" lIns="0" tIns="0" rIns="0" bIns="0" rtlCol="0" anchor="t"/>
          <a:lstStyle/>
          <a:p>
            <a:pPr indent="0" marL="0">
              <a:buNone/>
            </a:pPr>
            <a:r>
              <a:rPr lang="en-US" sz="1300" i="1" dirty="0">
                <a:solidFill>
                  <a:srgbClr val="F0F2F8"/>
                </a:solidFill>
                <a:latin typeface="Cambria" pitchFamily="34" charset="0"/>
                <a:ea typeface="Cambria" pitchFamily="34" charset="-122"/>
                <a:cs typeface="Cambria" pitchFamily="34" charset="-120"/>
              </a:rPr>
              <a:t>What can the mounds that early Americans built tell us about how they lived, what they valued, and how they organized their communities?</a:t>
            </a:r>
            <a:endParaRPr lang="en-US" sz="1300" dirty="0"/>
          </a:p>
        </p:txBody>
      </p:sp>
      <p:sp>
        <p:nvSpPr>
          <p:cNvPr id="16" name="Shape 13"/>
          <p:cNvSpPr/>
          <p:nvPr/>
        </p:nvSpPr>
        <p:spPr>
          <a:xfrm>
            <a:off x="457200" y="3429000"/>
            <a:ext cx="8229600" cy="530352"/>
          </a:xfrm>
          <a:prstGeom prst="roundRect">
            <a:avLst>
              <a:gd name="adj" fmla="val 17241"/>
            </a:avLst>
          </a:prstGeom>
          <a:solidFill>
            <a:srgbClr val="E8636B">
              <a:alpha val="70000"/>
            </a:srgbClr>
          </a:solidFill>
          <a:ln w="12700">
            <a:solidFill>
              <a:srgbClr val="E8636B"/>
            </a:solidFill>
            <a:prstDash val="solid"/>
          </a:ln>
        </p:spPr>
      </p:sp>
      <p:sp>
        <p:nvSpPr>
          <p:cNvPr id="17" name="Text 14"/>
          <p:cNvSpPr/>
          <p:nvPr/>
        </p:nvSpPr>
        <p:spPr>
          <a:xfrm>
            <a:off x="640080" y="3456432"/>
            <a:ext cx="2743200" cy="182880"/>
          </a:xfrm>
          <a:prstGeom prst="rect">
            <a:avLst/>
          </a:prstGeom>
          <a:noFill/>
          <a:ln/>
        </p:spPr>
        <p:txBody>
          <a:bodyPr wrap="square" lIns="0" tIns="0" rIns="0" bIns="0" rtlCol="0" anchor="ctr"/>
          <a:lstStyle/>
          <a:p>
            <a:pPr indent="0" marL="0">
              <a:buNone/>
            </a:pPr>
            <a:r>
              <a:rPr lang="en-US" sz="850" b="1" spc="120" kern="0" dirty="0">
                <a:solidFill>
                  <a:srgbClr val="FFD0D2"/>
                </a:solidFill>
                <a:latin typeface="Calibri" pitchFamily="34" charset="0"/>
                <a:ea typeface="Calibri" pitchFamily="34" charset="-122"/>
                <a:cs typeface="Calibri" pitchFamily="34" charset="-120"/>
              </a:rPr>
              <a:t>THE HASTY HERALD CLAIMS:</a:t>
            </a:r>
            <a:endParaRPr lang="en-US" sz="850" dirty="0"/>
          </a:p>
        </p:txBody>
      </p:sp>
      <p:sp>
        <p:nvSpPr>
          <p:cNvPr id="18" name="Text 15"/>
          <p:cNvSpPr/>
          <p:nvPr/>
        </p:nvSpPr>
        <p:spPr>
          <a:xfrm>
            <a:off x="640080" y="3630168"/>
            <a:ext cx="7772400" cy="274320"/>
          </a:xfrm>
          <a:prstGeom prst="rect">
            <a:avLst/>
          </a:prstGeom>
          <a:noFill/>
          <a:ln/>
        </p:spPr>
        <p:txBody>
          <a:bodyPr wrap="square" lIns="0" tIns="0" rIns="0" bIns="0" rtlCol="0" anchor="ctr"/>
          <a:lstStyle/>
          <a:p>
            <a:pPr indent="0" marL="0">
              <a:buNone/>
            </a:pPr>
            <a:r>
              <a:rPr lang="en-US" sz="1200" i="1" dirty="0">
                <a:solidFill>
                  <a:srgbClr val="FFFFFF"/>
                </a:solidFill>
                <a:latin typeface="Cambria" pitchFamily="34" charset="0"/>
                <a:ea typeface="Cambria" pitchFamily="34" charset="-122"/>
                <a:cs typeface="Cambria" pitchFamily="34" charset="-120"/>
              </a:rPr>
              <a:t>"The Mound Builders left behind only mysteries, not evidence."</a:t>
            </a:r>
            <a:endParaRPr lang="en-US" sz="1200" dirty="0"/>
          </a:p>
        </p:txBody>
      </p:sp>
      <p:sp>
        <p:nvSpPr>
          <p:cNvPr id="19" name="Text 16"/>
          <p:cNvSpPr/>
          <p:nvPr/>
        </p:nvSpPr>
        <p:spPr>
          <a:xfrm>
            <a:off x="274320" y="4846320"/>
            <a:ext cx="8595360" cy="201168"/>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Honest Reporting  ·  Evidence First  ·  For Every Citizen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E8636B"/>
          </a:solidFill>
          <a:ln/>
        </p:spPr>
      </p:sp>
      <p:sp>
        <p:nvSpPr>
          <p:cNvPr id="4" name="Text 2"/>
          <p:cNvSpPr/>
          <p:nvPr/>
        </p:nvSpPr>
        <p:spPr>
          <a:xfrm>
            <a:off x="274320" y="0"/>
            <a:ext cx="4572000" cy="594360"/>
          </a:xfrm>
          <a:prstGeom prst="rect">
            <a:avLst/>
          </a:prstGeom>
          <a:noFill/>
          <a:ln/>
        </p:spPr>
        <p:txBody>
          <a:bodyPr wrap="square" lIns="0" tIns="0" rIns="0" bIns="0" rtlCol="0" anchor="ctr"/>
          <a:lstStyle/>
          <a:p>
            <a:pPr indent="0" marL="0">
              <a:buNone/>
            </a:pPr>
            <a:r>
              <a:rPr lang="en-US" sz="2200" b="1" spc="200" kern="0" dirty="0">
                <a:solidFill>
                  <a:srgbClr val="FFFFFF"/>
                </a:solidFill>
                <a:latin typeface="Cambria" pitchFamily="34" charset="0"/>
                <a:ea typeface="Cambria" pitchFamily="34" charset="-122"/>
                <a:cs typeface="Cambria" pitchFamily="34" charset="-120"/>
              </a:rPr>
              <a:t>THE HASTY HERALD</a:t>
            </a:r>
            <a:endParaRPr lang="en-US" sz="2200" dirty="0"/>
          </a:p>
        </p:txBody>
      </p:sp>
      <p:sp>
        <p:nvSpPr>
          <p:cNvPr id="5" name="Text 3"/>
          <p:cNvSpPr/>
          <p:nvPr/>
        </p:nvSpPr>
        <p:spPr>
          <a:xfrm>
            <a:off x="5029200" y="0"/>
            <a:ext cx="3840480" cy="594360"/>
          </a:xfrm>
          <a:prstGeom prst="rect">
            <a:avLst/>
          </a:prstGeom>
          <a:noFill/>
          <a:ln/>
        </p:spPr>
        <p:txBody>
          <a:bodyPr wrap="square" lIns="0" tIns="0" rIns="0" bIns="0" rtlCol="0" anchor="ctr"/>
          <a:lstStyle/>
          <a:p>
            <a:pPr algn="r" indent="0" marL="0">
              <a:buNone/>
            </a:pPr>
            <a:r>
              <a:rPr lang="en-US" sz="1100" i="1" dirty="0">
                <a:solidFill>
                  <a:srgbClr val="FFD0D2"/>
                </a:solidFill>
                <a:latin typeface="Calibri" pitchFamily="34" charset="0"/>
                <a:ea typeface="Calibri" pitchFamily="34" charset="-122"/>
                <a:cs typeface="Calibri" pitchFamily="34" charset="-120"/>
              </a:rPr>
              <a:t>Today's News  ·  Yesterday  ·  Maybe</a:t>
            </a:r>
            <a:endParaRPr lang="en-US" sz="1100" dirty="0"/>
          </a:p>
        </p:txBody>
      </p:sp>
      <p:sp>
        <p:nvSpPr>
          <p:cNvPr id="6" name="Shape 4"/>
          <p:cNvSpPr/>
          <p:nvPr/>
        </p:nvSpPr>
        <p:spPr>
          <a:xfrm>
            <a:off x="320040" y="731520"/>
            <a:ext cx="5120640" cy="2011680"/>
          </a:xfrm>
          <a:prstGeom prst="roundRect">
            <a:avLst>
              <a:gd name="adj" fmla="val 4545"/>
            </a:avLst>
          </a:prstGeom>
          <a:solidFill>
            <a:srgbClr val="FFFFFF"/>
          </a:solidFill>
          <a:ln w="25400">
            <a:solidFill>
              <a:srgbClr val="E8636B"/>
            </a:solidFill>
            <a:prstDash val="solid"/>
          </a:ln>
        </p:spPr>
      </p:sp>
      <p:sp>
        <p:nvSpPr>
          <p:cNvPr id="7" name="Text 5"/>
          <p:cNvSpPr/>
          <p:nvPr/>
        </p:nvSpPr>
        <p:spPr>
          <a:xfrm>
            <a:off x="457200" y="804672"/>
            <a:ext cx="1828800" cy="201168"/>
          </a:xfrm>
          <a:prstGeom prst="rect">
            <a:avLst/>
          </a:prstGeom>
          <a:noFill/>
          <a:ln/>
        </p:spPr>
        <p:txBody>
          <a:bodyPr wrap="square" lIns="0" tIns="0" rIns="0" bIns="0" rtlCol="0" anchor="ctr"/>
          <a:lstStyle/>
          <a:p>
            <a:pPr indent="0" marL="0">
              <a:buNone/>
            </a:pPr>
            <a:r>
              <a:rPr lang="en-US" sz="800" b="1" spc="120" kern="0" dirty="0">
                <a:solidFill>
                  <a:srgbClr val="E8636B"/>
                </a:solidFill>
                <a:latin typeface="Calibri" pitchFamily="34" charset="0"/>
                <a:ea typeface="Calibri" pitchFamily="34" charset="-122"/>
                <a:cs typeface="Calibri" pitchFamily="34" charset="-120"/>
              </a:rPr>
              <a:t>RUSHED TO PRINT!</a:t>
            </a:r>
            <a:endParaRPr lang="en-US" sz="800" dirty="0"/>
          </a:p>
        </p:txBody>
      </p:sp>
      <p:sp>
        <p:nvSpPr>
          <p:cNvPr id="8" name="Shape 6"/>
          <p:cNvSpPr/>
          <p:nvPr/>
        </p:nvSpPr>
        <p:spPr>
          <a:xfrm>
            <a:off x="457200" y="1005840"/>
            <a:ext cx="4846320" cy="36576"/>
          </a:xfrm>
          <a:prstGeom prst="rect">
            <a:avLst/>
          </a:prstGeom>
          <a:solidFill>
            <a:srgbClr val="E8636B"/>
          </a:solidFill>
          <a:ln/>
        </p:spPr>
      </p:sp>
      <p:sp>
        <p:nvSpPr>
          <p:cNvPr id="9" name="Text 7"/>
          <p:cNvSpPr/>
          <p:nvPr/>
        </p:nvSpPr>
        <p:spPr>
          <a:xfrm>
            <a:off x="457200" y="1078992"/>
            <a:ext cx="4846320" cy="347472"/>
          </a:xfrm>
          <a:prstGeom prst="rect">
            <a:avLst/>
          </a:prstGeom>
          <a:noFill/>
          <a:ln/>
        </p:spPr>
        <p:txBody>
          <a:bodyPr wrap="square" lIns="0" tIns="0" rIns="0" bIns="0" rtlCol="0" anchor="ctr"/>
          <a:lstStyle/>
          <a:p>
            <a:pPr algn="ctr" indent="0" marL="0">
              <a:buNone/>
            </a:pPr>
            <a:r>
              <a:rPr lang="en-US" sz="2200" b="1" dirty="0">
                <a:solidFill>
                  <a:srgbClr val="1A1A2A"/>
                </a:solidFill>
                <a:latin typeface="Cambria" pitchFamily="34" charset="0"/>
                <a:ea typeface="Cambria" pitchFamily="34" charset="-122"/>
                <a:cs typeface="Cambria" pitchFamily="34" charset="-120"/>
              </a:rPr>
              <a:t>MOUND BUILDERS:</a:t>
            </a:r>
            <a:endParaRPr lang="en-US" sz="2200" dirty="0"/>
          </a:p>
        </p:txBody>
      </p:sp>
      <p:sp>
        <p:nvSpPr>
          <p:cNvPr id="10" name="Text 8"/>
          <p:cNvSpPr/>
          <p:nvPr/>
        </p:nvSpPr>
        <p:spPr>
          <a:xfrm>
            <a:off x="457200" y="1408176"/>
            <a:ext cx="4846320" cy="347472"/>
          </a:xfrm>
          <a:prstGeom prst="rect">
            <a:avLst/>
          </a:prstGeom>
          <a:noFill/>
          <a:ln/>
        </p:spPr>
        <p:txBody>
          <a:bodyPr wrap="square" lIns="0" tIns="0" rIns="0" bIns="0" rtlCol="0" anchor="ctr"/>
          <a:lstStyle/>
          <a:p>
            <a:pPr algn="ctr" indent="0" marL="0">
              <a:buNone/>
            </a:pPr>
            <a:r>
              <a:rPr lang="en-US" sz="2000" b="1" dirty="0">
                <a:solidFill>
                  <a:srgbClr val="E8636B"/>
                </a:solidFill>
                <a:latin typeface="Cambria" pitchFamily="34" charset="0"/>
                <a:ea typeface="Cambria" pitchFamily="34" charset="-122"/>
                <a:cs typeface="Cambria" pitchFamily="34" charset="-120"/>
              </a:rPr>
              <a:t>NOTHING BUT MYSTERIES!</a:t>
            </a:r>
            <a:endParaRPr lang="en-US" sz="2000" dirty="0"/>
          </a:p>
        </p:txBody>
      </p:sp>
      <p:sp>
        <p:nvSpPr>
          <p:cNvPr id="11" name="Shape 9"/>
          <p:cNvSpPr/>
          <p:nvPr/>
        </p:nvSpPr>
        <p:spPr>
          <a:xfrm>
            <a:off x="457200" y="1764792"/>
            <a:ext cx="4846320" cy="27432"/>
          </a:xfrm>
          <a:prstGeom prst="rect">
            <a:avLst/>
          </a:prstGeom>
          <a:solidFill>
            <a:srgbClr val="CCCCCC"/>
          </a:solidFill>
          <a:ln/>
        </p:spPr>
      </p:sp>
      <p:sp>
        <p:nvSpPr>
          <p:cNvPr id="12" name="Text 10"/>
          <p:cNvSpPr/>
          <p:nvPr/>
        </p:nvSpPr>
        <p:spPr>
          <a:xfrm>
            <a:off x="457200" y="1810512"/>
            <a:ext cx="4846320" cy="594360"/>
          </a:xfrm>
          <a:prstGeom prst="rect">
            <a:avLst/>
          </a:prstGeom>
          <a:noFill/>
          <a:ln/>
        </p:spPr>
        <p:txBody>
          <a:bodyPr wrap="square" lIns="0" tIns="0" rIns="0" bIns="0" rtlCol="0" anchor="ctr"/>
          <a:lstStyle/>
          <a:p>
            <a:pPr algn="ctr" indent="0" marL="0">
              <a:buNone/>
            </a:pPr>
            <a:r>
              <a:rPr lang="en-US" sz="1250" i="1" dirty="0">
                <a:solidFill>
                  <a:srgbClr val="3A3A4A"/>
                </a:solidFill>
                <a:latin typeface="Cambria" pitchFamily="34" charset="0"/>
                <a:ea typeface="Cambria" pitchFamily="34" charset="-122"/>
                <a:cs typeface="Cambria" pitchFamily="34" charset="-120"/>
              </a:rPr>
              <a:t>"The Mound Builders left behind only mysteries, not evidence."</a:t>
            </a:r>
            <a:endParaRPr lang="en-US" sz="1250" dirty="0"/>
          </a:p>
        </p:txBody>
      </p:sp>
      <p:sp>
        <p:nvSpPr>
          <p:cNvPr id="13" name="Text 11"/>
          <p:cNvSpPr/>
          <p:nvPr/>
        </p:nvSpPr>
        <p:spPr>
          <a:xfrm>
            <a:off x="457200" y="2404872"/>
            <a:ext cx="4846320" cy="228600"/>
          </a:xfrm>
          <a:prstGeom prst="rect">
            <a:avLst/>
          </a:prstGeom>
          <a:noFill/>
          <a:ln/>
        </p:spPr>
        <p:txBody>
          <a:bodyPr wrap="square" lIns="0" tIns="0" rIns="0" bIns="0" rtlCol="0" anchor="ctr"/>
          <a:lstStyle/>
          <a:p>
            <a:pPr algn="r" indent="0" marL="0">
              <a:buNone/>
            </a:pPr>
            <a:r>
              <a:rPr lang="en-US" sz="950" i="1" dirty="0">
                <a:solidFill>
                  <a:srgbClr val="7A88A8"/>
                </a:solidFill>
                <a:latin typeface="Calibri" pitchFamily="34" charset="0"/>
                <a:ea typeface="Calibri" pitchFamily="34" charset="-122"/>
                <a:cs typeface="Calibri" pitchFamily="34" charset="-120"/>
              </a:rPr>
              <a:t>— Filed by The Herald, minutes ago</a:t>
            </a:r>
            <a:endParaRPr lang="en-US" sz="950" dirty="0"/>
          </a:p>
        </p:txBody>
      </p:sp>
      <p:sp>
        <p:nvSpPr>
          <p:cNvPr id="14" name="Shape 12"/>
          <p:cNvSpPr/>
          <p:nvPr/>
        </p:nvSpPr>
        <p:spPr>
          <a:xfrm>
            <a:off x="320040" y="2834640"/>
            <a:ext cx="5120640" cy="594360"/>
          </a:xfrm>
          <a:prstGeom prst="roundRect">
            <a:avLst>
              <a:gd name="adj" fmla="val 15385"/>
            </a:avLst>
          </a:prstGeom>
          <a:solidFill>
            <a:srgbClr val="1A8A7D">
              <a:alpha val="90000"/>
            </a:srgbClr>
          </a:solidFill>
          <a:ln/>
        </p:spPr>
      </p:sp>
      <p:sp>
        <p:nvSpPr>
          <p:cNvPr id="15" name="Text 13"/>
          <p:cNvSpPr/>
          <p:nvPr/>
        </p:nvSpPr>
        <p:spPr>
          <a:xfrm>
            <a:off x="457200" y="2852928"/>
            <a:ext cx="4846320" cy="5486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Your job, Junior Editor: As you study the evidence today, look for facts that prove the Mound Builders left behind far more than mysteries.</a:t>
            </a:r>
            <a:endParaRPr lang="en-US" sz="1150" dirty="0"/>
          </a:p>
        </p:txBody>
      </p:sp>
      <p:sp>
        <p:nvSpPr>
          <p:cNvPr id="16" name="Shape 14"/>
          <p:cNvSpPr/>
          <p:nvPr/>
        </p:nvSpPr>
        <p:spPr>
          <a:xfrm>
            <a:off x="5577840" y="731520"/>
            <a:ext cx="3200400" cy="1828800"/>
          </a:xfrm>
          <a:prstGeom prst="roundRect">
            <a:avLst>
              <a:gd name="adj" fmla="val 6000"/>
            </a:avLst>
          </a:prstGeom>
          <a:solidFill>
            <a:srgbClr val="1A2D5A"/>
          </a:solidFill>
          <a:ln w="12700">
            <a:solidFill>
              <a:srgbClr val="2A4070"/>
            </a:solidFill>
            <a:prstDash val="solid"/>
          </a:ln>
        </p:spPr>
      </p:sp>
      <p:sp>
        <p:nvSpPr>
          <p:cNvPr id="17" name="Text 15"/>
          <p:cNvSpPr/>
          <p:nvPr/>
        </p:nvSpPr>
        <p:spPr>
          <a:xfrm>
            <a:off x="5715000" y="786384"/>
            <a:ext cx="29260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760720" y="1051560"/>
            <a:ext cx="2834640" cy="14173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the Herald need to find to prove this claim is true?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is the difference between 'mystery' and 'evidence we haven't fully explained yet'?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might a paper print a claim like this without checking?</a:t>
            </a:r>
            <a:endParaRPr lang="en-US" sz="1100" dirty="0"/>
          </a:p>
        </p:txBody>
      </p:sp>
      <p:sp>
        <p:nvSpPr>
          <p:cNvPr id="19" name="Shape 17"/>
          <p:cNvSpPr/>
          <p:nvPr/>
        </p:nvSpPr>
        <p:spPr>
          <a:xfrm>
            <a:off x="5577840" y="2697480"/>
            <a:ext cx="3200400" cy="1325880"/>
          </a:xfrm>
          <a:prstGeom prst="roundRect">
            <a:avLst>
              <a:gd name="adj" fmla="val 8276"/>
            </a:avLst>
          </a:prstGeom>
          <a:solidFill>
            <a:srgbClr val="FFF3DC"/>
          </a:solidFill>
          <a:ln w="19050">
            <a:solidFill>
              <a:srgbClr val="F5E6C8"/>
            </a:solidFill>
            <a:prstDash val="solid"/>
          </a:ln>
        </p:spPr>
      </p:sp>
      <p:sp>
        <p:nvSpPr>
          <p:cNvPr id="20" name="Text 18"/>
          <p:cNvSpPr/>
          <p:nvPr/>
        </p:nvSpPr>
        <p:spPr>
          <a:xfrm>
            <a:off x="5715000" y="275234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9"/>
          <p:cNvSpPr/>
          <p:nvPr/>
        </p:nvSpPr>
        <p:spPr>
          <a:xfrm>
            <a:off x="5715000" y="2953512"/>
            <a:ext cx="2926080" cy="1005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Herald's claim might be wrong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I'd want to check before printing that is..."</a:t>
            </a:r>
            <a:endParaRPr lang="en-US" sz="1200" dirty="0"/>
          </a:p>
        </p:txBody>
      </p:sp>
      <p:sp>
        <p:nvSpPr>
          <p:cNvPr id="22" name="Text 20"/>
          <p:cNvSpPr/>
          <p:nvPr/>
        </p:nvSpPr>
        <p:spPr>
          <a:xfrm>
            <a:off x="320040" y="4480560"/>
            <a:ext cx="8503920" cy="256032"/>
          </a:xfrm>
          <a:prstGeom prst="rect">
            <a:avLst/>
          </a:prstGeom>
          <a:noFill/>
          <a:ln/>
        </p:spPr>
        <p:txBody>
          <a:bodyPr wrap="square" lIns="0" tIns="0" rIns="0" bIns="0" rtlCol="0" anchor="ctr"/>
          <a:lstStyle/>
          <a:p>
            <a:pPr indent="0" marL="0">
              <a:buNone/>
            </a:pPr>
            <a:r>
              <a:rPr lang="en-US" sz="950" b="1" i="1" dirty="0">
                <a:solidFill>
                  <a:srgbClr val="1A8A7D"/>
                </a:solidFill>
                <a:latin typeface="Calibri" pitchFamily="34" charset="0"/>
                <a:ea typeface="Calibri" pitchFamily="34" charset="-122"/>
                <a:cs typeface="Calibri" pitchFamily="34" charset="-120"/>
              </a:rPr>
              <a:t>Virtue: Courage — A courageous editor checks the evidence before writing the headline.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20040" y="0"/>
            <a:ext cx="8503920" cy="594360"/>
          </a:xfrm>
          <a:prstGeom prst="rect">
            <a:avLst/>
          </a:prstGeom>
          <a:noFill/>
          <a:ln/>
        </p:spPr>
        <p:txBody>
          <a:bodyPr wrap="square" lIns="0" tIns="0" rIns="0" bIns="0" rtlCol="0" anchor="ctr"/>
          <a:lstStyle/>
          <a:p>
            <a:pPr indent="0" marL="0">
              <a:buNone/>
            </a:pPr>
            <a:r>
              <a:rPr lang="en-US" sz="1800" b="1" spc="200" kern="0" dirty="0">
                <a:solidFill>
                  <a:srgbClr val="D4943A"/>
                </a:solidFill>
                <a:latin typeface="Cambria" pitchFamily="34" charset="0"/>
                <a:ea typeface="Cambria" pitchFamily="34" charset="-122"/>
                <a:cs typeface="Cambria" pitchFamily="34" charset="-120"/>
              </a:rPr>
              <a:t>DISPATCH  ·  5.03.01</a:t>
            </a:r>
            <a:endParaRPr lang="en-US" sz="1800" dirty="0"/>
          </a:p>
        </p:txBody>
      </p:sp>
      <p:sp>
        <p:nvSpPr>
          <p:cNvPr id="5" name="Shape 3"/>
          <p:cNvSpPr/>
          <p:nvPr/>
        </p:nvSpPr>
        <p:spPr>
          <a:xfrm>
            <a:off x="320040" y="749808"/>
            <a:ext cx="5394960" cy="2377440"/>
          </a:xfrm>
          <a:prstGeom prst="roundRect">
            <a:avLst>
              <a:gd name="adj" fmla="val 4615"/>
            </a:avLst>
          </a:prstGeom>
          <a:solidFill>
            <a:srgbClr val="FFFFFF"/>
          </a:solidFill>
          <a:ln w="25400">
            <a:solidFill>
              <a:srgbClr val="D4943A"/>
            </a:solidFill>
            <a:prstDash val="solid"/>
          </a:ln>
        </p:spPr>
      </p:sp>
      <p:sp>
        <p:nvSpPr>
          <p:cNvPr id="6" name="Text 4"/>
          <p:cNvSpPr/>
          <p:nvPr/>
        </p:nvSpPr>
        <p:spPr>
          <a:xfrm>
            <a:off x="457200" y="822960"/>
            <a:ext cx="5120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FROM THE EDITOR'S DESK</a:t>
            </a:r>
            <a:endParaRPr lang="en-US" sz="900" dirty="0"/>
          </a:p>
        </p:txBody>
      </p:sp>
      <p:sp>
        <p:nvSpPr>
          <p:cNvPr id="7" name="Text 5"/>
          <p:cNvSpPr/>
          <p:nvPr/>
        </p:nvSpPr>
        <p:spPr>
          <a:xfrm>
            <a:off x="457200" y="1024128"/>
            <a:ext cx="5120640" cy="182880"/>
          </a:xfrm>
          <a:prstGeom prst="rect">
            <a:avLst/>
          </a:prstGeom>
          <a:noFill/>
          <a:ln/>
        </p:spPr>
        <p:txBody>
          <a:bodyPr wrap="square" lIns="0" tIns="0" rIns="0" bIns="0" rtlCol="0" anchor="ctr"/>
          <a:lstStyle/>
          <a:p>
            <a:pPr indent="0" marL="0">
              <a:buNone/>
            </a:pPr>
            <a:r>
              <a:rPr lang="en-US" sz="950" i="1" dirty="0">
                <a:solidFill>
                  <a:srgbClr val="7A88A8"/>
                </a:solidFill>
                <a:latin typeface="Calibri" pitchFamily="34" charset="0"/>
                <a:ea typeface="Calibri" pitchFamily="34" charset="-122"/>
                <a:cs typeface="Calibri" pitchFamily="34" charset="-120"/>
              </a:rPr>
              <a:t>— Ms. Avery, Editor-in-Chief</a:t>
            </a:r>
            <a:endParaRPr lang="en-US" sz="950" dirty="0"/>
          </a:p>
        </p:txBody>
      </p:sp>
      <p:sp>
        <p:nvSpPr>
          <p:cNvPr id="8" name="Shape 6"/>
          <p:cNvSpPr/>
          <p:nvPr/>
        </p:nvSpPr>
        <p:spPr>
          <a:xfrm>
            <a:off x="457200" y="1207008"/>
            <a:ext cx="5074920" cy="27432"/>
          </a:xfrm>
          <a:prstGeom prst="rect">
            <a:avLst/>
          </a:prstGeom>
          <a:solidFill>
            <a:srgbClr val="D4943A"/>
          </a:solidFill>
          <a:ln/>
        </p:spPr>
      </p:sp>
      <p:sp>
        <p:nvSpPr>
          <p:cNvPr id="9" name="Text 7"/>
          <p:cNvSpPr/>
          <p:nvPr/>
        </p:nvSpPr>
        <p:spPr>
          <a:xfrm>
            <a:off x="457200" y="1261872"/>
            <a:ext cx="5074920" cy="1097280"/>
          </a:xfrm>
          <a:prstGeom prst="rect">
            <a:avLst/>
          </a:prstGeom>
          <a:noFill/>
          <a:ln/>
        </p:spPr>
        <p:txBody>
          <a:bodyPr wrap="square" lIns="0" tIns="0" rIns="0" bIns="0" rtlCol="0" anchor="t"/>
          <a:lstStyle/>
          <a:p>
            <a:pPr indent="0" marL="0">
              <a:buNone/>
            </a:pPr>
            <a:r>
              <a:rPr lang="en-US" sz="1300" i="1" dirty="0">
                <a:solidFill>
                  <a:srgbClr val="2A3A5A"/>
                </a:solidFill>
                <a:latin typeface="Cambria" pitchFamily="34" charset="0"/>
                <a:ea typeface="Cambria" pitchFamily="34" charset="-122"/>
                <a:cs typeface="Cambria" pitchFamily="34" charset="-120"/>
              </a:rPr>
              <a:t>"What do we notice about the Mound Builders, what does it mean, and why does it matter? Consider more than one perspective before forming your claim."</a:t>
            </a:r>
            <a:endParaRPr lang="en-US" sz="1300" dirty="0"/>
          </a:p>
        </p:txBody>
      </p:sp>
      <p:sp>
        <p:nvSpPr>
          <p:cNvPr id="10" name="Text 8"/>
          <p:cNvSpPr/>
          <p:nvPr/>
        </p:nvSpPr>
        <p:spPr>
          <a:xfrm>
            <a:off x="457200" y="2395728"/>
            <a:ext cx="5074920" cy="640080"/>
          </a:xfrm>
          <a:prstGeom prst="rect">
            <a:avLst/>
          </a:prstGeom>
          <a:noFill/>
          <a:ln/>
        </p:spPr>
        <p:txBody>
          <a:bodyPr wrap="square" lIns="0" tIns="0" rIns="0" bIns="0" rtlCol="0" anchor="t"/>
          <a:lstStyle/>
          <a:p>
            <a:pPr indent="0" marL="0">
              <a:buNone/>
            </a:pPr>
            <a:r>
              <a:rPr lang="en-US" sz="1050" dirty="0">
                <a:solidFill>
                  <a:srgbClr val="5A6A7A"/>
                </a:solidFill>
                <a:latin typeface="Calibri" pitchFamily="34" charset="0"/>
                <a:ea typeface="Calibri" pitchFamily="34" charset="-122"/>
                <a:cs typeface="Calibri" pitchFamily="34" charset="-120"/>
              </a:rPr>
              <a:t>Keep this question on your desk as you investigate. A courageous editor looks at ALL the evidence — even the parts that complicate a simpler story — before writing the headline.</a:t>
            </a:r>
            <a:endParaRPr lang="en-US" sz="1050" dirty="0"/>
          </a:p>
        </p:txBody>
      </p:sp>
      <p:sp>
        <p:nvSpPr>
          <p:cNvPr id="11" name="Shape 9"/>
          <p:cNvSpPr/>
          <p:nvPr/>
        </p:nvSpPr>
        <p:spPr>
          <a:xfrm>
            <a:off x="5852160" y="749808"/>
            <a:ext cx="2971800" cy="2377440"/>
          </a:xfrm>
          <a:prstGeom prst="roundRect">
            <a:avLst>
              <a:gd name="adj" fmla="val 4615"/>
            </a:avLst>
          </a:prstGeom>
          <a:solidFill>
            <a:srgbClr val="1A2D5A"/>
          </a:solidFill>
          <a:ln w="12700">
            <a:solidFill>
              <a:srgbClr val="2A4070"/>
            </a:solidFill>
            <a:prstDash val="solid"/>
          </a:ln>
        </p:spPr>
      </p:sp>
      <p:sp>
        <p:nvSpPr>
          <p:cNvPr id="12" name="Text 10"/>
          <p:cNvSpPr/>
          <p:nvPr/>
        </p:nvSpPr>
        <p:spPr>
          <a:xfrm>
            <a:off x="5989320" y="822960"/>
            <a:ext cx="26974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TODAY'S BEAT</a:t>
            </a:r>
            <a:endParaRPr lang="en-US" sz="900" dirty="0"/>
          </a:p>
        </p:txBody>
      </p:sp>
      <p:sp>
        <p:nvSpPr>
          <p:cNvPr id="13" name="Text 11"/>
          <p:cNvSpPr/>
          <p:nvPr/>
        </p:nvSpPr>
        <p:spPr>
          <a:xfrm>
            <a:off x="5989320" y="1060704"/>
            <a:ext cx="2697480" cy="1920240"/>
          </a:xfrm>
          <a:prstGeom prst="rect">
            <a:avLst/>
          </a:prstGeom>
          <a:noFill/>
          <a:ln/>
        </p:spPr>
        <p:txBody>
          <a:bodyPr wrap="square" lIns="0" tIns="0" rIns="0" bIns="0" rtlCol="0" anchor="t"/>
          <a:lstStyle/>
          <a:p>
            <a:pPr indent="0" marL="0">
              <a:spcAft>
                <a:spcPts val="600"/>
              </a:spcAft>
              <a:buNone/>
            </a:pPr>
            <a:r>
              <a:rPr lang="en-US" sz="1100" dirty="0">
                <a:solidFill>
                  <a:srgbClr val="D6F2FB"/>
                </a:solidFill>
                <a:latin typeface="Calibri" pitchFamily="34" charset="0"/>
                <a:ea typeface="Calibri" pitchFamily="34" charset="-122"/>
                <a:cs typeface="Calibri" pitchFamily="34" charset="-120"/>
              </a:rPr>
              <a:t>Describe the Mound Builder civilizations and where they lived.</a:t>
            </a:r>
            <a:endParaRPr lang="en-US" sz="1100" dirty="0"/>
          </a:p>
          <a:p>
            <a:pPr indent="0" marL="0">
              <a:spcAft>
                <a:spcPts val="600"/>
              </a:spcAft>
              <a:buNone/>
            </a:pPr>
            <a:r>
              <a:rPr lang="en-US" sz="1100" dirty="0">
                <a:solidFill>
                  <a:srgbClr val="D6F2FB"/>
                </a:solidFill>
                <a:latin typeface="Calibri" pitchFamily="34" charset="0"/>
                <a:ea typeface="Calibri" pitchFamily="34" charset="-122"/>
                <a:cs typeface="Calibri" pitchFamily="34" charset="-120"/>
              </a:rPr>
              <a:t>Explain what the mounds tell us about these societies.</a:t>
            </a:r>
            <a:endParaRPr lang="en-US" sz="1100" dirty="0"/>
          </a:p>
          <a:p>
            <a:pPr indent="0" marL="0">
              <a:buNone/>
            </a:pPr>
            <a:r>
              <a:rPr lang="en-US" sz="1100" b="1" dirty="0">
                <a:solidFill>
                  <a:srgbClr val="55C8E8"/>
                </a:solidFill>
                <a:latin typeface="Calibri" pitchFamily="34" charset="0"/>
                <a:ea typeface="Calibri" pitchFamily="34" charset="-122"/>
                <a:cs typeface="Calibri" pitchFamily="34" charset="-120"/>
              </a:rPr>
              <a:t>Use evidence to challenge the Herald's claim.</a:t>
            </a:r>
            <a:endParaRPr lang="en-US" sz="1100" dirty="0"/>
          </a:p>
        </p:txBody>
      </p:sp>
      <p:sp>
        <p:nvSpPr>
          <p:cNvPr id="14" name="Shape 12"/>
          <p:cNvSpPr/>
          <p:nvPr/>
        </p:nvSpPr>
        <p:spPr>
          <a:xfrm>
            <a:off x="320040" y="3246120"/>
            <a:ext cx="8503920" cy="868680"/>
          </a:xfrm>
          <a:prstGeom prst="roundRect">
            <a:avLst>
              <a:gd name="adj" fmla="val 12632"/>
            </a:avLst>
          </a:prstGeom>
          <a:solidFill>
            <a:srgbClr val="1A8A7D">
              <a:alpha val="95000"/>
            </a:srgbClr>
          </a:solidFill>
          <a:ln/>
        </p:spPr>
      </p:sp>
      <p:sp>
        <p:nvSpPr>
          <p:cNvPr id="15" name="Text 13"/>
          <p:cNvSpPr/>
          <p:nvPr/>
        </p:nvSpPr>
        <p:spPr>
          <a:xfrm>
            <a:off x="457200" y="3310128"/>
            <a:ext cx="8229600" cy="201168"/>
          </a:xfrm>
          <a:prstGeom prst="rect">
            <a:avLst/>
          </a:prstGeom>
          <a:noFill/>
          <a:ln/>
        </p:spPr>
        <p:txBody>
          <a:bodyPr wrap="square" lIns="0" tIns="0" rIns="0" bIns="0"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YOUR ROLE TODAY</a:t>
            </a:r>
            <a:endParaRPr lang="en-US" sz="900" dirty="0"/>
          </a:p>
        </p:txBody>
      </p:sp>
      <p:sp>
        <p:nvSpPr>
          <p:cNvPr id="16" name="Text 14"/>
          <p:cNvSpPr/>
          <p:nvPr/>
        </p:nvSpPr>
        <p:spPr>
          <a:xfrm>
            <a:off x="457200" y="3520440"/>
            <a:ext cx="8229600" cy="512064"/>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You are a Junior Editor on the Front Page Desk at The Republic Gazette. Ms. Avery has assigned you to gather the essential facts about the Mound Builders and publish a Front Page Brief — with evidence.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alpha val="85000"/>
            </a:srgbClr>
          </a:solidFill>
          <a:ln/>
        </p:spPr>
      </p:sp>
      <p:sp>
        <p:nvSpPr>
          <p:cNvPr id="6" name="Text 3"/>
          <p:cNvSpPr/>
          <p:nvPr/>
        </p:nvSpPr>
        <p:spPr>
          <a:xfrm>
            <a:off x="320040" y="0"/>
            <a:ext cx="8503920" cy="50292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VIRTUE LENS  ·  LESSON 5.03.01</a:t>
            </a:r>
            <a:endParaRPr lang="en-US" sz="1200" dirty="0"/>
          </a:p>
        </p:txBody>
      </p:sp>
      <p:sp>
        <p:nvSpPr>
          <p:cNvPr id="7" name="Text 4"/>
          <p:cNvSpPr/>
          <p:nvPr/>
        </p:nvSpPr>
        <p:spPr>
          <a:xfrm>
            <a:off x="457200" y="685800"/>
            <a:ext cx="8229600" cy="914400"/>
          </a:xfrm>
          <a:prstGeom prst="rect">
            <a:avLst/>
          </a:prstGeom>
          <a:noFill/>
          <a:ln/>
        </p:spPr>
        <p:txBody>
          <a:bodyPr wrap="square" lIns="0" tIns="0" rIns="0" bIns="0" rtlCol="0" anchor="ctr"/>
          <a:lstStyle/>
          <a:p>
            <a:pPr algn="ctr" indent="0" marL="0">
              <a:buNone/>
            </a:pPr>
            <a:r>
              <a:rPr lang="en-US" sz="6400" b="1" dirty="0">
                <a:solidFill>
                  <a:srgbClr val="D4943A"/>
                </a:solidFill>
                <a:latin typeface="Cambria" pitchFamily="34" charset="0"/>
                <a:ea typeface="Cambria" pitchFamily="34" charset="-122"/>
                <a:cs typeface="Cambria" pitchFamily="34" charset="-120"/>
              </a:rPr>
              <a:t>Courage</a:t>
            </a:r>
            <a:endParaRPr lang="en-US" sz="6400" dirty="0"/>
          </a:p>
        </p:txBody>
      </p:sp>
      <p:sp>
        <p:nvSpPr>
          <p:cNvPr id="8" name="Shape 5"/>
          <p:cNvSpPr/>
          <p:nvPr/>
        </p:nvSpPr>
        <p:spPr>
          <a:xfrm>
            <a:off x="1371600" y="1572768"/>
            <a:ext cx="6400800" cy="36576"/>
          </a:xfrm>
          <a:prstGeom prst="rect">
            <a:avLst/>
          </a:prstGeom>
          <a:solidFill>
            <a:srgbClr val="D4943A"/>
          </a:solidFill>
          <a:ln/>
        </p:spPr>
      </p:sp>
      <p:sp>
        <p:nvSpPr>
          <p:cNvPr id="9" name="Shape 6"/>
          <p:cNvSpPr/>
          <p:nvPr/>
        </p:nvSpPr>
        <p:spPr>
          <a:xfrm>
            <a:off x="731520" y="1719072"/>
            <a:ext cx="7680960" cy="1371600"/>
          </a:xfrm>
          <a:prstGeom prst="roundRect">
            <a:avLst>
              <a:gd name="adj" fmla="val 9333"/>
            </a:avLst>
          </a:prstGeom>
          <a:solidFill>
            <a:srgbClr val="0E1C42">
              <a:alpha val="85000"/>
            </a:srgbClr>
          </a:solidFill>
          <a:ln w="19050">
            <a:solidFill>
              <a:srgbClr val="D4943A"/>
            </a:solidFill>
            <a:prstDash val="solid"/>
          </a:ln>
        </p:spPr>
      </p:sp>
      <p:sp>
        <p:nvSpPr>
          <p:cNvPr id="10" name="Text 7"/>
          <p:cNvSpPr/>
          <p:nvPr/>
        </p:nvSpPr>
        <p:spPr>
          <a:xfrm>
            <a:off x="914400" y="1783080"/>
            <a:ext cx="7315200" cy="1234440"/>
          </a:xfrm>
          <a:prstGeom prst="rect">
            <a:avLst/>
          </a:prstGeom>
          <a:noFill/>
          <a:ln/>
        </p:spPr>
        <p:txBody>
          <a:bodyPr wrap="square" lIns="0" tIns="0" rIns="0" bIns="0" rtlCol="0" anchor="ctr"/>
          <a:lstStyle/>
          <a:p>
            <a:pPr algn="ctr" indent="0" marL="0">
              <a:buNone/>
            </a:pPr>
            <a:r>
              <a:rPr lang="en-US" sz="1450" i="1" dirty="0">
                <a:solidFill>
                  <a:srgbClr val="F0F2F8"/>
                </a:solidFill>
                <a:latin typeface="Cambria" pitchFamily="34" charset="0"/>
                <a:ea typeface="Cambria" pitchFamily="34" charset="-122"/>
                <a:cs typeface="Cambria" pitchFamily="34" charset="-120"/>
              </a:rPr>
              <a:t>"A courageous editor prints what the evidence shows, even when a simpler story would be easier to sell. Today, as you study the Mound Builders, notice how the evidence challenges the idea that these civilizations left behind only mysteries. Courage means looking at the full picture."</a:t>
            </a:r>
            <a:endParaRPr lang="en-US" sz="1450" dirty="0"/>
          </a:p>
        </p:txBody>
      </p:sp>
      <p:sp>
        <p:nvSpPr>
          <p:cNvPr id="11" name="Shape 8"/>
          <p:cNvSpPr/>
          <p:nvPr/>
        </p:nvSpPr>
        <p:spPr>
          <a:xfrm>
            <a:off x="411480" y="3246120"/>
            <a:ext cx="2606040" cy="1325880"/>
          </a:xfrm>
          <a:prstGeom prst="roundRect">
            <a:avLst>
              <a:gd name="adj" fmla="val 8276"/>
            </a:avLst>
          </a:prstGeom>
          <a:solidFill>
            <a:srgbClr val="D4943A">
              <a:alpha val="75000"/>
            </a:srgbClr>
          </a:solidFill>
          <a:ln w="12700">
            <a:solidFill>
              <a:srgbClr val="D4943A"/>
            </a:solidFill>
            <a:prstDash val="solid"/>
          </a:ln>
        </p:spPr>
      </p:sp>
      <p:sp>
        <p:nvSpPr>
          <p:cNvPr id="12" name="Text 9"/>
          <p:cNvSpPr/>
          <p:nvPr/>
        </p:nvSpPr>
        <p:spPr>
          <a:xfrm>
            <a:off x="502920" y="3310128"/>
            <a:ext cx="242316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Look at ALL</a:t>
            </a:r>
            <a:endParaRPr lang="en-US" sz="1300" dirty="0"/>
          </a:p>
        </p:txBody>
      </p:sp>
      <p:sp>
        <p:nvSpPr>
          <p:cNvPr id="13" name="Text 10"/>
          <p:cNvSpPr/>
          <p:nvPr/>
        </p:nvSpPr>
        <p:spPr>
          <a:xfrm>
            <a:off x="502920" y="3611880"/>
            <a:ext cx="2423160" cy="841248"/>
          </a:xfrm>
          <a:prstGeom prst="rect">
            <a:avLst/>
          </a:prstGeom>
          <a:noFill/>
          <a:ln/>
        </p:spPr>
        <p:txBody>
          <a:bodyPr wrap="square" lIns="0" tIns="0" rIns="0" bIns="0" rtlCol="0" anchor="t"/>
          <a:lstStyle/>
          <a:p>
            <a:pPr algn="ctr" indent="0" marL="0">
              <a:buNone/>
            </a:pPr>
            <a:r>
              <a:rPr lang="en-US" sz="1100" dirty="0">
                <a:solidFill>
                  <a:srgbClr val="F0F2F8"/>
                </a:solidFill>
                <a:latin typeface="Calibri" pitchFamily="34" charset="0"/>
                <a:ea typeface="Calibri" pitchFamily="34" charset="-122"/>
                <a:cs typeface="Calibri" pitchFamily="34" charset="-120"/>
              </a:rPr>
              <a:t>the evidence, even parts that complicate a simpler story</a:t>
            </a:r>
            <a:endParaRPr lang="en-US" sz="1100" dirty="0"/>
          </a:p>
        </p:txBody>
      </p:sp>
      <p:sp>
        <p:nvSpPr>
          <p:cNvPr id="14" name="Shape 11"/>
          <p:cNvSpPr/>
          <p:nvPr/>
        </p:nvSpPr>
        <p:spPr>
          <a:xfrm>
            <a:off x="3246120" y="3246120"/>
            <a:ext cx="2606040" cy="1325880"/>
          </a:xfrm>
          <a:prstGeom prst="roundRect">
            <a:avLst>
              <a:gd name="adj" fmla="val 8276"/>
            </a:avLst>
          </a:prstGeom>
          <a:solidFill>
            <a:srgbClr val="D4943A">
              <a:alpha val="75000"/>
            </a:srgbClr>
          </a:solidFill>
          <a:ln w="12700">
            <a:solidFill>
              <a:srgbClr val="D4943A"/>
            </a:solidFill>
            <a:prstDash val="solid"/>
          </a:ln>
        </p:spPr>
      </p:sp>
      <p:sp>
        <p:nvSpPr>
          <p:cNvPr id="15" name="Text 12"/>
          <p:cNvSpPr/>
          <p:nvPr/>
        </p:nvSpPr>
        <p:spPr>
          <a:xfrm>
            <a:off x="3337560" y="3310128"/>
            <a:ext cx="242316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Ask questions</a:t>
            </a:r>
            <a:endParaRPr lang="en-US" sz="1300" dirty="0"/>
          </a:p>
        </p:txBody>
      </p:sp>
      <p:sp>
        <p:nvSpPr>
          <p:cNvPr id="16" name="Text 13"/>
          <p:cNvSpPr/>
          <p:nvPr/>
        </p:nvSpPr>
        <p:spPr>
          <a:xfrm>
            <a:off x="3337560" y="3611880"/>
            <a:ext cx="2423160" cy="841248"/>
          </a:xfrm>
          <a:prstGeom prst="rect">
            <a:avLst/>
          </a:prstGeom>
          <a:noFill/>
          <a:ln/>
        </p:spPr>
        <p:txBody>
          <a:bodyPr wrap="square" lIns="0" tIns="0" rIns="0" bIns="0" rtlCol="0" anchor="t"/>
          <a:lstStyle/>
          <a:p>
            <a:pPr algn="ctr" indent="0" marL="0">
              <a:buNone/>
            </a:pPr>
            <a:r>
              <a:rPr lang="en-US" sz="1100" dirty="0">
                <a:solidFill>
                  <a:srgbClr val="F0F2F8"/>
                </a:solidFill>
                <a:latin typeface="Calibri" pitchFamily="34" charset="0"/>
                <a:ea typeface="Calibri" pitchFamily="34" charset="-122"/>
                <a:cs typeface="Calibri" pitchFamily="34" charset="-120"/>
              </a:rPr>
              <a:t>before rushing to a conclusion or headline</a:t>
            </a:r>
            <a:endParaRPr lang="en-US" sz="1100" dirty="0"/>
          </a:p>
        </p:txBody>
      </p:sp>
      <p:sp>
        <p:nvSpPr>
          <p:cNvPr id="17" name="Shape 14"/>
          <p:cNvSpPr/>
          <p:nvPr/>
        </p:nvSpPr>
        <p:spPr>
          <a:xfrm>
            <a:off x="6080760" y="3246120"/>
            <a:ext cx="2606040" cy="1325880"/>
          </a:xfrm>
          <a:prstGeom prst="roundRect">
            <a:avLst>
              <a:gd name="adj" fmla="val 8276"/>
            </a:avLst>
          </a:prstGeom>
          <a:solidFill>
            <a:srgbClr val="D4943A">
              <a:alpha val="75000"/>
            </a:srgbClr>
          </a:solidFill>
          <a:ln w="12700">
            <a:solidFill>
              <a:srgbClr val="D4943A"/>
            </a:solidFill>
            <a:prstDash val="solid"/>
          </a:ln>
        </p:spPr>
      </p:sp>
      <p:sp>
        <p:nvSpPr>
          <p:cNvPr id="18" name="Text 15"/>
          <p:cNvSpPr/>
          <p:nvPr/>
        </p:nvSpPr>
        <p:spPr>
          <a:xfrm>
            <a:off x="6172200" y="3310128"/>
            <a:ext cx="242316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Print what</a:t>
            </a:r>
            <a:endParaRPr lang="en-US" sz="1300" dirty="0"/>
          </a:p>
        </p:txBody>
      </p:sp>
      <p:sp>
        <p:nvSpPr>
          <p:cNvPr id="19" name="Text 16"/>
          <p:cNvSpPr/>
          <p:nvPr/>
        </p:nvSpPr>
        <p:spPr>
          <a:xfrm>
            <a:off x="6172200" y="3611880"/>
            <a:ext cx="2423160" cy="841248"/>
          </a:xfrm>
          <a:prstGeom prst="rect">
            <a:avLst/>
          </a:prstGeom>
          <a:noFill/>
          <a:ln/>
        </p:spPr>
        <p:txBody>
          <a:bodyPr wrap="square" lIns="0" tIns="0" rIns="0" bIns="0" rtlCol="0" anchor="t"/>
          <a:lstStyle/>
          <a:p>
            <a:pPr algn="ctr" indent="0" marL="0">
              <a:buNone/>
            </a:pPr>
            <a:r>
              <a:rPr lang="en-US" sz="1100" dirty="0">
                <a:solidFill>
                  <a:srgbClr val="F0F2F8"/>
                </a:solidFill>
                <a:latin typeface="Calibri" pitchFamily="34" charset="0"/>
                <a:ea typeface="Calibri" pitchFamily="34" charset="-122"/>
                <a:cs typeface="Calibri" pitchFamily="34" charset="-120"/>
              </a:rPr>
              <a:t>the evidence shows — not what's easiest</a:t>
            </a:r>
            <a:endParaRPr lang="en-US" sz="1100" dirty="0"/>
          </a:p>
        </p:txBody>
      </p:sp>
      <p:sp>
        <p:nvSpPr>
          <p:cNvPr id="20" name="Text 17"/>
          <p:cNvSpPr/>
          <p:nvPr/>
        </p:nvSpPr>
        <p:spPr>
          <a:xfrm>
            <a:off x="320040" y="4800600"/>
            <a:ext cx="8503920" cy="228600"/>
          </a:xfrm>
          <a:prstGeom prst="rect">
            <a:avLst/>
          </a:prstGeom>
          <a:noFill/>
          <a:ln/>
        </p:spPr>
        <p:txBody>
          <a:bodyPr wrap="square" lIns="0" tIns="0" rIns="0" bIns="0" rtlCol="0" anchor="ctr"/>
          <a:lstStyle/>
          <a:p>
            <a:pPr algn="r" indent="0" marL="0">
              <a:buNone/>
            </a:pPr>
            <a:r>
              <a:rPr lang="en-US" sz="900" i="1" dirty="0">
                <a:solidFill>
                  <a:srgbClr val="7A88A8"/>
                </a:solidFill>
                <a:latin typeface="Calibri" pitchFamily="34" charset="0"/>
                <a:ea typeface="Calibri" pitchFamily="34" charset="-122"/>
                <a:cs typeface="Calibri" pitchFamily="34" charset="-120"/>
              </a:rPr>
              <a:t>Standard: SS.5.A.2.1  ·  SS.5.G.1.1  ·  SS.5.G.1.4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0E1C42"/>
          </a:solidFill>
          <a:ln/>
        </p:spPr>
      </p:sp>
      <p:sp>
        <p:nvSpPr>
          <p:cNvPr id="4" name="Text 2"/>
          <p:cNvSpPr/>
          <p:nvPr/>
        </p:nvSpPr>
        <p:spPr>
          <a:xfrm>
            <a:off x="320040" y="0"/>
            <a:ext cx="8503920" cy="566928"/>
          </a:xfrm>
          <a:prstGeom prst="rect">
            <a:avLst/>
          </a:prstGeom>
          <a:noFill/>
          <a:ln/>
        </p:spPr>
        <p:txBody>
          <a:bodyPr wrap="square" lIns="0" tIns="0" rIns="0" bIns="0" rtlCol="0" anchor="ctr"/>
          <a:lstStyle/>
          <a:p>
            <a:pPr indent="0" marL="0">
              <a:buNone/>
            </a:pPr>
            <a:r>
              <a:rPr lang="en-US" sz="1500" b="1" spc="150" kern="0" dirty="0">
                <a:solidFill>
                  <a:srgbClr val="D4943A"/>
                </a:solidFill>
                <a:latin typeface="Cambria" pitchFamily="34" charset="0"/>
                <a:ea typeface="Cambria" pitchFamily="34" charset="-122"/>
                <a:cs typeface="Cambria" pitchFamily="34" charset="-120"/>
              </a:rPr>
              <a:t>THE FRONT PAGE DESK  —  WHO WERE THE MOUND BUILDERS?</a:t>
            </a:r>
            <a:endParaRPr lang="en-US" sz="1500" dirty="0"/>
          </a:p>
        </p:txBody>
      </p:sp>
      <p:sp>
        <p:nvSpPr>
          <p:cNvPr id="5" name="Shape 3"/>
          <p:cNvSpPr/>
          <p:nvPr/>
        </p:nvSpPr>
        <p:spPr>
          <a:xfrm>
            <a:off x="320040" y="685800"/>
            <a:ext cx="5349240" cy="3154680"/>
          </a:xfrm>
          <a:prstGeom prst="roundRect">
            <a:avLst>
              <a:gd name="adj" fmla="val 3478"/>
            </a:avLst>
          </a:prstGeom>
          <a:solidFill>
            <a:srgbClr val="FFFFFF"/>
          </a:solidFill>
          <a:ln w="12700">
            <a:solidFill>
              <a:srgbClr val="C8D0E0"/>
            </a:solidFill>
            <a:prstDash val="solid"/>
          </a:ln>
        </p:spPr>
      </p:sp>
      <p:sp>
        <p:nvSpPr>
          <p:cNvPr id="6" name="Text 4"/>
          <p:cNvSpPr/>
          <p:nvPr/>
        </p:nvSpPr>
        <p:spPr>
          <a:xfrm>
            <a:off x="457200" y="777240"/>
            <a:ext cx="5074920" cy="2971800"/>
          </a:xfrm>
          <a:prstGeom prst="rect">
            <a:avLst/>
          </a:prstGeom>
          <a:noFill/>
          <a:ln/>
        </p:spPr>
        <p:txBody>
          <a:bodyPr wrap="square" lIns="0" tIns="0" rIns="0" bIns="0" rtlCol="0" anchor="t"/>
          <a:lstStyle/>
          <a:p>
            <a:pPr indent="0" marL="0">
              <a:buNone/>
            </a:pPr>
            <a:r>
              <a:rPr lang="en-US" sz="1200" dirty="0">
                <a:solidFill>
                  <a:srgbClr val="2A3A5A"/>
                </a:solidFill>
                <a:latin typeface="Calibri" pitchFamily="34" charset="0"/>
                <a:ea typeface="Calibri" pitchFamily="34" charset="-122"/>
                <a:cs typeface="Calibri" pitchFamily="34" charset="-120"/>
              </a:rPr>
              <a:t>Long before European explorers arrived, many different Native American groups built enormous mounds of earth across what is now the eastern and central United States. Historians call these groups the </a:t>
            </a:r>
            <a:pPr indent="0" marL="0">
              <a:buNone/>
            </a:pPr>
            <a:r>
              <a:rPr lang="en-US" sz="1200" b="1" dirty="0">
                <a:solidFill>
                  <a:srgbClr val="0E1C42"/>
                </a:solidFill>
                <a:latin typeface="Calibri" pitchFamily="34" charset="0"/>
                <a:ea typeface="Calibri" pitchFamily="34" charset="-122"/>
                <a:cs typeface="Calibri" pitchFamily="34" charset="-120"/>
              </a:rPr>
              <a:t>"Mound Builders,"</a:t>
            </a:r>
            <a:pPr indent="0" marL="0">
              <a:spcAft>
                <a:spcPts val="800"/>
              </a:spcAft>
              <a:buNone/>
            </a:pPr>
            <a:r>
              <a:rPr lang="en-US" sz="1200" dirty="0">
                <a:solidFill>
                  <a:srgbClr val="2A3A5A"/>
                </a:solidFill>
                <a:latin typeface="Calibri" pitchFamily="34" charset="0"/>
                <a:ea typeface="Calibri" pitchFamily="34" charset="-122"/>
                <a:cs typeface="Calibri" pitchFamily="34" charset="-120"/>
              </a:rPr>
              <a:t> though they were actually many different cultures spread across thousands of years.</a:t>
            </a:r>
            <a:endParaRPr lang="en-US" sz="1200" dirty="0"/>
          </a:p>
          <a:p>
            <a:pPr indent="0" marL="0">
              <a:buNone/>
            </a:pPr>
            <a:r>
              <a:rPr lang="en-US" sz="1200" dirty="0">
                <a:solidFill>
                  <a:srgbClr val="2A3A5A"/>
                </a:solidFill>
                <a:latin typeface="Calibri" pitchFamily="34" charset="0"/>
                <a:ea typeface="Calibri" pitchFamily="34" charset="-122"/>
                <a:cs typeface="Calibri" pitchFamily="34" charset="-120"/>
              </a:rPr>
              <a:t>The earliest mounds date back more than 3,000 years. Some were </a:t>
            </a:r>
            <a:pPr indent="0" marL="0">
              <a:buNone/>
            </a:pPr>
            <a:r>
              <a:rPr lang="en-US" sz="1200" b="1" dirty="0">
                <a:solidFill>
                  <a:srgbClr val="1A8A7D"/>
                </a:solidFill>
                <a:latin typeface="Calibri" pitchFamily="34" charset="0"/>
                <a:ea typeface="Calibri" pitchFamily="34" charset="-122"/>
                <a:cs typeface="Calibri" pitchFamily="34" charset="-120"/>
              </a:rPr>
              <a:t>burial mounds</a:t>
            </a:r>
            <a:pPr indent="0" marL="0">
              <a:buNone/>
            </a:pPr>
            <a:r>
              <a:rPr lang="en-US" sz="1200" dirty="0">
                <a:solidFill>
                  <a:srgbClr val="2A3A5A"/>
                </a:solidFill>
                <a:latin typeface="Calibri" pitchFamily="34" charset="0"/>
                <a:ea typeface="Calibri" pitchFamily="34" charset="-122"/>
                <a:cs typeface="Calibri" pitchFamily="34" charset="-120"/>
              </a:rPr>
              <a:t>. Some were flat-topped </a:t>
            </a:r>
            <a:pPr indent="0" marL="0">
              <a:buNone/>
            </a:pPr>
            <a:r>
              <a:rPr lang="en-US" sz="1200" b="1" dirty="0">
                <a:solidFill>
                  <a:srgbClr val="1A8A7D"/>
                </a:solidFill>
                <a:latin typeface="Calibri" pitchFamily="34" charset="0"/>
                <a:ea typeface="Calibri" pitchFamily="34" charset="-122"/>
                <a:cs typeface="Calibri" pitchFamily="34" charset="-120"/>
              </a:rPr>
              <a:t>platforms</a:t>
            </a:r>
            <a:pPr indent="0" marL="0">
              <a:buNone/>
            </a:pPr>
            <a:r>
              <a:rPr lang="en-US" sz="1200" dirty="0">
                <a:solidFill>
                  <a:srgbClr val="2A3A5A"/>
                </a:solidFill>
                <a:latin typeface="Calibri" pitchFamily="34" charset="0"/>
                <a:ea typeface="Calibri" pitchFamily="34" charset="-122"/>
                <a:cs typeface="Calibri" pitchFamily="34" charset="-120"/>
              </a:rPr>
              <a:t> for important buildings. Some were shaped like animals — the </a:t>
            </a:r>
            <a:pPr indent="0" marL="0">
              <a:buNone/>
            </a:pPr>
            <a:r>
              <a:rPr lang="en-US" sz="1200" b="1" dirty="0">
                <a:solidFill>
                  <a:srgbClr val="D4943A"/>
                </a:solidFill>
                <a:latin typeface="Calibri" pitchFamily="34" charset="0"/>
                <a:ea typeface="Calibri" pitchFamily="34" charset="-122"/>
                <a:cs typeface="Calibri" pitchFamily="34" charset="-120"/>
              </a:rPr>
              <a:t>Great Serpent Mound</a:t>
            </a:r>
            <a:pPr indent="0" marL="0">
              <a:spcAft>
                <a:spcPts val="800"/>
              </a:spcAft>
              <a:buNone/>
            </a:pPr>
            <a:r>
              <a:rPr lang="en-US" sz="1200" dirty="0">
                <a:solidFill>
                  <a:srgbClr val="2A3A5A"/>
                </a:solidFill>
                <a:latin typeface="Calibri" pitchFamily="34" charset="0"/>
                <a:ea typeface="Calibri" pitchFamily="34" charset="-122"/>
                <a:cs typeface="Calibri" pitchFamily="34" charset="-120"/>
              </a:rPr>
              <a:t> in Ohio stretches more than 1,300 feet in the shape of a snake.</a:t>
            </a:r>
            <a:endParaRPr lang="en-US" sz="1200" dirty="0"/>
          </a:p>
          <a:p>
            <a:pPr indent="0" marL="0">
              <a:buNone/>
            </a:pPr>
            <a:r>
              <a:rPr lang="en-US" sz="1200" b="1" dirty="0">
                <a:solidFill>
                  <a:srgbClr val="0E1C42"/>
                </a:solidFill>
                <a:latin typeface="Calibri" pitchFamily="34" charset="0"/>
                <a:ea typeface="Calibri" pitchFamily="34" charset="-122"/>
                <a:cs typeface="Calibri" pitchFamily="34" charset="-120"/>
              </a:rPr>
              <a:t>Key cultures: </a:t>
            </a:r>
            <a:pPr indent="0" marL="0">
              <a:buNone/>
            </a:pPr>
            <a:r>
              <a:rPr lang="en-US" sz="1200" b="1" dirty="0">
                <a:solidFill>
                  <a:srgbClr val="1A8A7D"/>
                </a:solidFill>
                <a:latin typeface="Calibri" pitchFamily="34" charset="0"/>
                <a:ea typeface="Calibri" pitchFamily="34" charset="-122"/>
                <a:cs typeface="Calibri" pitchFamily="34" charset="-120"/>
              </a:rPr>
              <a:t>Adena, Hopewell, and Mississippian peoples</a:t>
            </a:r>
            <a:pPr indent="0" marL="0">
              <a:buNone/>
            </a:pPr>
            <a:r>
              <a:rPr lang="en-US" sz="1200" dirty="0">
                <a:solidFill>
                  <a:srgbClr val="2A3A5A"/>
                </a:solidFill>
                <a:latin typeface="Calibri" pitchFamily="34" charset="0"/>
                <a:ea typeface="Calibri" pitchFamily="34" charset="-122"/>
                <a:cs typeface="Calibri" pitchFamily="34" charset="-120"/>
              </a:rPr>
              <a:t> — all left behind powerful evidence of organized, connected civilizations.</a:t>
            </a:r>
            <a:endParaRPr lang="en-US" sz="1200" dirty="0"/>
          </a:p>
        </p:txBody>
      </p:sp>
      <p:sp>
        <p:nvSpPr>
          <p:cNvPr id="7" name="Shape 5"/>
          <p:cNvSpPr/>
          <p:nvPr/>
        </p:nvSpPr>
        <p:spPr>
          <a:xfrm>
            <a:off x="5806440" y="685800"/>
            <a:ext cx="3017520" cy="914400"/>
          </a:xfrm>
          <a:prstGeom prst="roundRect">
            <a:avLst>
              <a:gd name="adj" fmla="val 10000"/>
            </a:avLst>
          </a:prstGeom>
          <a:solidFill>
            <a:srgbClr val="1A2D5A"/>
          </a:solidFill>
          <a:ln w="12700">
            <a:solidFill>
              <a:srgbClr val="2A4070"/>
            </a:solidFill>
            <a:prstDash val="solid"/>
          </a:ln>
        </p:spPr>
      </p:sp>
      <p:sp>
        <p:nvSpPr>
          <p:cNvPr id="8" name="Text 6"/>
          <p:cNvSpPr/>
          <p:nvPr/>
        </p:nvSpPr>
        <p:spPr>
          <a:xfrm>
            <a:off x="5943600" y="749808"/>
            <a:ext cx="2743200" cy="182880"/>
          </a:xfrm>
          <a:prstGeom prst="rect">
            <a:avLst/>
          </a:prstGeom>
          <a:noFill/>
          <a:ln/>
        </p:spPr>
        <p:txBody>
          <a:bodyPr wrap="square" lIns="0" tIns="0" rIns="0" bIns="0" rtlCol="0" anchor="ctr"/>
          <a:lstStyle/>
          <a:p>
            <a:pPr indent="0" marL="0">
              <a:buNone/>
            </a:pPr>
            <a:r>
              <a:rPr lang="en-US" sz="850" b="1" spc="120" kern="0" dirty="0">
                <a:solidFill>
                  <a:srgbClr val="55C8E8"/>
                </a:solidFill>
                <a:latin typeface="Calibri" pitchFamily="34" charset="0"/>
                <a:ea typeface="Calibri" pitchFamily="34" charset="-122"/>
                <a:cs typeface="Calibri" pitchFamily="34" charset="-120"/>
              </a:rPr>
              <a:t>3 CULTURES TO KNOW</a:t>
            </a:r>
            <a:endParaRPr lang="en-US" sz="850" dirty="0"/>
          </a:p>
        </p:txBody>
      </p:sp>
      <p:sp>
        <p:nvSpPr>
          <p:cNvPr id="9" name="Text 7"/>
          <p:cNvSpPr/>
          <p:nvPr/>
        </p:nvSpPr>
        <p:spPr>
          <a:xfrm>
            <a:off x="5943600" y="950976"/>
            <a:ext cx="2743200" cy="54864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Adena · Hopewell · Mississippian</a:t>
            </a:r>
            <a:endParaRPr lang="en-US" sz="1300" dirty="0"/>
          </a:p>
        </p:txBody>
      </p:sp>
      <p:sp>
        <p:nvSpPr>
          <p:cNvPr id="10" name="Shape 8"/>
          <p:cNvSpPr/>
          <p:nvPr/>
        </p:nvSpPr>
        <p:spPr>
          <a:xfrm>
            <a:off x="5806440" y="1719072"/>
            <a:ext cx="3017520" cy="1005840"/>
          </a:xfrm>
          <a:prstGeom prst="roundRect">
            <a:avLst>
              <a:gd name="adj" fmla="val 9091"/>
            </a:avLst>
          </a:prstGeom>
          <a:solidFill>
            <a:srgbClr val="FFF3DC"/>
          </a:solidFill>
          <a:ln w="19050">
            <a:solidFill>
              <a:srgbClr val="F5E6C8"/>
            </a:solidFill>
            <a:prstDash val="solid"/>
          </a:ln>
        </p:spPr>
      </p:sp>
      <p:sp>
        <p:nvSpPr>
          <p:cNvPr id="11" name="Text 9"/>
          <p:cNvSpPr/>
          <p:nvPr/>
        </p:nvSpPr>
        <p:spPr>
          <a:xfrm>
            <a:off x="5943600" y="1783080"/>
            <a:ext cx="2743200" cy="182880"/>
          </a:xfrm>
          <a:prstGeom prst="rect">
            <a:avLst/>
          </a:prstGeom>
          <a:noFill/>
          <a:ln/>
        </p:spPr>
        <p:txBody>
          <a:bodyPr wrap="square" lIns="0" tIns="0" rIns="0" bIns="0" rtlCol="0" anchor="ctr"/>
          <a:lstStyle/>
          <a:p>
            <a:pPr indent="0" marL="0">
              <a:buNone/>
            </a:pPr>
            <a:r>
              <a:rPr lang="en-US" sz="850" b="1" spc="120" kern="0" dirty="0">
                <a:solidFill>
                  <a:srgbClr val="D4943A"/>
                </a:solidFill>
                <a:latin typeface="Calibri" pitchFamily="34" charset="0"/>
                <a:ea typeface="Calibri" pitchFamily="34" charset="-122"/>
                <a:cs typeface="Calibri" pitchFamily="34" charset="-120"/>
              </a:rPr>
              <a:t>FAST FACT</a:t>
            </a:r>
            <a:endParaRPr lang="en-US" sz="850" dirty="0"/>
          </a:p>
        </p:txBody>
      </p:sp>
      <p:sp>
        <p:nvSpPr>
          <p:cNvPr id="12" name="Text 10"/>
          <p:cNvSpPr/>
          <p:nvPr/>
        </p:nvSpPr>
        <p:spPr>
          <a:xfrm>
            <a:off x="5943600" y="1993392"/>
            <a:ext cx="2743200" cy="658368"/>
          </a:xfrm>
          <a:prstGeom prst="rect">
            <a:avLst/>
          </a:prstGeom>
          <a:noFill/>
          <a:ln/>
        </p:spPr>
        <p:txBody>
          <a:bodyPr wrap="square" lIns="0" tIns="0" rIns="0" bIns="0" rtlCol="0" anchor="t"/>
          <a:lstStyle/>
          <a:p>
            <a:pPr indent="0" marL="0">
              <a:buNone/>
            </a:pPr>
            <a:r>
              <a:rPr lang="en-US" sz="1150" dirty="0">
                <a:solidFill>
                  <a:srgbClr val="5A4A3A"/>
                </a:solidFill>
                <a:latin typeface="Calibri" pitchFamily="34" charset="0"/>
                <a:ea typeface="Calibri" pitchFamily="34" charset="-122"/>
                <a:cs typeface="Calibri" pitchFamily="34" charset="-120"/>
              </a:rPr>
              <a:t>Great Serpent Mound (Ohio): over 1,300 feet long — shaped like a snake.</a:t>
            </a:r>
            <a:endParaRPr lang="en-US" sz="1150" dirty="0"/>
          </a:p>
        </p:txBody>
      </p:sp>
      <p:sp>
        <p:nvSpPr>
          <p:cNvPr id="13" name="Shape 11"/>
          <p:cNvSpPr/>
          <p:nvPr/>
        </p:nvSpPr>
        <p:spPr>
          <a:xfrm>
            <a:off x="5806440" y="2834640"/>
            <a:ext cx="3017520" cy="1005840"/>
          </a:xfrm>
          <a:prstGeom prst="roundRect">
            <a:avLst>
              <a:gd name="adj" fmla="val 9091"/>
            </a:avLst>
          </a:prstGeom>
          <a:solidFill>
            <a:srgbClr val="E8F5F0"/>
          </a:solidFill>
          <a:ln w="12700">
            <a:solidFill>
              <a:srgbClr val="1A8A7D"/>
            </a:solidFill>
            <a:prstDash val="solid"/>
          </a:ln>
        </p:spPr>
      </p:sp>
      <p:sp>
        <p:nvSpPr>
          <p:cNvPr id="14" name="Text 12"/>
          <p:cNvSpPr/>
          <p:nvPr/>
        </p:nvSpPr>
        <p:spPr>
          <a:xfrm>
            <a:off x="5943600" y="2898648"/>
            <a:ext cx="2743200" cy="182880"/>
          </a:xfrm>
          <a:prstGeom prst="rect">
            <a:avLst/>
          </a:prstGeom>
          <a:noFill/>
          <a:ln/>
        </p:spPr>
        <p:txBody>
          <a:bodyPr wrap="square" lIns="0" tIns="0" rIns="0" bIns="0" rtlCol="0" anchor="ctr"/>
          <a:lstStyle/>
          <a:p>
            <a:pPr indent="0" marL="0">
              <a:buNone/>
            </a:pPr>
            <a:r>
              <a:rPr lang="en-US" sz="850" b="1" spc="120" kern="0" dirty="0">
                <a:solidFill>
                  <a:srgbClr val="1A8A7D"/>
                </a:solidFill>
                <a:latin typeface="Calibri" pitchFamily="34" charset="0"/>
                <a:ea typeface="Calibri" pitchFamily="34" charset="-122"/>
                <a:cs typeface="Calibri" pitchFamily="34" charset="-120"/>
              </a:rPr>
              <a:t>TIMELINE</a:t>
            </a:r>
            <a:endParaRPr lang="en-US" sz="850" dirty="0"/>
          </a:p>
        </p:txBody>
      </p:sp>
      <p:sp>
        <p:nvSpPr>
          <p:cNvPr id="15" name="Text 13"/>
          <p:cNvSpPr/>
          <p:nvPr/>
        </p:nvSpPr>
        <p:spPr>
          <a:xfrm>
            <a:off x="5943600" y="3108960"/>
            <a:ext cx="2743200" cy="658368"/>
          </a:xfrm>
          <a:prstGeom prst="rect">
            <a:avLst/>
          </a:prstGeom>
          <a:noFill/>
          <a:ln/>
        </p:spPr>
        <p:txBody>
          <a:bodyPr wrap="square" lIns="0" tIns="0" rIns="0" bIns="0" rtlCol="0" anchor="t"/>
          <a:lstStyle/>
          <a:p>
            <a:pPr indent="0" marL="0">
              <a:buNone/>
            </a:pPr>
            <a:r>
              <a:rPr lang="en-US" sz="1100" dirty="0">
                <a:solidFill>
                  <a:srgbClr val="2A5A4A"/>
                </a:solidFill>
                <a:latin typeface="Calibri" pitchFamily="34" charset="0"/>
                <a:ea typeface="Calibri" pitchFamily="34" charset="-122"/>
                <a:cs typeface="Calibri" pitchFamily="34" charset="-120"/>
              </a:rPr>
              <a:t>Earliest mounds: 1000+ BCE</a:t>
            </a:r>
            <a:endParaRPr lang="en-US" sz="1100" dirty="0"/>
          </a:p>
          <a:p>
            <a:pPr indent="0" marL="0">
              <a:buNone/>
            </a:pPr>
            <a:r>
              <a:rPr lang="en-US" sz="1100" dirty="0">
                <a:solidFill>
                  <a:srgbClr val="2A5A4A"/>
                </a:solidFill>
                <a:latin typeface="Calibri" pitchFamily="34" charset="0"/>
                <a:ea typeface="Calibri" pitchFamily="34" charset="-122"/>
                <a:cs typeface="Calibri" pitchFamily="34" charset="-120"/>
              </a:rPr>
              <a:t>Cahokia peak: ~1100 CE</a:t>
            </a:r>
            <a:endParaRPr lang="en-US" sz="1100" dirty="0"/>
          </a:p>
          <a:p>
            <a:pPr indent="0" marL="0">
              <a:buNone/>
            </a:pPr>
            <a:r>
              <a:rPr lang="en-US" sz="1100" dirty="0">
                <a:solidFill>
                  <a:srgbClr val="2A5A4A"/>
                </a:solidFill>
                <a:latin typeface="Calibri" pitchFamily="34" charset="0"/>
                <a:ea typeface="Calibri" pitchFamily="34" charset="-122"/>
                <a:cs typeface="Calibri" pitchFamily="34" charset="-120"/>
              </a:rPr>
              <a:t>Pre-dates European arrival by centuries</a:t>
            </a:r>
            <a:endParaRPr lang="en-US" sz="1100" dirty="0"/>
          </a:p>
        </p:txBody>
      </p:sp>
      <p:sp>
        <p:nvSpPr>
          <p:cNvPr id="16" name="Shape 14"/>
          <p:cNvSpPr/>
          <p:nvPr/>
        </p:nvSpPr>
        <p:spPr>
          <a:xfrm>
            <a:off x="320040" y="3950208"/>
            <a:ext cx="8503920" cy="1024128"/>
          </a:xfrm>
          <a:prstGeom prst="roundRect">
            <a:avLst>
              <a:gd name="adj" fmla="val 10714"/>
            </a:avLst>
          </a:prstGeom>
          <a:solidFill>
            <a:srgbClr val="1A2D5A"/>
          </a:solidFill>
          <a:ln w="12700">
            <a:solidFill>
              <a:srgbClr val="2A4070"/>
            </a:solidFill>
            <a:prstDash val="solid"/>
          </a:ln>
        </p:spPr>
      </p:sp>
      <p:sp>
        <p:nvSpPr>
          <p:cNvPr id="17" name="Text 15"/>
          <p:cNvSpPr/>
          <p:nvPr/>
        </p:nvSpPr>
        <p:spPr>
          <a:xfrm>
            <a:off x="457200" y="4005072"/>
            <a:ext cx="822960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02920" y="4270248"/>
            <a:ext cx="8138160" cy="61264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These were many different cultures — why might historians still call them all 'Mound Builders'?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it take for a community to build a mound 1,300 feet long?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1A8A7D"/>
          </a:solidFill>
          <a:ln/>
        </p:spPr>
      </p:sp>
      <p:sp>
        <p:nvSpPr>
          <p:cNvPr id="4" name="Text 2"/>
          <p:cNvSpPr/>
          <p:nvPr/>
        </p:nvSpPr>
        <p:spPr>
          <a:xfrm>
            <a:off x="320040" y="0"/>
            <a:ext cx="8503920" cy="566928"/>
          </a:xfrm>
          <a:prstGeom prst="rect">
            <a:avLst/>
          </a:prstGeom>
          <a:noFill/>
          <a:ln/>
        </p:spPr>
        <p:txBody>
          <a:bodyPr wrap="square" lIns="0" tIns="0" rIns="0" bIns="0" rtlCol="0" anchor="ctr"/>
          <a:lstStyle/>
          <a:p>
            <a:pPr indent="0" marL="0">
              <a:buNone/>
            </a:pPr>
            <a:r>
              <a:rPr lang="en-US" sz="1400" b="1" spc="150" kern="0" dirty="0">
                <a:solidFill>
                  <a:srgbClr val="FFFFFF"/>
                </a:solidFill>
                <a:latin typeface="Cambria" pitchFamily="34" charset="0"/>
                <a:ea typeface="Cambria" pitchFamily="34" charset="-122"/>
                <a:cs typeface="Cambria" pitchFamily="34" charset="-120"/>
              </a:rPr>
              <a:t>CLUE BOX  —  EXAMINE THE EVIDENCE: A MOUND BUILDER SITE</a:t>
            </a:r>
            <a:endParaRPr lang="en-US" sz="1400" dirty="0"/>
          </a:p>
        </p:txBody>
      </p:sp>
      <p:sp>
        <p:nvSpPr>
          <p:cNvPr id="5" name="Shape 3"/>
          <p:cNvSpPr/>
          <p:nvPr/>
        </p:nvSpPr>
        <p:spPr>
          <a:xfrm>
            <a:off x="320040" y="685800"/>
            <a:ext cx="5074920" cy="3337560"/>
          </a:xfrm>
          <a:prstGeom prst="roundRect">
            <a:avLst>
              <a:gd name="adj" fmla="val 3288"/>
            </a:avLst>
          </a:prstGeom>
          <a:solidFill>
            <a:srgbClr val="E2E8F4"/>
          </a:solidFill>
          <a:ln w="19050">
            <a:solidFill>
              <a:srgbClr val="B0B8CC"/>
            </a:solidFill>
            <a:prstDash val="dash"/>
          </a:ln>
        </p:spPr>
      </p:sp>
      <p:sp>
        <p:nvSpPr>
          <p:cNvPr id="6" name="Text 4"/>
          <p:cNvSpPr/>
          <p:nvPr/>
        </p:nvSpPr>
        <p:spPr>
          <a:xfrm>
            <a:off x="320040" y="685800"/>
            <a:ext cx="5074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960120"/>
            <a:ext cx="4800600" cy="2971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Cahokia Monks Mound — aerial or ground-level view showing the earthen mound structures and surrounding landscape</a:t>
            </a:r>
            <a:endParaRPr lang="en-US" sz="1100" dirty="0"/>
          </a:p>
          <a:p>
            <a:pPr algn="ctr" indent="0" marL="0">
              <a:buNone/>
            </a:pP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Save image as: source-5-03-01-mound-builder-site.jpg</a:t>
            </a:r>
            <a:endParaRPr lang="en-US" sz="1100" dirty="0"/>
          </a:p>
        </p:txBody>
      </p:sp>
      <p:sp>
        <p:nvSpPr>
          <p:cNvPr id="8" name="Shape 6"/>
          <p:cNvSpPr/>
          <p:nvPr/>
        </p:nvSpPr>
        <p:spPr>
          <a:xfrm>
            <a:off x="5532120" y="685800"/>
            <a:ext cx="3291840" cy="3337560"/>
          </a:xfrm>
          <a:prstGeom prst="roundRect">
            <a:avLst>
              <a:gd name="adj" fmla="val 3333"/>
            </a:avLst>
          </a:prstGeom>
          <a:solidFill>
            <a:srgbClr val="FFFFFF"/>
          </a:solidFill>
          <a:ln w="19050">
            <a:solidFill>
              <a:srgbClr val="1A8A7D"/>
            </a:solidFill>
            <a:prstDash val="solid"/>
          </a:ln>
        </p:spPr>
      </p:sp>
      <p:sp>
        <p:nvSpPr>
          <p:cNvPr id="9" name="Text 7"/>
          <p:cNvSpPr/>
          <p:nvPr/>
        </p:nvSpPr>
        <p:spPr>
          <a:xfrm>
            <a:off x="5669280" y="758952"/>
            <a:ext cx="3017520" cy="201168"/>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DO YOU NOTICE?</a:t>
            </a:r>
            <a:endParaRPr lang="en-US" sz="900" dirty="0"/>
          </a:p>
        </p:txBody>
      </p:sp>
      <p:sp>
        <p:nvSpPr>
          <p:cNvPr id="10" name="Shape 8"/>
          <p:cNvSpPr/>
          <p:nvPr/>
        </p:nvSpPr>
        <p:spPr>
          <a:xfrm>
            <a:off x="5650992" y="1005840"/>
            <a:ext cx="3017520" cy="658368"/>
          </a:xfrm>
          <a:prstGeom prst="roundRect">
            <a:avLst>
              <a:gd name="adj" fmla="val 11111"/>
            </a:avLst>
          </a:prstGeom>
          <a:solidFill>
            <a:srgbClr val="E8F5F0"/>
          </a:solidFill>
          <a:ln w="6350">
            <a:solidFill>
              <a:srgbClr val="1A8A7D"/>
            </a:solidFill>
            <a:prstDash val="solid"/>
          </a:ln>
        </p:spPr>
      </p:sp>
      <p:sp>
        <p:nvSpPr>
          <p:cNvPr id="11" name="Text 9"/>
          <p:cNvSpPr/>
          <p:nvPr/>
        </p:nvSpPr>
        <p:spPr>
          <a:xfrm>
            <a:off x="5760720" y="1042416"/>
            <a:ext cx="640080" cy="201168"/>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Size:</a:t>
            </a:r>
            <a:endParaRPr lang="en-US" sz="1000" dirty="0"/>
          </a:p>
        </p:txBody>
      </p:sp>
      <p:sp>
        <p:nvSpPr>
          <p:cNvPr id="12" name="Text 10"/>
          <p:cNvSpPr/>
          <p:nvPr/>
        </p:nvSpPr>
        <p:spPr>
          <a:xfrm>
            <a:off x="5760720" y="1243584"/>
            <a:ext cx="2788920" cy="384048"/>
          </a:xfrm>
          <a:prstGeom prst="rect">
            <a:avLst/>
          </a:prstGeom>
          <a:noFill/>
          <a:ln/>
        </p:spPr>
        <p:txBody>
          <a:bodyPr wrap="square" lIns="0" tIns="0" rIns="0" bIns="0" rtlCol="0" anchor="t"/>
          <a:lstStyle/>
          <a:p>
            <a:pPr indent="0" marL="0">
              <a:buNone/>
            </a:pPr>
            <a:r>
              <a:rPr lang="en-US" sz="1050" dirty="0">
                <a:solidFill>
                  <a:srgbClr val="2A5A4A"/>
                </a:solidFill>
                <a:latin typeface="Calibri" pitchFamily="34" charset="0"/>
                <a:ea typeface="Calibri" pitchFamily="34" charset="-122"/>
                <a:cs typeface="Calibri" pitchFamily="34" charset="-120"/>
              </a:rPr>
              <a:t>How large does the mound appear compared to the landscape around it?</a:t>
            </a:r>
            <a:endParaRPr lang="en-US" sz="1050" dirty="0"/>
          </a:p>
        </p:txBody>
      </p:sp>
      <p:sp>
        <p:nvSpPr>
          <p:cNvPr id="13" name="Shape 11"/>
          <p:cNvSpPr/>
          <p:nvPr/>
        </p:nvSpPr>
        <p:spPr>
          <a:xfrm>
            <a:off x="5650992" y="1737360"/>
            <a:ext cx="3017520" cy="658368"/>
          </a:xfrm>
          <a:prstGeom prst="roundRect">
            <a:avLst>
              <a:gd name="adj" fmla="val 11111"/>
            </a:avLst>
          </a:prstGeom>
          <a:solidFill>
            <a:srgbClr val="E8F5F0"/>
          </a:solidFill>
          <a:ln w="6350">
            <a:solidFill>
              <a:srgbClr val="1A8A7D"/>
            </a:solidFill>
            <a:prstDash val="solid"/>
          </a:ln>
        </p:spPr>
      </p:sp>
      <p:sp>
        <p:nvSpPr>
          <p:cNvPr id="14" name="Text 12"/>
          <p:cNvSpPr/>
          <p:nvPr/>
        </p:nvSpPr>
        <p:spPr>
          <a:xfrm>
            <a:off x="5760720" y="1773936"/>
            <a:ext cx="640080" cy="201168"/>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Shape:</a:t>
            </a:r>
            <a:endParaRPr lang="en-US" sz="1000" dirty="0"/>
          </a:p>
        </p:txBody>
      </p:sp>
      <p:sp>
        <p:nvSpPr>
          <p:cNvPr id="15" name="Text 13"/>
          <p:cNvSpPr/>
          <p:nvPr/>
        </p:nvSpPr>
        <p:spPr>
          <a:xfrm>
            <a:off x="5760720" y="1975104"/>
            <a:ext cx="2788920" cy="384048"/>
          </a:xfrm>
          <a:prstGeom prst="rect">
            <a:avLst/>
          </a:prstGeom>
          <a:noFill/>
          <a:ln/>
        </p:spPr>
        <p:txBody>
          <a:bodyPr wrap="square" lIns="0" tIns="0" rIns="0" bIns="0" rtlCol="0" anchor="t"/>
          <a:lstStyle/>
          <a:p>
            <a:pPr indent="0" marL="0">
              <a:buNone/>
            </a:pPr>
            <a:r>
              <a:rPr lang="en-US" sz="1050" dirty="0">
                <a:solidFill>
                  <a:srgbClr val="2A5A4A"/>
                </a:solidFill>
                <a:latin typeface="Calibri" pitchFamily="34" charset="0"/>
                <a:ea typeface="Calibri" pitchFamily="34" charset="-122"/>
                <a:cs typeface="Calibri" pitchFamily="34" charset="-120"/>
              </a:rPr>
              <a:t>What does the shape tell you about how it was built or used?</a:t>
            </a:r>
            <a:endParaRPr lang="en-US" sz="1050" dirty="0"/>
          </a:p>
        </p:txBody>
      </p:sp>
      <p:sp>
        <p:nvSpPr>
          <p:cNvPr id="16" name="Shape 14"/>
          <p:cNvSpPr/>
          <p:nvPr/>
        </p:nvSpPr>
        <p:spPr>
          <a:xfrm>
            <a:off x="5650992" y="2468880"/>
            <a:ext cx="3017520" cy="658368"/>
          </a:xfrm>
          <a:prstGeom prst="roundRect">
            <a:avLst>
              <a:gd name="adj" fmla="val 11111"/>
            </a:avLst>
          </a:prstGeom>
          <a:solidFill>
            <a:srgbClr val="E8F5F0"/>
          </a:solidFill>
          <a:ln w="6350">
            <a:solidFill>
              <a:srgbClr val="1A8A7D"/>
            </a:solidFill>
            <a:prstDash val="solid"/>
          </a:ln>
        </p:spPr>
      </p:sp>
      <p:sp>
        <p:nvSpPr>
          <p:cNvPr id="17" name="Text 15"/>
          <p:cNvSpPr/>
          <p:nvPr/>
        </p:nvSpPr>
        <p:spPr>
          <a:xfrm>
            <a:off x="5760720" y="2505456"/>
            <a:ext cx="640080" cy="201168"/>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Setting:</a:t>
            </a:r>
            <a:endParaRPr lang="en-US" sz="1000" dirty="0"/>
          </a:p>
        </p:txBody>
      </p:sp>
      <p:sp>
        <p:nvSpPr>
          <p:cNvPr id="18" name="Text 16"/>
          <p:cNvSpPr/>
          <p:nvPr/>
        </p:nvSpPr>
        <p:spPr>
          <a:xfrm>
            <a:off x="5760720" y="2706624"/>
            <a:ext cx="2788920" cy="384048"/>
          </a:xfrm>
          <a:prstGeom prst="rect">
            <a:avLst/>
          </a:prstGeom>
          <a:noFill/>
          <a:ln/>
        </p:spPr>
        <p:txBody>
          <a:bodyPr wrap="square" lIns="0" tIns="0" rIns="0" bIns="0" rtlCol="0" anchor="t"/>
          <a:lstStyle/>
          <a:p>
            <a:pPr indent="0" marL="0">
              <a:buNone/>
            </a:pPr>
            <a:r>
              <a:rPr lang="en-US" sz="1050" dirty="0">
                <a:solidFill>
                  <a:srgbClr val="2A5A4A"/>
                </a:solidFill>
                <a:latin typeface="Calibri" pitchFamily="34" charset="0"/>
                <a:ea typeface="Calibri" pitchFamily="34" charset="-122"/>
                <a:cs typeface="Calibri" pitchFamily="34" charset="-120"/>
              </a:rPr>
              <a:t>What do you notice about where this mound is located?</a:t>
            </a:r>
            <a:endParaRPr lang="en-US" sz="1050" dirty="0"/>
          </a:p>
        </p:txBody>
      </p:sp>
      <p:sp>
        <p:nvSpPr>
          <p:cNvPr id="19" name="Shape 17"/>
          <p:cNvSpPr/>
          <p:nvPr/>
        </p:nvSpPr>
        <p:spPr>
          <a:xfrm>
            <a:off x="5650992" y="3200400"/>
            <a:ext cx="3017520" cy="658368"/>
          </a:xfrm>
          <a:prstGeom prst="roundRect">
            <a:avLst>
              <a:gd name="adj" fmla="val 11111"/>
            </a:avLst>
          </a:prstGeom>
          <a:solidFill>
            <a:srgbClr val="E8F5F0"/>
          </a:solidFill>
          <a:ln w="6350">
            <a:solidFill>
              <a:srgbClr val="1A8A7D"/>
            </a:solidFill>
            <a:prstDash val="solid"/>
          </a:ln>
        </p:spPr>
      </p:sp>
      <p:sp>
        <p:nvSpPr>
          <p:cNvPr id="20" name="Text 18"/>
          <p:cNvSpPr/>
          <p:nvPr/>
        </p:nvSpPr>
        <p:spPr>
          <a:xfrm>
            <a:off x="5760720" y="3236976"/>
            <a:ext cx="640080" cy="201168"/>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Purpose:</a:t>
            </a:r>
            <a:endParaRPr lang="en-US" sz="1000" dirty="0"/>
          </a:p>
        </p:txBody>
      </p:sp>
      <p:sp>
        <p:nvSpPr>
          <p:cNvPr id="21" name="Text 19"/>
          <p:cNvSpPr/>
          <p:nvPr/>
        </p:nvSpPr>
        <p:spPr>
          <a:xfrm>
            <a:off x="5760720" y="3438144"/>
            <a:ext cx="2788920" cy="384048"/>
          </a:xfrm>
          <a:prstGeom prst="rect">
            <a:avLst/>
          </a:prstGeom>
          <a:noFill/>
          <a:ln/>
        </p:spPr>
        <p:txBody>
          <a:bodyPr wrap="square" lIns="0" tIns="0" rIns="0" bIns="0" rtlCol="0" anchor="t"/>
          <a:lstStyle/>
          <a:p>
            <a:pPr indent="0" marL="0">
              <a:buNone/>
            </a:pPr>
            <a:r>
              <a:rPr lang="en-US" sz="1050" dirty="0">
                <a:solidFill>
                  <a:srgbClr val="2A5A4A"/>
                </a:solidFill>
                <a:latin typeface="Calibri" pitchFamily="34" charset="0"/>
                <a:ea typeface="Calibri" pitchFamily="34" charset="-122"/>
                <a:cs typeface="Calibri" pitchFamily="34" charset="-120"/>
              </a:rPr>
              <a:t>What might this structure have been used for?</a:t>
            </a:r>
            <a:endParaRPr lang="en-US" sz="1050" dirty="0"/>
          </a:p>
        </p:txBody>
      </p:sp>
      <p:sp>
        <p:nvSpPr>
          <p:cNvPr id="22" name="Shape 20"/>
          <p:cNvSpPr/>
          <p:nvPr/>
        </p:nvSpPr>
        <p:spPr>
          <a:xfrm>
            <a:off x="320040" y="4133088"/>
            <a:ext cx="8503920" cy="804672"/>
          </a:xfrm>
          <a:prstGeom prst="roundRect">
            <a:avLst>
              <a:gd name="adj" fmla="val 11364"/>
            </a:avLst>
          </a:prstGeom>
          <a:solidFill>
            <a:srgbClr val="1A2D5A"/>
          </a:solidFill>
          <a:ln w="12700">
            <a:solidFill>
              <a:srgbClr val="2A4070"/>
            </a:solidFill>
            <a:prstDash val="solid"/>
          </a:ln>
        </p:spPr>
      </p:sp>
      <p:sp>
        <p:nvSpPr>
          <p:cNvPr id="23" name="Text 21"/>
          <p:cNvSpPr/>
          <p:nvPr/>
        </p:nvSpPr>
        <p:spPr>
          <a:xfrm>
            <a:off x="457200" y="4187952"/>
            <a:ext cx="1371600" cy="201168"/>
          </a:xfrm>
          <a:prstGeom prst="rect">
            <a:avLst/>
          </a:prstGeom>
          <a:noFill/>
          <a:ln/>
        </p:spPr>
        <p:txBody>
          <a:bodyPr wrap="square" lIns="0" tIns="0" rIns="0" bIns="0" rtlCol="0" anchor="ctr"/>
          <a:lstStyle/>
          <a:p>
            <a:pPr indent="0" marL="0">
              <a:buNone/>
            </a:pPr>
            <a:r>
              <a:rPr lang="en-US" sz="850" b="1" spc="120" kern="0" dirty="0">
                <a:solidFill>
                  <a:srgbClr val="55C8E8"/>
                </a:solidFill>
                <a:latin typeface="Calibri" pitchFamily="34" charset="0"/>
                <a:ea typeface="Calibri" pitchFamily="34" charset="-122"/>
                <a:cs typeface="Calibri" pitchFamily="34" charset="-120"/>
              </a:rPr>
              <a:t>THINK ALOUD:</a:t>
            </a:r>
            <a:endParaRPr lang="en-US" sz="850" dirty="0"/>
          </a:p>
        </p:txBody>
      </p:sp>
      <p:sp>
        <p:nvSpPr>
          <p:cNvPr id="24" name="Text 22"/>
          <p:cNvSpPr/>
          <p:nvPr/>
        </p:nvSpPr>
        <p:spPr>
          <a:xfrm>
            <a:off x="457200" y="4389120"/>
            <a:ext cx="8138160" cy="475488"/>
          </a:xfrm>
          <a:prstGeom prst="rect">
            <a:avLst/>
          </a:prstGeom>
          <a:noFill/>
          <a:ln/>
        </p:spPr>
        <p:txBody>
          <a:bodyPr wrap="square" lIns="0" tIns="0" rIns="0" bIns="0" rtlCol="0" anchor="t"/>
          <a:lstStyle/>
          <a:p>
            <a:pPr indent="0" marL="0">
              <a:buNone/>
            </a:pPr>
            <a:r>
              <a:rPr lang="en-US" sz="1200" i="1" dirty="0">
                <a:solidFill>
                  <a:srgbClr val="D6F2FB"/>
                </a:solidFill>
                <a:latin typeface="Calibri" pitchFamily="34" charset="0"/>
                <a:ea typeface="Calibri" pitchFamily="34" charset="-122"/>
                <a:cs typeface="Calibri" pitchFamily="34" charset="-120"/>
              </a:rPr>
              <a:t>What does the size and shape of this mound suggest about the people who built it? Use at least one specific observation.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0E1C42"/>
          </a:solidFill>
          <a:ln/>
        </p:spPr>
      </p:sp>
      <p:sp>
        <p:nvSpPr>
          <p:cNvPr id="4" name="Text 2"/>
          <p:cNvSpPr/>
          <p:nvPr/>
        </p:nvSpPr>
        <p:spPr>
          <a:xfrm>
            <a:off x="320040" y="0"/>
            <a:ext cx="8503920" cy="566928"/>
          </a:xfrm>
          <a:prstGeom prst="rect">
            <a:avLst/>
          </a:prstGeom>
          <a:noFill/>
          <a:ln/>
        </p:spPr>
        <p:txBody>
          <a:bodyPr wrap="square" lIns="0" tIns="0" rIns="0" bIns="0" rtlCol="0" anchor="ctr"/>
          <a:lstStyle/>
          <a:p>
            <a:pPr indent="0" marL="0">
              <a:buNone/>
            </a:pPr>
            <a:r>
              <a:rPr lang="en-US" sz="1350" b="1" spc="120" kern="0" dirty="0">
                <a:solidFill>
                  <a:srgbClr val="55C8E8"/>
                </a:solidFill>
                <a:latin typeface="Cambria" pitchFamily="34" charset="0"/>
                <a:ea typeface="Cambria" pitchFamily="34" charset="-122"/>
                <a:cs typeface="Cambria" pitchFamily="34" charset="-120"/>
              </a:rPr>
              <a:t>DISCUSSION  —  WHAT DO PHYSICAL STRUCTURES TELL HISTORIANS?</a:t>
            </a:r>
            <a:endParaRPr lang="en-US" sz="1350" dirty="0"/>
          </a:p>
        </p:txBody>
      </p:sp>
      <p:sp>
        <p:nvSpPr>
          <p:cNvPr id="5" name="Shape 3"/>
          <p:cNvSpPr/>
          <p:nvPr/>
        </p:nvSpPr>
        <p:spPr>
          <a:xfrm>
            <a:off x="320040" y="685800"/>
            <a:ext cx="5257800" cy="2240280"/>
          </a:xfrm>
          <a:prstGeom prst="roundRect">
            <a:avLst>
              <a:gd name="adj" fmla="val 4898"/>
            </a:avLst>
          </a:prstGeom>
          <a:solidFill>
            <a:srgbClr val="FFFFFF"/>
          </a:solidFill>
          <a:ln w="12700">
            <a:solidFill>
              <a:srgbClr val="C8D0E0"/>
            </a:solidFill>
            <a:prstDash val="solid"/>
          </a:ln>
        </p:spPr>
      </p:sp>
      <p:sp>
        <p:nvSpPr>
          <p:cNvPr id="6" name="Text 4"/>
          <p:cNvSpPr/>
          <p:nvPr/>
        </p:nvSpPr>
        <p:spPr>
          <a:xfrm>
            <a:off x="457200" y="749808"/>
            <a:ext cx="4983480" cy="201168"/>
          </a:xfrm>
          <a:prstGeom prst="rect">
            <a:avLst/>
          </a:prstGeom>
          <a:noFill/>
          <a:ln/>
        </p:spPr>
        <p:txBody>
          <a:bodyPr wrap="square" lIns="0" tIns="0" rIns="0" bIns="0" rtlCol="0" anchor="ctr"/>
          <a:lstStyle/>
          <a:p>
            <a:pPr indent="0" marL="0">
              <a:buNone/>
            </a:pPr>
            <a:r>
              <a:rPr lang="en-US" sz="900" b="1" spc="120" kern="0" dirty="0">
                <a:solidFill>
                  <a:srgbClr val="0E1C42"/>
                </a:solidFill>
                <a:latin typeface="Calibri" pitchFamily="34" charset="0"/>
                <a:ea typeface="Calibri" pitchFamily="34" charset="-122"/>
                <a:cs typeface="Calibri" pitchFamily="34" charset="-120"/>
              </a:rPr>
              <a:t>EVIDENCE FROM PHYSICAL STRUCTURES</a:t>
            </a:r>
            <a:endParaRPr lang="en-US" sz="900" dirty="0"/>
          </a:p>
        </p:txBody>
      </p:sp>
      <p:sp>
        <p:nvSpPr>
          <p:cNvPr id="7" name="Text 5"/>
          <p:cNvSpPr/>
          <p:nvPr/>
        </p:nvSpPr>
        <p:spPr>
          <a:xfrm>
            <a:off x="457200" y="987552"/>
            <a:ext cx="4983480" cy="1828800"/>
          </a:xfrm>
          <a:prstGeom prst="rect">
            <a:avLst/>
          </a:prstGeom>
          <a:noFill/>
          <a:ln/>
        </p:spPr>
        <p:txBody>
          <a:bodyPr wrap="square" lIns="0" tIns="0" rIns="0" bIns="0" rtlCol="0" anchor="t"/>
          <a:lstStyle/>
          <a:p>
            <a:pPr indent="0" marL="0">
              <a:spcAft>
                <a:spcPts val="500"/>
              </a:spcAft>
              <a:buNone/>
            </a:pPr>
            <a:r>
              <a:rPr lang="en-US" sz="1100" dirty="0">
                <a:solidFill>
                  <a:srgbClr val="2A3A5A"/>
                </a:solidFill>
                <a:latin typeface="Calibri" pitchFamily="34" charset="0"/>
                <a:ea typeface="Calibri" pitchFamily="34" charset="-122"/>
                <a:cs typeface="Calibri" pitchFamily="34" charset="-120"/>
              </a:rPr>
              <a:t>The mounds themselves — their size, shape, and contents — provide DIRECT evidence about the people who built them.</a:t>
            </a:r>
            <a:endParaRPr lang="en-US" sz="1100" dirty="0"/>
          </a:p>
          <a:p>
            <a:pPr indent="0" marL="0">
              <a:spcAft>
                <a:spcPts val="500"/>
              </a:spcAft>
              <a:buNone/>
            </a:pPr>
            <a:r>
              <a:rPr lang="en-US" sz="1100" dirty="0">
                <a:solidFill>
                  <a:srgbClr val="2A3A5A"/>
                </a:solidFill>
                <a:latin typeface="Calibri" pitchFamily="34" charset="0"/>
                <a:ea typeface="Calibri" pitchFamily="34" charset="-122"/>
                <a:cs typeface="Calibri" pitchFamily="34" charset="-120"/>
              </a:rPr>
              <a:t>Monks Mound at Cahokia covers 14 acres and rises 100 feet — larger at the base than the Great Pyramid at Giza.</a:t>
            </a:r>
            <a:endParaRPr lang="en-US" sz="1100" dirty="0"/>
          </a:p>
          <a:p>
            <a:pPr indent="0" marL="0">
              <a:spcAft>
                <a:spcPts val="500"/>
              </a:spcAft>
              <a:buNone/>
            </a:pPr>
            <a:r>
              <a:rPr lang="en-US" sz="1100" dirty="0">
                <a:solidFill>
                  <a:srgbClr val="2A3A5A"/>
                </a:solidFill>
                <a:latin typeface="Calibri" pitchFamily="34" charset="0"/>
                <a:ea typeface="Calibri" pitchFamily="34" charset="-122"/>
                <a:cs typeface="Calibri" pitchFamily="34" charset="-120"/>
              </a:rPr>
              <a:t>Burial mounds contained trade goods from hundreds of miles away.</a:t>
            </a:r>
            <a:endParaRPr lang="en-US" sz="1100" dirty="0"/>
          </a:p>
          <a:p>
            <a:pPr indent="0" marL="0">
              <a:spcAft>
                <a:spcPts val="500"/>
              </a:spcAft>
              <a:buNone/>
            </a:pPr>
            <a:r>
              <a:rPr lang="en-US" sz="1100" dirty="0">
                <a:solidFill>
                  <a:srgbClr val="2A3A5A"/>
                </a:solidFill>
                <a:latin typeface="Calibri" pitchFamily="34" charset="0"/>
                <a:ea typeface="Calibri" pitchFamily="34" charset="-122"/>
                <a:cs typeface="Calibri" pitchFamily="34" charset="-120"/>
              </a:rPr>
              <a:t>Animal-shaped effigy mounds (like the Great Serpent Mound) show artistic and spiritual traditions.</a:t>
            </a:r>
            <a:endParaRPr lang="en-US" sz="1100" dirty="0"/>
          </a:p>
        </p:txBody>
      </p:sp>
      <p:sp>
        <p:nvSpPr>
          <p:cNvPr id="8" name="Shape 6"/>
          <p:cNvSpPr/>
          <p:nvPr/>
        </p:nvSpPr>
        <p:spPr>
          <a:xfrm>
            <a:off x="5715000" y="685800"/>
            <a:ext cx="3108960" cy="2240280"/>
          </a:xfrm>
          <a:prstGeom prst="roundRect">
            <a:avLst>
              <a:gd name="adj" fmla="val 4898"/>
            </a:avLst>
          </a:prstGeom>
          <a:solidFill>
            <a:srgbClr val="1A2D5A"/>
          </a:solidFill>
          <a:ln w="12700">
            <a:solidFill>
              <a:srgbClr val="2A4070"/>
            </a:solidFill>
            <a:prstDash val="solid"/>
          </a:ln>
        </p:spPr>
      </p:sp>
      <p:sp>
        <p:nvSpPr>
          <p:cNvPr id="9" name="Text 7"/>
          <p:cNvSpPr/>
          <p:nvPr/>
        </p:nvSpPr>
        <p:spPr>
          <a:xfrm>
            <a:off x="5852160" y="740664"/>
            <a:ext cx="283464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897880" y="1005840"/>
            <a:ext cx="2743200" cy="18288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Monks Mound being larger than the Great Pyramid tell us about the community that built it?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would a community bury trade goods from faraway places inside a mound?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an effigy mound shaped like an animal suggest about what this community valued?</a:t>
            </a:r>
            <a:endParaRPr lang="en-US" sz="1100" dirty="0"/>
          </a:p>
        </p:txBody>
      </p:sp>
      <p:sp>
        <p:nvSpPr>
          <p:cNvPr id="11" name="Shape 9"/>
          <p:cNvSpPr/>
          <p:nvPr/>
        </p:nvSpPr>
        <p:spPr>
          <a:xfrm>
            <a:off x="320040" y="3035808"/>
            <a:ext cx="5257800" cy="1554480"/>
          </a:xfrm>
          <a:prstGeom prst="roundRect">
            <a:avLst>
              <a:gd name="adj" fmla="val 7059"/>
            </a:avLst>
          </a:prstGeom>
          <a:solidFill>
            <a:srgbClr val="FFF3DC"/>
          </a:solidFill>
          <a:ln w="19050">
            <a:solidFill>
              <a:srgbClr val="F5E6C8"/>
            </a:solidFill>
            <a:prstDash val="solid"/>
          </a:ln>
        </p:spPr>
      </p:sp>
      <p:sp>
        <p:nvSpPr>
          <p:cNvPr id="12" name="Text 10"/>
          <p:cNvSpPr/>
          <p:nvPr/>
        </p:nvSpPr>
        <p:spPr>
          <a:xfrm>
            <a:off x="457200" y="3090672"/>
            <a:ext cx="4983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57200" y="3291840"/>
            <a:ext cx="4983480" cy="1234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fact that Monks Mound is bigger than the Great Pyramid tells me..."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community that could build this must have had..."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challenges the Herald's claim because..."</a:t>
            </a:r>
            <a:endParaRPr lang="en-US" sz="1200" dirty="0"/>
          </a:p>
        </p:txBody>
      </p:sp>
      <p:sp>
        <p:nvSpPr>
          <p:cNvPr id="14" name="Shape 12"/>
          <p:cNvSpPr/>
          <p:nvPr/>
        </p:nvSpPr>
        <p:spPr>
          <a:xfrm>
            <a:off x="5715000" y="3035808"/>
            <a:ext cx="3108960" cy="1554480"/>
          </a:xfrm>
          <a:prstGeom prst="roundRect">
            <a:avLst>
              <a:gd name="adj" fmla="val 7059"/>
            </a:avLst>
          </a:prstGeom>
          <a:solidFill>
            <a:srgbClr val="FFF3DC"/>
          </a:solidFill>
          <a:ln w="19050">
            <a:solidFill>
              <a:srgbClr val="D4943A"/>
            </a:solidFill>
            <a:prstDash val="solid"/>
          </a:ln>
        </p:spPr>
      </p:sp>
      <p:sp>
        <p:nvSpPr>
          <p:cNvPr id="15" name="Text 13"/>
          <p:cNvSpPr/>
          <p:nvPr/>
        </p:nvSpPr>
        <p:spPr>
          <a:xfrm>
            <a:off x="5852160" y="3108960"/>
            <a:ext cx="2834640" cy="201168"/>
          </a:xfrm>
          <a:prstGeom prst="rect">
            <a:avLst/>
          </a:prstGeom>
          <a:noFill/>
          <a:ln/>
        </p:spPr>
        <p:txBody>
          <a:bodyPr wrap="square" lIns="0" tIns="0" rIns="0" bIns="0"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EVIDENCE CLAIM</a:t>
            </a:r>
            <a:endParaRPr lang="en-US" sz="900" dirty="0"/>
          </a:p>
        </p:txBody>
      </p:sp>
      <p:sp>
        <p:nvSpPr>
          <p:cNvPr id="16" name="Text 14"/>
          <p:cNvSpPr/>
          <p:nvPr/>
        </p:nvSpPr>
        <p:spPr>
          <a:xfrm>
            <a:off x="5852160" y="3337560"/>
            <a:ext cx="2834640" cy="1143000"/>
          </a:xfrm>
          <a:prstGeom prst="rect">
            <a:avLst/>
          </a:prstGeom>
          <a:noFill/>
          <a:ln/>
        </p:spPr>
        <p:txBody>
          <a:bodyPr wrap="square" lIns="0" tIns="0" rIns="0" bIns="0" rtlCol="0" anchor="t"/>
          <a:lstStyle/>
          <a:p>
            <a:pPr indent="0" marL="0">
              <a:buNone/>
            </a:pPr>
            <a:r>
              <a:rPr lang="en-US" sz="1150" i="1" dirty="0">
                <a:solidFill>
                  <a:srgbClr val="5A4A3A"/>
                </a:solidFill>
                <a:latin typeface="Calibri" pitchFamily="34" charset="0"/>
                <a:ea typeface="Calibri" pitchFamily="34" charset="-122"/>
                <a:cs typeface="Calibri" pitchFamily="34" charset="-120"/>
              </a:rPr>
              <a:t>Physical structures = direct evidence of organization, leadership, and values. The mounds are NOT mysteries — they are records.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alpha val="90000"/>
            </a:srgbClr>
          </a:solidFill>
          <a:ln/>
        </p:spPr>
      </p:sp>
      <p:sp>
        <p:nvSpPr>
          <p:cNvPr id="6" name="Text 3"/>
          <p:cNvSpPr/>
          <p:nvPr/>
        </p:nvSpPr>
        <p:spPr>
          <a:xfrm>
            <a:off x="320040" y="0"/>
            <a:ext cx="8503920" cy="50292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THE REVEAL  ·  CAHOKIA  ·  NORTH AMERICA'S GREAT CITY</a:t>
            </a:r>
            <a:endParaRPr lang="en-US" sz="1200" dirty="0"/>
          </a:p>
        </p:txBody>
      </p:sp>
      <p:sp>
        <p:nvSpPr>
          <p:cNvPr id="7" name="Shape 4"/>
          <p:cNvSpPr/>
          <p:nvPr/>
        </p:nvSpPr>
        <p:spPr>
          <a:xfrm>
            <a:off x="320040" y="658368"/>
            <a:ext cx="4114800" cy="1234440"/>
          </a:xfrm>
          <a:prstGeom prst="roundRect">
            <a:avLst>
              <a:gd name="adj" fmla="val 10370"/>
            </a:avLst>
          </a:prstGeom>
          <a:solidFill>
            <a:srgbClr val="0E1C42">
              <a:alpha val="90000"/>
            </a:srgbClr>
          </a:solidFill>
          <a:ln w="19050">
            <a:solidFill>
              <a:srgbClr val="D4943A"/>
            </a:solidFill>
            <a:prstDash val="solid"/>
          </a:ln>
        </p:spPr>
      </p:sp>
      <p:sp>
        <p:nvSpPr>
          <p:cNvPr id="8" name="Text 5"/>
          <p:cNvSpPr/>
          <p:nvPr/>
        </p:nvSpPr>
        <p:spPr>
          <a:xfrm>
            <a:off x="457200" y="749808"/>
            <a:ext cx="3840480" cy="50292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10,000–20,000</a:t>
            </a:r>
            <a:endParaRPr lang="en-US" sz="2800" dirty="0"/>
          </a:p>
        </p:txBody>
      </p:sp>
      <p:sp>
        <p:nvSpPr>
          <p:cNvPr id="9" name="Text 6"/>
          <p:cNvSpPr/>
          <p:nvPr/>
        </p:nvSpPr>
        <p:spPr>
          <a:xfrm>
            <a:off x="457200" y="1280160"/>
            <a:ext cx="3840480" cy="512064"/>
          </a:xfrm>
          <a:prstGeom prst="rect">
            <a:avLst/>
          </a:prstGeom>
          <a:noFill/>
          <a:ln/>
        </p:spPr>
        <p:txBody>
          <a:bodyPr wrap="square" lIns="0" tIns="0" rIns="0" bIns="0" rtlCol="0" anchor="t"/>
          <a:lstStyle/>
          <a:p>
            <a:pPr indent="0" marL="0">
              <a:buNone/>
            </a:pPr>
            <a:r>
              <a:rPr lang="en-US" sz="1100" dirty="0">
                <a:solidFill>
                  <a:srgbClr val="D6F2FB"/>
                </a:solidFill>
                <a:latin typeface="Calibri" pitchFamily="34" charset="0"/>
                <a:ea typeface="Calibri" pitchFamily="34" charset="-122"/>
                <a:cs typeface="Calibri" pitchFamily="34" charset="-120"/>
              </a:rPr>
              <a:t>residents at peak (~1100 CE) — one of the largest cities in the world</a:t>
            </a:r>
            <a:endParaRPr lang="en-US" sz="1100" dirty="0"/>
          </a:p>
        </p:txBody>
      </p:sp>
      <p:sp>
        <p:nvSpPr>
          <p:cNvPr id="10" name="Shape 7"/>
          <p:cNvSpPr/>
          <p:nvPr/>
        </p:nvSpPr>
        <p:spPr>
          <a:xfrm>
            <a:off x="4754880" y="658368"/>
            <a:ext cx="4114800" cy="1234440"/>
          </a:xfrm>
          <a:prstGeom prst="roundRect">
            <a:avLst>
              <a:gd name="adj" fmla="val 10370"/>
            </a:avLst>
          </a:prstGeom>
          <a:solidFill>
            <a:srgbClr val="0E1C42">
              <a:alpha val="90000"/>
            </a:srgbClr>
          </a:solidFill>
          <a:ln w="19050">
            <a:solidFill>
              <a:srgbClr val="D4943A"/>
            </a:solidFill>
            <a:prstDash val="solid"/>
          </a:ln>
        </p:spPr>
      </p:sp>
      <p:sp>
        <p:nvSpPr>
          <p:cNvPr id="11" name="Text 8"/>
          <p:cNvSpPr/>
          <p:nvPr/>
        </p:nvSpPr>
        <p:spPr>
          <a:xfrm>
            <a:off x="4892040" y="749808"/>
            <a:ext cx="3840480" cy="50292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14 acres</a:t>
            </a:r>
            <a:endParaRPr lang="en-US" sz="2800" dirty="0"/>
          </a:p>
        </p:txBody>
      </p:sp>
      <p:sp>
        <p:nvSpPr>
          <p:cNvPr id="12" name="Text 9"/>
          <p:cNvSpPr/>
          <p:nvPr/>
        </p:nvSpPr>
        <p:spPr>
          <a:xfrm>
            <a:off x="4892040" y="1280160"/>
            <a:ext cx="3840480" cy="512064"/>
          </a:xfrm>
          <a:prstGeom prst="rect">
            <a:avLst/>
          </a:prstGeom>
          <a:noFill/>
          <a:ln/>
        </p:spPr>
        <p:txBody>
          <a:bodyPr wrap="square" lIns="0" tIns="0" rIns="0" bIns="0" rtlCol="0" anchor="t"/>
          <a:lstStyle/>
          <a:p>
            <a:pPr indent="0" marL="0">
              <a:buNone/>
            </a:pPr>
            <a:r>
              <a:rPr lang="en-US" sz="1100" dirty="0">
                <a:solidFill>
                  <a:srgbClr val="D6F2FB"/>
                </a:solidFill>
                <a:latin typeface="Calibri" pitchFamily="34" charset="0"/>
                <a:ea typeface="Calibri" pitchFamily="34" charset="-122"/>
                <a:cs typeface="Calibri" pitchFamily="34" charset="-120"/>
              </a:rPr>
              <a:t>covered by Monks Mound — larger at the base than the Great Pyramid at Giza</a:t>
            </a:r>
            <a:endParaRPr lang="en-US" sz="1100" dirty="0"/>
          </a:p>
        </p:txBody>
      </p:sp>
      <p:sp>
        <p:nvSpPr>
          <p:cNvPr id="13" name="Shape 10"/>
          <p:cNvSpPr/>
          <p:nvPr/>
        </p:nvSpPr>
        <p:spPr>
          <a:xfrm>
            <a:off x="320040" y="2029968"/>
            <a:ext cx="4114800" cy="1234440"/>
          </a:xfrm>
          <a:prstGeom prst="roundRect">
            <a:avLst>
              <a:gd name="adj" fmla="val 10370"/>
            </a:avLst>
          </a:prstGeom>
          <a:solidFill>
            <a:srgbClr val="0E1C42">
              <a:alpha val="90000"/>
            </a:srgbClr>
          </a:solidFill>
          <a:ln w="19050">
            <a:solidFill>
              <a:srgbClr val="D4943A"/>
            </a:solidFill>
            <a:prstDash val="solid"/>
          </a:ln>
        </p:spPr>
      </p:sp>
      <p:sp>
        <p:nvSpPr>
          <p:cNvPr id="14" name="Text 11"/>
          <p:cNvSpPr/>
          <p:nvPr/>
        </p:nvSpPr>
        <p:spPr>
          <a:xfrm>
            <a:off x="457200" y="2121408"/>
            <a:ext cx="3840480" cy="50292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100 feet</a:t>
            </a:r>
            <a:endParaRPr lang="en-US" sz="2800" dirty="0"/>
          </a:p>
        </p:txBody>
      </p:sp>
      <p:sp>
        <p:nvSpPr>
          <p:cNvPr id="15" name="Text 12"/>
          <p:cNvSpPr/>
          <p:nvPr/>
        </p:nvSpPr>
        <p:spPr>
          <a:xfrm>
            <a:off x="457200" y="2651760"/>
            <a:ext cx="3840480" cy="512064"/>
          </a:xfrm>
          <a:prstGeom prst="rect">
            <a:avLst/>
          </a:prstGeom>
          <a:noFill/>
          <a:ln/>
        </p:spPr>
        <p:txBody>
          <a:bodyPr wrap="square" lIns="0" tIns="0" rIns="0" bIns="0" rtlCol="0" anchor="t"/>
          <a:lstStyle/>
          <a:p>
            <a:pPr indent="0" marL="0">
              <a:buNone/>
            </a:pPr>
            <a:r>
              <a:rPr lang="en-US" sz="1100" dirty="0">
                <a:solidFill>
                  <a:srgbClr val="D6F2FB"/>
                </a:solidFill>
                <a:latin typeface="Calibri" pitchFamily="34" charset="0"/>
                <a:ea typeface="Calibri" pitchFamily="34" charset="-122"/>
                <a:cs typeface="Calibri" pitchFamily="34" charset="-120"/>
              </a:rPr>
              <a:t>height of Monks Mound — built entirely by hand, without modern tools</a:t>
            </a:r>
            <a:endParaRPr lang="en-US" sz="1100" dirty="0"/>
          </a:p>
        </p:txBody>
      </p:sp>
      <p:sp>
        <p:nvSpPr>
          <p:cNvPr id="16" name="Shape 13"/>
          <p:cNvSpPr/>
          <p:nvPr/>
        </p:nvSpPr>
        <p:spPr>
          <a:xfrm>
            <a:off x="4754880" y="2029968"/>
            <a:ext cx="4114800" cy="1234440"/>
          </a:xfrm>
          <a:prstGeom prst="roundRect">
            <a:avLst>
              <a:gd name="adj" fmla="val 10370"/>
            </a:avLst>
          </a:prstGeom>
          <a:solidFill>
            <a:srgbClr val="0E1C42">
              <a:alpha val="90000"/>
            </a:srgbClr>
          </a:solidFill>
          <a:ln w="19050">
            <a:solidFill>
              <a:srgbClr val="D4943A"/>
            </a:solidFill>
            <a:prstDash val="solid"/>
          </a:ln>
        </p:spPr>
      </p:sp>
      <p:sp>
        <p:nvSpPr>
          <p:cNvPr id="17" name="Text 14"/>
          <p:cNvSpPr/>
          <p:nvPr/>
        </p:nvSpPr>
        <p:spPr>
          <a:xfrm>
            <a:off x="4892040" y="2121408"/>
            <a:ext cx="3840480" cy="50292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Near St. Louis, MO</a:t>
            </a:r>
            <a:endParaRPr lang="en-US" sz="2800" dirty="0"/>
          </a:p>
        </p:txBody>
      </p:sp>
      <p:sp>
        <p:nvSpPr>
          <p:cNvPr id="18" name="Text 15"/>
          <p:cNvSpPr/>
          <p:nvPr/>
        </p:nvSpPr>
        <p:spPr>
          <a:xfrm>
            <a:off x="4892040" y="2651760"/>
            <a:ext cx="3840480" cy="512064"/>
          </a:xfrm>
          <a:prstGeom prst="rect">
            <a:avLst/>
          </a:prstGeom>
          <a:noFill/>
          <a:ln/>
        </p:spPr>
        <p:txBody>
          <a:bodyPr wrap="square" lIns="0" tIns="0" rIns="0" bIns="0" rtlCol="0" anchor="t"/>
          <a:lstStyle/>
          <a:p>
            <a:pPr indent="0" marL="0">
              <a:buNone/>
            </a:pPr>
            <a:r>
              <a:rPr lang="en-US" sz="1100" dirty="0">
                <a:solidFill>
                  <a:srgbClr val="D6F2FB"/>
                </a:solidFill>
                <a:latin typeface="Calibri" pitchFamily="34" charset="0"/>
                <a:ea typeface="Calibri" pitchFamily="34" charset="-122"/>
                <a:cs typeface="Calibri" pitchFamily="34" charset="-120"/>
              </a:rPr>
              <a:t>modern location — heart of the Mississippian culture</a:t>
            </a:r>
            <a:endParaRPr lang="en-US" sz="1100" dirty="0"/>
          </a:p>
        </p:txBody>
      </p:sp>
      <p:sp>
        <p:nvSpPr>
          <p:cNvPr id="19" name="Shape 16"/>
          <p:cNvSpPr/>
          <p:nvPr/>
        </p:nvSpPr>
        <p:spPr>
          <a:xfrm>
            <a:off x="320040" y="3520440"/>
            <a:ext cx="8503920" cy="1143000"/>
          </a:xfrm>
          <a:prstGeom prst="roundRect">
            <a:avLst>
              <a:gd name="adj" fmla="val 9600"/>
            </a:avLst>
          </a:prstGeom>
          <a:solidFill>
            <a:srgbClr val="1A8A7D">
              <a:alpha val="85000"/>
            </a:srgbClr>
          </a:solidFill>
          <a:ln w="19050">
            <a:solidFill>
              <a:srgbClr val="1A8A7D"/>
            </a:solidFill>
            <a:prstDash val="solid"/>
          </a:ln>
        </p:spPr>
      </p:sp>
      <p:sp>
        <p:nvSpPr>
          <p:cNvPr id="20" name="Text 17"/>
          <p:cNvSpPr/>
          <p:nvPr/>
        </p:nvSpPr>
        <p:spPr>
          <a:xfrm>
            <a:off x="502920" y="3593592"/>
            <a:ext cx="2743200" cy="201168"/>
          </a:xfrm>
          <a:prstGeom prst="rect">
            <a:avLst/>
          </a:prstGeom>
          <a:noFill/>
          <a:ln/>
        </p:spPr>
        <p:txBody>
          <a:bodyPr wrap="square" lIns="0" tIns="0" rIns="0" bIns="0"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FACT-CHECK THE HERALD:</a:t>
            </a:r>
            <a:endParaRPr lang="en-US" sz="900" dirty="0"/>
          </a:p>
        </p:txBody>
      </p:sp>
      <p:sp>
        <p:nvSpPr>
          <p:cNvPr id="21" name="Text 18"/>
          <p:cNvSpPr/>
          <p:nvPr/>
        </p:nvSpPr>
        <p:spPr>
          <a:xfrm>
            <a:off x="502920" y="3822192"/>
            <a:ext cx="8229600" cy="749808"/>
          </a:xfrm>
          <a:prstGeom prst="rect">
            <a:avLst/>
          </a:prstGeom>
          <a:noFill/>
          <a:ln/>
        </p:spPr>
        <p:txBody>
          <a:bodyPr wrap="square" lIns="0" tIns="0" rIns="0" bIns="0" rtlCol="0" anchor="t"/>
          <a:lstStyle/>
          <a:p>
            <a:pPr indent="0" marL="0">
              <a:buNone/>
            </a:pPr>
            <a:r>
              <a:rPr lang="en-US" sz="1250" b="1" dirty="0">
                <a:solidFill>
                  <a:srgbClr val="FFD0D2"/>
                </a:solidFill>
                <a:latin typeface="Calibri" pitchFamily="34" charset="0"/>
                <a:ea typeface="Calibri" pitchFamily="34" charset="-122"/>
                <a:cs typeface="Calibri" pitchFamily="34" charset="-120"/>
              </a:rPr>
              <a:t>Herald: </a:t>
            </a:r>
            <a:pPr indent="0" marL="0">
              <a:buNone/>
            </a:pPr>
            <a:r>
              <a:rPr lang="en-US" sz="1250" i="1" dirty="0">
                <a:solidFill>
                  <a:srgbClr val="FFD0D2"/>
                </a:solidFill>
                <a:latin typeface="Cambria" pitchFamily="34" charset="0"/>
                <a:ea typeface="Cambria" pitchFamily="34" charset="-122"/>
                <a:cs typeface="Cambria" pitchFamily="34" charset="-120"/>
              </a:rPr>
              <a:t>"Only mysteries, not evidence." </a:t>
            </a:r>
            <a:pPr indent="0" marL="0">
              <a:buNone/>
            </a:pPr>
            <a:r>
              <a:rPr lang="en-US" sz="1250" b="1" dirty="0">
                <a:solidFill>
                  <a:srgbClr val="55C8E8"/>
                </a:solidFill>
                <a:latin typeface="Calibri" pitchFamily="34" charset="0"/>
                <a:ea typeface="Calibri" pitchFamily="34" charset="-122"/>
                <a:cs typeface="Calibri" pitchFamily="34" charset="-120"/>
              </a:rPr>
              <a:t>Gazette: </a:t>
            </a:r>
            <a:pPr indent="0" marL="0">
              <a:buNone/>
            </a:pPr>
            <a:r>
              <a:rPr lang="en-US" sz="1250" i="1" dirty="0">
                <a:solidFill>
                  <a:srgbClr val="D6F2FB"/>
                </a:solidFill>
                <a:latin typeface="Cambria" pitchFamily="34" charset="0"/>
                <a:ea typeface="Cambria" pitchFamily="34" charset="-122"/>
                <a:cs typeface="Cambria" pitchFamily="34" charset="-120"/>
              </a:rPr>
              <a:t>A city of 10,000–20,000 people. A mound larger than the Great Pyramid. That is evidence — not mystery.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1A8A7D"/>
          </a:solidFill>
          <a:ln/>
        </p:spPr>
      </p:sp>
      <p:sp>
        <p:nvSpPr>
          <p:cNvPr id="4" name="Text 2"/>
          <p:cNvSpPr/>
          <p:nvPr/>
        </p:nvSpPr>
        <p:spPr>
          <a:xfrm>
            <a:off x="320040" y="0"/>
            <a:ext cx="8503920" cy="566928"/>
          </a:xfrm>
          <a:prstGeom prst="rect">
            <a:avLst/>
          </a:prstGeom>
          <a:noFill/>
          <a:ln/>
        </p:spPr>
        <p:txBody>
          <a:bodyPr wrap="square" lIns="0" tIns="0" rIns="0" bIns="0" rtlCol="0" anchor="ctr"/>
          <a:lstStyle/>
          <a:p>
            <a:pPr indent="0" marL="0">
              <a:buNone/>
            </a:pPr>
            <a:r>
              <a:rPr lang="en-US" sz="1400" b="1" spc="150" kern="0" dirty="0">
                <a:solidFill>
                  <a:srgbClr val="FFFFFF"/>
                </a:solidFill>
                <a:latin typeface="Cambria" pitchFamily="34" charset="0"/>
                <a:ea typeface="Cambria" pitchFamily="34" charset="-122"/>
                <a:cs typeface="Cambria" pitchFamily="34" charset="-120"/>
              </a:rPr>
              <a:t>CLUE BOX  —  ARTIFACTS &amp; TRADE GOODS AS EVIDENCE</a:t>
            </a:r>
            <a:endParaRPr lang="en-US" sz="1400" dirty="0"/>
          </a:p>
        </p:txBody>
      </p:sp>
      <p:sp>
        <p:nvSpPr>
          <p:cNvPr id="5" name="Shape 3"/>
          <p:cNvSpPr/>
          <p:nvPr/>
        </p:nvSpPr>
        <p:spPr>
          <a:xfrm>
            <a:off x="320040" y="685800"/>
            <a:ext cx="4206240" cy="3154680"/>
          </a:xfrm>
          <a:prstGeom prst="roundRect">
            <a:avLst>
              <a:gd name="adj" fmla="val 3478"/>
            </a:avLst>
          </a:prstGeom>
          <a:solidFill>
            <a:srgbClr val="E2E8F4"/>
          </a:solidFill>
          <a:ln w="19050">
            <a:solidFill>
              <a:srgbClr val="B0B8CC"/>
            </a:solidFill>
            <a:prstDash val="dash"/>
          </a:ln>
        </p:spPr>
      </p:sp>
      <p:sp>
        <p:nvSpPr>
          <p:cNvPr id="6" name="Text 4"/>
          <p:cNvSpPr/>
          <p:nvPr/>
        </p:nvSpPr>
        <p:spPr>
          <a:xfrm>
            <a:off x="320040" y="68580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960120"/>
            <a:ext cx="3931920" cy="2788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showing Cahokia's location and trade routes — arrows connecting Great Lakes (copper), Gulf Coast (shells), and Appalachians (mica) to Cahokia near St. Louis</a:t>
            </a:r>
            <a:endParaRPr lang="en-US" sz="1100" dirty="0"/>
          </a:p>
        </p:txBody>
      </p:sp>
      <p:sp>
        <p:nvSpPr>
          <p:cNvPr id="8" name="Shape 6"/>
          <p:cNvSpPr/>
          <p:nvPr/>
        </p:nvSpPr>
        <p:spPr>
          <a:xfrm>
            <a:off x="4663440" y="685800"/>
            <a:ext cx="4160520" cy="3154680"/>
          </a:xfrm>
          <a:prstGeom prst="roundRect">
            <a:avLst>
              <a:gd name="adj" fmla="val 3478"/>
            </a:avLst>
          </a:prstGeom>
          <a:solidFill>
            <a:srgbClr val="FFFFFF"/>
          </a:solidFill>
          <a:ln w="19050">
            <a:solidFill>
              <a:srgbClr val="1A8A7D"/>
            </a:solidFill>
            <a:prstDash val="solid"/>
          </a:ln>
        </p:spPr>
      </p:sp>
      <p:sp>
        <p:nvSpPr>
          <p:cNvPr id="9" name="Text 7"/>
          <p:cNvSpPr/>
          <p:nvPr/>
        </p:nvSpPr>
        <p:spPr>
          <a:xfrm>
            <a:off x="4800600" y="749808"/>
            <a:ext cx="3886200" cy="201168"/>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TRADE GOODS FOUND AT CAHOKIA</a:t>
            </a:r>
            <a:endParaRPr lang="en-US" sz="900" dirty="0"/>
          </a:p>
        </p:txBody>
      </p:sp>
      <p:sp>
        <p:nvSpPr>
          <p:cNvPr id="10" name="Shape 8"/>
          <p:cNvSpPr/>
          <p:nvPr/>
        </p:nvSpPr>
        <p:spPr>
          <a:xfrm>
            <a:off x="4800600" y="1005840"/>
            <a:ext cx="3886200" cy="749808"/>
          </a:xfrm>
          <a:prstGeom prst="roundRect">
            <a:avLst>
              <a:gd name="adj" fmla="val 9756"/>
            </a:avLst>
          </a:prstGeom>
          <a:solidFill>
            <a:srgbClr val="E8F5F0"/>
          </a:solidFill>
          <a:ln w="6350">
            <a:solidFill>
              <a:srgbClr val="1A8A7D"/>
            </a:solidFill>
            <a:prstDash val="solid"/>
          </a:ln>
        </p:spPr>
      </p:sp>
      <p:sp>
        <p:nvSpPr>
          <p:cNvPr id="11" name="Text 9"/>
          <p:cNvSpPr/>
          <p:nvPr/>
        </p:nvSpPr>
        <p:spPr>
          <a:xfrm>
            <a:off x="4919472" y="1042416"/>
            <a:ext cx="1371600" cy="25603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Copper</a:t>
            </a:r>
            <a:endParaRPr lang="en-US" sz="1400" dirty="0"/>
          </a:p>
        </p:txBody>
      </p:sp>
      <p:sp>
        <p:nvSpPr>
          <p:cNvPr id="12" name="Text 10"/>
          <p:cNvSpPr/>
          <p:nvPr/>
        </p:nvSpPr>
        <p:spPr>
          <a:xfrm>
            <a:off x="6492240" y="1042416"/>
            <a:ext cx="2103120" cy="256032"/>
          </a:xfrm>
          <a:prstGeom prst="rect">
            <a:avLst/>
          </a:prstGeom>
          <a:noFill/>
          <a:ln/>
        </p:spPr>
        <p:txBody>
          <a:bodyPr wrap="square" lIns="0" tIns="0" rIns="0" bIns="0" rtlCol="0" anchor="ctr"/>
          <a:lstStyle/>
          <a:p>
            <a:pPr algn="r" indent="0" marL="0">
              <a:buNone/>
            </a:pPr>
            <a:r>
              <a:rPr lang="en-US" sz="1000" b="1" dirty="0">
                <a:solidFill>
                  <a:srgbClr val="E8636B"/>
                </a:solidFill>
                <a:latin typeface="Calibri" pitchFamily="34" charset="0"/>
                <a:ea typeface="Calibri" pitchFamily="34" charset="-122"/>
                <a:cs typeface="Calibri" pitchFamily="34" charset="-120"/>
              </a:rPr>
              <a:t>700+ miles away</a:t>
            </a:r>
            <a:endParaRPr lang="en-US" sz="1000" dirty="0"/>
          </a:p>
        </p:txBody>
      </p:sp>
      <p:sp>
        <p:nvSpPr>
          <p:cNvPr id="13" name="Text 11"/>
          <p:cNvSpPr/>
          <p:nvPr/>
        </p:nvSpPr>
        <p:spPr>
          <a:xfrm>
            <a:off x="4919472" y="1335024"/>
            <a:ext cx="3639312" cy="347472"/>
          </a:xfrm>
          <a:prstGeom prst="rect">
            <a:avLst/>
          </a:prstGeom>
          <a:noFill/>
          <a:ln/>
        </p:spPr>
        <p:txBody>
          <a:bodyPr wrap="square" lIns="0" tIns="0" rIns="0" bIns="0" rtlCol="0" anchor="t"/>
          <a:lstStyle/>
          <a:p>
            <a:pPr indent="0" marL="0">
              <a:buNone/>
            </a:pPr>
            <a:r>
              <a:rPr lang="en-US" sz="1100" dirty="0">
                <a:solidFill>
                  <a:srgbClr val="2A5A4A"/>
                </a:solidFill>
                <a:latin typeface="Calibri" pitchFamily="34" charset="0"/>
                <a:ea typeface="Calibri" pitchFamily="34" charset="-122"/>
                <a:cs typeface="Calibri" pitchFamily="34" charset="-120"/>
              </a:rPr>
              <a:t>From: Great Lakes region</a:t>
            </a:r>
            <a:endParaRPr lang="en-US" sz="1100" dirty="0"/>
          </a:p>
        </p:txBody>
      </p:sp>
      <p:sp>
        <p:nvSpPr>
          <p:cNvPr id="14" name="Shape 12"/>
          <p:cNvSpPr/>
          <p:nvPr/>
        </p:nvSpPr>
        <p:spPr>
          <a:xfrm>
            <a:off x="4800600" y="1874520"/>
            <a:ext cx="3886200" cy="749808"/>
          </a:xfrm>
          <a:prstGeom prst="roundRect">
            <a:avLst>
              <a:gd name="adj" fmla="val 9756"/>
            </a:avLst>
          </a:prstGeom>
          <a:solidFill>
            <a:srgbClr val="E8F5F0"/>
          </a:solidFill>
          <a:ln w="6350">
            <a:solidFill>
              <a:srgbClr val="1A8A7D"/>
            </a:solidFill>
            <a:prstDash val="solid"/>
          </a:ln>
        </p:spPr>
      </p:sp>
      <p:sp>
        <p:nvSpPr>
          <p:cNvPr id="15" name="Text 13"/>
          <p:cNvSpPr/>
          <p:nvPr/>
        </p:nvSpPr>
        <p:spPr>
          <a:xfrm>
            <a:off x="4919472" y="1911096"/>
            <a:ext cx="1371600" cy="25603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Shells</a:t>
            </a:r>
            <a:endParaRPr lang="en-US" sz="1400" dirty="0"/>
          </a:p>
        </p:txBody>
      </p:sp>
      <p:sp>
        <p:nvSpPr>
          <p:cNvPr id="16" name="Text 14"/>
          <p:cNvSpPr/>
          <p:nvPr/>
        </p:nvSpPr>
        <p:spPr>
          <a:xfrm>
            <a:off x="6492240" y="1911096"/>
            <a:ext cx="2103120" cy="256032"/>
          </a:xfrm>
          <a:prstGeom prst="rect">
            <a:avLst/>
          </a:prstGeom>
          <a:noFill/>
          <a:ln/>
        </p:spPr>
        <p:txBody>
          <a:bodyPr wrap="square" lIns="0" tIns="0" rIns="0" bIns="0" rtlCol="0" anchor="ctr"/>
          <a:lstStyle/>
          <a:p>
            <a:pPr algn="r" indent="0" marL="0">
              <a:buNone/>
            </a:pPr>
            <a:r>
              <a:rPr lang="en-US" sz="1000" b="1" dirty="0">
                <a:solidFill>
                  <a:srgbClr val="E8636B"/>
                </a:solidFill>
                <a:latin typeface="Calibri" pitchFamily="34" charset="0"/>
                <a:ea typeface="Calibri" pitchFamily="34" charset="-122"/>
                <a:cs typeface="Calibri" pitchFamily="34" charset="-120"/>
              </a:rPr>
              <a:t>600+ miles away</a:t>
            </a:r>
            <a:endParaRPr lang="en-US" sz="1000" dirty="0"/>
          </a:p>
        </p:txBody>
      </p:sp>
      <p:sp>
        <p:nvSpPr>
          <p:cNvPr id="17" name="Text 15"/>
          <p:cNvSpPr/>
          <p:nvPr/>
        </p:nvSpPr>
        <p:spPr>
          <a:xfrm>
            <a:off x="4919472" y="2203704"/>
            <a:ext cx="3639312" cy="347472"/>
          </a:xfrm>
          <a:prstGeom prst="rect">
            <a:avLst/>
          </a:prstGeom>
          <a:noFill/>
          <a:ln/>
        </p:spPr>
        <p:txBody>
          <a:bodyPr wrap="square" lIns="0" tIns="0" rIns="0" bIns="0" rtlCol="0" anchor="t"/>
          <a:lstStyle/>
          <a:p>
            <a:pPr indent="0" marL="0">
              <a:buNone/>
            </a:pPr>
            <a:r>
              <a:rPr lang="en-US" sz="1100" dirty="0">
                <a:solidFill>
                  <a:srgbClr val="2A5A4A"/>
                </a:solidFill>
                <a:latin typeface="Calibri" pitchFamily="34" charset="0"/>
                <a:ea typeface="Calibri" pitchFamily="34" charset="-122"/>
                <a:cs typeface="Calibri" pitchFamily="34" charset="-120"/>
              </a:rPr>
              <a:t>From: Gulf Coast</a:t>
            </a:r>
            <a:endParaRPr lang="en-US" sz="1100" dirty="0"/>
          </a:p>
        </p:txBody>
      </p:sp>
      <p:sp>
        <p:nvSpPr>
          <p:cNvPr id="18" name="Shape 16"/>
          <p:cNvSpPr/>
          <p:nvPr/>
        </p:nvSpPr>
        <p:spPr>
          <a:xfrm>
            <a:off x="4800600" y="2743200"/>
            <a:ext cx="3886200" cy="749808"/>
          </a:xfrm>
          <a:prstGeom prst="roundRect">
            <a:avLst>
              <a:gd name="adj" fmla="val 9756"/>
            </a:avLst>
          </a:prstGeom>
          <a:solidFill>
            <a:srgbClr val="E8F5F0"/>
          </a:solidFill>
          <a:ln w="6350">
            <a:solidFill>
              <a:srgbClr val="1A8A7D"/>
            </a:solidFill>
            <a:prstDash val="solid"/>
          </a:ln>
        </p:spPr>
      </p:sp>
      <p:sp>
        <p:nvSpPr>
          <p:cNvPr id="19" name="Text 17"/>
          <p:cNvSpPr/>
          <p:nvPr/>
        </p:nvSpPr>
        <p:spPr>
          <a:xfrm>
            <a:off x="4919472" y="2779776"/>
            <a:ext cx="1371600" cy="25603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Mica</a:t>
            </a:r>
            <a:endParaRPr lang="en-US" sz="1400" dirty="0"/>
          </a:p>
        </p:txBody>
      </p:sp>
      <p:sp>
        <p:nvSpPr>
          <p:cNvPr id="20" name="Text 18"/>
          <p:cNvSpPr/>
          <p:nvPr/>
        </p:nvSpPr>
        <p:spPr>
          <a:xfrm>
            <a:off x="6492240" y="2779776"/>
            <a:ext cx="2103120" cy="256032"/>
          </a:xfrm>
          <a:prstGeom prst="rect">
            <a:avLst/>
          </a:prstGeom>
          <a:noFill/>
          <a:ln/>
        </p:spPr>
        <p:txBody>
          <a:bodyPr wrap="square" lIns="0" tIns="0" rIns="0" bIns="0" rtlCol="0" anchor="ctr"/>
          <a:lstStyle/>
          <a:p>
            <a:pPr algn="r" indent="0" marL="0">
              <a:buNone/>
            </a:pPr>
            <a:r>
              <a:rPr lang="en-US" sz="1000" b="1" dirty="0">
                <a:solidFill>
                  <a:srgbClr val="E8636B"/>
                </a:solidFill>
                <a:latin typeface="Calibri" pitchFamily="34" charset="0"/>
                <a:ea typeface="Calibri" pitchFamily="34" charset="-122"/>
                <a:cs typeface="Calibri" pitchFamily="34" charset="-120"/>
              </a:rPr>
              <a:t>500+ miles away</a:t>
            </a:r>
            <a:endParaRPr lang="en-US" sz="1000" dirty="0"/>
          </a:p>
        </p:txBody>
      </p:sp>
      <p:sp>
        <p:nvSpPr>
          <p:cNvPr id="21" name="Text 19"/>
          <p:cNvSpPr/>
          <p:nvPr/>
        </p:nvSpPr>
        <p:spPr>
          <a:xfrm>
            <a:off x="4919472" y="3072384"/>
            <a:ext cx="3639312" cy="347472"/>
          </a:xfrm>
          <a:prstGeom prst="rect">
            <a:avLst/>
          </a:prstGeom>
          <a:noFill/>
          <a:ln/>
        </p:spPr>
        <p:txBody>
          <a:bodyPr wrap="square" lIns="0" tIns="0" rIns="0" bIns="0" rtlCol="0" anchor="t"/>
          <a:lstStyle/>
          <a:p>
            <a:pPr indent="0" marL="0">
              <a:buNone/>
            </a:pPr>
            <a:r>
              <a:rPr lang="en-US" sz="1100" dirty="0">
                <a:solidFill>
                  <a:srgbClr val="2A5A4A"/>
                </a:solidFill>
                <a:latin typeface="Calibri" pitchFamily="34" charset="0"/>
                <a:ea typeface="Calibri" pitchFamily="34" charset="-122"/>
                <a:cs typeface="Calibri" pitchFamily="34" charset="-120"/>
              </a:rPr>
              <a:t>From: Appalachian Mountains</a:t>
            </a:r>
            <a:endParaRPr lang="en-US" sz="1100" dirty="0"/>
          </a:p>
        </p:txBody>
      </p:sp>
      <p:sp>
        <p:nvSpPr>
          <p:cNvPr id="22" name="Shape 20"/>
          <p:cNvSpPr/>
          <p:nvPr/>
        </p:nvSpPr>
        <p:spPr>
          <a:xfrm>
            <a:off x="4800600" y="3639312"/>
            <a:ext cx="3886200" cy="146304"/>
          </a:xfrm>
          <a:prstGeom prst="roundRect">
            <a:avLst>
              <a:gd name="adj" fmla="val 25000"/>
            </a:avLst>
          </a:prstGeom>
          <a:solidFill>
            <a:srgbClr val="1A8A7D"/>
          </a:solidFill>
          <a:ln/>
        </p:spPr>
      </p:sp>
      <p:sp>
        <p:nvSpPr>
          <p:cNvPr id="23" name="Text 21"/>
          <p:cNvSpPr/>
          <p:nvPr/>
        </p:nvSpPr>
        <p:spPr>
          <a:xfrm>
            <a:off x="4800600" y="3657600"/>
            <a:ext cx="3886200"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These aren't local materials — they had to travel.</a:t>
            </a:r>
            <a:endParaRPr lang="en-US" sz="1050" dirty="0"/>
          </a:p>
        </p:txBody>
      </p:sp>
      <p:sp>
        <p:nvSpPr>
          <p:cNvPr id="24" name="Shape 22"/>
          <p:cNvSpPr/>
          <p:nvPr/>
        </p:nvSpPr>
        <p:spPr>
          <a:xfrm>
            <a:off x="320040" y="3950208"/>
            <a:ext cx="8503920" cy="1024128"/>
          </a:xfrm>
          <a:prstGeom prst="roundRect">
            <a:avLst>
              <a:gd name="adj" fmla="val 10714"/>
            </a:avLst>
          </a:prstGeom>
          <a:solidFill>
            <a:srgbClr val="1A2D5A"/>
          </a:solidFill>
          <a:ln w="12700">
            <a:solidFill>
              <a:srgbClr val="2A4070"/>
            </a:solidFill>
            <a:prstDash val="solid"/>
          </a:ln>
        </p:spPr>
      </p:sp>
      <p:sp>
        <p:nvSpPr>
          <p:cNvPr id="25" name="Text 23"/>
          <p:cNvSpPr/>
          <p:nvPr/>
        </p:nvSpPr>
        <p:spPr>
          <a:xfrm>
            <a:off x="457200" y="4005072"/>
            <a:ext cx="822960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6" name="Text 24"/>
          <p:cNvSpPr/>
          <p:nvPr/>
        </p:nvSpPr>
        <p:spPr>
          <a:xfrm>
            <a:off x="502920" y="4270248"/>
            <a:ext cx="8138160" cy="61264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would Cahokia have objects from 700 miles away?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long-distance trade suggest about how this civilization was organized?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does this evidence challenge the Herald's 'only mysteries' claim?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1A8A7D">
              <a:alpha val="85000"/>
            </a:srgbClr>
          </a:solidFill>
          <a:ln/>
        </p:spPr>
      </p:sp>
      <p:sp>
        <p:nvSpPr>
          <p:cNvPr id="6" name="Text 3"/>
          <p:cNvSpPr/>
          <p:nvPr/>
        </p:nvSpPr>
        <p:spPr>
          <a:xfrm>
            <a:off x="320040" y="0"/>
            <a:ext cx="8503920" cy="502920"/>
          </a:xfrm>
          <a:prstGeom prst="rect">
            <a:avLst/>
          </a:prstGeom>
          <a:noFill/>
          <a:ln/>
        </p:spPr>
        <p:txBody>
          <a:bodyPr wrap="square" lIns="0" tIns="0" rIns="0" bIns="0" rtlCol="0" anchor="ctr"/>
          <a:lstStyle/>
          <a:p>
            <a:pPr indent="0" marL="0">
              <a:buNone/>
            </a:pPr>
            <a:r>
              <a:rPr lang="en-US" sz="1150" b="1" spc="150" kern="0" dirty="0">
                <a:solidFill>
                  <a:srgbClr val="FFFFFF"/>
                </a:solidFill>
                <a:latin typeface="Calibri" pitchFamily="34" charset="0"/>
                <a:ea typeface="Calibri" pitchFamily="34" charset="-122"/>
                <a:cs typeface="Calibri" pitchFamily="34" charset="-120"/>
              </a:rPr>
              <a:t>THE REVEAL  ·  TRADE NETWORKS = EVIDENCE OF CONNECTED CIVILIZATIONS</a:t>
            </a:r>
            <a:endParaRPr lang="en-US" sz="1150" dirty="0"/>
          </a:p>
        </p:txBody>
      </p:sp>
      <p:sp>
        <p:nvSpPr>
          <p:cNvPr id="7" name="Text 4"/>
          <p:cNvSpPr/>
          <p:nvPr/>
        </p:nvSpPr>
        <p:spPr>
          <a:xfrm>
            <a:off x="457200" y="640080"/>
            <a:ext cx="8229600" cy="475488"/>
          </a:xfrm>
          <a:prstGeom prst="rect">
            <a:avLst/>
          </a:prstGeom>
          <a:noFill/>
          <a:ln/>
        </p:spPr>
        <p:txBody>
          <a:bodyPr wrap="square" lIns="0" tIns="0" rIns="0" bIns="0" rtlCol="0" anchor="ctr"/>
          <a:lstStyle/>
          <a:p>
            <a:pPr algn="ctr" indent="0" marL="0">
              <a:buNone/>
            </a:pPr>
            <a:r>
              <a:rPr lang="en-US" sz="2000" i="1" dirty="0">
                <a:solidFill>
                  <a:srgbClr val="D4943A"/>
                </a:solidFill>
                <a:latin typeface="Cambria" pitchFamily="34" charset="0"/>
                <a:ea typeface="Cambria" pitchFamily="34" charset="-122"/>
                <a:cs typeface="Cambria" pitchFamily="34" charset="-120"/>
              </a:rPr>
              <a:t>Far from leaving 'only mysteries,'</a:t>
            </a:r>
            <a:endParaRPr lang="en-US" sz="2000" dirty="0"/>
          </a:p>
        </p:txBody>
      </p:sp>
      <p:sp>
        <p:nvSpPr>
          <p:cNvPr id="8" name="Text 5"/>
          <p:cNvSpPr/>
          <p:nvPr/>
        </p:nvSpPr>
        <p:spPr>
          <a:xfrm>
            <a:off x="457200" y="1097280"/>
            <a:ext cx="8229600"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Mound Builders left behind powerful evidence.</a:t>
            </a:r>
            <a:endParaRPr lang="en-US" sz="2200" dirty="0"/>
          </a:p>
        </p:txBody>
      </p:sp>
      <p:sp>
        <p:nvSpPr>
          <p:cNvPr id="9" name="Shape 6"/>
          <p:cNvSpPr/>
          <p:nvPr/>
        </p:nvSpPr>
        <p:spPr>
          <a:xfrm>
            <a:off x="320040" y="1719072"/>
            <a:ext cx="4114800" cy="1097280"/>
          </a:xfrm>
          <a:prstGeom prst="roundRect">
            <a:avLst>
              <a:gd name="adj" fmla="val 10000"/>
            </a:avLst>
          </a:prstGeom>
          <a:solidFill>
            <a:srgbClr val="0E1C42">
              <a:alpha val="92000"/>
            </a:srgbClr>
          </a:solidFill>
          <a:ln w="12700">
            <a:solidFill>
              <a:srgbClr val="D4943A"/>
            </a:solidFill>
            <a:prstDash val="solid"/>
          </a:ln>
        </p:spPr>
      </p:sp>
      <p:sp>
        <p:nvSpPr>
          <p:cNvPr id="10" name="Text 7"/>
          <p:cNvSpPr/>
          <p:nvPr/>
        </p:nvSpPr>
        <p:spPr>
          <a:xfrm>
            <a:off x="457200" y="1792224"/>
            <a:ext cx="13716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MOUNDS</a:t>
            </a:r>
            <a:endParaRPr lang="en-US" sz="900" dirty="0"/>
          </a:p>
        </p:txBody>
      </p:sp>
      <p:sp>
        <p:nvSpPr>
          <p:cNvPr id="11" name="Text 8"/>
          <p:cNvSpPr/>
          <p:nvPr/>
        </p:nvSpPr>
        <p:spPr>
          <a:xfrm>
            <a:off x="457200" y="2066544"/>
            <a:ext cx="3840480" cy="658368"/>
          </a:xfrm>
          <a:prstGeom prst="rect">
            <a:avLst/>
          </a:prstGeom>
          <a:noFill/>
          <a:ln/>
        </p:spPr>
        <p:txBody>
          <a:bodyPr wrap="square" lIns="0" tIns="0" rIns="0" bIns="0" rtlCol="0" anchor="t"/>
          <a:lstStyle/>
          <a:p>
            <a:pPr indent="0" marL="0">
              <a:buNone/>
            </a:pPr>
            <a:r>
              <a:rPr lang="en-US" sz="1200" dirty="0">
                <a:solidFill>
                  <a:srgbClr val="D6F2FB"/>
                </a:solidFill>
                <a:latin typeface="Calibri" pitchFamily="34" charset="0"/>
                <a:ea typeface="Calibri" pitchFamily="34" charset="-122"/>
                <a:cs typeface="Calibri" pitchFamily="34" charset="-120"/>
              </a:rPr>
              <a:t>Structures so large they required coordinated labor, planning, and leadership.</a:t>
            </a:r>
            <a:endParaRPr lang="en-US" sz="1200" dirty="0"/>
          </a:p>
        </p:txBody>
      </p:sp>
      <p:sp>
        <p:nvSpPr>
          <p:cNvPr id="12" name="Shape 9"/>
          <p:cNvSpPr/>
          <p:nvPr/>
        </p:nvSpPr>
        <p:spPr>
          <a:xfrm>
            <a:off x="4754880" y="1719072"/>
            <a:ext cx="4114800" cy="1097280"/>
          </a:xfrm>
          <a:prstGeom prst="roundRect">
            <a:avLst>
              <a:gd name="adj" fmla="val 10000"/>
            </a:avLst>
          </a:prstGeom>
          <a:solidFill>
            <a:srgbClr val="0E1C42">
              <a:alpha val="92000"/>
            </a:srgbClr>
          </a:solidFill>
          <a:ln w="12700">
            <a:solidFill>
              <a:srgbClr val="D4943A"/>
            </a:solidFill>
            <a:prstDash val="solid"/>
          </a:ln>
        </p:spPr>
      </p:sp>
      <p:sp>
        <p:nvSpPr>
          <p:cNvPr id="13" name="Text 10"/>
          <p:cNvSpPr/>
          <p:nvPr/>
        </p:nvSpPr>
        <p:spPr>
          <a:xfrm>
            <a:off x="4892040" y="1792224"/>
            <a:ext cx="13716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ARTIFACTS</a:t>
            </a:r>
            <a:endParaRPr lang="en-US" sz="900" dirty="0"/>
          </a:p>
        </p:txBody>
      </p:sp>
      <p:sp>
        <p:nvSpPr>
          <p:cNvPr id="14" name="Text 11"/>
          <p:cNvSpPr/>
          <p:nvPr/>
        </p:nvSpPr>
        <p:spPr>
          <a:xfrm>
            <a:off x="4892040" y="2066544"/>
            <a:ext cx="3840480" cy="658368"/>
          </a:xfrm>
          <a:prstGeom prst="rect">
            <a:avLst/>
          </a:prstGeom>
          <a:noFill/>
          <a:ln/>
        </p:spPr>
        <p:txBody>
          <a:bodyPr wrap="square" lIns="0" tIns="0" rIns="0" bIns="0" rtlCol="0" anchor="t"/>
          <a:lstStyle/>
          <a:p>
            <a:pPr indent="0" marL="0">
              <a:buNone/>
            </a:pPr>
            <a:r>
              <a:rPr lang="en-US" sz="1200" dirty="0">
                <a:solidFill>
                  <a:srgbClr val="D6F2FB"/>
                </a:solidFill>
                <a:latin typeface="Calibri" pitchFamily="34" charset="0"/>
                <a:ea typeface="Calibri" pitchFamily="34" charset="-122"/>
                <a:cs typeface="Calibri" pitchFamily="34" charset="-120"/>
              </a:rPr>
              <a:t>Objects from the Great Lakes, Gulf Coast, and Appalachians — proof of long-distance trade.</a:t>
            </a:r>
            <a:endParaRPr lang="en-US" sz="1200" dirty="0"/>
          </a:p>
        </p:txBody>
      </p:sp>
      <p:sp>
        <p:nvSpPr>
          <p:cNvPr id="15" name="Shape 12"/>
          <p:cNvSpPr/>
          <p:nvPr/>
        </p:nvSpPr>
        <p:spPr>
          <a:xfrm>
            <a:off x="320040" y="2953512"/>
            <a:ext cx="4114800" cy="1097280"/>
          </a:xfrm>
          <a:prstGeom prst="roundRect">
            <a:avLst>
              <a:gd name="adj" fmla="val 10000"/>
            </a:avLst>
          </a:prstGeom>
          <a:solidFill>
            <a:srgbClr val="0E1C42">
              <a:alpha val="92000"/>
            </a:srgbClr>
          </a:solidFill>
          <a:ln w="12700">
            <a:solidFill>
              <a:srgbClr val="D4943A"/>
            </a:solidFill>
            <a:prstDash val="solid"/>
          </a:ln>
        </p:spPr>
      </p:sp>
      <p:sp>
        <p:nvSpPr>
          <p:cNvPr id="16" name="Text 13"/>
          <p:cNvSpPr/>
          <p:nvPr/>
        </p:nvSpPr>
        <p:spPr>
          <a:xfrm>
            <a:off x="457200" y="3026664"/>
            <a:ext cx="13716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ALIGNMENT</a:t>
            </a:r>
            <a:endParaRPr lang="en-US" sz="900" dirty="0"/>
          </a:p>
        </p:txBody>
      </p:sp>
      <p:sp>
        <p:nvSpPr>
          <p:cNvPr id="17" name="Text 14"/>
          <p:cNvSpPr/>
          <p:nvPr/>
        </p:nvSpPr>
        <p:spPr>
          <a:xfrm>
            <a:off x="457200" y="3300984"/>
            <a:ext cx="3840480" cy="658368"/>
          </a:xfrm>
          <a:prstGeom prst="rect">
            <a:avLst/>
          </a:prstGeom>
          <a:noFill/>
          <a:ln/>
        </p:spPr>
        <p:txBody>
          <a:bodyPr wrap="square" lIns="0" tIns="0" rIns="0" bIns="0" rtlCol="0" anchor="t"/>
          <a:lstStyle/>
          <a:p>
            <a:pPr indent="0" marL="0">
              <a:buNone/>
            </a:pPr>
            <a:r>
              <a:rPr lang="en-US" sz="1200" dirty="0">
                <a:solidFill>
                  <a:srgbClr val="D6F2FB"/>
                </a:solidFill>
                <a:latin typeface="Calibri" pitchFamily="34" charset="0"/>
                <a:ea typeface="Calibri" pitchFamily="34" charset="-122"/>
                <a:cs typeface="Calibri" pitchFamily="34" charset="-120"/>
              </a:rPr>
              <a:t>Mound placement and shape tied to astronomy and religious ceremonies.</a:t>
            </a:r>
            <a:endParaRPr lang="en-US" sz="1200" dirty="0"/>
          </a:p>
        </p:txBody>
      </p:sp>
      <p:sp>
        <p:nvSpPr>
          <p:cNvPr id="18" name="Shape 15"/>
          <p:cNvSpPr/>
          <p:nvPr/>
        </p:nvSpPr>
        <p:spPr>
          <a:xfrm>
            <a:off x="4754880" y="2953512"/>
            <a:ext cx="4114800" cy="1097280"/>
          </a:xfrm>
          <a:prstGeom prst="roundRect">
            <a:avLst>
              <a:gd name="adj" fmla="val 10000"/>
            </a:avLst>
          </a:prstGeom>
          <a:solidFill>
            <a:srgbClr val="0E1C42">
              <a:alpha val="92000"/>
            </a:srgbClr>
          </a:solidFill>
          <a:ln w="12700">
            <a:solidFill>
              <a:srgbClr val="D4943A"/>
            </a:solidFill>
            <a:prstDash val="solid"/>
          </a:ln>
        </p:spPr>
      </p:sp>
      <p:sp>
        <p:nvSpPr>
          <p:cNvPr id="19" name="Text 16"/>
          <p:cNvSpPr/>
          <p:nvPr/>
        </p:nvSpPr>
        <p:spPr>
          <a:xfrm>
            <a:off x="4892040" y="3026664"/>
            <a:ext cx="13716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NETWORKS</a:t>
            </a:r>
            <a:endParaRPr lang="en-US" sz="900" dirty="0"/>
          </a:p>
        </p:txBody>
      </p:sp>
      <p:sp>
        <p:nvSpPr>
          <p:cNvPr id="20" name="Text 17"/>
          <p:cNvSpPr/>
          <p:nvPr/>
        </p:nvSpPr>
        <p:spPr>
          <a:xfrm>
            <a:off x="4892040" y="3300984"/>
            <a:ext cx="3840480" cy="658368"/>
          </a:xfrm>
          <a:prstGeom prst="rect">
            <a:avLst/>
          </a:prstGeom>
          <a:noFill/>
          <a:ln/>
        </p:spPr>
        <p:txBody>
          <a:bodyPr wrap="square" lIns="0" tIns="0" rIns="0" bIns="0" rtlCol="0" anchor="t"/>
          <a:lstStyle/>
          <a:p>
            <a:pPr indent="0" marL="0">
              <a:buNone/>
            </a:pPr>
            <a:r>
              <a:rPr lang="en-US" sz="1200" dirty="0">
                <a:solidFill>
                  <a:srgbClr val="D6F2FB"/>
                </a:solidFill>
                <a:latin typeface="Calibri" pitchFamily="34" charset="0"/>
                <a:ea typeface="Calibri" pitchFamily="34" charset="-122"/>
                <a:cs typeface="Calibri" pitchFamily="34" charset="-120"/>
              </a:rPr>
              <a:t>Communities connected across hundreds of miles — not isolated peoples.</a:t>
            </a:r>
            <a:endParaRPr lang="en-US" sz="1200" dirty="0"/>
          </a:p>
        </p:txBody>
      </p:sp>
      <p:sp>
        <p:nvSpPr>
          <p:cNvPr id="21" name="Shape 18"/>
          <p:cNvSpPr/>
          <p:nvPr/>
        </p:nvSpPr>
        <p:spPr>
          <a:xfrm>
            <a:off x="457200" y="4224528"/>
            <a:ext cx="8229600" cy="685800"/>
          </a:xfrm>
          <a:prstGeom prst="roundRect">
            <a:avLst>
              <a:gd name="adj" fmla="val 13333"/>
            </a:avLst>
          </a:prstGeom>
          <a:solidFill>
            <a:srgbClr val="D4943A">
              <a:alpha val="80000"/>
            </a:srgbClr>
          </a:solidFill>
          <a:ln w="12700">
            <a:solidFill>
              <a:srgbClr val="D4943A"/>
            </a:solidFill>
            <a:prstDash val="solid"/>
          </a:ln>
        </p:spPr>
      </p:sp>
      <p:sp>
        <p:nvSpPr>
          <p:cNvPr id="22" name="Text 19"/>
          <p:cNvSpPr/>
          <p:nvPr/>
        </p:nvSpPr>
        <p:spPr>
          <a:xfrm>
            <a:off x="594360" y="4270248"/>
            <a:ext cx="7955280" cy="566928"/>
          </a:xfrm>
          <a:prstGeom prst="rect">
            <a:avLst/>
          </a:prstGeom>
          <a:noFill/>
          <a:ln/>
        </p:spPr>
        <p:txBody>
          <a:bodyPr wrap="square" lIns="0" tIns="0" rIns="0" bIns="0" rtlCol="0" anchor="ctr"/>
          <a:lstStyle/>
          <a:p>
            <a:pPr indent="0" marL="0">
              <a:buNone/>
            </a:pPr>
            <a:r>
              <a:rPr lang="en-US" sz="1250" i="1" dirty="0">
                <a:solidFill>
                  <a:srgbClr val="FFFFFF"/>
                </a:solidFill>
                <a:latin typeface="Cambria" pitchFamily="34" charset="0"/>
                <a:ea typeface="Cambria" pitchFamily="34" charset="-122"/>
                <a:cs typeface="Cambria" pitchFamily="34" charset="-120"/>
              </a:rPr>
              <a:t>The Gazette verdict: The mounds, artifacts, and trade networks ARE the evidence. The Herald's claim doesn't hold up.</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8B6FC0"/>
          </a:solidFill>
          <a:ln/>
        </p:spPr>
      </p:sp>
      <p:sp>
        <p:nvSpPr>
          <p:cNvPr id="4" name="Text 2"/>
          <p:cNvSpPr/>
          <p:nvPr/>
        </p:nvSpPr>
        <p:spPr>
          <a:xfrm>
            <a:off x="320040" y="0"/>
            <a:ext cx="8503920" cy="566928"/>
          </a:xfrm>
          <a:prstGeom prst="rect">
            <a:avLst/>
          </a:prstGeom>
          <a:noFill/>
          <a:ln/>
        </p:spPr>
        <p:txBody>
          <a:bodyPr wrap="square" lIns="0" tIns="0" rIns="0" bIns="0" rtlCol="0" anchor="ctr"/>
          <a:lstStyle/>
          <a:p>
            <a:pPr indent="0" marL="0">
              <a:buNone/>
            </a:pPr>
            <a:r>
              <a:rPr lang="en-US" sz="1600" b="1" spc="200" kern="0" dirty="0">
                <a:solidFill>
                  <a:srgbClr val="FFFFFF"/>
                </a:solidFill>
                <a:latin typeface="Cambria" pitchFamily="34" charset="0"/>
                <a:ea typeface="Cambria" pitchFamily="34" charset="-122"/>
                <a:cs typeface="Cambria" pitchFamily="34" charset="-120"/>
              </a:rPr>
              <a:t>VOCABULARY  —  WORDS FOR THE FRONT PAGE</a:t>
            </a:r>
            <a:endParaRPr lang="en-US" sz="1600" dirty="0"/>
          </a:p>
        </p:txBody>
      </p:sp>
      <p:sp>
        <p:nvSpPr>
          <p:cNvPr id="5" name="Shape 3"/>
          <p:cNvSpPr/>
          <p:nvPr/>
        </p:nvSpPr>
        <p:spPr>
          <a:xfrm>
            <a:off x="320040" y="685800"/>
            <a:ext cx="4160520" cy="1170432"/>
          </a:xfrm>
          <a:prstGeom prst="roundRect">
            <a:avLst>
              <a:gd name="adj" fmla="val 9375"/>
            </a:avLst>
          </a:prstGeom>
          <a:solidFill>
            <a:srgbClr val="FFFFFF"/>
          </a:solidFill>
          <a:ln w="19050">
            <a:solidFill>
              <a:srgbClr val="8B6FC0"/>
            </a:solidFill>
            <a:prstDash val="solid"/>
          </a:ln>
        </p:spPr>
      </p:sp>
      <p:sp>
        <p:nvSpPr>
          <p:cNvPr id="6" name="Text 4"/>
          <p:cNvSpPr/>
          <p:nvPr/>
        </p:nvSpPr>
        <p:spPr>
          <a:xfrm>
            <a:off x="457200" y="758952"/>
            <a:ext cx="3886200" cy="256032"/>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Mound Builders</a:t>
            </a:r>
            <a:endParaRPr lang="en-US" sz="1300" dirty="0"/>
          </a:p>
        </p:txBody>
      </p:sp>
      <p:sp>
        <p:nvSpPr>
          <p:cNvPr id="7" name="Text 5"/>
          <p:cNvSpPr/>
          <p:nvPr/>
        </p:nvSpPr>
        <p:spPr>
          <a:xfrm>
            <a:off x="457200" y="1033272"/>
            <a:ext cx="3886200" cy="749808"/>
          </a:xfrm>
          <a:prstGeom prst="rect">
            <a:avLst/>
          </a:prstGeom>
          <a:noFill/>
          <a:ln/>
        </p:spPr>
        <p:txBody>
          <a:bodyPr wrap="square" lIns="0" tIns="0" rIns="0" bIns="0" rtlCol="0" anchor="t"/>
          <a:lstStyle/>
          <a:p>
            <a:pPr indent="0" marL="0">
              <a:buNone/>
            </a:pPr>
            <a:r>
              <a:rPr lang="en-US" sz="1100" dirty="0">
                <a:solidFill>
                  <a:srgbClr val="2A3A5A"/>
                </a:solidFill>
                <a:latin typeface="Calibri" pitchFamily="34" charset="0"/>
                <a:ea typeface="Calibri" pitchFamily="34" charset="-122"/>
                <a:cs typeface="Calibri" pitchFamily="34" charset="-120"/>
              </a:rPr>
              <a:t>A collective term for many different Native American cultures who built earthen mounds across eastern and central North America over thousands of years.</a:t>
            </a:r>
            <a:endParaRPr lang="en-US" sz="1100" dirty="0"/>
          </a:p>
        </p:txBody>
      </p:sp>
      <p:sp>
        <p:nvSpPr>
          <p:cNvPr id="8" name="Shape 6"/>
          <p:cNvSpPr/>
          <p:nvPr/>
        </p:nvSpPr>
        <p:spPr>
          <a:xfrm>
            <a:off x="320040" y="1984248"/>
            <a:ext cx="4160520" cy="1170432"/>
          </a:xfrm>
          <a:prstGeom prst="roundRect">
            <a:avLst>
              <a:gd name="adj" fmla="val 9375"/>
            </a:avLst>
          </a:prstGeom>
          <a:solidFill>
            <a:srgbClr val="FFFFFF"/>
          </a:solidFill>
          <a:ln w="19050">
            <a:solidFill>
              <a:srgbClr val="8B6FC0"/>
            </a:solidFill>
            <a:prstDash val="solid"/>
          </a:ln>
        </p:spPr>
      </p:sp>
      <p:sp>
        <p:nvSpPr>
          <p:cNvPr id="9" name="Text 7"/>
          <p:cNvSpPr/>
          <p:nvPr/>
        </p:nvSpPr>
        <p:spPr>
          <a:xfrm>
            <a:off x="457200" y="2057400"/>
            <a:ext cx="3886200" cy="256032"/>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Cahokia</a:t>
            </a:r>
            <a:endParaRPr lang="en-US" sz="1300" dirty="0"/>
          </a:p>
        </p:txBody>
      </p:sp>
      <p:sp>
        <p:nvSpPr>
          <p:cNvPr id="10" name="Text 8"/>
          <p:cNvSpPr/>
          <p:nvPr/>
        </p:nvSpPr>
        <p:spPr>
          <a:xfrm>
            <a:off x="457200" y="2331720"/>
            <a:ext cx="3886200" cy="749808"/>
          </a:xfrm>
          <a:prstGeom prst="rect">
            <a:avLst/>
          </a:prstGeom>
          <a:noFill/>
          <a:ln/>
        </p:spPr>
        <p:txBody>
          <a:bodyPr wrap="square" lIns="0" tIns="0" rIns="0" bIns="0" rtlCol="0" anchor="t"/>
          <a:lstStyle/>
          <a:p>
            <a:pPr indent="0" marL="0">
              <a:buNone/>
            </a:pPr>
            <a:r>
              <a:rPr lang="en-US" sz="1100" dirty="0">
                <a:solidFill>
                  <a:srgbClr val="2A3A5A"/>
                </a:solidFill>
                <a:latin typeface="Calibri" pitchFamily="34" charset="0"/>
                <a:ea typeface="Calibri" pitchFamily="34" charset="-122"/>
                <a:cs typeface="Calibri" pitchFamily="34" charset="-120"/>
              </a:rPr>
              <a:t>The largest Mound Builder city, located near modern-day St. Louis, Missouri. At its peak (~1100 CE) it had 10,000–20,000 residents.</a:t>
            </a:r>
            <a:endParaRPr lang="en-US" sz="1100" dirty="0"/>
          </a:p>
        </p:txBody>
      </p:sp>
      <p:sp>
        <p:nvSpPr>
          <p:cNvPr id="11" name="Shape 9"/>
          <p:cNvSpPr/>
          <p:nvPr/>
        </p:nvSpPr>
        <p:spPr>
          <a:xfrm>
            <a:off x="320040" y="3282696"/>
            <a:ext cx="4160520" cy="1170432"/>
          </a:xfrm>
          <a:prstGeom prst="roundRect">
            <a:avLst>
              <a:gd name="adj" fmla="val 9375"/>
            </a:avLst>
          </a:prstGeom>
          <a:solidFill>
            <a:srgbClr val="FFFFFF"/>
          </a:solidFill>
          <a:ln w="19050">
            <a:solidFill>
              <a:srgbClr val="8B6FC0"/>
            </a:solidFill>
            <a:prstDash val="solid"/>
          </a:ln>
        </p:spPr>
      </p:sp>
      <p:sp>
        <p:nvSpPr>
          <p:cNvPr id="12" name="Text 10"/>
          <p:cNvSpPr/>
          <p:nvPr/>
        </p:nvSpPr>
        <p:spPr>
          <a:xfrm>
            <a:off x="457200" y="3355848"/>
            <a:ext cx="3886200" cy="256032"/>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Monks Mound</a:t>
            </a:r>
            <a:endParaRPr lang="en-US" sz="1300" dirty="0"/>
          </a:p>
        </p:txBody>
      </p:sp>
      <p:sp>
        <p:nvSpPr>
          <p:cNvPr id="13" name="Text 11"/>
          <p:cNvSpPr/>
          <p:nvPr/>
        </p:nvSpPr>
        <p:spPr>
          <a:xfrm>
            <a:off x="457200" y="3630168"/>
            <a:ext cx="3886200" cy="749808"/>
          </a:xfrm>
          <a:prstGeom prst="rect">
            <a:avLst/>
          </a:prstGeom>
          <a:noFill/>
          <a:ln/>
        </p:spPr>
        <p:txBody>
          <a:bodyPr wrap="square" lIns="0" tIns="0" rIns="0" bIns="0" rtlCol="0" anchor="t"/>
          <a:lstStyle/>
          <a:p>
            <a:pPr indent="0" marL="0">
              <a:buNone/>
            </a:pPr>
            <a:r>
              <a:rPr lang="en-US" sz="1100" dirty="0">
                <a:solidFill>
                  <a:srgbClr val="2A3A5A"/>
                </a:solidFill>
                <a:latin typeface="Calibri" pitchFamily="34" charset="0"/>
                <a:ea typeface="Calibri" pitchFamily="34" charset="-122"/>
                <a:cs typeface="Calibri" pitchFamily="34" charset="-120"/>
              </a:rPr>
              <a:t>The central structure at Cahokia — 100 feet tall, covering 14 acres. Larger at the base than the Great Pyramid at Giza.</a:t>
            </a:r>
            <a:endParaRPr lang="en-US" sz="1100" dirty="0"/>
          </a:p>
        </p:txBody>
      </p:sp>
      <p:sp>
        <p:nvSpPr>
          <p:cNvPr id="14" name="Shape 12"/>
          <p:cNvSpPr/>
          <p:nvPr/>
        </p:nvSpPr>
        <p:spPr>
          <a:xfrm>
            <a:off x="4846320" y="685800"/>
            <a:ext cx="4160520" cy="1170432"/>
          </a:xfrm>
          <a:prstGeom prst="roundRect">
            <a:avLst>
              <a:gd name="adj" fmla="val 9375"/>
            </a:avLst>
          </a:prstGeom>
          <a:solidFill>
            <a:srgbClr val="FFFFFF"/>
          </a:solidFill>
          <a:ln w="19050">
            <a:solidFill>
              <a:srgbClr val="8B6FC0"/>
            </a:solidFill>
            <a:prstDash val="solid"/>
          </a:ln>
        </p:spPr>
      </p:sp>
      <p:sp>
        <p:nvSpPr>
          <p:cNvPr id="15" name="Text 13"/>
          <p:cNvSpPr/>
          <p:nvPr/>
        </p:nvSpPr>
        <p:spPr>
          <a:xfrm>
            <a:off x="4983480" y="758952"/>
            <a:ext cx="3886200" cy="256032"/>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Effigy mound</a:t>
            </a:r>
            <a:endParaRPr lang="en-US" sz="1300" dirty="0"/>
          </a:p>
        </p:txBody>
      </p:sp>
      <p:sp>
        <p:nvSpPr>
          <p:cNvPr id="16" name="Text 14"/>
          <p:cNvSpPr/>
          <p:nvPr/>
        </p:nvSpPr>
        <p:spPr>
          <a:xfrm>
            <a:off x="4983480" y="1033272"/>
            <a:ext cx="3886200" cy="749808"/>
          </a:xfrm>
          <a:prstGeom prst="rect">
            <a:avLst/>
          </a:prstGeom>
          <a:noFill/>
          <a:ln/>
        </p:spPr>
        <p:txBody>
          <a:bodyPr wrap="square" lIns="0" tIns="0" rIns="0" bIns="0" rtlCol="0" anchor="t"/>
          <a:lstStyle/>
          <a:p>
            <a:pPr indent="0" marL="0">
              <a:buNone/>
            </a:pPr>
            <a:r>
              <a:rPr lang="en-US" sz="1100" dirty="0">
                <a:solidFill>
                  <a:srgbClr val="2A3A5A"/>
                </a:solidFill>
                <a:latin typeface="Calibri" pitchFamily="34" charset="0"/>
                <a:ea typeface="Calibri" pitchFamily="34" charset="-122"/>
                <a:cs typeface="Calibri" pitchFamily="34" charset="-120"/>
              </a:rPr>
              <a:t>A mound shaped like an animal or person. The Great Serpent Mound in Ohio (over 1,300 feet long) is a famous example.</a:t>
            </a:r>
            <a:endParaRPr lang="en-US" sz="1100" dirty="0"/>
          </a:p>
        </p:txBody>
      </p:sp>
      <p:sp>
        <p:nvSpPr>
          <p:cNvPr id="17" name="Shape 15"/>
          <p:cNvSpPr/>
          <p:nvPr/>
        </p:nvSpPr>
        <p:spPr>
          <a:xfrm>
            <a:off x="4846320" y="1984248"/>
            <a:ext cx="4160520" cy="1170432"/>
          </a:xfrm>
          <a:prstGeom prst="roundRect">
            <a:avLst>
              <a:gd name="adj" fmla="val 9375"/>
            </a:avLst>
          </a:prstGeom>
          <a:solidFill>
            <a:srgbClr val="FFFFFF"/>
          </a:solidFill>
          <a:ln w="19050">
            <a:solidFill>
              <a:srgbClr val="8B6FC0"/>
            </a:solidFill>
            <a:prstDash val="solid"/>
          </a:ln>
        </p:spPr>
      </p:sp>
      <p:sp>
        <p:nvSpPr>
          <p:cNvPr id="18" name="Text 16"/>
          <p:cNvSpPr/>
          <p:nvPr/>
        </p:nvSpPr>
        <p:spPr>
          <a:xfrm>
            <a:off x="4983480" y="2057400"/>
            <a:ext cx="3886200" cy="256032"/>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Archaeologist</a:t>
            </a:r>
            <a:endParaRPr lang="en-US" sz="1300" dirty="0"/>
          </a:p>
        </p:txBody>
      </p:sp>
      <p:sp>
        <p:nvSpPr>
          <p:cNvPr id="19" name="Text 17"/>
          <p:cNvSpPr/>
          <p:nvPr/>
        </p:nvSpPr>
        <p:spPr>
          <a:xfrm>
            <a:off x="4983480" y="2331720"/>
            <a:ext cx="3886200" cy="749808"/>
          </a:xfrm>
          <a:prstGeom prst="rect">
            <a:avLst/>
          </a:prstGeom>
          <a:noFill/>
          <a:ln/>
        </p:spPr>
        <p:txBody>
          <a:bodyPr wrap="square" lIns="0" tIns="0" rIns="0" bIns="0" rtlCol="0" anchor="t"/>
          <a:lstStyle/>
          <a:p>
            <a:pPr indent="0" marL="0">
              <a:buNone/>
            </a:pPr>
            <a:r>
              <a:rPr lang="en-US" sz="1100" dirty="0">
                <a:solidFill>
                  <a:srgbClr val="2A3A5A"/>
                </a:solidFill>
                <a:latin typeface="Calibri" pitchFamily="34" charset="0"/>
                <a:ea typeface="Calibri" pitchFamily="34" charset="-122"/>
                <a:cs typeface="Calibri" pitchFamily="34" charset="-120"/>
              </a:rPr>
              <a:t>A scientist who studies past human cultures by examining physical remains — structures, artifacts, and sites — left behind.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0E1C42"/>
          </a:solidFill>
          <a:ln/>
        </p:spPr>
      </p:sp>
      <p:sp>
        <p:nvSpPr>
          <p:cNvPr id="4" name="Text 2"/>
          <p:cNvSpPr/>
          <p:nvPr/>
        </p:nvSpPr>
        <p:spPr>
          <a:xfrm>
            <a:off x="320040" y="0"/>
            <a:ext cx="5486400" cy="566928"/>
          </a:xfrm>
          <a:prstGeom prst="rect">
            <a:avLst/>
          </a:prstGeom>
          <a:noFill/>
          <a:ln/>
        </p:spPr>
        <p:txBody>
          <a:bodyPr wrap="square" lIns="0" tIns="0" rIns="0" bIns="0" rtlCol="0" anchor="ctr"/>
          <a:lstStyle/>
          <a:p>
            <a:pPr indent="0" marL="0">
              <a:buNone/>
            </a:pPr>
            <a:r>
              <a:rPr lang="en-US" sz="1800" b="1" spc="150" kern="0" dirty="0">
                <a:solidFill>
                  <a:srgbClr val="D4943A"/>
                </a:solidFill>
                <a:latin typeface="Cambria" pitchFamily="34" charset="0"/>
                <a:ea typeface="Cambria" pitchFamily="34" charset="-122"/>
                <a:cs typeface="Cambria" pitchFamily="34" charset="-120"/>
              </a:rPr>
              <a:t>GUIDED PRACTICE  —  I DO</a:t>
            </a:r>
            <a:endParaRPr lang="en-US" sz="1800" dirty="0"/>
          </a:p>
        </p:txBody>
      </p:sp>
      <p:sp>
        <p:nvSpPr>
          <p:cNvPr id="5" name="Text 3"/>
          <p:cNvSpPr/>
          <p:nvPr/>
        </p:nvSpPr>
        <p:spPr>
          <a:xfrm>
            <a:off x="5669280" y="0"/>
            <a:ext cx="3200400" cy="566928"/>
          </a:xfrm>
          <a:prstGeom prst="rect">
            <a:avLst/>
          </a:prstGeom>
          <a:noFill/>
          <a:ln/>
        </p:spPr>
        <p:txBody>
          <a:bodyPr wrap="square" lIns="0" tIns="0" rIns="0" bIns="0" rtlCol="0" anchor="ctr"/>
          <a:lstStyle/>
          <a:p>
            <a:pPr algn="r" indent="0" marL="0">
              <a:buNone/>
            </a:pPr>
            <a:r>
              <a:rPr lang="en-US" sz="1050" i="1" dirty="0">
                <a:solidFill>
                  <a:srgbClr val="7A88A8"/>
                </a:solidFill>
                <a:latin typeface="Calibri" pitchFamily="34" charset="0"/>
                <a:ea typeface="Calibri" pitchFamily="34" charset="-122"/>
                <a:cs typeface="Calibri" pitchFamily="34" charset="-120"/>
              </a:rPr>
              <a:t>Watch the thinking, not just the answer.</a:t>
            </a:r>
            <a:endParaRPr lang="en-US" sz="1050" dirty="0"/>
          </a:p>
        </p:txBody>
      </p:sp>
      <p:sp>
        <p:nvSpPr>
          <p:cNvPr id="6" name="Shape 4"/>
          <p:cNvSpPr/>
          <p:nvPr/>
        </p:nvSpPr>
        <p:spPr>
          <a:xfrm>
            <a:off x="320040" y="685800"/>
            <a:ext cx="8503920" cy="685800"/>
          </a:xfrm>
          <a:prstGeom prst="roundRect">
            <a:avLst>
              <a:gd name="adj" fmla="val 13333"/>
            </a:avLst>
          </a:prstGeom>
          <a:solidFill>
            <a:srgbClr val="1A2D5A"/>
          </a:solidFill>
          <a:ln w="12700">
            <a:solidFill>
              <a:srgbClr val="2A4070"/>
            </a:solidFill>
            <a:prstDash val="solid"/>
          </a:ln>
        </p:spPr>
      </p:sp>
      <p:sp>
        <p:nvSpPr>
          <p:cNvPr id="7" name="Text 5"/>
          <p:cNvSpPr/>
          <p:nvPr/>
        </p:nvSpPr>
        <p:spPr>
          <a:xfrm>
            <a:off x="457200" y="731520"/>
            <a:ext cx="3200400" cy="201168"/>
          </a:xfrm>
          <a:prstGeom prst="rect">
            <a:avLst/>
          </a:prstGeom>
          <a:noFill/>
          <a:ln/>
        </p:spPr>
        <p:txBody>
          <a:bodyPr wrap="square" lIns="0" tIns="0" rIns="0" bIns="0" rtlCol="0" anchor="ctr"/>
          <a:lstStyle/>
          <a:p>
            <a:pPr indent="0" marL="0">
              <a:buNone/>
            </a:pPr>
            <a:r>
              <a:rPr lang="en-US" sz="850" b="1" spc="120" kern="0" dirty="0">
                <a:solidFill>
                  <a:srgbClr val="55C8E8"/>
                </a:solidFill>
                <a:latin typeface="Calibri" pitchFamily="34" charset="0"/>
                <a:ea typeface="Calibri" pitchFamily="34" charset="-122"/>
                <a:cs typeface="Calibri" pitchFamily="34" charset="-120"/>
              </a:rPr>
              <a:t>ASSIGNMENT QUESTION 1:</a:t>
            </a:r>
            <a:endParaRPr lang="en-US" sz="850" dirty="0"/>
          </a:p>
        </p:txBody>
      </p:sp>
      <p:sp>
        <p:nvSpPr>
          <p:cNvPr id="8" name="Text 6"/>
          <p:cNvSpPr/>
          <p:nvPr/>
        </p:nvSpPr>
        <p:spPr>
          <a:xfrm>
            <a:off x="457200" y="932688"/>
            <a:ext cx="8229600" cy="384048"/>
          </a:xfrm>
          <a:prstGeom prst="rect">
            <a:avLst/>
          </a:prstGeom>
          <a:noFill/>
          <a:ln/>
        </p:spPr>
        <p:txBody>
          <a:bodyPr wrap="square" lIns="0" tIns="0" rIns="0" bIns="0" rtlCol="0" anchor="t"/>
          <a:lstStyle/>
          <a:p>
            <a:pPr indent="0" marL="0">
              <a:buNone/>
            </a:pPr>
            <a:r>
              <a:rPr lang="en-US" sz="1250" i="1" dirty="0">
                <a:solidFill>
                  <a:srgbClr val="FFFFFF"/>
                </a:solidFill>
                <a:latin typeface="Cambria" pitchFamily="34" charset="0"/>
                <a:ea typeface="Cambria" pitchFamily="34" charset="-122"/>
                <a:cs typeface="Cambria" pitchFamily="34" charset="-120"/>
              </a:rPr>
              <a:t>What is one thing the mounds tell us about how Mound Builder communities were organized? Use evidence from the reading or the image.</a:t>
            </a:r>
            <a:endParaRPr lang="en-US" sz="1250" dirty="0"/>
          </a:p>
        </p:txBody>
      </p:sp>
      <p:sp>
        <p:nvSpPr>
          <p:cNvPr id="9" name="Shape 7"/>
          <p:cNvSpPr/>
          <p:nvPr/>
        </p:nvSpPr>
        <p:spPr>
          <a:xfrm>
            <a:off x="320040" y="1481328"/>
            <a:ext cx="8503920" cy="2971800"/>
          </a:xfrm>
          <a:prstGeom prst="roundRect">
            <a:avLst>
              <a:gd name="adj" fmla="val 3692"/>
            </a:avLst>
          </a:prstGeom>
          <a:solidFill>
            <a:srgbClr val="FFFFFF"/>
          </a:solidFill>
          <a:ln w="12700">
            <a:solidFill>
              <a:srgbClr val="C8D0E0"/>
            </a:solidFill>
            <a:prstDash val="solid"/>
          </a:ln>
        </p:spPr>
      </p:sp>
      <p:sp>
        <p:nvSpPr>
          <p:cNvPr id="10" name="Text 8"/>
          <p:cNvSpPr/>
          <p:nvPr/>
        </p:nvSpPr>
        <p:spPr>
          <a:xfrm>
            <a:off x="457200" y="1554480"/>
            <a:ext cx="4572000" cy="201168"/>
          </a:xfrm>
          <a:prstGeom prst="rect">
            <a:avLst/>
          </a:prstGeom>
          <a:noFill/>
          <a:ln/>
        </p:spPr>
        <p:txBody>
          <a:bodyPr wrap="square" lIns="0" tIns="0" rIns="0" bIns="0"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MS. AVERY MODELS THE THINKING:</a:t>
            </a:r>
            <a:endParaRPr lang="en-US" sz="900" dirty="0"/>
          </a:p>
        </p:txBody>
      </p:sp>
      <p:sp>
        <p:nvSpPr>
          <p:cNvPr id="11" name="Text 9"/>
          <p:cNvSpPr/>
          <p:nvPr/>
        </p:nvSpPr>
        <p:spPr>
          <a:xfrm>
            <a:off x="457200" y="1810512"/>
            <a:ext cx="2286000" cy="457200"/>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Step 1 — Identify a mound:</a:t>
            </a:r>
            <a:endParaRPr lang="en-US" sz="1100" dirty="0"/>
          </a:p>
        </p:txBody>
      </p:sp>
      <p:sp>
        <p:nvSpPr>
          <p:cNvPr id="12" name="Text 10"/>
          <p:cNvSpPr/>
          <p:nvPr/>
        </p:nvSpPr>
        <p:spPr>
          <a:xfrm>
            <a:off x="2834640" y="1810512"/>
            <a:ext cx="5806440" cy="457200"/>
          </a:xfrm>
          <a:prstGeom prst="rect">
            <a:avLst/>
          </a:prstGeom>
          <a:noFill/>
          <a:ln/>
        </p:spPr>
        <p:txBody>
          <a:bodyPr wrap="square" lIns="0" tIns="0" rIns="0" bIns="0" rtlCol="0" anchor="t"/>
          <a:lstStyle/>
          <a:p>
            <a:pPr indent="0" marL="0">
              <a:buNone/>
            </a:pPr>
            <a:r>
              <a:rPr lang="en-US" sz="1150" dirty="0">
                <a:solidFill>
                  <a:srgbClr val="2A3A5A"/>
                </a:solidFill>
                <a:latin typeface="Calibri" pitchFamily="34" charset="0"/>
                <a:ea typeface="Calibri" pitchFamily="34" charset="-122"/>
                <a:cs typeface="Calibri" pitchFamily="34" charset="-120"/>
              </a:rPr>
              <a:t>Monks Mound at Cahokia covers 14 acres and rises 100 feet.</a:t>
            </a:r>
            <a:endParaRPr lang="en-US" sz="1150" dirty="0"/>
          </a:p>
        </p:txBody>
      </p:sp>
      <p:sp>
        <p:nvSpPr>
          <p:cNvPr id="13" name="Text 11"/>
          <p:cNvSpPr/>
          <p:nvPr/>
        </p:nvSpPr>
        <p:spPr>
          <a:xfrm>
            <a:off x="457200" y="2359152"/>
            <a:ext cx="2286000" cy="457200"/>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Step 2 — Make a claim:</a:t>
            </a:r>
            <a:endParaRPr lang="en-US" sz="1100" dirty="0"/>
          </a:p>
        </p:txBody>
      </p:sp>
      <p:sp>
        <p:nvSpPr>
          <p:cNvPr id="14" name="Text 12"/>
          <p:cNvSpPr/>
          <p:nvPr/>
        </p:nvSpPr>
        <p:spPr>
          <a:xfrm>
            <a:off x="2834640" y="2359152"/>
            <a:ext cx="5806440" cy="457200"/>
          </a:xfrm>
          <a:prstGeom prst="rect">
            <a:avLst/>
          </a:prstGeom>
          <a:noFill/>
          <a:ln/>
        </p:spPr>
        <p:txBody>
          <a:bodyPr wrap="square" lIns="0" tIns="0" rIns="0" bIns="0" rtlCol="0" anchor="t"/>
          <a:lstStyle/>
          <a:p>
            <a:pPr indent="0" marL="0">
              <a:buNone/>
            </a:pPr>
            <a:r>
              <a:rPr lang="en-US" sz="1150" dirty="0">
                <a:solidFill>
                  <a:srgbClr val="2A3A5A"/>
                </a:solidFill>
                <a:latin typeface="Calibri" pitchFamily="34" charset="0"/>
                <a:ea typeface="Calibri" pitchFamily="34" charset="-122"/>
                <a:cs typeface="Calibri" pitchFamily="34" charset="-120"/>
              </a:rPr>
              <a:t>This tells us the community was well-organized.</a:t>
            </a:r>
            <a:endParaRPr lang="en-US" sz="1150" dirty="0"/>
          </a:p>
        </p:txBody>
      </p:sp>
      <p:sp>
        <p:nvSpPr>
          <p:cNvPr id="15" name="Text 13"/>
          <p:cNvSpPr/>
          <p:nvPr/>
        </p:nvSpPr>
        <p:spPr>
          <a:xfrm>
            <a:off x="457200" y="2907792"/>
            <a:ext cx="2286000" cy="457200"/>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Step 3 — Connect to evidence:</a:t>
            </a:r>
            <a:endParaRPr lang="en-US" sz="1100" dirty="0"/>
          </a:p>
        </p:txBody>
      </p:sp>
      <p:sp>
        <p:nvSpPr>
          <p:cNvPr id="16" name="Text 14"/>
          <p:cNvSpPr/>
          <p:nvPr/>
        </p:nvSpPr>
        <p:spPr>
          <a:xfrm>
            <a:off x="2834640" y="2907792"/>
            <a:ext cx="5806440" cy="457200"/>
          </a:xfrm>
          <a:prstGeom prst="rect">
            <a:avLst/>
          </a:prstGeom>
          <a:noFill/>
          <a:ln/>
        </p:spPr>
        <p:txBody>
          <a:bodyPr wrap="square" lIns="0" tIns="0" rIns="0" bIns="0" rtlCol="0" anchor="t"/>
          <a:lstStyle/>
          <a:p>
            <a:pPr indent="0" marL="0">
              <a:buNone/>
            </a:pPr>
            <a:r>
              <a:rPr lang="en-US" sz="1150" dirty="0">
                <a:solidFill>
                  <a:srgbClr val="2A3A5A"/>
                </a:solidFill>
                <a:latin typeface="Calibri" pitchFamily="34" charset="0"/>
                <a:ea typeface="Calibri" pitchFamily="34" charset="-122"/>
                <a:cs typeface="Calibri" pitchFamily="34" charset="-120"/>
              </a:rPr>
              <a:t>Building something that large required leaders who could coordinate thousands of workers across long periods of time.</a:t>
            </a:r>
            <a:endParaRPr lang="en-US" sz="1150" dirty="0"/>
          </a:p>
        </p:txBody>
      </p:sp>
      <p:sp>
        <p:nvSpPr>
          <p:cNvPr id="17" name="Text 15"/>
          <p:cNvSpPr/>
          <p:nvPr/>
        </p:nvSpPr>
        <p:spPr>
          <a:xfrm>
            <a:off x="457200" y="3456432"/>
            <a:ext cx="2286000" cy="457200"/>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Step 4 — Use a specific detail:</a:t>
            </a:r>
            <a:endParaRPr lang="en-US" sz="1100" dirty="0"/>
          </a:p>
        </p:txBody>
      </p:sp>
      <p:sp>
        <p:nvSpPr>
          <p:cNvPr id="18" name="Text 16"/>
          <p:cNvSpPr/>
          <p:nvPr/>
        </p:nvSpPr>
        <p:spPr>
          <a:xfrm>
            <a:off x="2834640" y="3456432"/>
            <a:ext cx="5806440" cy="457200"/>
          </a:xfrm>
          <a:prstGeom prst="rect">
            <a:avLst/>
          </a:prstGeom>
          <a:noFill/>
          <a:ln/>
        </p:spPr>
        <p:txBody>
          <a:bodyPr wrap="square" lIns="0" tIns="0" rIns="0" bIns="0" rtlCol="0" anchor="t"/>
          <a:lstStyle/>
          <a:p>
            <a:pPr indent="0" marL="0">
              <a:buNone/>
            </a:pPr>
            <a:r>
              <a:rPr lang="en-US" sz="1150" dirty="0">
                <a:solidFill>
                  <a:srgbClr val="2A3A5A"/>
                </a:solidFill>
                <a:latin typeface="Calibri" pitchFamily="34" charset="0"/>
                <a:ea typeface="Calibri" pitchFamily="34" charset="-122"/>
                <a:cs typeface="Calibri" pitchFamily="34" charset="-120"/>
              </a:rPr>
              <a:t>The fact that copper, shells, and mica from hundreds of miles away were found at the site shows a connected trade network — not an isolated group.</a:t>
            </a:r>
            <a:endParaRPr lang="en-US" sz="1150" dirty="0"/>
          </a:p>
        </p:txBody>
      </p:sp>
      <p:sp>
        <p:nvSpPr>
          <p:cNvPr id="19" name="Shape 17"/>
          <p:cNvSpPr/>
          <p:nvPr/>
        </p:nvSpPr>
        <p:spPr>
          <a:xfrm>
            <a:off x="457200" y="4114800"/>
            <a:ext cx="8229600" cy="502920"/>
          </a:xfrm>
          <a:prstGeom prst="roundRect">
            <a:avLst>
              <a:gd name="adj" fmla="val 14545"/>
            </a:avLst>
          </a:prstGeom>
          <a:solidFill>
            <a:srgbClr val="FFF3DC"/>
          </a:solidFill>
          <a:ln w="12700">
            <a:solidFill>
              <a:srgbClr val="D4943A"/>
            </a:solidFill>
            <a:prstDash val="solid"/>
          </a:ln>
        </p:spPr>
      </p:sp>
      <p:sp>
        <p:nvSpPr>
          <p:cNvPr id="20" name="Text 18"/>
          <p:cNvSpPr/>
          <p:nvPr/>
        </p:nvSpPr>
        <p:spPr>
          <a:xfrm>
            <a:off x="594360" y="4133088"/>
            <a:ext cx="7955280" cy="457200"/>
          </a:xfrm>
          <a:prstGeom prst="rect">
            <a:avLst/>
          </a:prstGeom>
          <a:noFill/>
          <a:ln/>
        </p:spPr>
        <p:txBody>
          <a:bodyPr wrap="square" lIns="0" tIns="0" rIns="0" bIns="0" rtlCol="0" anchor="ctr"/>
          <a:lstStyle/>
          <a:p>
            <a:pPr indent="0" marL="0">
              <a:buNone/>
            </a:pPr>
            <a:r>
              <a:rPr lang="en-US" sz="1150" i="1" dirty="0">
                <a:solidFill>
                  <a:srgbClr val="5A4A3A"/>
                </a:solidFill>
                <a:latin typeface="Calibri" pitchFamily="34" charset="0"/>
                <a:ea typeface="Calibri" pitchFamily="34" charset="-122"/>
                <a:cs typeface="Calibri" pitchFamily="34" charset="-120"/>
              </a:rPr>
              <a:t>Notice: claim first, then evidence, then explanation. That is how the Gazette writes.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0E1C42"/>
          </a:solidFill>
          <a:ln/>
        </p:spPr>
      </p:sp>
      <p:sp>
        <p:nvSpPr>
          <p:cNvPr id="4" name="Text 2"/>
          <p:cNvSpPr/>
          <p:nvPr/>
        </p:nvSpPr>
        <p:spPr>
          <a:xfrm>
            <a:off x="320040" y="0"/>
            <a:ext cx="5486400" cy="566928"/>
          </a:xfrm>
          <a:prstGeom prst="rect">
            <a:avLst/>
          </a:prstGeom>
          <a:noFill/>
          <a:ln/>
        </p:spPr>
        <p:txBody>
          <a:bodyPr wrap="square" lIns="0" tIns="0" rIns="0" bIns="0" rtlCol="0" anchor="ctr"/>
          <a:lstStyle/>
          <a:p>
            <a:pPr indent="0" marL="0">
              <a:buNone/>
            </a:pPr>
            <a:r>
              <a:rPr lang="en-US" sz="1800" b="1" spc="150" kern="0" dirty="0">
                <a:solidFill>
                  <a:srgbClr val="55C8E8"/>
                </a:solidFill>
                <a:latin typeface="Cambria" pitchFamily="34" charset="0"/>
                <a:ea typeface="Cambria" pitchFamily="34" charset="-122"/>
                <a:cs typeface="Cambria" pitchFamily="34" charset="-120"/>
              </a:rPr>
              <a:t>GUIDED PRACTICE  —  WE DO</a:t>
            </a:r>
            <a:endParaRPr lang="en-US" sz="1800" dirty="0"/>
          </a:p>
        </p:txBody>
      </p:sp>
      <p:sp>
        <p:nvSpPr>
          <p:cNvPr id="5" name="Text 3"/>
          <p:cNvSpPr/>
          <p:nvPr/>
        </p:nvSpPr>
        <p:spPr>
          <a:xfrm>
            <a:off x="5669280" y="0"/>
            <a:ext cx="3200400" cy="566928"/>
          </a:xfrm>
          <a:prstGeom prst="rect">
            <a:avLst/>
          </a:prstGeom>
          <a:noFill/>
          <a:ln/>
        </p:spPr>
        <p:txBody>
          <a:bodyPr wrap="square" lIns="0" tIns="0" rIns="0" bIns="0" rtlCol="0" anchor="ctr"/>
          <a:lstStyle/>
          <a:p>
            <a:pPr algn="r" indent="0" marL="0">
              <a:buNone/>
            </a:pPr>
            <a:r>
              <a:rPr lang="en-US" sz="1050" i="1" dirty="0">
                <a:solidFill>
                  <a:srgbClr val="7A88A8"/>
                </a:solidFill>
                <a:latin typeface="Calibri" pitchFamily="34" charset="0"/>
                <a:ea typeface="Calibri" pitchFamily="34" charset="-122"/>
                <a:cs typeface="Calibri" pitchFamily="34" charset="-120"/>
              </a:rPr>
              <a:t>Think together, then share.</a:t>
            </a:r>
            <a:endParaRPr lang="en-US" sz="1050" dirty="0"/>
          </a:p>
        </p:txBody>
      </p:sp>
      <p:sp>
        <p:nvSpPr>
          <p:cNvPr id="6" name="Shape 4"/>
          <p:cNvSpPr/>
          <p:nvPr/>
        </p:nvSpPr>
        <p:spPr>
          <a:xfrm>
            <a:off x="320040" y="685800"/>
            <a:ext cx="8503920" cy="685800"/>
          </a:xfrm>
          <a:prstGeom prst="roundRect">
            <a:avLst>
              <a:gd name="adj" fmla="val 13333"/>
            </a:avLst>
          </a:prstGeom>
          <a:solidFill>
            <a:srgbClr val="1A2D5A"/>
          </a:solidFill>
          <a:ln w="12700">
            <a:solidFill>
              <a:srgbClr val="2A4070"/>
            </a:solidFill>
            <a:prstDash val="solid"/>
          </a:ln>
        </p:spPr>
      </p:sp>
      <p:sp>
        <p:nvSpPr>
          <p:cNvPr id="7" name="Text 5"/>
          <p:cNvSpPr/>
          <p:nvPr/>
        </p:nvSpPr>
        <p:spPr>
          <a:xfrm>
            <a:off x="457200" y="731520"/>
            <a:ext cx="3200400" cy="201168"/>
          </a:xfrm>
          <a:prstGeom prst="rect">
            <a:avLst/>
          </a:prstGeom>
          <a:noFill/>
          <a:ln/>
        </p:spPr>
        <p:txBody>
          <a:bodyPr wrap="square" lIns="0" tIns="0" rIns="0" bIns="0" rtlCol="0" anchor="ctr"/>
          <a:lstStyle/>
          <a:p>
            <a:pPr indent="0" marL="0">
              <a:buNone/>
            </a:pPr>
            <a:r>
              <a:rPr lang="en-US" sz="850" b="1" spc="120" kern="0" dirty="0">
                <a:solidFill>
                  <a:srgbClr val="55C8E8"/>
                </a:solidFill>
                <a:latin typeface="Calibri" pitchFamily="34" charset="0"/>
                <a:ea typeface="Calibri" pitchFamily="34" charset="-122"/>
                <a:cs typeface="Calibri" pitchFamily="34" charset="-120"/>
              </a:rPr>
              <a:t>ASSIGNMENT QUESTION 2:</a:t>
            </a:r>
            <a:endParaRPr lang="en-US" sz="850" dirty="0"/>
          </a:p>
        </p:txBody>
      </p:sp>
      <p:sp>
        <p:nvSpPr>
          <p:cNvPr id="8" name="Text 6"/>
          <p:cNvSpPr/>
          <p:nvPr/>
        </p:nvSpPr>
        <p:spPr>
          <a:xfrm>
            <a:off x="457200" y="932688"/>
            <a:ext cx="8229600" cy="384048"/>
          </a:xfrm>
          <a:prstGeom prst="rect">
            <a:avLst/>
          </a:prstGeom>
          <a:noFill/>
          <a:ln/>
        </p:spPr>
        <p:txBody>
          <a:bodyPr wrap="square" lIns="0" tIns="0" rIns="0" bIns="0" rtlCol="0" anchor="t"/>
          <a:lstStyle/>
          <a:p>
            <a:pPr indent="0" marL="0">
              <a:buNone/>
            </a:pPr>
            <a:r>
              <a:rPr lang="en-US" sz="1250" i="1" dirty="0">
                <a:solidFill>
                  <a:srgbClr val="FFFFFF"/>
                </a:solidFill>
                <a:latin typeface="Cambria" pitchFamily="34" charset="0"/>
                <a:ea typeface="Cambria" pitchFamily="34" charset="-122"/>
                <a:cs typeface="Cambria" pitchFamily="34" charset="-120"/>
              </a:rPr>
              <a:t>Why would a community need strong organization and leadership to build something like Monks Mound? Explain your thinking.</a:t>
            </a:r>
            <a:endParaRPr lang="en-US" sz="1250" dirty="0"/>
          </a:p>
        </p:txBody>
      </p:sp>
      <p:sp>
        <p:nvSpPr>
          <p:cNvPr id="9" name="Shape 7"/>
          <p:cNvSpPr/>
          <p:nvPr/>
        </p:nvSpPr>
        <p:spPr>
          <a:xfrm>
            <a:off x="320040" y="1481328"/>
            <a:ext cx="5257800" cy="2377440"/>
          </a:xfrm>
          <a:prstGeom prst="roundRect">
            <a:avLst>
              <a:gd name="adj" fmla="val 4615"/>
            </a:avLst>
          </a:prstGeom>
          <a:solidFill>
            <a:srgbClr val="FFFFFF"/>
          </a:solidFill>
          <a:ln w="12700">
            <a:solidFill>
              <a:srgbClr val="C8D0E0"/>
            </a:solidFill>
            <a:prstDash val="solid"/>
          </a:ln>
        </p:spPr>
      </p:sp>
      <p:sp>
        <p:nvSpPr>
          <p:cNvPr id="10" name="Text 8"/>
          <p:cNvSpPr/>
          <p:nvPr/>
        </p:nvSpPr>
        <p:spPr>
          <a:xfrm>
            <a:off x="457200" y="1554480"/>
            <a:ext cx="4983480" cy="201168"/>
          </a:xfrm>
          <a:prstGeom prst="rect">
            <a:avLst/>
          </a:prstGeom>
          <a:noFill/>
          <a:ln/>
        </p:spPr>
        <p:txBody>
          <a:bodyPr wrap="square" lIns="0" tIns="0" rIns="0" bIns="0" rtlCol="0" anchor="ctr"/>
          <a:lstStyle/>
          <a:p>
            <a:pPr indent="0" marL="0">
              <a:buNone/>
            </a:pPr>
            <a:r>
              <a:rPr lang="en-US" sz="900" b="1" spc="120" kern="0" dirty="0">
                <a:solidFill>
                  <a:srgbClr val="0E1C42"/>
                </a:solidFill>
                <a:latin typeface="Calibri" pitchFamily="34" charset="0"/>
                <a:ea typeface="Calibri" pitchFamily="34" charset="-122"/>
                <a:cs typeface="Calibri" pitchFamily="34" charset="-120"/>
              </a:rPr>
              <a:t>LET'S THINK TOGETHER:</a:t>
            </a:r>
            <a:endParaRPr lang="en-US" sz="900" dirty="0"/>
          </a:p>
        </p:txBody>
      </p:sp>
      <p:sp>
        <p:nvSpPr>
          <p:cNvPr id="11" name="Text 9"/>
          <p:cNvSpPr/>
          <p:nvPr/>
        </p:nvSpPr>
        <p:spPr>
          <a:xfrm>
            <a:off x="457200" y="1810512"/>
            <a:ext cx="4983480" cy="1920240"/>
          </a:xfrm>
          <a:prstGeom prst="rect">
            <a:avLst/>
          </a:prstGeom>
          <a:noFill/>
          <a:ln/>
        </p:spPr>
        <p:txBody>
          <a:bodyPr wrap="square" lIns="0" tIns="0" rIns="0" bIns="0" rtlCol="0" anchor="t"/>
          <a:lstStyle/>
          <a:p>
            <a:pPr>
              <a:spcAft>
                <a:spcPts val="700"/>
              </a:spcAft>
            </a:pPr>
            <a:r>
              <a:rPr lang="en-US" sz="1150" dirty="0">
                <a:solidFill>
                  <a:srgbClr val="2A3A5A"/>
                </a:solidFill>
                <a:latin typeface="Calibri" pitchFamily="34" charset="0"/>
                <a:ea typeface="Calibri" pitchFamily="34" charset="-122"/>
                <a:cs typeface="Calibri" pitchFamily="34" charset="-120"/>
              </a:rPr>
              <a:t>Monks Mound covers 14 acres — the same as 14 football fields — and rises 100 feet.</a:t>
            </a:r>
            <a:endParaRPr lang="en-US" sz="1150" dirty="0"/>
          </a:p>
          <a:p>
            <a:pPr>
              <a:spcAft>
                <a:spcPts val="700"/>
              </a:spcAft>
            </a:pPr>
            <a:r>
              <a:rPr lang="en-US" sz="1150" dirty="0">
                <a:solidFill>
                  <a:srgbClr val="2A3A5A"/>
                </a:solidFill>
                <a:latin typeface="Calibri" pitchFamily="34" charset="0"/>
                <a:ea typeface="Calibri" pitchFamily="34" charset="-122"/>
                <a:cs typeface="Calibri" pitchFamily="34" charset="-120"/>
              </a:rPr>
              <a:t>Workers had no modern machinery. Every basket of dirt was carried by hand.</a:t>
            </a:r>
            <a:endParaRPr lang="en-US" sz="1150" dirty="0"/>
          </a:p>
          <a:p>
            <a:pPr>
              <a:spcAft>
                <a:spcPts val="700"/>
              </a:spcAft>
            </a:pPr>
            <a:r>
              <a:rPr lang="en-US" sz="1150" dirty="0">
                <a:solidFill>
                  <a:srgbClr val="2A3A5A"/>
                </a:solidFill>
                <a:latin typeface="Calibri" pitchFamily="34" charset="0"/>
                <a:ea typeface="Calibri" pitchFamily="34" charset="-122"/>
                <a:cs typeface="Calibri" pitchFamily="34" charset="-120"/>
              </a:rPr>
              <a:t>Somebody had to organize where the dirt went, when to stop, and how to make the shape correct.</a:t>
            </a:r>
            <a:endParaRPr lang="en-US" sz="1150" dirty="0"/>
          </a:p>
          <a:p>
            <a:pPr>
              <a:spcAft>
                <a:spcPts val="700"/>
              </a:spcAft>
            </a:pPr>
            <a:r>
              <a:rPr lang="en-US" sz="1150" dirty="0">
                <a:solidFill>
                  <a:srgbClr val="2A3A5A"/>
                </a:solidFill>
                <a:latin typeface="Calibri" pitchFamily="34" charset="0"/>
                <a:ea typeface="Calibri" pitchFamily="34" charset="-122"/>
                <a:cs typeface="Calibri" pitchFamily="34" charset="-120"/>
              </a:rPr>
              <a:t>That requires: a leader (or leaders), workers who follow direction, and a shared plan.</a:t>
            </a:r>
            <a:endParaRPr lang="en-US" sz="1150" dirty="0"/>
          </a:p>
        </p:txBody>
      </p:sp>
      <p:sp>
        <p:nvSpPr>
          <p:cNvPr id="12" name="Shape 10"/>
          <p:cNvSpPr/>
          <p:nvPr/>
        </p:nvSpPr>
        <p:spPr>
          <a:xfrm>
            <a:off x="5715000" y="1481328"/>
            <a:ext cx="3108960" cy="2377440"/>
          </a:xfrm>
          <a:prstGeom prst="roundRect">
            <a:avLst>
              <a:gd name="adj" fmla="val 4615"/>
            </a:avLst>
          </a:prstGeom>
          <a:solidFill>
            <a:srgbClr val="FFF3DC"/>
          </a:solidFill>
          <a:ln w="19050">
            <a:solidFill>
              <a:srgbClr val="F5E6C8"/>
            </a:solidFill>
            <a:prstDash val="solid"/>
          </a:ln>
        </p:spPr>
      </p:sp>
      <p:sp>
        <p:nvSpPr>
          <p:cNvPr id="13" name="Text 11"/>
          <p:cNvSpPr/>
          <p:nvPr/>
        </p:nvSpPr>
        <p:spPr>
          <a:xfrm>
            <a:off x="5852160" y="1536192"/>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52160" y="1737360"/>
            <a:ext cx="2834640" cy="2057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community that built Monks Mound would need..."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strong leadership, the problem would be..."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evidence of organization because..."</a:t>
            </a:r>
            <a:endParaRPr lang="en-US" sz="1200" dirty="0"/>
          </a:p>
        </p:txBody>
      </p:sp>
      <p:sp>
        <p:nvSpPr>
          <p:cNvPr id="15" name="Shape 13"/>
          <p:cNvSpPr/>
          <p:nvPr/>
        </p:nvSpPr>
        <p:spPr>
          <a:xfrm>
            <a:off x="320040" y="3977640"/>
            <a:ext cx="8503920" cy="804672"/>
          </a:xfrm>
          <a:prstGeom prst="roundRect">
            <a:avLst>
              <a:gd name="adj" fmla="val 11364"/>
            </a:avLst>
          </a:prstGeom>
          <a:solidFill>
            <a:srgbClr val="34B76F">
              <a:alpha val="85000"/>
            </a:srgbClr>
          </a:solidFill>
          <a:ln/>
        </p:spPr>
      </p:sp>
      <p:sp>
        <p:nvSpPr>
          <p:cNvPr id="16" name="Text 14"/>
          <p:cNvSpPr/>
          <p:nvPr/>
        </p:nvSpPr>
        <p:spPr>
          <a:xfrm>
            <a:off x="457200" y="4041648"/>
            <a:ext cx="914400"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Calibri" pitchFamily="34" charset="0"/>
                <a:ea typeface="Calibri" pitchFamily="34" charset="-122"/>
                <a:cs typeface="Calibri" pitchFamily="34" charset="-120"/>
              </a:rPr>
              <a:t>TRY IT:</a:t>
            </a:r>
            <a:endParaRPr lang="en-US" sz="900" dirty="0"/>
          </a:p>
        </p:txBody>
      </p:sp>
      <p:sp>
        <p:nvSpPr>
          <p:cNvPr id="17" name="Text 15"/>
          <p:cNvSpPr/>
          <p:nvPr/>
        </p:nvSpPr>
        <p:spPr>
          <a:xfrm>
            <a:off x="457200" y="4242816"/>
            <a:ext cx="8229600" cy="475488"/>
          </a:xfrm>
          <a:prstGeom prst="rect">
            <a:avLst/>
          </a:prstGeom>
          <a:noFill/>
          <a:ln/>
        </p:spPr>
        <p:txBody>
          <a:bodyPr wrap="square" lIns="0" tIns="0" rIns="0" bIns="0" rtlCol="0" anchor="t"/>
          <a:lstStyle/>
          <a:p>
            <a:pPr indent="0" marL="0">
              <a:buNone/>
            </a:pPr>
            <a:r>
              <a:rPr lang="en-US" sz="1250" i="1" dirty="0">
                <a:solidFill>
                  <a:srgbClr val="FFFFFF"/>
                </a:solidFill>
                <a:latin typeface="Cambria" pitchFamily="34" charset="0"/>
                <a:ea typeface="Cambria" pitchFamily="34" charset="-122"/>
                <a:cs typeface="Cambria" pitchFamily="34" charset="-120"/>
              </a:rPr>
              <a:t>Building Monks Mound required strong organization because ________. One piece of evidence for this is ________.</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0E1C42"/>
          </a:solidFill>
          <a:ln/>
        </p:spPr>
      </p:sp>
      <p:sp>
        <p:nvSpPr>
          <p:cNvPr id="4" name="Text 2"/>
          <p:cNvSpPr/>
          <p:nvPr/>
        </p:nvSpPr>
        <p:spPr>
          <a:xfrm>
            <a:off x="320040" y="0"/>
            <a:ext cx="8503920" cy="566928"/>
          </a:xfrm>
          <a:prstGeom prst="rect">
            <a:avLst/>
          </a:prstGeom>
          <a:noFill/>
          <a:ln/>
        </p:spPr>
        <p:txBody>
          <a:bodyPr wrap="square" lIns="0" tIns="0" rIns="0" bIns="0" rtlCol="0" anchor="ctr"/>
          <a:lstStyle/>
          <a:p>
            <a:pPr indent="0" marL="0">
              <a:buNone/>
            </a:pPr>
            <a:r>
              <a:rPr lang="en-US" sz="1600" b="1" spc="120" kern="0" dirty="0">
                <a:solidFill>
                  <a:srgbClr val="34B76F"/>
                </a:solidFill>
                <a:latin typeface="Cambria" pitchFamily="34" charset="0"/>
                <a:ea typeface="Cambria" pitchFamily="34" charset="-122"/>
                <a:cs typeface="Cambria" pitchFamily="34" charset="-120"/>
              </a:rPr>
              <a:t>GUIDED PRACTICE  —  YOU DO  +  ERROR ANALYSIS</a:t>
            </a:r>
            <a:endParaRPr lang="en-US" sz="1600" dirty="0"/>
          </a:p>
        </p:txBody>
      </p:sp>
      <p:sp>
        <p:nvSpPr>
          <p:cNvPr id="5" name="Shape 3"/>
          <p:cNvSpPr/>
          <p:nvPr/>
        </p:nvSpPr>
        <p:spPr>
          <a:xfrm>
            <a:off x="320040" y="685800"/>
            <a:ext cx="8503920" cy="804672"/>
          </a:xfrm>
          <a:prstGeom prst="roundRect">
            <a:avLst>
              <a:gd name="adj" fmla="val 11364"/>
            </a:avLst>
          </a:prstGeom>
          <a:solidFill>
            <a:srgbClr val="1A2D5A"/>
          </a:solidFill>
          <a:ln w="12700">
            <a:solidFill>
              <a:srgbClr val="2A4070"/>
            </a:solidFill>
            <a:prstDash val="solid"/>
          </a:ln>
        </p:spPr>
      </p:sp>
      <p:sp>
        <p:nvSpPr>
          <p:cNvPr id="6" name="Text 4"/>
          <p:cNvSpPr/>
          <p:nvPr/>
        </p:nvSpPr>
        <p:spPr>
          <a:xfrm>
            <a:off x="457200" y="731520"/>
            <a:ext cx="3200400" cy="201168"/>
          </a:xfrm>
          <a:prstGeom prst="rect">
            <a:avLst/>
          </a:prstGeom>
          <a:noFill/>
          <a:ln/>
        </p:spPr>
        <p:txBody>
          <a:bodyPr wrap="square" lIns="0" tIns="0" rIns="0" bIns="0" rtlCol="0" anchor="ctr"/>
          <a:lstStyle/>
          <a:p>
            <a:pPr indent="0" marL="0">
              <a:buNone/>
            </a:pPr>
            <a:r>
              <a:rPr lang="en-US" sz="850" b="1" spc="120" kern="0" dirty="0">
                <a:solidFill>
                  <a:srgbClr val="55C8E8"/>
                </a:solidFill>
                <a:latin typeface="Calibri" pitchFamily="34" charset="0"/>
                <a:ea typeface="Calibri" pitchFamily="34" charset="-122"/>
                <a:cs typeface="Calibri" pitchFamily="34" charset="-120"/>
              </a:rPr>
              <a:t>ASSIGNMENT QUESTION 3:</a:t>
            </a:r>
            <a:endParaRPr lang="en-US" sz="850" dirty="0"/>
          </a:p>
        </p:txBody>
      </p:sp>
      <p:sp>
        <p:nvSpPr>
          <p:cNvPr id="7" name="Text 5"/>
          <p:cNvSpPr/>
          <p:nvPr/>
        </p:nvSpPr>
        <p:spPr>
          <a:xfrm>
            <a:off x="457200" y="932688"/>
            <a:ext cx="8229600" cy="502920"/>
          </a:xfrm>
          <a:prstGeom prst="rect">
            <a:avLst/>
          </a:prstGeom>
          <a:noFill/>
          <a:ln/>
        </p:spPr>
        <p:txBody>
          <a:bodyPr wrap="square" lIns="0" tIns="0" rIns="0" bIns="0" rtlCol="0" anchor="t"/>
          <a:lstStyle/>
          <a:p>
            <a:pPr indent="0" marL="0">
              <a:buNone/>
            </a:pPr>
            <a:r>
              <a:rPr lang="en-US" sz="1250" i="1" dirty="0">
                <a:solidFill>
                  <a:srgbClr val="FFFFFF"/>
                </a:solidFill>
                <a:latin typeface="Cambria" pitchFamily="34" charset="0"/>
                <a:ea typeface="Cambria" pitchFamily="34" charset="-122"/>
                <a:cs typeface="Cambria" pitchFamily="34" charset="-120"/>
              </a:rPr>
              <a:t>The Hasty Herald said "The Mound Builders left behind only mysteries, not evidence." What's partly right about that? What's missing?</a:t>
            </a:r>
            <a:endParaRPr lang="en-US" sz="1250" dirty="0"/>
          </a:p>
        </p:txBody>
      </p:sp>
      <p:sp>
        <p:nvSpPr>
          <p:cNvPr id="8" name="Shape 6"/>
          <p:cNvSpPr/>
          <p:nvPr/>
        </p:nvSpPr>
        <p:spPr>
          <a:xfrm>
            <a:off x="320040" y="1600200"/>
            <a:ext cx="5257800" cy="2377440"/>
          </a:xfrm>
          <a:prstGeom prst="roundRect">
            <a:avLst>
              <a:gd name="adj" fmla="val 4615"/>
            </a:avLst>
          </a:prstGeom>
          <a:solidFill>
            <a:srgbClr val="FFFFFF"/>
          </a:solidFill>
          <a:ln w="19050">
            <a:solidFill>
              <a:srgbClr val="E8636B"/>
            </a:solidFill>
            <a:prstDash val="solid"/>
          </a:ln>
        </p:spPr>
      </p:sp>
      <p:sp>
        <p:nvSpPr>
          <p:cNvPr id="9" name="Text 7"/>
          <p:cNvSpPr/>
          <p:nvPr/>
        </p:nvSpPr>
        <p:spPr>
          <a:xfrm>
            <a:off x="457200" y="1664208"/>
            <a:ext cx="4983480" cy="201168"/>
          </a:xfrm>
          <a:prstGeom prst="rect">
            <a:avLst/>
          </a:prstGeom>
          <a:noFill/>
          <a:ln/>
        </p:spPr>
        <p:txBody>
          <a:bodyPr wrap="square" lIns="0" tIns="0" rIns="0" bIns="0" rtlCol="0" anchor="ctr"/>
          <a:lstStyle/>
          <a:p>
            <a:pPr indent="0" marL="0">
              <a:buNone/>
            </a:pPr>
            <a:r>
              <a:rPr lang="en-US" sz="900" b="1" spc="120" kern="0" dirty="0">
                <a:solidFill>
                  <a:srgbClr val="E8636B"/>
                </a:solidFill>
                <a:latin typeface="Calibri" pitchFamily="34" charset="0"/>
                <a:ea typeface="Calibri" pitchFamily="34" charset="-122"/>
                <a:cs typeface="Calibri" pitchFamily="34" charset="-120"/>
              </a:rPr>
              <a:t>ERROR ANALYSIS  —  WEAK VS. STRONG RESPONSES</a:t>
            </a:r>
            <a:endParaRPr lang="en-US" sz="900" dirty="0"/>
          </a:p>
        </p:txBody>
      </p:sp>
      <p:sp>
        <p:nvSpPr>
          <p:cNvPr id="10" name="Shape 8"/>
          <p:cNvSpPr/>
          <p:nvPr/>
        </p:nvSpPr>
        <p:spPr>
          <a:xfrm>
            <a:off x="457200" y="1901952"/>
            <a:ext cx="4983480" cy="914400"/>
          </a:xfrm>
          <a:prstGeom prst="roundRect">
            <a:avLst>
              <a:gd name="adj" fmla="val 8000"/>
            </a:avLst>
          </a:prstGeom>
          <a:solidFill>
            <a:srgbClr val="FFF0F0"/>
          </a:solidFill>
          <a:ln w="6350">
            <a:solidFill>
              <a:srgbClr val="E8636B"/>
            </a:solidFill>
            <a:prstDash val="solid"/>
          </a:ln>
        </p:spPr>
      </p:sp>
      <p:sp>
        <p:nvSpPr>
          <p:cNvPr id="11" name="Text 9"/>
          <p:cNvSpPr/>
          <p:nvPr/>
        </p:nvSpPr>
        <p:spPr>
          <a:xfrm>
            <a:off x="566928" y="1956816"/>
            <a:ext cx="4663440" cy="182880"/>
          </a:xfrm>
          <a:prstGeom prst="rect">
            <a:avLst/>
          </a:prstGeom>
          <a:noFill/>
          <a:ln/>
        </p:spPr>
        <p:txBody>
          <a:bodyPr wrap="square" lIns="0" tIns="0" rIns="0" bIns="0" rtlCol="0" anchor="ctr"/>
          <a:lstStyle/>
          <a:p>
            <a:pPr indent="0" marL="0">
              <a:buNone/>
            </a:pPr>
            <a:r>
              <a:rPr lang="en-US" sz="950" b="1" dirty="0">
                <a:solidFill>
                  <a:srgbClr val="E8636B"/>
                </a:solidFill>
                <a:latin typeface="Calibri" pitchFamily="34" charset="0"/>
                <a:ea typeface="Calibri" pitchFamily="34" charset="-122"/>
                <a:cs typeface="Calibri" pitchFamily="34" charset="-120"/>
              </a:rPr>
              <a:t>WEAK (Herald-style):</a:t>
            </a:r>
            <a:endParaRPr lang="en-US" sz="950" dirty="0"/>
          </a:p>
        </p:txBody>
      </p:sp>
      <p:sp>
        <p:nvSpPr>
          <p:cNvPr id="12" name="Text 10"/>
          <p:cNvSpPr/>
          <p:nvPr/>
        </p:nvSpPr>
        <p:spPr>
          <a:xfrm>
            <a:off x="566928" y="2139696"/>
            <a:ext cx="4663440" cy="594360"/>
          </a:xfrm>
          <a:prstGeom prst="rect">
            <a:avLst/>
          </a:prstGeom>
          <a:noFill/>
          <a:ln/>
        </p:spPr>
        <p:txBody>
          <a:bodyPr wrap="square" lIns="0" tIns="0" rIns="0" bIns="0" rtlCol="0" anchor="ctr"/>
          <a:lstStyle/>
          <a:p>
            <a:pPr indent="0" marL="0">
              <a:buNone/>
            </a:pPr>
            <a:r>
              <a:rPr lang="en-US" sz="1150" i="1" dirty="0">
                <a:solidFill>
                  <a:srgbClr val="5A2A2A"/>
                </a:solidFill>
                <a:latin typeface="Cambria" pitchFamily="34" charset="0"/>
                <a:ea typeface="Cambria" pitchFamily="34" charset="-122"/>
                <a:cs typeface="Cambria" pitchFamily="34" charset="-120"/>
              </a:rPr>
              <a:t>"The Herald is totally wrong. We know everything about the Mound Builders."</a:t>
            </a:r>
            <a:endParaRPr lang="en-US" sz="1150" dirty="0"/>
          </a:p>
        </p:txBody>
      </p:sp>
      <p:sp>
        <p:nvSpPr>
          <p:cNvPr id="13" name="Shape 11"/>
          <p:cNvSpPr/>
          <p:nvPr/>
        </p:nvSpPr>
        <p:spPr>
          <a:xfrm>
            <a:off x="457200" y="2871216"/>
            <a:ext cx="4983480" cy="1005840"/>
          </a:xfrm>
          <a:prstGeom prst="roundRect">
            <a:avLst>
              <a:gd name="adj" fmla="val 7273"/>
            </a:avLst>
          </a:prstGeom>
          <a:solidFill>
            <a:srgbClr val="E8F5F0"/>
          </a:solidFill>
          <a:ln w="6350">
            <a:solidFill>
              <a:srgbClr val="34B76F"/>
            </a:solidFill>
            <a:prstDash val="solid"/>
          </a:ln>
        </p:spPr>
      </p:sp>
      <p:sp>
        <p:nvSpPr>
          <p:cNvPr id="14" name="Text 12"/>
          <p:cNvSpPr/>
          <p:nvPr/>
        </p:nvSpPr>
        <p:spPr>
          <a:xfrm>
            <a:off x="566928" y="2926080"/>
            <a:ext cx="4663440" cy="182880"/>
          </a:xfrm>
          <a:prstGeom prst="rect">
            <a:avLst/>
          </a:prstGeom>
          <a:noFill/>
          <a:ln/>
        </p:spPr>
        <p:txBody>
          <a:bodyPr wrap="square" lIns="0" tIns="0" rIns="0" bIns="0" rtlCol="0" anchor="ctr"/>
          <a:lstStyle/>
          <a:p>
            <a:pPr indent="0" marL="0">
              <a:buNone/>
            </a:pPr>
            <a:r>
              <a:rPr lang="en-US" sz="950" b="1" dirty="0">
                <a:solidFill>
                  <a:srgbClr val="1A8A7D"/>
                </a:solidFill>
                <a:latin typeface="Calibri" pitchFamily="34" charset="0"/>
                <a:ea typeface="Calibri" pitchFamily="34" charset="-122"/>
                <a:cs typeface="Calibri" pitchFamily="34" charset="-120"/>
              </a:rPr>
              <a:t>STRONGER (Gazette-style):</a:t>
            </a:r>
            <a:endParaRPr lang="en-US" sz="950" dirty="0"/>
          </a:p>
        </p:txBody>
      </p:sp>
      <p:sp>
        <p:nvSpPr>
          <p:cNvPr id="15" name="Text 13"/>
          <p:cNvSpPr/>
          <p:nvPr/>
        </p:nvSpPr>
        <p:spPr>
          <a:xfrm>
            <a:off x="566928" y="3127248"/>
            <a:ext cx="4663440" cy="658368"/>
          </a:xfrm>
          <a:prstGeom prst="rect">
            <a:avLst/>
          </a:prstGeom>
          <a:noFill/>
          <a:ln/>
        </p:spPr>
        <p:txBody>
          <a:bodyPr wrap="square" lIns="0" tIns="0" rIns="0" bIns="0" rtlCol="0" anchor="t"/>
          <a:lstStyle/>
          <a:p>
            <a:pPr indent="0" marL="0">
              <a:buNone/>
            </a:pPr>
            <a:r>
              <a:rPr lang="en-US" sz="1150" i="1" dirty="0">
                <a:solidFill>
                  <a:srgbClr val="1A3A2A"/>
                </a:solidFill>
                <a:latin typeface="Cambria" pitchFamily="34" charset="0"/>
                <a:ea typeface="Cambria" pitchFamily="34" charset="-122"/>
                <a:cs typeface="Cambria" pitchFamily="34" charset="-120"/>
              </a:rPr>
              <a:t>"The Herald is partly right that some questions remain — we still study the Mound Builders. But the claim misses that the mounds, artifacts, and trade goods ARE evidence of complex civilizations."</a:t>
            </a:r>
            <a:endParaRPr lang="en-US" sz="1150" dirty="0"/>
          </a:p>
        </p:txBody>
      </p:sp>
      <p:sp>
        <p:nvSpPr>
          <p:cNvPr id="16" name="Shape 14"/>
          <p:cNvSpPr/>
          <p:nvPr/>
        </p:nvSpPr>
        <p:spPr>
          <a:xfrm>
            <a:off x="5715000" y="1600200"/>
            <a:ext cx="3108960" cy="2377440"/>
          </a:xfrm>
          <a:prstGeom prst="roundRect">
            <a:avLst>
              <a:gd name="adj" fmla="val 4615"/>
            </a:avLst>
          </a:prstGeom>
          <a:solidFill>
            <a:srgbClr val="1A2D5A"/>
          </a:solidFill>
          <a:ln w="12700">
            <a:solidFill>
              <a:srgbClr val="2A4070"/>
            </a:solidFill>
            <a:prstDash val="solid"/>
          </a:ln>
        </p:spPr>
      </p:sp>
      <p:sp>
        <p:nvSpPr>
          <p:cNvPr id="17" name="Text 15"/>
          <p:cNvSpPr/>
          <p:nvPr/>
        </p:nvSpPr>
        <p:spPr>
          <a:xfrm>
            <a:off x="5852160" y="1655064"/>
            <a:ext cx="283464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897880" y="1920240"/>
            <a:ext cx="2743200" cy="19659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is it more honest to say the Herald is 'partly right' than 'completely wrong'?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need to be true for the Herald's claim to be fair?</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specific evidence is the Herald ignoring?</a:t>
            </a:r>
            <a:endParaRPr lang="en-US" sz="1100" dirty="0"/>
          </a:p>
        </p:txBody>
      </p:sp>
      <p:sp>
        <p:nvSpPr>
          <p:cNvPr id="19" name="Shape 17"/>
          <p:cNvSpPr/>
          <p:nvPr/>
        </p:nvSpPr>
        <p:spPr>
          <a:xfrm>
            <a:off x="320040" y="4096512"/>
            <a:ext cx="8503920" cy="749808"/>
          </a:xfrm>
          <a:prstGeom prst="roundRect">
            <a:avLst>
              <a:gd name="adj" fmla="val 12195"/>
            </a:avLst>
          </a:prstGeom>
          <a:solidFill>
            <a:srgbClr val="8B6FC0">
              <a:alpha val="85000"/>
            </a:srgbClr>
          </a:solidFill>
          <a:ln/>
        </p:spPr>
      </p:sp>
      <p:sp>
        <p:nvSpPr>
          <p:cNvPr id="20" name="Text 18"/>
          <p:cNvSpPr/>
          <p:nvPr/>
        </p:nvSpPr>
        <p:spPr>
          <a:xfrm>
            <a:off x="457200" y="4160520"/>
            <a:ext cx="1828800" cy="201168"/>
          </a:xfrm>
          <a:prstGeom prst="rect">
            <a:avLst/>
          </a:prstGeom>
          <a:noFill/>
          <a:ln/>
        </p:spPr>
        <p:txBody>
          <a:bodyPr wrap="square" lIns="0" tIns="0" rIns="0" bIns="0" rtlCol="0" anchor="ctr"/>
          <a:lstStyle/>
          <a:p>
            <a:pPr indent="0" marL="0">
              <a:buNone/>
            </a:pPr>
            <a:r>
              <a:rPr lang="en-US" sz="850" b="1" spc="120" kern="0" dirty="0">
                <a:solidFill>
                  <a:srgbClr val="FFFFFF"/>
                </a:solidFill>
                <a:latin typeface="Calibri" pitchFamily="34" charset="0"/>
                <a:ea typeface="Calibri" pitchFamily="34" charset="-122"/>
                <a:cs typeface="Calibri" pitchFamily="34" charset="-120"/>
              </a:rPr>
              <a:t>THE TRICKY PART:</a:t>
            </a:r>
            <a:endParaRPr lang="en-US" sz="850" dirty="0"/>
          </a:p>
        </p:txBody>
      </p:sp>
      <p:sp>
        <p:nvSpPr>
          <p:cNvPr id="21" name="Text 19"/>
          <p:cNvSpPr/>
          <p:nvPr/>
        </p:nvSpPr>
        <p:spPr>
          <a:xfrm>
            <a:off x="457200" y="4370832"/>
            <a:ext cx="8229600" cy="411480"/>
          </a:xfrm>
          <a:prstGeom prst="rect">
            <a:avLst/>
          </a:prstGeom>
          <a:noFill/>
          <a:ln/>
        </p:spPr>
        <p:txBody>
          <a:bodyPr wrap="square" lIns="0" tIns="0" rIns="0" bIns="0" rtlCol="0" anchor="t"/>
          <a:lstStyle/>
          <a:p>
            <a:pPr indent="0" marL="0">
              <a:buNone/>
            </a:pPr>
            <a:r>
              <a:rPr lang="en-US" sz="1150" i="1" dirty="0">
                <a:solidFill>
                  <a:srgbClr val="FFFFFF"/>
                </a:solidFill>
                <a:latin typeface="Calibri" pitchFamily="34" charset="0"/>
                <a:ea typeface="Calibri" pitchFamily="34" charset="-122"/>
                <a:cs typeface="Calibri" pitchFamily="34" charset="-120"/>
              </a:rPr>
              <a:t>Many things about the Mound Builders ARE still unknown — that doesn't make them 'mysteries.' It makes them an ongoing story that historians are still writing.</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D4943A"/>
          </a:solidFill>
          <a:ln/>
        </p:spPr>
      </p:sp>
      <p:sp>
        <p:nvSpPr>
          <p:cNvPr id="4" name="Text 2"/>
          <p:cNvSpPr/>
          <p:nvPr/>
        </p:nvSpPr>
        <p:spPr>
          <a:xfrm>
            <a:off x="320040" y="0"/>
            <a:ext cx="8503920" cy="566928"/>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mbria" pitchFamily="34" charset="0"/>
                <a:ea typeface="Cambria" pitchFamily="34" charset="-122"/>
                <a:cs typeface="Cambria" pitchFamily="34" charset="-120"/>
              </a:rPr>
              <a:t>GO TO PRESS  —  FRONT PAGE BRIEF  ·  VOL. 1 · ISSUE 9</a:t>
            </a:r>
            <a:endParaRPr lang="en-US" sz="1500" dirty="0"/>
          </a:p>
        </p:txBody>
      </p:sp>
      <p:sp>
        <p:nvSpPr>
          <p:cNvPr id="5" name="Shape 3"/>
          <p:cNvSpPr/>
          <p:nvPr/>
        </p:nvSpPr>
        <p:spPr>
          <a:xfrm>
            <a:off x="320040" y="685800"/>
            <a:ext cx="5257800" cy="3950208"/>
          </a:xfrm>
          <a:prstGeom prst="roundRect">
            <a:avLst>
              <a:gd name="adj" fmla="val 2778"/>
            </a:avLst>
          </a:prstGeom>
          <a:solidFill>
            <a:srgbClr val="FFFFFF"/>
          </a:solidFill>
          <a:ln w="25400">
            <a:solidFill>
              <a:srgbClr val="D4943A"/>
            </a:solidFill>
            <a:prstDash val="solid"/>
          </a:ln>
        </p:spPr>
      </p:sp>
      <p:sp>
        <p:nvSpPr>
          <p:cNvPr id="6" name="Text 4"/>
          <p:cNvSpPr/>
          <p:nvPr/>
        </p:nvSpPr>
        <p:spPr>
          <a:xfrm>
            <a:off x="457200" y="749808"/>
            <a:ext cx="4983480" cy="237744"/>
          </a:xfrm>
          <a:prstGeom prst="rect">
            <a:avLst/>
          </a:prstGeom>
          <a:noFill/>
          <a:ln/>
        </p:spPr>
        <p:txBody>
          <a:bodyPr wrap="square" lIns="0" tIns="0" rIns="0" bIns="0" rtlCol="0" anchor="ctr"/>
          <a:lstStyle/>
          <a:p>
            <a:pPr algn="ctr" indent="0" marL="0">
              <a:buNone/>
            </a:pPr>
            <a:r>
              <a:rPr lang="en-US" sz="1100" b="1" spc="200" kern="0" dirty="0">
                <a:solidFill>
                  <a:srgbClr val="0E1C42"/>
                </a:solidFill>
                <a:latin typeface="Cambria" pitchFamily="34" charset="0"/>
                <a:ea typeface="Cambria" pitchFamily="34" charset="-122"/>
                <a:cs typeface="Cambria" pitchFamily="34" charset="-120"/>
              </a:rPr>
              <a:t>THE REPUBLIC GAZETTE</a:t>
            </a:r>
            <a:endParaRPr lang="en-US" sz="1100" dirty="0"/>
          </a:p>
        </p:txBody>
      </p:sp>
      <p:sp>
        <p:nvSpPr>
          <p:cNvPr id="7" name="Text 5"/>
          <p:cNvSpPr/>
          <p:nvPr/>
        </p:nvSpPr>
        <p:spPr>
          <a:xfrm>
            <a:off x="457200" y="987552"/>
            <a:ext cx="4983480" cy="201168"/>
          </a:xfrm>
          <a:prstGeom prst="rect">
            <a:avLst/>
          </a:prstGeom>
          <a:noFill/>
          <a:ln/>
        </p:spPr>
        <p:txBody>
          <a:bodyPr wrap="square" lIns="0" tIns="0" rIns="0" bIns="0" rtlCol="0" anchor="ctr"/>
          <a:lstStyle/>
          <a:p>
            <a:pPr algn="ctr" indent="0" marL="0">
              <a:buNone/>
            </a:pPr>
            <a:r>
              <a:rPr lang="en-US" sz="950" i="1" dirty="0">
                <a:solidFill>
                  <a:srgbClr val="7A88A8"/>
                </a:solidFill>
                <a:latin typeface="Calibri" pitchFamily="34" charset="0"/>
                <a:ea typeface="Calibri" pitchFamily="34" charset="-122"/>
                <a:cs typeface="Calibri" pitchFamily="34" charset="-120"/>
              </a:rPr>
              <a:t>Front Page Brief  —  Junior Editor's Submission</a:t>
            </a:r>
            <a:endParaRPr lang="en-US" sz="950" dirty="0"/>
          </a:p>
        </p:txBody>
      </p:sp>
      <p:sp>
        <p:nvSpPr>
          <p:cNvPr id="8" name="Shape 6"/>
          <p:cNvSpPr/>
          <p:nvPr/>
        </p:nvSpPr>
        <p:spPr>
          <a:xfrm>
            <a:off x="457200" y="1188720"/>
            <a:ext cx="4983480" cy="27432"/>
          </a:xfrm>
          <a:prstGeom prst="rect">
            <a:avLst/>
          </a:prstGeom>
          <a:solidFill>
            <a:srgbClr val="D4943A"/>
          </a:solidFill>
          <a:ln/>
        </p:spPr>
      </p:sp>
      <p:sp>
        <p:nvSpPr>
          <p:cNvPr id="9" name="Text 7"/>
          <p:cNvSpPr/>
          <p:nvPr/>
        </p:nvSpPr>
        <p:spPr>
          <a:xfrm>
            <a:off x="457200" y="1261872"/>
            <a:ext cx="4983480" cy="219456"/>
          </a:xfrm>
          <a:prstGeom prst="rect">
            <a:avLst/>
          </a:prstGeom>
          <a:noFill/>
          <a:ln/>
        </p:spPr>
        <p:txBody>
          <a:bodyPr wrap="square" lIns="0" tIns="0" rIns="0" bIns="0"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What goes in a Front Page Brief:</a:t>
            </a:r>
            <a:endParaRPr lang="en-US" sz="1000" dirty="0"/>
          </a:p>
        </p:txBody>
      </p:sp>
      <p:sp>
        <p:nvSpPr>
          <p:cNvPr id="10" name="Shape 8"/>
          <p:cNvSpPr/>
          <p:nvPr/>
        </p:nvSpPr>
        <p:spPr>
          <a:xfrm>
            <a:off x="457200" y="1508760"/>
            <a:ext cx="4983480" cy="457200"/>
          </a:xfrm>
          <a:prstGeom prst="roundRect">
            <a:avLst>
              <a:gd name="adj" fmla="val 16000"/>
            </a:avLst>
          </a:prstGeom>
          <a:solidFill>
            <a:srgbClr val="FFF3DC"/>
          </a:solidFill>
          <a:ln w="10160">
            <a:solidFill>
              <a:srgbClr val="D4943A"/>
            </a:solidFill>
            <a:prstDash val="solid"/>
          </a:ln>
        </p:spPr>
      </p:sp>
      <p:sp>
        <p:nvSpPr>
          <p:cNvPr id="11" name="Text 9"/>
          <p:cNvSpPr/>
          <p:nvPr/>
        </p:nvSpPr>
        <p:spPr>
          <a:xfrm>
            <a:off x="594360" y="1536192"/>
            <a:ext cx="4663440" cy="384048"/>
          </a:xfrm>
          <a:prstGeom prst="rect">
            <a:avLst/>
          </a:prstGeom>
          <a:noFill/>
          <a:ln/>
        </p:spPr>
        <p:txBody>
          <a:bodyPr wrap="square" lIns="0" tIns="0" rIns="0" bIns="0" rtlCol="0" anchor="ctr"/>
          <a:lstStyle/>
          <a:p>
            <a:pPr indent="0" marL="0">
              <a:buNone/>
            </a:pPr>
            <a:r>
              <a:rPr lang="en-US" sz="1200" dirty="0">
                <a:solidFill>
                  <a:srgbClr val="2A3A5A"/>
                </a:solidFill>
                <a:latin typeface="Calibri" pitchFamily="34" charset="0"/>
                <a:ea typeface="Calibri" pitchFamily="34" charset="-122"/>
                <a:cs typeface="Calibri" pitchFamily="34" charset="-120"/>
              </a:rPr>
              <a:t>(1) A clear claim about the Mound Builders.</a:t>
            </a:r>
            <a:endParaRPr lang="en-US" sz="1200" dirty="0"/>
          </a:p>
        </p:txBody>
      </p:sp>
      <p:sp>
        <p:nvSpPr>
          <p:cNvPr id="12" name="Shape 10"/>
          <p:cNvSpPr/>
          <p:nvPr/>
        </p:nvSpPr>
        <p:spPr>
          <a:xfrm>
            <a:off x="457200" y="2039112"/>
            <a:ext cx="4983480" cy="457200"/>
          </a:xfrm>
          <a:prstGeom prst="roundRect">
            <a:avLst>
              <a:gd name="adj" fmla="val 16000"/>
            </a:avLst>
          </a:prstGeom>
          <a:solidFill>
            <a:srgbClr val="E8F5F0"/>
          </a:solidFill>
          <a:ln w="10160">
            <a:solidFill>
              <a:srgbClr val="1A8A7D"/>
            </a:solidFill>
            <a:prstDash val="solid"/>
          </a:ln>
        </p:spPr>
      </p:sp>
      <p:sp>
        <p:nvSpPr>
          <p:cNvPr id="13" name="Text 11"/>
          <p:cNvSpPr/>
          <p:nvPr/>
        </p:nvSpPr>
        <p:spPr>
          <a:xfrm>
            <a:off x="594360" y="2066544"/>
            <a:ext cx="4663440" cy="384048"/>
          </a:xfrm>
          <a:prstGeom prst="rect">
            <a:avLst/>
          </a:prstGeom>
          <a:noFill/>
          <a:ln/>
        </p:spPr>
        <p:txBody>
          <a:bodyPr wrap="square" lIns="0" tIns="0" rIns="0" bIns="0" rtlCol="0" anchor="ctr"/>
          <a:lstStyle/>
          <a:p>
            <a:pPr indent="0" marL="0">
              <a:buNone/>
            </a:pPr>
            <a:r>
              <a:rPr lang="en-US" sz="1200" dirty="0">
                <a:solidFill>
                  <a:srgbClr val="2A3A5A"/>
                </a:solidFill>
                <a:latin typeface="Calibri" pitchFamily="34" charset="0"/>
                <a:ea typeface="Calibri" pitchFamily="34" charset="-122"/>
                <a:cs typeface="Calibri" pitchFamily="34" charset="-120"/>
              </a:rPr>
              <a:t>(2) One piece of evidence from the reading or photograph.</a:t>
            </a:r>
            <a:endParaRPr lang="en-US" sz="1200" dirty="0"/>
          </a:p>
        </p:txBody>
      </p:sp>
      <p:sp>
        <p:nvSpPr>
          <p:cNvPr id="14" name="Shape 12"/>
          <p:cNvSpPr/>
          <p:nvPr/>
        </p:nvSpPr>
        <p:spPr>
          <a:xfrm>
            <a:off x="457200" y="2569464"/>
            <a:ext cx="4983480" cy="457200"/>
          </a:xfrm>
          <a:prstGeom prst="roundRect">
            <a:avLst>
              <a:gd name="adj" fmla="val 16000"/>
            </a:avLst>
          </a:prstGeom>
          <a:solidFill>
            <a:srgbClr val="EEF0FF"/>
          </a:solidFill>
          <a:ln w="10160">
            <a:solidFill>
              <a:srgbClr val="8B6FC0"/>
            </a:solidFill>
            <a:prstDash val="solid"/>
          </a:ln>
        </p:spPr>
      </p:sp>
      <p:sp>
        <p:nvSpPr>
          <p:cNvPr id="15" name="Text 13"/>
          <p:cNvSpPr/>
          <p:nvPr/>
        </p:nvSpPr>
        <p:spPr>
          <a:xfrm>
            <a:off x="594360" y="2596896"/>
            <a:ext cx="4663440" cy="384048"/>
          </a:xfrm>
          <a:prstGeom prst="rect">
            <a:avLst/>
          </a:prstGeom>
          <a:noFill/>
          <a:ln/>
        </p:spPr>
        <p:txBody>
          <a:bodyPr wrap="square" lIns="0" tIns="0" rIns="0" bIns="0" rtlCol="0" anchor="ctr"/>
          <a:lstStyle/>
          <a:p>
            <a:pPr indent="0" marL="0">
              <a:buNone/>
            </a:pPr>
            <a:r>
              <a:rPr lang="en-US" sz="1200" dirty="0">
                <a:solidFill>
                  <a:srgbClr val="2A3A5A"/>
                </a:solidFill>
                <a:latin typeface="Calibri" pitchFamily="34" charset="0"/>
                <a:ea typeface="Calibri" pitchFamily="34" charset="-122"/>
                <a:cs typeface="Calibri" pitchFamily="34" charset="-120"/>
              </a:rPr>
              <a:t>(3) Why this evidence matters for understanding these civilizations.</a:t>
            </a:r>
            <a:endParaRPr lang="en-US" sz="1200" dirty="0"/>
          </a:p>
        </p:txBody>
      </p:sp>
      <p:sp>
        <p:nvSpPr>
          <p:cNvPr id="16" name="Shape 14"/>
          <p:cNvSpPr/>
          <p:nvPr/>
        </p:nvSpPr>
        <p:spPr>
          <a:xfrm>
            <a:off x="457200" y="3090672"/>
            <a:ext cx="4983480" cy="27432"/>
          </a:xfrm>
          <a:prstGeom prst="rect">
            <a:avLst/>
          </a:prstGeom>
          <a:solidFill>
            <a:srgbClr val="D4943A"/>
          </a:solidFill>
          <a:ln/>
        </p:spPr>
      </p:sp>
      <p:sp>
        <p:nvSpPr>
          <p:cNvPr id="17" name="Text 15"/>
          <p:cNvSpPr/>
          <p:nvPr/>
        </p:nvSpPr>
        <p:spPr>
          <a:xfrm>
            <a:off x="457200" y="3145536"/>
            <a:ext cx="1828800" cy="201168"/>
          </a:xfrm>
          <a:prstGeom prst="rect">
            <a:avLst/>
          </a:prstGeom>
          <a:noFill/>
          <a:ln/>
        </p:spPr>
        <p:txBody>
          <a:bodyPr wrap="square" lIns="0" tIns="0" rIns="0" bIns="0"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ARCHIVE LINE:</a:t>
            </a:r>
            <a:endParaRPr lang="en-US" sz="900" dirty="0"/>
          </a:p>
        </p:txBody>
      </p:sp>
      <p:sp>
        <p:nvSpPr>
          <p:cNvPr id="18" name="Text 16"/>
          <p:cNvSpPr/>
          <p:nvPr/>
        </p:nvSpPr>
        <p:spPr>
          <a:xfrm>
            <a:off x="457200" y="3364992"/>
            <a:ext cx="4983480" cy="475488"/>
          </a:xfrm>
          <a:prstGeom prst="rect">
            <a:avLst/>
          </a:prstGeom>
          <a:noFill/>
          <a:ln/>
        </p:spPr>
        <p:txBody>
          <a:bodyPr wrap="square" lIns="0" tIns="0" rIns="0" bIns="0" rtlCol="0" anchor="t"/>
          <a:lstStyle/>
          <a:p>
            <a:pPr indent="0" marL="0">
              <a:buNone/>
            </a:pPr>
            <a:r>
              <a:rPr lang="en-US" sz="1150" i="1" dirty="0">
                <a:solidFill>
                  <a:srgbClr val="2A3A5A"/>
                </a:solidFill>
                <a:latin typeface="Calibri" pitchFamily="34" charset="0"/>
                <a:ea typeface="Calibri" pitchFamily="34" charset="-122"/>
                <a:cs typeface="Calibri" pitchFamily="34" charset="-120"/>
              </a:rPr>
              <a:t>In one careful sentence, write what future citizens should remember about the Mound Builders.</a:t>
            </a:r>
            <a:endParaRPr lang="en-US" sz="1150" dirty="0"/>
          </a:p>
        </p:txBody>
      </p:sp>
      <p:sp>
        <p:nvSpPr>
          <p:cNvPr id="19" name="Text 17"/>
          <p:cNvSpPr/>
          <p:nvPr/>
        </p:nvSpPr>
        <p:spPr>
          <a:xfrm>
            <a:off x="457200" y="3886200"/>
            <a:ext cx="4983480" cy="256032"/>
          </a:xfrm>
          <a:prstGeom prst="rect">
            <a:avLst/>
          </a:prstGeom>
          <a:noFill/>
          <a:ln/>
        </p:spPr>
        <p:txBody>
          <a:bodyPr wrap="square" lIns="0" tIns="0" rIns="0" bIns="0" rtlCol="0" anchor="ctr"/>
          <a:lstStyle/>
          <a:p>
            <a:pPr indent="0" marL="0">
              <a:buNone/>
            </a:pPr>
            <a:r>
              <a:rPr lang="en-US" sz="1100" dirty="0">
                <a:solidFill>
                  <a:srgbClr val="AAAAAA"/>
                </a:solidFill>
                <a:latin typeface="Calibri" pitchFamily="34" charset="0"/>
                <a:ea typeface="Calibri" pitchFamily="34" charset="-122"/>
                <a:cs typeface="Calibri" pitchFamily="34" charset="-120"/>
              </a:rPr>
              <a:t>By: ______________________________</a:t>
            </a:r>
            <a:endParaRPr lang="en-US" sz="1100" dirty="0"/>
          </a:p>
        </p:txBody>
      </p:sp>
      <p:sp>
        <p:nvSpPr>
          <p:cNvPr id="20" name="Shape 18"/>
          <p:cNvSpPr/>
          <p:nvPr/>
        </p:nvSpPr>
        <p:spPr>
          <a:xfrm>
            <a:off x="5715000" y="685800"/>
            <a:ext cx="3108960" cy="3950208"/>
          </a:xfrm>
          <a:prstGeom prst="roundRect">
            <a:avLst>
              <a:gd name="adj" fmla="val 3529"/>
            </a:avLst>
          </a:prstGeom>
          <a:solidFill>
            <a:srgbClr val="1A2D5A"/>
          </a:solidFill>
          <a:ln w="12700">
            <a:solidFill>
              <a:srgbClr val="2A4070"/>
            </a:solidFill>
            <a:prstDash val="solid"/>
          </a:ln>
        </p:spPr>
      </p:sp>
      <p:sp>
        <p:nvSpPr>
          <p:cNvPr id="21" name="Text 19"/>
          <p:cNvSpPr/>
          <p:nvPr/>
        </p:nvSpPr>
        <p:spPr>
          <a:xfrm>
            <a:off x="5852160" y="749808"/>
            <a:ext cx="283464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BEFORE YOU SUBMIT</a:t>
            </a:r>
            <a:endParaRPr lang="en-US" sz="900" dirty="0"/>
          </a:p>
        </p:txBody>
      </p:sp>
      <p:sp>
        <p:nvSpPr>
          <p:cNvPr id="22" name="Shape 20"/>
          <p:cNvSpPr/>
          <p:nvPr/>
        </p:nvSpPr>
        <p:spPr>
          <a:xfrm>
            <a:off x="5852160" y="1005840"/>
            <a:ext cx="2834640" cy="457200"/>
          </a:xfrm>
          <a:prstGeom prst="roundRect">
            <a:avLst>
              <a:gd name="adj" fmla="val 16000"/>
            </a:avLst>
          </a:prstGeom>
          <a:solidFill>
            <a:srgbClr val="0E1C42">
              <a:alpha val="80000"/>
            </a:srgbClr>
          </a:solidFill>
          <a:ln w="6350">
            <a:solidFill>
              <a:srgbClr val="D4943A"/>
            </a:solidFill>
            <a:prstDash val="solid"/>
          </a:ln>
        </p:spPr>
      </p:sp>
      <p:sp>
        <p:nvSpPr>
          <p:cNvPr id="23" name="Text 21"/>
          <p:cNvSpPr/>
          <p:nvPr/>
        </p:nvSpPr>
        <p:spPr>
          <a:xfrm>
            <a:off x="5925312" y="1042416"/>
            <a:ext cx="365760" cy="36576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 ]</a:t>
            </a:r>
            <a:endParaRPr lang="en-US" sz="1300" dirty="0"/>
          </a:p>
        </p:txBody>
      </p:sp>
      <p:sp>
        <p:nvSpPr>
          <p:cNvPr id="24" name="Text 22"/>
          <p:cNvSpPr/>
          <p:nvPr/>
        </p:nvSpPr>
        <p:spPr>
          <a:xfrm>
            <a:off x="6309360" y="1051560"/>
            <a:ext cx="2286000" cy="365760"/>
          </a:xfrm>
          <a:prstGeom prst="rect">
            <a:avLst/>
          </a:prstGeom>
          <a:noFill/>
          <a:ln/>
        </p:spPr>
        <p:txBody>
          <a:bodyPr wrap="square" lIns="0" tIns="0" rIns="0" bIns="0" rtlCol="0" anchor="ctr"/>
          <a:lstStyle/>
          <a:p>
            <a:pPr indent="0" marL="0">
              <a:buNone/>
            </a:pPr>
            <a:r>
              <a:rPr lang="en-US" sz="1000" dirty="0">
                <a:solidFill>
                  <a:srgbClr val="D6F2FB"/>
                </a:solidFill>
                <a:latin typeface="Calibri" pitchFamily="34" charset="0"/>
                <a:ea typeface="Calibri" pitchFamily="34" charset="-122"/>
                <a:cs typeface="Calibri" pitchFamily="34" charset="-120"/>
              </a:rPr>
              <a:t>Answered all 3 Editor's Notebook questions</a:t>
            </a:r>
            <a:endParaRPr lang="en-US" sz="1000" dirty="0"/>
          </a:p>
        </p:txBody>
      </p:sp>
      <p:sp>
        <p:nvSpPr>
          <p:cNvPr id="25" name="Shape 23"/>
          <p:cNvSpPr/>
          <p:nvPr/>
        </p:nvSpPr>
        <p:spPr>
          <a:xfrm>
            <a:off x="5852160" y="1536192"/>
            <a:ext cx="2834640" cy="457200"/>
          </a:xfrm>
          <a:prstGeom prst="roundRect">
            <a:avLst>
              <a:gd name="adj" fmla="val 16000"/>
            </a:avLst>
          </a:prstGeom>
          <a:solidFill>
            <a:srgbClr val="0E1C42">
              <a:alpha val="80000"/>
            </a:srgbClr>
          </a:solidFill>
          <a:ln w="6350">
            <a:solidFill>
              <a:srgbClr val="D4943A"/>
            </a:solidFill>
            <a:prstDash val="solid"/>
          </a:ln>
        </p:spPr>
      </p:sp>
      <p:sp>
        <p:nvSpPr>
          <p:cNvPr id="26" name="Text 24"/>
          <p:cNvSpPr/>
          <p:nvPr/>
        </p:nvSpPr>
        <p:spPr>
          <a:xfrm>
            <a:off x="5925312" y="1572768"/>
            <a:ext cx="365760" cy="36576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 ]</a:t>
            </a:r>
            <a:endParaRPr lang="en-US" sz="1300" dirty="0"/>
          </a:p>
        </p:txBody>
      </p:sp>
      <p:sp>
        <p:nvSpPr>
          <p:cNvPr id="27" name="Text 25"/>
          <p:cNvSpPr/>
          <p:nvPr/>
        </p:nvSpPr>
        <p:spPr>
          <a:xfrm>
            <a:off x="6309360" y="1581912"/>
            <a:ext cx="2286000" cy="365760"/>
          </a:xfrm>
          <a:prstGeom prst="rect">
            <a:avLst/>
          </a:prstGeom>
          <a:noFill/>
          <a:ln/>
        </p:spPr>
        <p:txBody>
          <a:bodyPr wrap="square" lIns="0" tIns="0" rIns="0" bIns="0" rtlCol="0" anchor="ctr"/>
          <a:lstStyle/>
          <a:p>
            <a:pPr indent="0" marL="0">
              <a:buNone/>
            </a:pPr>
            <a:r>
              <a:rPr lang="en-US" sz="1000" dirty="0">
                <a:solidFill>
                  <a:srgbClr val="D6F2FB"/>
                </a:solidFill>
                <a:latin typeface="Calibri" pitchFamily="34" charset="0"/>
                <a:ea typeface="Calibri" pitchFamily="34" charset="-122"/>
                <a:cs typeface="Calibri" pitchFamily="34" charset="-120"/>
              </a:rPr>
              <a:t>Completed the Fact-Check questions</a:t>
            </a:r>
            <a:endParaRPr lang="en-US" sz="1000" dirty="0"/>
          </a:p>
        </p:txBody>
      </p:sp>
      <p:sp>
        <p:nvSpPr>
          <p:cNvPr id="28" name="Shape 26"/>
          <p:cNvSpPr/>
          <p:nvPr/>
        </p:nvSpPr>
        <p:spPr>
          <a:xfrm>
            <a:off x="5852160" y="2066544"/>
            <a:ext cx="2834640" cy="457200"/>
          </a:xfrm>
          <a:prstGeom prst="roundRect">
            <a:avLst>
              <a:gd name="adj" fmla="val 16000"/>
            </a:avLst>
          </a:prstGeom>
          <a:solidFill>
            <a:srgbClr val="0E1C42">
              <a:alpha val="80000"/>
            </a:srgbClr>
          </a:solidFill>
          <a:ln w="6350">
            <a:solidFill>
              <a:srgbClr val="D4943A"/>
            </a:solidFill>
            <a:prstDash val="solid"/>
          </a:ln>
        </p:spPr>
      </p:sp>
      <p:sp>
        <p:nvSpPr>
          <p:cNvPr id="29" name="Text 27"/>
          <p:cNvSpPr/>
          <p:nvPr/>
        </p:nvSpPr>
        <p:spPr>
          <a:xfrm>
            <a:off x="5925312" y="2103120"/>
            <a:ext cx="365760" cy="36576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 ]</a:t>
            </a:r>
            <a:endParaRPr lang="en-US" sz="1300" dirty="0"/>
          </a:p>
        </p:txBody>
      </p:sp>
      <p:sp>
        <p:nvSpPr>
          <p:cNvPr id="30" name="Text 28"/>
          <p:cNvSpPr/>
          <p:nvPr/>
        </p:nvSpPr>
        <p:spPr>
          <a:xfrm>
            <a:off x="6309360" y="2112264"/>
            <a:ext cx="2286000" cy="365760"/>
          </a:xfrm>
          <a:prstGeom prst="rect">
            <a:avLst/>
          </a:prstGeom>
          <a:noFill/>
          <a:ln/>
        </p:spPr>
        <p:txBody>
          <a:bodyPr wrap="square" lIns="0" tIns="0" rIns="0" bIns="0" rtlCol="0" anchor="ctr"/>
          <a:lstStyle/>
          <a:p>
            <a:pPr indent="0" marL="0">
              <a:buNone/>
            </a:pPr>
            <a:r>
              <a:rPr lang="en-US" sz="1000" dirty="0">
                <a:solidFill>
                  <a:srgbClr val="D6F2FB"/>
                </a:solidFill>
                <a:latin typeface="Calibri" pitchFamily="34" charset="0"/>
                <a:ea typeface="Calibri" pitchFamily="34" charset="-122"/>
                <a:cs typeface="Calibri" pitchFamily="34" charset="-120"/>
              </a:rPr>
              <a:t>Wrote a headline and Front Page Brief</a:t>
            </a:r>
            <a:endParaRPr lang="en-US" sz="1000" dirty="0"/>
          </a:p>
        </p:txBody>
      </p:sp>
      <p:sp>
        <p:nvSpPr>
          <p:cNvPr id="31" name="Shape 29"/>
          <p:cNvSpPr/>
          <p:nvPr/>
        </p:nvSpPr>
        <p:spPr>
          <a:xfrm>
            <a:off x="5852160" y="2596896"/>
            <a:ext cx="2834640" cy="457200"/>
          </a:xfrm>
          <a:prstGeom prst="roundRect">
            <a:avLst>
              <a:gd name="adj" fmla="val 16000"/>
            </a:avLst>
          </a:prstGeom>
          <a:solidFill>
            <a:srgbClr val="0E1C42">
              <a:alpha val="80000"/>
            </a:srgbClr>
          </a:solidFill>
          <a:ln w="6350">
            <a:solidFill>
              <a:srgbClr val="D4943A"/>
            </a:solidFill>
            <a:prstDash val="solid"/>
          </a:ln>
        </p:spPr>
      </p:sp>
      <p:sp>
        <p:nvSpPr>
          <p:cNvPr id="32" name="Text 30"/>
          <p:cNvSpPr/>
          <p:nvPr/>
        </p:nvSpPr>
        <p:spPr>
          <a:xfrm>
            <a:off x="5925312" y="2633472"/>
            <a:ext cx="365760" cy="36576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 ]</a:t>
            </a:r>
            <a:endParaRPr lang="en-US" sz="1300" dirty="0"/>
          </a:p>
        </p:txBody>
      </p:sp>
      <p:sp>
        <p:nvSpPr>
          <p:cNvPr id="33" name="Text 31"/>
          <p:cNvSpPr/>
          <p:nvPr/>
        </p:nvSpPr>
        <p:spPr>
          <a:xfrm>
            <a:off x="6309360" y="2642616"/>
            <a:ext cx="2286000" cy="365760"/>
          </a:xfrm>
          <a:prstGeom prst="rect">
            <a:avLst/>
          </a:prstGeom>
          <a:noFill/>
          <a:ln/>
        </p:spPr>
        <p:txBody>
          <a:bodyPr wrap="square" lIns="0" tIns="0" rIns="0" bIns="0" rtlCol="0" anchor="ctr"/>
          <a:lstStyle/>
          <a:p>
            <a:pPr indent="0" marL="0">
              <a:buNone/>
            </a:pPr>
            <a:r>
              <a:rPr lang="en-US" sz="1000" dirty="0">
                <a:solidFill>
                  <a:srgbClr val="D6F2FB"/>
                </a:solidFill>
                <a:latin typeface="Calibri" pitchFamily="34" charset="0"/>
                <a:ea typeface="Calibri" pitchFamily="34" charset="-122"/>
                <a:cs typeface="Calibri" pitchFamily="34" charset="-120"/>
              </a:rPr>
              <a:t>Added your name to the byline</a:t>
            </a:r>
            <a:endParaRPr lang="en-US" sz="1000" dirty="0"/>
          </a:p>
        </p:txBody>
      </p:sp>
      <p:sp>
        <p:nvSpPr>
          <p:cNvPr id="34" name="Shape 32"/>
          <p:cNvSpPr/>
          <p:nvPr/>
        </p:nvSpPr>
        <p:spPr>
          <a:xfrm>
            <a:off x="5852160" y="3127248"/>
            <a:ext cx="2834640" cy="457200"/>
          </a:xfrm>
          <a:prstGeom prst="roundRect">
            <a:avLst>
              <a:gd name="adj" fmla="val 16000"/>
            </a:avLst>
          </a:prstGeom>
          <a:solidFill>
            <a:srgbClr val="0E1C42">
              <a:alpha val="80000"/>
            </a:srgbClr>
          </a:solidFill>
          <a:ln w="6350">
            <a:solidFill>
              <a:srgbClr val="D4943A"/>
            </a:solidFill>
            <a:prstDash val="solid"/>
          </a:ln>
        </p:spPr>
      </p:sp>
      <p:sp>
        <p:nvSpPr>
          <p:cNvPr id="35" name="Text 33"/>
          <p:cNvSpPr/>
          <p:nvPr/>
        </p:nvSpPr>
        <p:spPr>
          <a:xfrm>
            <a:off x="5925312" y="3163824"/>
            <a:ext cx="365760" cy="36576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 ]</a:t>
            </a:r>
            <a:endParaRPr lang="en-US" sz="1300" dirty="0"/>
          </a:p>
        </p:txBody>
      </p:sp>
      <p:sp>
        <p:nvSpPr>
          <p:cNvPr id="36" name="Text 34"/>
          <p:cNvSpPr/>
          <p:nvPr/>
        </p:nvSpPr>
        <p:spPr>
          <a:xfrm>
            <a:off x="6309360" y="3172968"/>
            <a:ext cx="2286000" cy="365760"/>
          </a:xfrm>
          <a:prstGeom prst="rect">
            <a:avLst/>
          </a:prstGeom>
          <a:noFill/>
          <a:ln/>
        </p:spPr>
        <p:txBody>
          <a:bodyPr wrap="square" lIns="0" tIns="0" rIns="0" bIns="0" rtlCol="0" anchor="ctr"/>
          <a:lstStyle/>
          <a:p>
            <a:pPr indent="0" marL="0">
              <a:buNone/>
            </a:pPr>
            <a:r>
              <a:rPr lang="en-US" sz="1000" dirty="0">
                <a:solidFill>
                  <a:srgbClr val="D6F2FB"/>
                </a:solidFill>
                <a:latin typeface="Calibri" pitchFamily="34" charset="0"/>
                <a:ea typeface="Calibri" pitchFamily="34" charset="-122"/>
                <a:cs typeface="Calibri" pitchFamily="34" charset="-120"/>
              </a:rPr>
              <a:t>Wrote one careful Archive Line sentence</a:t>
            </a:r>
            <a:endParaRPr lang="en-US" sz="1000" dirty="0"/>
          </a:p>
        </p:txBody>
      </p:sp>
      <p:sp>
        <p:nvSpPr>
          <p:cNvPr id="37" name="Shape 35"/>
          <p:cNvSpPr/>
          <p:nvPr/>
        </p:nvSpPr>
        <p:spPr>
          <a:xfrm>
            <a:off x="5852160" y="3657600"/>
            <a:ext cx="2834640" cy="457200"/>
          </a:xfrm>
          <a:prstGeom prst="roundRect">
            <a:avLst>
              <a:gd name="adj" fmla="val 16000"/>
            </a:avLst>
          </a:prstGeom>
          <a:solidFill>
            <a:srgbClr val="0E1C42">
              <a:alpha val="80000"/>
            </a:srgbClr>
          </a:solidFill>
          <a:ln w="6350">
            <a:solidFill>
              <a:srgbClr val="D4943A"/>
            </a:solidFill>
            <a:prstDash val="solid"/>
          </a:ln>
        </p:spPr>
      </p:sp>
      <p:sp>
        <p:nvSpPr>
          <p:cNvPr id="38" name="Text 36"/>
          <p:cNvSpPr/>
          <p:nvPr/>
        </p:nvSpPr>
        <p:spPr>
          <a:xfrm>
            <a:off x="5925312" y="3694176"/>
            <a:ext cx="365760" cy="36576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 ]</a:t>
            </a:r>
            <a:endParaRPr lang="en-US" sz="1300" dirty="0"/>
          </a:p>
        </p:txBody>
      </p:sp>
      <p:sp>
        <p:nvSpPr>
          <p:cNvPr id="39" name="Text 37"/>
          <p:cNvSpPr/>
          <p:nvPr/>
        </p:nvSpPr>
        <p:spPr>
          <a:xfrm>
            <a:off x="6309360" y="3703320"/>
            <a:ext cx="2286000" cy="365760"/>
          </a:xfrm>
          <a:prstGeom prst="rect">
            <a:avLst/>
          </a:prstGeom>
          <a:noFill/>
          <a:ln/>
        </p:spPr>
        <p:txBody>
          <a:bodyPr wrap="square" lIns="0" tIns="0" rIns="0" bIns="0" rtlCol="0" anchor="ctr"/>
          <a:lstStyle/>
          <a:p>
            <a:pPr indent="0" marL="0">
              <a:buNone/>
            </a:pPr>
            <a:r>
              <a:rPr lang="en-US" sz="1000" dirty="0">
                <a:solidFill>
                  <a:srgbClr val="D6F2FB"/>
                </a:solidFill>
                <a:latin typeface="Calibri" pitchFamily="34" charset="0"/>
                <a:ea typeface="Calibri" pitchFamily="34" charset="-122"/>
                <a:cs typeface="Calibri" pitchFamily="34" charset="-120"/>
              </a:rPr>
              <a:t>Copied or downloaded Gathered Answers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0E1C42"/>
          </a:solidFill>
          <a:ln/>
        </p:spPr>
      </p:sp>
      <p:sp>
        <p:nvSpPr>
          <p:cNvPr id="4" name="Text 2"/>
          <p:cNvSpPr/>
          <p:nvPr/>
        </p:nvSpPr>
        <p:spPr>
          <a:xfrm>
            <a:off x="320040" y="0"/>
            <a:ext cx="8503920" cy="566928"/>
          </a:xfrm>
          <a:prstGeom prst="rect">
            <a:avLst/>
          </a:prstGeom>
          <a:noFill/>
          <a:ln/>
        </p:spPr>
        <p:txBody>
          <a:bodyPr wrap="square" lIns="0" tIns="0" rIns="0" bIns="0" rtlCol="0" anchor="ctr"/>
          <a:lstStyle/>
          <a:p>
            <a:pPr indent="0" marL="0">
              <a:buNone/>
            </a:pPr>
            <a:r>
              <a:rPr lang="en-US" sz="1500" b="1" spc="150" kern="0" dirty="0">
                <a:solidFill>
                  <a:srgbClr val="D4943A"/>
                </a:solidFill>
                <a:latin typeface="Cambria" pitchFamily="34" charset="0"/>
                <a:ea typeface="Cambria" pitchFamily="34" charset="-122"/>
                <a:cs typeface="Cambria" pitchFamily="34" charset="-120"/>
              </a:rPr>
              <a:t>EDITOR'S NOTEBOOK  —  3 QUESTIONS, SCAFFOLDED</a:t>
            </a:r>
            <a:endParaRPr lang="en-US" sz="1500" dirty="0"/>
          </a:p>
        </p:txBody>
      </p:sp>
      <p:sp>
        <p:nvSpPr>
          <p:cNvPr id="5" name="Shape 3"/>
          <p:cNvSpPr/>
          <p:nvPr/>
        </p:nvSpPr>
        <p:spPr>
          <a:xfrm>
            <a:off x="320040" y="685800"/>
            <a:ext cx="8503920" cy="1298448"/>
          </a:xfrm>
          <a:prstGeom prst="roundRect">
            <a:avLst>
              <a:gd name="adj" fmla="val 8451"/>
            </a:avLst>
          </a:prstGeom>
          <a:solidFill>
            <a:srgbClr val="FFF3DC"/>
          </a:solidFill>
          <a:ln w="19050">
            <a:solidFill>
              <a:srgbClr val="D4943A"/>
            </a:solidFill>
            <a:prstDash val="solid"/>
          </a:ln>
        </p:spPr>
      </p:sp>
      <p:sp>
        <p:nvSpPr>
          <p:cNvPr id="6" name="Shape 4"/>
          <p:cNvSpPr/>
          <p:nvPr/>
        </p:nvSpPr>
        <p:spPr>
          <a:xfrm>
            <a:off x="320040" y="685800"/>
            <a:ext cx="594360" cy="1298448"/>
          </a:xfrm>
          <a:prstGeom prst="roundRect">
            <a:avLst>
              <a:gd name="adj" fmla="val 18462"/>
            </a:avLst>
          </a:prstGeom>
          <a:solidFill>
            <a:srgbClr val="D4943A"/>
          </a:solidFill>
          <a:ln/>
        </p:spPr>
      </p:sp>
      <p:sp>
        <p:nvSpPr>
          <p:cNvPr id="7" name="Text 5"/>
          <p:cNvSpPr/>
          <p:nvPr/>
        </p:nvSpPr>
        <p:spPr>
          <a:xfrm>
            <a:off x="320040" y="685800"/>
            <a:ext cx="594360" cy="12984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Q1</a:t>
            </a:r>
            <a:endParaRPr lang="en-US" sz="1800" dirty="0"/>
          </a:p>
        </p:txBody>
      </p:sp>
      <p:sp>
        <p:nvSpPr>
          <p:cNvPr id="8" name="Text 6"/>
          <p:cNvSpPr/>
          <p:nvPr/>
        </p:nvSpPr>
        <p:spPr>
          <a:xfrm>
            <a:off x="1005840" y="777240"/>
            <a:ext cx="7680960" cy="658368"/>
          </a:xfrm>
          <a:prstGeom prst="rect">
            <a:avLst/>
          </a:prstGeom>
          <a:noFill/>
          <a:ln/>
        </p:spPr>
        <p:txBody>
          <a:bodyPr wrap="square" lIns="0" tIns="0" rIns="0" bIns="0" rtlCol="0" anchor="t"/>
          <a:lstStyle/>
          <a:p>
            <a:pPr indent="0" marL="0">
              <a:buNone/>
            </a:pPr>
            <a:r>
              <a:rPr lang="en-US" sz="1200" dirty="0">
                <a:solidFill>
                  <a:srgbClr val="5A4A3A"/>
                </a:solidFill>
                <a:latin typeface="Calibri" pitchFamily="34" charset="0"/>
                <a:ea typeface="Calibri" pitchFamily="34" charset="-122"/>
                <a:cs typeface="Calibri" pitchFamily="34" charset="-120"/>
              </a:rPr>
              <a:t>What is one thing the mounds tell us about how Mound Builder communities were organized? Use evidence from the reading or the image.</a:t>
            </a:r>
            <a:endParaRPr lang="en-US" sz="1200" dirty="0"/>
          </a:p>
        </p:txBody>
      </p:sp>
      <p:sp>
        <p:nvSpPr>
          <p:cNvPr id="9" name="Shape 7"/>
          <p:cNvSpPr/>
          <p:nvPr/>
        </p:nvSpPr>
        <p:spPr>
          <a:xfrm>
            <a:off x="1005840" y="1472184"/>
            <a:ext cx="7680960" cy="18288"/>
          </a:xfrm>
          <a:prstGeom prst="rect">
            <a:avLst/>
          </a:prstGeom>
          <a:solidFill>
            <a:srgbClr val="D4943A"/>
          </a:solidFill>
          <a:ln/>
        </p:spPr>
      </p:sp>
      <p:sp>
        <p:nvSpPr>
          <p:cNvPr id="10" name="Text 8"/>
          <p:cNvSpPr/>
          <p:nvPr/>
        </p:nvSpPr>
        <p:spPr>
          <a:xfrm>
            <a:off x="1005840" y="1527048"/>
            <a:ext cx="7680960" cy="384048"/>
          </a:xfrm>
          <a:prstGeom prst="rect">
            <a:avLst/>
          </a:prstGeom>
          <a:noFill/>
          <a:ln/>
        </p:spPr>
        <p:txBody>
          <a:bodyPr wrap="square" lIns="0" tIns="0" rIns="0" bIns="0" rtlCol="0" anchor="t"/>
          <a:lstStyle/>
          <a:p>
            <a:pPr indent="0" marL="0">
              <a:buNone/>
            </a:pPr>
            <a:r>
              <a:rPr lang="en-US" sz="1050" i="1" dirty="0">
                <a:solidFill>
                  <a:srgbClr val="5A4A3A"/>
                </a:solidFill>
                <a:latin typeface="Calibri" pitchFamily="34" charset="0"/>
                <a:ea typeface="Calibri" pitchFamily="34" charset="-122"/>
                <a:cs typeface="Calibri" pitchFamily="34" charset="-120"/>
              </a:rPr>
              <a:t>Hint: Think about Monks Mound (14 acres, 100 feet tall) and what it would take to build it.</a:t>
            </a:r>
            <a:endParaRPr lang="en-US" sz="1050" dirty="0"/>
          </a:p>
        </p:txBody>
      </p:sp>
      <p:sp>
        <p:nvSpPr>
          <p:cNvPr id="11" name="Shape 9"/>
          <p:cNvSpPr/>
          <p:nvPr/>
        </p:nvSpPr>
        <p:spPr>
          <a:xfrm>
            <a:off x="320040" y="2103120"/>
            <a:ext cx="8503920" cy="1298448"/>
          </a:xfrm>
          <a:prstGeom prst="roundRect">
            <a:avLst>
              <a:gd name="adj" fmla="val 8451"/>
            </a:avLst>
          </a:prstGeom>
          <a:solidFill>
            <a:srgbClr val="E8F5F0"/>
          </a:solidFill>
          <a:ln w="19050">
            <a:solidFill>
              <a:srgbClr val="1A8A7D"/>
            </a:solidFill>
            <a:prstDash val="solid"/>
          </a:ln>
        </p:spPr>
      </p:sp>
      <p:sp>
        <p:nvSpPr>
          <p:cNvPr id="12" name="Shape 10"/>
          <p:cNvSpPr/>
          <p:nvPr/>
        </p:nvSpPr>
        <p:spPr>
          <a:xfrm>
            <a:off x="320040" y="2103120"/>
            <a:ext cx="594360" cy="1298448"/>
          </a:xfrm>
          <a:prstGeom prst="roundRect">
            <a:avLst>
              <a:gd name="adj" fmla="val 18462"/>
            </a:avLst>
          </a:prstGeom>
          <a:solidFill>
            <a:srgbClr val="1A8A7D"/>
          </a:solidFill>
          <a:ln/>
        </p:spPr>
      </p:sp>
      <p:sp>
        <p:nvSpPr>
          <p:cNvPr id="13" name="Text 11"/>
          <p:cNvSpPr/>
          <p:nvPr/>
        </p:nvSpPr>
        <p:spPr>
          <a:xfrm>
            <a:off x="320040" y="2103120"/>
            <a:ext cx="594360" cy="12984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Q2</a:t>
            </a:r>
            <a:endParaRPr lang="en-US" sz="1800" dirty="0"/>
          </a:p>
        </p:txBody>
      </p:sp>
      <p:sp>
        <p:nvSpPr>
          <p:cNvPr id="14" name="Text 12"/>
          <p:cNvSpPr/>
          <p:nvPr/>
        </p:nvSpPr>
        <p:spPr>
          <a:xfrm>
            <a:off x="1005840" y="2194560"/>
            <a:ext cx="7680960" cy="658368"/>
          </a:xfrm>
          <a:prstGeom prst="rect">
            <a:avLst/>
          </a:prstGeom>
          <a:noFill/>
          <a:ln/>
        </p:spPr>
        <p:txBody>
          <a:bodyPr wrap="square" lIns="0" tIns="0" rIns="0" bIns="0" rtlCol="0" anchor="t"/>
          <a:lstStyle/>
          <a:p>
            <a:pPr indent="0" marL="0">
              <a:buNone/>
            </a:pPr>
            <a:r>
              <a:rPr lang="en-US" sz="1200" dirty="0">
                <a:solidFill>
                  <a:srgbClr val="1A3A2A"/>
                </a:solidFill>
                <a:latin typeface="Calibri" pitchFamily="34" charset="0"/>
                <a:ea typeface="Calibri" pitchFamily="34" charset="-122"/>
                <a:cs typeface="Calibri" pitchFamily="34" charset="-120"/>
              </a:rPr>
              <a:t>Why would a community need strong organization and leadership to build something like Monks Mound? Explain your thinking.</a:t>
            </a:r>
            <a:endParaRPr lang="en-US" sz="1200" dirty="0"/>
          </a:p>
        </p:txBody>
      </p:sp>
      <p:sp>
        <p:nvSpPr>
          <p:cNvPr id="15" name="Shape 13"/>
          <p:cNvSpPr/>
          <p:nvPr/>
        </p:nvSpPr>
        <p:spPr>
          <a:xfrm>
            <a:off x="1005840" y="2889504"/>
            <a:ext cx="7680960" cy="18288"/>
          </a:xfrm>
          <a:prstGeom prst="rect">
            <a:avLst/>
          </a:prstGeom>
          <a:solidFill>
            <a:srgbClr val="1A8A7D"/>
          </a:solidFill>
          <a:ln/>
        </p:spPr>
      </p:sp>
      <p:sp>
        <p:nvSpPr>
          <p:cNvPr id="16" name="Text 14"/>
          <p:cNvSpPr/>
          <p:nvPr/>
        </p:nvSpPr>
        <p:spPr>
          <a:xfrm>
            <a:off x="1005840" y="2944368"/>
            <a:ext cx="7680960" cy="384048"/>
          </a:xfrm>
          <a:prstGeom prst="rect">
            <a:avLst/>
          </a:prstGeom>
          <a:noFill/>
          <a:ln/>
        </p:spPr>
        <p:txBody>
          <a:bodyPr wrap="square" lIns="0" tIns="0" rIns="0" bIns="0" rtlCol="0" anchor="t"/>
          <a:lstStyle/>
          <a:p>
            <a:pPr indent="0" marL="0">
              <a:buNone/>
            </a:pPr>
            <a:r>
              <a:rPr lang="en-US" sz="1050" i="1" dirty="0">
                <a:solidFill>
                  <a:srgbClr val="1A3A2A"/>
                </a:solidFill>
                <a:latin typeface="Calibri" pitchFamily="34" charset="0"/>
                <a:ea typeface="Calibri" pitchFamily="34" charset="-122"/>
                <a:cs typeface="Calibri" pitchFamily="34" charset="-120"/>
              </a:rPr>
              <a:t>Hint: Consider: no modern tools, thousands of workers, a specific shape to maintain. Who coordinates that?</a:t>
            </a:r>
            <a:endParaRPr lang="en-US" sz="1050" dirty="0"/>
          </a:p>
        </p:txBody>
      </p:sp>
      <p:sp>
        <p:nvSpPr>
          <p:cNvPr id="17" name="Shape 15"/>
          <p:cNvSpPr/>
          <p:nvPr/>
        </p:nvSpPr>
        <p:spPr>
          <a:xfrm>
            <a:off x="320040" y="3520440"/>
            <a:ext cx="8503920" cy="1298448"/>
          </a:xfrm>
          <a:prstGeom prst="roundRect">
            <a:avLst>
              <a:gd name="adj" fmla="val 8451"/>
            </a:avLst>
          </a:prstGeom>
          <a:solidFill>
            <a:srgbClr val="F0EEF8"/>
          </a:solidFill>
          <a:ln w="19050">
            <a:solidFill>
              <a:srgbClr val="8B6FC0"/>
            </a:solidFill>
            <a:prstDash val="solid"/>
          </a:ln>
        </p:spPr>
      </p:sp>
      <p:sp>
        <p:nvSpPr>
          <p:cNvPr id="18" name="Shape 16"/>
          <p:cNvSpPr/>
          <p:nvPr/>
        </p:nvSpPr>
        <p:spPr>
          <a:xfrm>
            <a:off x="320040" y="3520440"/>
            <a:ext cx="594360" cy="1298448"/>
          </a:xfrm>
          <a:prstGeom prst="roundRect">
            <a:avLst>
              <a:gd name="adj" fmla="val 18462"/>
            </a:avLst>
          </a:prstGeom>
          <a:solidFill>
            <a:srgbClr val="8B6FC0"/>
          </a:solidFill>
          <a:ln/>
        </p:spPr>
      </p:sp>
      <p:sp>
        <p:nvSpPr>
          <p:cNvPr id="19" name="Text 17"/>
          <p:cNvSpPr/>
          <p:nvPr/>
        </p:nvSpPr>
        <p:spPr>
          <a:xfrm>
            <a:off x="320040" y="3520440"/>
            <a:ext cx="594360" cy="12984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Q3</a:t>
            </a:r>
            <a:endParaRPr lang="en-US" sz="1800" dirty="0"/>
          </a:p>
        </p:txBody>
      </p:sp>
      <p:sp>
        <p:nvSpPr>
          <p:cNvPr id="20" name="Text 18"/>
          <p:cNvSpPr/>
          <p:nvPr/>
        </p:nvSpPr>
        <p:spPr>
          <a:xfrm>
            <a:off x="1005840" y="3611880"/>
            <a:ext cx="7680960" cy="658368"/>
          </a:xfrm>
          <a:prstGeom prst="rect">
            <a:avLst/>
          </a:prstGeom>
          <a:noFill/>
          <a:ln/>
        </p:spPr>
        <p:txBody>
          <a:bodyPr wrap="square" lIns="0" tIns="0" rIns="0" bIns="0" rtlCol="0" anchor="t"/>
          <a:lstStyle/>
          <a:p>
            <a:pPr indent="0" marL="0">
              <a:buNone/>
            </a:pPr>
            <a:r>
              <a:rPr lang="en-US" sz="1200" dirty="0">
                <a:solidFill>
                  <a:srgbClr val="2A1A4A"/>
                </a:solidFill>
                <a:latin typeface="Calibri" pitchFamily="34" charset="0"/>
                <a:ea typeface="Calibri" pitchFamily="34" charset="-122"/>
                <a:cs typeface="Calibri" pitchFamily="34" charset="-120"/>
              </a:rPr>
              <a:t>The Hasty Herald said "The Mound Builders left behind only mysteries, not evidence." What's partly right about that? What's missing?</a:t>
            </a:r>
            <a:endParaRPr lang="en-US" sz="1200" dirty="0"/>
          </a:p>
        </p:txBody>
      </p:sp>
      <p:sp>
        <p:nvSpPr>
          <p:cNvPr id="21" name="Shape 19"/>
          <p:cNvSpPr/>
          <p:nvPr/>
        </p:nvSpPr>
        <p:spPr>
          <a:xfrm>
            <a:off x="1005840" y="4306824"/>
            <a:ext cx="7680960" cy="18288"/>
          </a:xfrm>
          <a:prstGeom prst="rect">
            <a:avLst/>
          </a:prstGeom>
          <a:solidFill>
            <a:srgbClr val="8B6FC0"/>
          </a:solidFill>
          <a:ln/>
        </p:spPr>
      </p:sp>
      <p:sp>
        <p:nvSpPr>
          <p:cNvPr id="22" name="Text 20"/>
          <p:cNvSpPr/>
          <p:nvPr/>
        </p:nvSpPr>
        <p:spPr>
          <a:xfrm>
            <a:off x="1005840" y="4361688"/>
            <a:ext cx="7680960" cy="384048"/>
          </a:xfrm>
          <a:prstGeom prst="rect">
            <a:avLst/>
          </a:prstGeom>
          <a:noFill/>
          <a:ln/>
        </p:spPr>
        <p:txBody>
          <a:bodyPr wrap="square" lIns="0" tIns="0" rIns="0" bIns="0" rtlCol="0" anchor="t"/>
          <a:lstStyle/>
          <a:p>
            <a:pPr indent="0" marL="0">
              <a:buNone/>
            </a:pPr>
            <a:r>
              <a:rPr lang="en-US" sz="1050" i="1" dirty="0">
                <a:solidFill>
                  <a:srgbClr val="2A1A4A"/>
                </a:solidFill>
                <a:latin typeface="Calibri" pitchFamily="34" charset="0"/>
                <a:ea typeface="Calibri" pitchFamily="34" charset="-122"/>
                <a:cs typeface="Calibri" pitchFamily="34" charset="-120"/>
              </a:rPr>
              <a:t>Hint: Give the Herald some credit — then explain what evidence they ignored.</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alpha val="85000"/>
            </a:srgbClr>
          </a:solidFill>
          <a:ln/>
        </p:spPr>
      </p:sp>
      <p:sp>
        <p:nvSpPr>
          <p:cNvPr id="6" name="Text 3"/>
          <p:cNvSpPr/>
          <p:nvPr/>
        </p:nvSpPr>
        <p:spPr>
          <a:xfrm>
            <a:off x="320040" y="0"/>
            <a:ext cx="8503920" cy="5029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THE REPUBLIC GAZETTE  ·  GOING TO PRESS  ·  VOL. 1 · ISSUE 9</a:t>
            </a:r>
            <a:endParaRPr lang="en-US" sz="1100" dirty="0"/>
          </a:p>
        </p:txBody>
      </p:sp>
      <p:sp>
        <p:nvSpPr>
          <p:cNvPr id="7" name="Shape 4"/>
          <p:cNvSpPr/>
          <p:nvPr/>
        </p:nvSpPr>
        <p:spPr>
          <a:xfrm>
            <a:off x="731520" y="658368"/>
            <a:ext cx="7680960" cy="1920240"/>
          </a:xfrm>
          <a:prstGeom prst="roundRect">
            <a:avLst>
              <a:gd name="adj" fmla="val 8571"/>
            </a:avLst>
          </a:prstGeom>
          <a:solidFill>
            <a:srgbClr val="0E1C42">
              <a:alpha val="88000"/>
            </a:srgbClr>
          </a:solidFill>
          <a:ln w="25400">
            <a:solidFill>
              <a:srgbClr val="D4943A"/>
            </a:solidFill>
            <a:prstDash val="solid"/>
          </a:ln>
        </p:spPr>
      </p:sp>
      <p:sp>
        <p:nvSpPr>
          <p:cNvPr id="8" name="Text 5"/>
          <p:cNvSpPr/>
          <p:nvPr/>
        </p:nvSpPr>
        <p:spPr>
          <a:xfrm>
            <a:off x="731520" y="749808"/>
            <a:ext cx="7680960" cy="411480"/>
          </a:xfrm>
          <a:prstGeom prst="rect">
            <a:avLst/>
          </a:prstGeom>
          <a:noFill/>
          <a:ln/>
        </p:spPr>
        <p:txBody>
          <a:bodyPr wrap="square" lIns="0" tIns="0" rIns="0" bIns="0"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ISSUE 9 PUBLISHED</a:t>
            </a:r>
            <a:endParaRPr lang="en-US" sz="2800" dirty="0"/>
          </a:p>
        </p:txBody>
      </p:sp>
      <p:sp>
        <p:nvSpPr>
          <p:cNvPr id="9" name="Shape 6"/>
          <p:cNvSpPr/>
          <p:nvPr/>
        </p:nvSpPr>
        <p:spPr>
          <a:xfrm>
            <a:off x="1828800" y="1170432"/>
            <a:ext cx="5486400" cy="36576"/>
          </a:xfrm>
          <a:prstGeom prst="rect">
            <a:avLst/>
          </a:prstGeom>
          <a:solidFill>
            <a:srgbClr val="D4943A"/>
          </a:solidFill>
          <a:ln/>
        </p:spPr>
      </p:sp>
      <p:sp>
        <p:nvSpPr>
          <p:cNvPr id="10" name="Text 7"/>
          <p:cNvSpPr/>
          <p:nvPr/>
        </p:nvSpPr>
        <p:spPr>
          <a:xfrm>
            <a:off x="914400" y="1261872"/>
            <a:ext cx="7315200" cy="1097280"/>
          </a:xfrm>
          <a:prstGeom prst="rect">
            <a:avLst/>
          </a:prstGeom>
          <a:noFill/>
          <a:ln/>
        </p:spPr>
        <p:txBody>
          <a:bodyPr wrap="square" lIns="0" tIns="0" rIns="0" bIns="0" rtlCol="0" anchor="ctr"/>
          <a:lstStyle/>
          <a:p>
            <a:pPr algn="ctr" indent="0" marL="0">
              <a:buNone/>
            </a:pPr>
            <a:r>
              <a:rPr lang="en-US" sz="1350" i="1" dirty="0">
                <a:solidFill>
                  <a:srgbClr val="F0F2F8"/>
                </a:solidFill>
                <a:latin typeface="Cambria" pitchFamily="34" charset="0"/>
                <a:ea typeface="Cambria" pitchFamily="34" charset="-122"/>
                <a:cs typeface="Cambria" pitchFamily="34" charset="-120"/>
              </a:rPr>
              <a:t>Well done, Junior Editor. You gathered evidence about the Mound Builders and proved that these civilizations left behind far more than mysteries. The Gazette is stronger because you had the courage to look at the full picture.</a:t>
            </a:r>
            <a:endParaRPr lang="en-US" sz="1350" dirty="0"/>
          </a:p>
        </p:txBody>
      </p:sp>
      <p:sp>
        <p:nvSpPr>
          <p:cNvPr id="11" name="Shape 8"/>
          <p:cNvSpPr/>
          <p:nvPr/>
        </p:nvSpPr>
        <p:spPr>
          <a:xfrm>
            <a:off x="320040" y="2697480"/>
            <a:ext cx="5029200" cy="1417320"/>
          </a:xfrm>
          <a:prstGeom prst="roundRect">
            <a:avLst>
              <a:gd name="adj" fmla="val 7742"/>
            </a:avLst>
          </a:prstGeom>
          <a:solidFill>
            <a:srgbClr val="1A2D5A">
              <a:alpha val="95000"/>
            </a:srgbClr>
          </a:solidFill>
          <a:ln w="12700">
            <a:solidFill>
              <a:srgbClr val="55C8E8"/>
            </a:solidFill>
            <a:prstDash val="solid"/>
          </a:ln>
        </p:spPr>
      </p:sp>
      <p:sp>
        <p:nvSpPr>
          <p:cNvPr id="12" name="Text 9"/>
          <p:cNvSpPr/>
          <p:nvPr/>
        </p:nvSpPr>
        <p:spPr>
          <a:xfrm>
            <a:off x="457200" y="2761488"/>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WHAT THE GAZETTE PROVED:</a:t>
            </a:r>
            <a:endParaRPr lang="en-US" sz="900" dirty="0"/>
          </a:p>
        </p:txBody>
      </p:sp>
      <p:sp>
        <p:nvSpPr>
          <p:cNvPr id="13" name="Text 10"/>
          <p:cNvSpPr/>
          <p:nvPr/>
        </p:nvSpPr>
        <p:spPr>
          <a:xfrm>
            <a:off x="457200" y="2999232"/>
            <a:ext cx="4754880" cy="1024128"/>
          </a:xfrm>
          <a:prstGeom prst="rect">
            <a:avLst/>
          </a:prstGeom>
          <a:noFill/>
          <a:ln/>
        </p:spPr>
        <p:txBody>
          <a:bodyPr wrap="square" lIns="0" tIns="0" rIns="0" bIns="0" rtlCol="0" anchor="t"/>
          <a:lstStyle/>
          <a:p>
            <a:pPr>
              <a:spcAft>
                <a:spcPts val="600"/>
              </a:spcAft>
            </a:pPr>
            <a:r>
              <a:rPr lang="en-US" sz="1100" dirty="0">
                <a:solidFill>
                  <a:srgbClr val="D6F2FB"/>
                </a:solidFill>
                <a:latin typeface="Calibri" pitchFamily="34" charset="0"/>
                <a:ea typeface="Calibri" pitchFamily="34" charset="-122"/>
                <a:cs typeface="Calibri" pitchFamily="34" charset="-120"/>
              </a:rPr>
              <a:t>Adena, Hopewell &amp; Mississippian peoples built complex civilizations</a:t>
            </a:r>
            <a:endParaRPr lang="en-US" sz="1100" dirty="0"/>
          </a:p>
          <a:p>
            <a:pPr>
              <a:spcAft>
                <a:spcPts val="600"/>
              </a:spcAft>
            </a:pPr>
            <a:r>
              <a:rPr lang="en-US" sz="1100" dirty="0">
                <a:solidFill>
                  <a:srgbClr val="D6F2FB"/>
                </a:solidFill>
                <a:latin typeface="Calibri" pitchFamily="34" charset="0"/>
                <a:ea typeface="Calibri" pitchFamily="34" charset="-122"/>
                <a:cs typeface="Calibri" pitchFamily="34" charset="-120"/>
              </a:rPr>
              <a:t>Cahokia had 10,000–20,000 people — one of the world's great cities</a:t>
            </a:r>
            <a:endParaRPr lang="en-US" sz="1100" dirty="0"/>
          </a:p>
          <a:p>
            <a:pPr>
              <a:spcAft>
                <a:spcPts val="600"/>
              </a:spcAft>
            </a:pPr>
            <a:r>
              <a:rPr lang="en-US" sz="1100" dirty="0">
                <a:solidFill>
                  <a:srgbClr val="D6F2FB"/>
                </a:solidFill>
                <a:latin typeface="Calibri" pitchFamily="34" charset="0"/>
                <a:ea typeface="Calibri" pitchFamily="34" charset="-122"/>
                <a:cs typeface="Calibri" pitchFamily="34" charset="-120"/>
              </a:rPr>
              <a:t>Mounds, artifacts, and trade routes ARE evidence — not mysteries</a:t>
            </a:r>
            <a:endParaRPr lang="en-US" sz="1100" dirty="0"/>
          </a:p>
        </p:txBody>
      </p:sp>
      <p:sp>
        <p:nvSpPr>
          <p:cNvPr id="14" name="Shape 11"/>
          <p:cNvSpPr/>
          <p:nvPr/>
        </p:nvSpPr>
        <p:spPr>
          <a:xfrm>
            <a:off x="5486400" y="2697480"/>
            <a:ext cx="3337560" cy="1417320"/>
          </a:xfrm>
          <a:prstGeom prst="roundRect">
            <a:avLst>
              <a:gd name="adj" fmla="val 7742"/>
            </a:avLst>
          </a:prstGeom>
          <a:solidFill>
            <a:srgbClr val="D4943A">
              <a:alpha val="80000"/>
            </a:srgbClr>
          </a:solidFill>
          <a:ln w="12700">
            <a:solidFill>
              <a:srgbClr val="D4943A"/>
            </a:solidFill>
            <a:prstDash val="solid"/>
          </a:ln>
        </p:spPr>
      </p:sp>
      <p:sp>
        <p:nvSpPr>
          <p:cNvPr id="15" name="Text 12"/>
          <p:cNvSpPr/>
          <p:nvPr/>
        </p:nvSpPr>
        <p:spPr>
          <a:xfrm>
            <a:off x="5623560" y="2761488"/>
            <a:ext cx="3063240" cy="201168"/>
          </a:xfrm>
          <a:prstGeom prst="rect">
            <a:avLst/>
          </a:prstGeom>
          <a:noFill/>
          <a:ln/>
        </p:spPr>
        <p:txBody>
          <a:bodyPr wrap="square" lIns="0" tIns="0" rIns="0" bIns="0"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NEXT ISSUE  —  5.03.02</a:t>
            </a:r>
            <a:endParaRPr lang="en-US" sz="900" dirty="0"/>
          </a:p>
        </p:txBody>
      </p:sp>
      <p:sp>
        <p:nvSpPr>
          <p:cNvPr id="16" name="Text 13"/>
          <p:cNvSpPr/>
          <p:nvPr/>
        </p:nvSpPr>
        <p:spPr>
          <a:xfrm>
            <a:off x="5623560" y="2999232"/>
            <a:ext cx="306324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Anasazi / Ancestral Pueblo</a:t>
            </a:r>
            <a:endParaRPr lang="en-US" sz="1500" dirty="0"/>
          </a:p>
        </p:txBody>
      </p:sp>
      <p:sp>
        <p:nvSpPr>
          <p:cNvPr id="17" name="Text 14"/>
          <p:cNvSpPr/>
          <p:nvPr/>
        </p:nvSpPr>
        <p:spPr>
          <a:xfrm>
            <a:off x="5623560" y="3337560"/>
            <a:ext cx="3063240" cy="713232"/>
          </a:xfrm>
          <a:prstGeom prst="rect">
            <a:avLst/>
          </a:prstGeom>
          <a:noFill/>
          <a:ln/>
        </p:spPr>
        <p:txBody>
          <a:bodyPr wrap="square" lIns="0" tIns="0" rIns="0" bIns="0" rtlCol="0" anchor="t"/>
          <a:lstStyle/>
          <a:p>
            <a:pPr indent="0" marL="0">
              <a:buNone/>
            </a:pPr>
            <a:r>
              <a:rPr lang="en-US" sz="1050" i="1" dirty="0">
                <a:solidFill>
                  <a:srgbClr val="FFF3DC"/>
                </a:solidFill>
                <a:latin typeface="Calibri" pitchFamily="34" charset="0"/>
                <a:ea typeface="Calibri" pitchFamily="34" charset="-122"/>
                <a:cs typeface="Calibri" pitchFamily="34" charset="-120"/>
              </a:rPr>
              <a:t>The Hasty Herald has already rushed a claim about why they built their cliff dwellings. Sharpen your pencils.</a:t>
            </a:r>
            <a:endParaRPr lang="en-US" sz="1050" dirty="0"/>
          </a:p>
        </p:txBody>
      </p:sp>
      <p:sp>
        <p:nvSpPr>
          <p:cNvPr id="18" name="Text 15"/>
          <p:cNvSpPr/>
          <p:nvPr/>
        </p:nvSpPr>
        <p:spPr>
          <a:xfrm>
            <a:off x="274320" y="4864608"/>
            <a:ext cx="8595360" cy="201168"/>
          </a:xfrm>
          <a:prstGeom prst="rect">
            <a:avLst/>
          </a:prstGeom>
          <a:noFill/>
          <a:ln/>
        </p:spPr>
        <p:txBody>
          <a:bodyPr wrap="square" lIns="0" tIns="0" rIns="0" bIns="0" rtlCol="0" anchor="ctr"/>
          <a:lstStyle/>
          <a:p>
            <a:pPr algn="ctr" indent="0" marL="0">
              <a:buNone/>
            </a:pPr>
            <a:r>
              <a:rPr lang="en-US" sz="800" i="1" dirty="0">
                <a:solidFill>
                  <a:srgbClr val="5A6880"/>
                </a:solidFill>
                <a:latin typeface="Calibri" pitchFamily="34" charset="0"/>
                <a:ea typeface="Calibri" pitchFamily="34" charset="-122"/>
                <a:cs typeface="Calibri" pitchFamily="34" charset="-120"/>
              </a:rPr>
              <a:t>The Republic Gazette  ·  Honest Reporting · Evidence First · For Every Citizen  ·  Optima Academy Online  ·  Grade 5  ·  SS.5.A.2.1  ·  SS.5.G.1.1  ·  SS.5.G.1.4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2026-07-16T17:14:28Z</dcterms:created>
  <dcterms:modified xsi:type="dcterms:W3CDTF">2026-07-16T17:14:28Z</dcterms:modified>
</cp:coreProperties>
</file>