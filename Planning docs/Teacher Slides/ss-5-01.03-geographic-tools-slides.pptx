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Wide colonial-era map parchment background, muted gold and navy tones, historical illustration styleWelcome Junior Editors! Today's issue is hot off the press. The Hasty Herald has already published a bold claim about geographic tools -- but did they check their evidence first? That's your job at The Republic Gazette. Guiding question for today: Can a map, a compass, or a globe tell a historian something about WHY something happened -- not just 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slide and give students 30 seconds to read the Herald headline. Ask: What is the Herald actually claiming? Say it in your own words. Then launch the chat frame. Do NOT resolve whether the Herald is right yet -- let the tension build. We are investigators, not answerers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dispatch aloud as Ms. Avery. Then ask: What does Ms. Avery want us to find out? Give students 20 seconds to answer before moving on. This sets the story: we are investigators. The Herald made a claim. We need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map. Say: Five seconds -- no talking, no typing. Just look. After 5 seconds: Now, what do you notice about the map BEYOND just where things are? Look at rivers, harbors, routes, the compass rose. Type your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slowly. Ask about the WHERE column first -- easy answers. Then ask: Is anything in the WHY column on the colonial map? Push for specifics: rivers explain settlement, harbors explain trade. If students say maps only show where, challenge with: Then why does the colonial map show trade routes? Aren't routes a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Rich parchment texture overlaid with faint compass rose and latitude/longitude lines, dark navy, historical feelReveal this slide with energy: Here is what you figured out. Read each tool definition aloud. Then run the quick retrieval: Cover your screen -- name all three tools and one WHY thing each one tells a historian. 30 seconds, then reveal and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think about the specific colonial map they saw. What route or feature on that map would answer a WHY question for a historian? Give 30 seconds for the chat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the WHY connection for each tool. Ask: If I only read a text saying colonists sailed west, what would I be missing that the globe shows me? The globe shows the DISTANCE -- which explains the risk. The compass rose shows the DIRECTION -- which explains the route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scaffolds Notebook Question 1 BEFORE students see it in the assignment. Let students discuss the Socratic questions first, then use the chat frame. Key teacher move: if a student names a tool, push them: What specifically does that tool reveal about WHY? Don't let 'a map shows routes' be the full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students to get specific. If a student says a map shows routes and that explains why, push: Which specific route on the colonial map? And what does that route explain about what happened? The goal is one concrete historical example with a clear WHY connection before they write it in their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scaffolding slide. Students must hold BOTH truths simultaneously -- the Herald is not entirely wrong, but published an incomplete claim. Ask: What would a responsible editor add to the Herald's headline to make it accurate? This is exactly what their Front Page Brief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geographic evidence directly to the Front Page Brief structure. Ask: If you only had the WHERE, which of these three steps would be impossible? Step 3 -- you cannot explain the historical connection without WHY evidence. That is the proof the Herald's claim is incomplete.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Abstract parchment with ink quill and lantern light -- historical colonial study atmosphere, warm gold tones on dark backgroundPause here. Let this one breathe. Ask: How is gathering geographic evidence an act of service? Students may say it helps people understand history better, or prevents the Herald from misleading readers. Connect service to being thorough before 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Think-aloud script: I am going to use the colonial map as my geographic evidence. My claim is... My evidence is... My explanation connects the geographic feature to the historical WHY. Emphasize the explanation step -- that is where most students need the most practice. Point out: the claim alone does not answer the Herald. The explanation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response collaboratively. Take 2-3 student responses to the chat frame. Help the class evaluate: Does this explanation actually answer WHY, or does it just restate WHERE? Expect some students to need another round before the explanation step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3-4 minutes to work independently before the chat frame. Walk the virtual room. Look for students who stop at Step 2 (claim only) and remind them: the explanation step is where the WHY lives. Call on 2 students to share their full 4-step response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flawed claim aloud. Ask: What specifically is wrong here? Resist giving the answer. Push students to identify: the student is treating maps as purely locational tools, and ignoring the features that provide WHY evidence. This mirrors exactly what the Hasty Herald did. Connect it for students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resolve this quickly. Let students argue both sides. The honest answer: direction can point to a WHY (trade winds explain why ships went a certain route) but direction needs context. Acknowledge this is a genuine ambiguity -- use it to show that historians often combine multiple geographic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concept aloud. Ask students thumbs up or down for each. Then run the quick check -- cover the screen or ask from memory. Answers: (1) map, globe, compass rose; (2) map (shows rivers/harbors); (3) says geography is ONLY WHERE -- misses the WHY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question. For each one, ask: Where did we practice this today? Students should be able to point back to specific slides. This is NOT the first time they are seeing any of these questions -- make that explicit. Remind students the Front Page Brief needs all three parts, not just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Printing press with newspaper rolling off, colonial-era setting, warm lamplight, The Republic Gazette masthead visible on paper -- celebratory moodCelebrate the work. Read the teaser with energy -- the Herald is at it again. Ask: Based on what you learned today, what do you predict we will say about the claim that a strong opinion is enough? Build anticipation for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566928"/>
          </a:xfrm>
          <a:prstGeom prst="roundRect">
            <a:avLst>
              <a:gd name="adj" fmla="val 12903"/>
            </a:avLst>
          </a:prstGeom>
          <a:solidFill>
            <a:srgbClr val="D4943A"/>
          </a:solidFill>
          <a:ln w="12700">
            <a:solidFill>
              <a:srgbClr val="B07A2A"/>
            </a:solidFill>
            <a:prstDash val="solid"/>
          </a:ln>
        </p:spPr>
      </p:sp>
      <p:sp>
        <p:nvSpPr>
          <p:cNvPr id="6" name="Text 3"/>
          <p:cNvSpPr/>
          <p:nvPr/>
        </p:nvSpPr>
        <p:spPr>
          <a:xfrm>
            <a:off x="457200" y="274320"/>
            <a:ext cx="8229600" cy="566928"/>
          </a:xfrm>
          <a:prstGeom prst="rect">
            <a:avLst/>
          </a:prstGeom>
          <a:noFill/>
          <a:ln/>
        </p:spPr>
        <p:txBody>
          <a:bodyPr wrap="square" rtlCol="0" anchor="ctr"/>
          <a:lstStyle/>
          <a:p>
            <a:pPr algn="ctr" indent="0" marL="0">
              <a:buNone/>
            </a:pPr>
            <a:r>
              <a:rPr lang="en-US" sz="1300" b="1" spc="200" kern="0" dirty="0">
                <a:solidFill>
                  <a:srgbClr val="0E1C42"/>
                </a:solidFill>
                <a:latin typeface="Cambria" pitchFamily="34" charset="0"/>
                <a:ea typeface="Cambria" pitchFamily="34" charset="-122"/>
                <a:cs typeface="Cambria" pitchFamily="34" charset="-120"/>
              </a:rPr>
              <a:t>THE REPUBLIC GAZETTE  |  Vol. 1  -  Issue 3</a:t>
            </a:r>
            <a:endParaRPr lang="en-US" sz="1300" dirty="0"/>
          </a:p>
        </p:txBody>
      </p:sp>
      <p:sp>
        <p:nvSpPr>
          <p:cNvPr id="7" name="Text 4"/>
          <p:cNvSpPr/>
          <p:nvPr/>
        </p:nvSpPr>
        <p:spPr>
          <a:xfrm>
            <a:off x="548640" y="1005840"/>
            <a:ext cx="8046720" cy="658368"/>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Geographic Tools for Historical Questions</a:t>
            </a:r>
            <a:endParaRPr lang="en-US" sz="2800" dirty="0"/>
          </a:p>
        </p:txBody>
      </p:sp>
      <p:sp>
        <p:nvSpPr>
          <p:cNvPr id="8" name="Text 5"/>
          <p:cNvSpPr/>
          <p:nvPr/>
        </p:nvSpPr>
        <p:spPr>
          <a:xfrm>
            <a:off x="548640" y="1691640"/>
            <a:ext cx="8046720" cy="292608"/>
          </a:xfrm>
          <a:prstGeom prst="rect">
            <a:avLst/>
          </a:prstGeom>
          <a:noFill/>
          <a:ln/>
        </p:spPr>
        <p:txBody>
          <a:bodyPr wrap="square" rtlCol="0" anchor="ctr"/>
          <a:lstStyle/>
          <a:p>
            <a:pPr algn="ctr" indent="0" marL="0">
              <a:buNone/>
            </a:pPr>
            <a:r>
              <a:rPr lang="en-US" sz="1300" spc="100" kern="0" dirty="0">
                <a:solidFill>
                  <a:srgbClr val="55C8E8"/>
                </a:solidFill>
                <a:latin typeface="Calibri" pitchFamily="34" charset="0"/>
                <a:ea typeface="Calibri" pitchFamily="34" charset="-122"/>
                <a:cs typeface="Calibri" pitchFamily="34" charset="-120"/>
              </a:rPr>
              <a:t>Lesson 5.01.03  |  Week 2, Q1  |  Unit 1: Tools of the American Historian</a:t>
            </a:r>
            <a:endParaRPr lang="en-US" sz="1300" dirty="0"/>
          </a:p>
        </p:txBody>
      </p:sp>
      <p:sp>
        <p:nvSpPr>
          <p:cNvPr id="9" name="Shape 6"/>
          <p:cNvSpPr/>
          <p:nvPr/>
        </p:nvSpPr>
        <p:spPr>
          <a:xfrm>
            <a:off x="914400" y="2148840"/>
            <a:ext cx="7315200" cy="658368"/>
          </a:xfrm>
          <a:prstGeom prst="roundRect">
            <a:avLst>
              <a:gd name="adj" fmla="val 13889"/>
            </a:avLst>
          </a:prstGeom>
          <a:solidFill>
            <a:srgbClr val="1A2D5A"/>
          </a:solidFill>
          <a:ln w="25400">
            <a:solidFill>
              <a:srgbClr val="E8636B"/>
            </a:solidFill>
            <a:prstDash val="solid"/>
          </a:ln>
        </p:spPr>
      </p:sp>
      <p:sp>
        <p:nvSpPr>
          <p:cNvPr id="10" name="Text 7"/>
          <p:cNvSpPr/>
          <p:nvPr/>
        </p:nvSpPr>
        <p:spPr>
          <a:xfrm>
            <a:off x="1051560" y="2176272"/>
            <a:ext cx="7040880" cy="201168"/>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THE HASTY HERALD CLAIMS:</a:t>
            </a:r>
            <a:endParaRPr lang="en-US" sz="900" dirty="0"/>
          </a:p>
        </p:txBody>
      </p:sp>
      <p:sp>
        <p:nvSpPr>
          <p:cNvPr id="11" name="Text 8"/>
          <p:cNvSpPr/>
          <p:nvPr/>
        </p:nvSpPr>
        <p:spPr>
          <a:xfrm>
            <a:off x="1051560" y="2377440"/>
            <a:ext cx="7040880" cy="384048"/>
          </a:xfrm>
          <a:prstGeom prst="rect">
            <a:avLst/>
          </a:prstGeom>
          <a:noFill/>
          <a:ln/>
        </p:spPr>
        <p:txBody>
          <a:bodyPr wrap="square" rtlCol="0" anchor="ctr"/>
          <a:lstStyle/>
          <a:p>
            <a:pPr indent="0" marL="0">
              <a:buNone/>
            </a:pPr>
            <a:r>
              <a:rPr lang="en-US" sz="1150" i="1" dirty="0">
                <a:solidFill>
                  <a:srgbClr val="FFF3DC"/>
                </a:solidFill>
                <a:latin typeface="Cambria" pitchFamily="34" charset="0"/>
                <a:ea typeface="Cambria" pitchFamily="34" charset="-122"/>
                <a:cs typeface="Cambria" pitchFamily="34" charset="-120"/>
              </a:rPr>
              <a:t>Maps Are Just for Finding Places! Geography is only about where things are, not why events happened.</a:t>
            </a:r>
            <a:endParaRPr lang="en-US" sz="1150" dirty="0"/>
          </a:p>
        </p:txBody>
      </p:sp>
      <p:sp>
        <p:nvSpPr>
          <p:cNvPr id="12" name="Shape 9"/>
          <p:cNvSpPr/>
          <p:nvPr/>
        </p:nvSpPr>
        <p:spPr>
          <a:xfrm>
            <a:off x="1097280" y="2944368"/>
            <a:ext cx="6949440" cy="621792"/>
          </a:xfrm>
          <a:prstGeom prst="roundRect">
            <a:avLst>
              <a:gd name="adj" fmla="val 14706"/>
            </a:avLst>
          </a:prstGeom>
          <a:solidFill>
            <a:srgbClr val="0B1835"/>
          </a:solidFill>
          <a:ln w="19050">
            <a:solidFill>
              <a:srgbClr val="55C8E8"/>
            </a:solidFill>
            <a:prstDash val="solid"/>
          </a:ln>
        </p:spPr>
      </p:sp>
      <p:sp>
        <p:nvSpPr>
          <p:cNvPr id="13" name="Text 10"/>
          <p:cNvSpPr/>
          <p:nvPr/>
        </p:nvSpPr>
        <p:spPr>
          <a:xfrm>
            <a:off x="1234440" y="2971800"/>
            <a:ext cx="6675120" cy="201168"/>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GUIDING QUESTION</a:t>
            </a:r>
            <a:endParaRPr lang="en-US" sz="900" dirty="0"/>
          </a:p>
        </p:txBody>
      </p:sp>
      <p:sp>
        <p:nvSpPr>
          <p:cNvPr id="14" name="Text 11"/>
          <p:cNvSpPr/>
          <p:nvPr/>
        </p:nvSpPr>
        <p:spPr>
          <a:xfrm>
            <a:off x="1234440" y="3172968"/>
            <a:ext cx="6675120" cy="347472"/>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Can a map, a compass, or a globe tell a historian something about WHY -- not just WHERE?</a:t>
            </a:r>
            <a:endParaRPr lang="en-US" sz="1300" dirty="0"/>
          </a:p>
        </p:txBody>
      </p:sp>
      <p:sp>
        <p:nvSpPr>
          <p:cNvPr id="15" name="Text 12"/>
          <p:cNvSpPr/>
          <p:nvPr/>
        </p:nvSpPr>
        <p:spPr>
          <a:xfrm>
            <a:off x="457200" y="4663440"/>
            <a:ext cx="8229600" cy="228600"/>
          </a:xfrm>
          <a:prstGeom prst="rect">
            <a:avLst/>
          </a:prstGeom>
          <a:noFill/>
          <a:ln/>
        </p:spPr>
        <p:txBody>
          <a:bodyPr wrap="square"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Standards: SS.5.A.1.1  |  SS.5.A.1.2  |  SS.5.G.1.1  |  Virtue: Service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658368"/>
          </a:xfrm>
          <a:prstGeom prst="rect">
            <a:avLst/>
          </a:prstGeom>
          <a:solidFill>
            <a:srgbClr val="E8636B"/>
          </a:solidFill>
          <a:ln/>
        </p:spPr>
      </p:sp>
      <p:sp>
        <p:nvSpPr>
          <p:cNvPr id="4" name="Text 2"/>
          <p:cNvSpPr/>
          <p:nvPr/>
        </p:nvSpPr>
        <p:spPr>
          <a:xfrm>
            <a:off x="274320" y="0"/>
            <a:ext cx="8595360" cy="658368"/>
          </a:xfrm>
          <a:prstGeom prst="rect">
            <a:avLst/>
          </a:prstGeom>
          <a:noFill/>
          <a:ln/>
        </p:spPr>
        <p:txBody>
          <a:bodyPr wrap="square" rtlCol="0" anchor="ctr"/>
          <a:lstStyle/>
          <a:p>
            <a:pPr algn="ctr" indent="0" marL="0">
              <a:buNone/>
            </a:pPr>
            <a:r>
              <a:rPr lang="en-US" sz="1400" b="1" spc="200" kern="0" dirty="0">
                <a:solidFill>
                  <a:srgbClr val="FFFFFF"/>
                </a:solidFill>
                <a:latin typeface="Cambria" pitchFamily="34" charset="0"/>
                <a:ea typeface="Cambria" pitchFamily="34" charset="-122"/>
                <a:cs typeface="Cambria" pitchFamily="34" charset="-120"/>
              </a:rPr>
              <a:t>THE HASTY HERALD -- BREAKING NEWS</a:t>
            </a:r>
            <a:endParaRPr lang="en-US" sz="1400" dirty="0"/>
          </a:p>
        </p:txBody>
      </p:sp>
      <p:sp>
        <p:nvSpPr>
          <p:cNvPr id="5" name="Shape 3"/>
          <p:cNvSpPr/>
          <p:nvPr/>
        </p:nvSpPr>
        <p:spPr>
          <a:xfrm>
            <a:off x="457200" y="822960"/>
            <a:ext cx="8229600" cy="1234440"/>
          </a:xfrm>
          <a:prstGeom prst="roundRect">
            <a:avLst>
              <a:gd name="adj" fmla="val 8889"/>
            </a:avLst>
          </a:prstGeom>
          <a:solidFill>
            <a:srgbClr val="FFFFFF"/>
          </a:solidFill>
          <a:ln w="31750">
            <a:solidFill>
              <a:srgbClr val="E8636B"/>
            </a:solidFill>
            <a:prstDash val="solid"/>
          </a:ln>
        </p:spPr>
      </p:sp>
      <p:sp>
        <p:nvSpPr>
          <p:cNvPr id="6" name="Text 4"/>
          <p:cNvSpPr/>
          <p:nvPr/>
        </p:nvSpPr>
        <p:spPr>
          <a:xfrm>
            <a:off x="594360" y="868680"/>
            <a:ext cx="7955280" cy="292608"/>
          </a:xfrm>
          <a:prstGeom prst="rect">
            <a:avLst/>
          </a:prstGeom>
          <a:noFill/>
          <a:ln/>
        </p:spPr>
        <p:txBody>
          <a:bodyPr wrap="square" rtlCol="0" anchor="ctr"/>
          <a:lstStyle/>
          <a:p>
            <a:pPr algn="ctr" indent="0" marL="0">
              <a:buNone/>
            </a:pPr>
            <a:r>
              <a:rPr lang="en-US" sz="1500" b="1" dirty="0">
                <a:solidFill>
                  <a:srgbClr val="E8636B"/>
                </a:solidFill>
                <a:latin typeface="Cambria" pitchFamily="34" charset="0"/>
                <a:ea typeface="Cambria" pitchFamily="34" charset="-122"/>
                <a:cs typeface="Cambria" pitchFamily="34" charset="-120"/>
              </a:rPr>
              <a:t>MAPS ARE JUST FOR FINDING PLACES!</a:t>
            </a:r>
            <a:endParaRPr lang="en-US" sz="1500" dirty="0"/>
          </a:p>
        </p:txBody>
      </p:sp>
      <p:sp>
        <p:nvSpPr>
          <p:cNvPr id="7" name="Text 5"/>
          <p:cNvSpPr/>
          <p:nvPr/>
        </p:nvSpPr>
        <p:spPr>
          <a:xfrm>
            <a:off x="594360" y="1170432"/>
            <a:ext cx="7955280" cy="822960"/>
          </a:xfrm>
          <a:prstGeom prst="rect">
            <a:avLst/>
          </a:prstGeom>
          <a:noFill/>
          <a:ln/>
        </p:spPr>
        <p:txBody>
          <a:bodyPr wrap="square" rtlCol="0" anchor="ctr"/>
          <a:lstStyle/>
          <a:p>
            <a:pPr algn="ctr" indent="0" marL="0">
              <a:buNone/>
            </a:pPr>
            <a:r>
              <a:rPr lang="en-US" sz="1300" i="1" dirty="0">
                <a:solidFill>
                  <a:srgbClr val="0E1C42"/>
                </a:solidFill>
                <a:latin typeface="Cambria" pitchFamily="34" charset="0"/>
                <a:ea typeface="Cambria" pitchFamily="34" charset="-122"/>
                <a:cs typeface="Cambria" pitchFamily="34" charset="-120"/>
              </a:rPr>
              <a:t>Geography is only about where places are, not why events happened. A map just shows you location -- it cannot explain history.</a:t>
            </a:r>
            <a:endParaRPr lang="en-US" sz="1300" dirty="0"/>
          </a:p>
        </p:txBody>
      </p:sp>
      <p:sp>
        <p:nvSpPr>
          <p:cNvPr id="8" name="Text 6"/>
          <p:cNvSpPr/>
          <p:nvPr/>
        </p:nvSpPr>
        <p:spPr>
          <a:xfrm>
            <a:off x="457200" y="2212848"/>
            <a:ext cx="8229600" cy="347472"/>
          </a:xfrm>
          <a:prstGeom prst="rect">
            <a:avLst/>
          </a:prstGeom>
          <a:noFill/>
          <a:ln/>
        </p:spPr>
        <p:txBody>
          <a:bodyPr wrap="square" rtlCol="0" anchor="ctr"/>
          <a:lstStyle/>
          <a:p>
            <a:pPr algn="ctr" indent="0" marL="0">
              <a:buNone/>
            </a:pPr>
            <a:r>
              <a:rPr lang="en-US" sz="1200" i="1" dirty="0">
                <a:solidFill>
                  <a:srgbClr val="1A8A7D"/>
                </a:solidFill>
                <a:latin typeface="Calibri" pitchFamily="34" charset="0"/>
                <a:ea typeface="Calibri" pitchFamily="34" charset="-122"/>
                <a:cs typeface="Calibri" pitchFamily="34" charset="-120"/>
              </a:rPr>
              <a:t>Before we investigate -- what do you think? Is the Herald totally wrong? Partly right? Hold that thought.</a:t>
            </a:r>
            <a:endParaRPr lang="en-US" sz="1200" dirty="0"/>
          </a:p>
        </p:txBody>
      </p:sp>
      <p:sp>
        <p:nvSpPr>
          <p:cNvPr id="9" name="Shape 7"/>
          <p:cNvSpPr/>
          <p:nvPr/>
        </p:nvSpPr>
        <p:spPr>
          <a:xfrm>
            <a:off x="457200" y="2697480"/>
            <a:ext cx="8229600" cy="1463040"/>
          </a:xfrm>
          <a:prstGeom prst="roundRect">
            <a:avLst>
              <a:gd name="adj" fmla="val 7500"/>
            </a:avLst>
          </a:prstGeom>
          <a:solidFill>
            <a:srgbClr val="FFF3DC"/>
          </a:solidFill>
          <a:ln w="19050">
            <a:solidFill>
              <a:srgbClr val="F5E6C8"/>
            </a:solidFill>
            <a:prstDash val="solid"/>
          </a:ln>
        </p:spPr>
      </p:sp>
      <p:sp>
        <p:nvSpPr>
          <p:cNvPr id="10" name="Text 8"/>
          <p:cNvSpPr/>
          <p:nvPr/>
        </p:nvSpPr>
        <p:spPr>
          <a:xfrm>
            <a:off x="594360" y="275234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94360" y="2953512"/>
            <a:ext cx="795528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 is ___ right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"...but also wrong because..."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66928"/>
          </a:xfrm>
          <a:prstGeom prst="rect">
            <a:avLst/>
          </a:prstGeom>
          <a:solidFill>
            <a:srgbClr val="0E1C42"/>
          </a:solidFill>
          <a:ln/>
        </p:spPr>
      </p:sp>
      <p:sp>
        <p:nvSpPr>
          <p:cNvPr id="4" name="Text 2"/>
          <p:cNvSpPr/>
          <p:nvPr/>
        </p:nvSpPr>
        <p:spPr>
          <a:xfrm>
            <a:off x="274320" y="0"/>
            <a:ext cx="8595360" cy="566928"/>
          </a:xfrm>
          <a:prstGeom prst="rect">
            <a:avLst/>
          </a:prstGeom>
          <a:noFill/>
          <a:ln/>
        </p:spPr>
        <p:txBody>
          <a:bodyPr wrap="square"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THE REPUBLIC GAZETTE -- DISPATCH FROM EDITOR-IN-CHIEF</a:t>
            </a:r>
            <a:endParaRPr lang="en-US" sz="1100" dirty="0"/>
          </a:p>
        </p:txBody>
      </p:sp>
      <p:sp>
        <p:nvSpPr>
          <p:cNvPr id="5" name="Shape 3"/>
          <p:cNvSpPr/>
          <p:nvPr/>
        </p:nvSpPr>
        <p:spPr>
          <a:xfrm>
            <a:off x="365760" y="731520"/>
            <a:ext cx="8412480" cy="2286000"/>
          </a:xfrm>
          <a:prstGeom prst="roundRect">
            <a:avLst>
              <a:gd name="adj" fmla="val 4800"/>
            </a:avLst>
          </a:prstGeom>
          <a:solidFill>
            <a:srgbClr val="FFFFFF"/>
          </a:solidFill>
          <a:ln w="19050">
            <a:solidFill>
              <a:srgbClr val="D4943A"/>
            </a:solidFill>
            <a:prstDash val="solid"/>
          </a:ln>
        </p:spPr>
      </p:sp>
      <p:sp>
        <p:nvSpPr>
          <p:cNvPr id="6" name="Text 4"/>
          <p:cNvSpPr/>
          <p:nvPr/>
        </p:nvSpPr>
        <p:spPr>
          <a:xfrm>
            <a:off x="502920" y="786384"/>
            <a:ext cx="822960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MEMO</a:t>
            </a:r>
            <a:endParaRPr lang="en-US" sz="900" dirty="0"/>
          </a:p>
        </p:txBody>
      </p:sp>
      <p:sp>
        <p:nvSpPr>
          <p:cNvPr id="7" name="Text 5"/>
          <p:cNvSpPr/>
          <p:nvPr/>
        </p:nvSpPr>
        <p:spPr>
          <a:xfrm>
            <a:off x="548640" y="1024128"/>
            <a:ext cx="8046720" cy="256032"/>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Junior Editors,</a:t>
            </a:r>
            <a:endParaRPr lang="en-US" sz="1200" dirty="0"/>
          </a:p>
        </p:txBody>
      </p:sp>
      <p:sp>
        <p:nvSpPr>
          <p:cNvPr id="8" name="Text 6"/>
          <p:cNvSpPr/>
          <p:nvPr/>
        </p:nvSpPr>
        <p:spPr>
          <a:xfrm>
            <a:off x="548640" y="1298448"/>
            <a:ext cx="7863840" cy="150876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The Hasty Herald just went to press claiming that maps only tell us WHERE things are -- not WHY they happened. Before we print our response, we need evidence. Today you are assigned to the Front Page Desk. Your job: investigate geographic tools -- maps, globes, and compass roses -- and find out whether they can do more than just point to a location.</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Gather your evidence. Reach the truth. Serve our readers.</a:t>
            </a:r>
            <a:endParaRPr lang="en-US" sz="1200" dirty="0"/>
          </a:p>
        </p:txBody>
      </p:sp>
      <p:sp>
        <p:nvSpPr>
          <p:cNvPr id="9" name="Text 7"/>
          <p:cNvSpPr/>
          <p:nvPr/>
        </p:nvSpPr>
        <p:spPr>
          <a:xfrm>
            <a:off x="548640" y="2807208"/>
            <a:ext cx="7863840" cy="164592"/>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 Ms. Avery, Editor-in-Chief, The Republic Gazette</a:t>
            </a:r>
            <a:endParaRPr lang="en-US" sz="1000" dirty="0"/>
          </a:p>
        </p:txBody>
      </p:sp>
      <p:sp>
        <p:nvSpPr>
          <p:cNvPr id="10" name="Shape 8"/>
          <p:cNvSpPr/>
          <p:nvPr/>
        </p:nvSpPr>
        <p:spPr>
          <a:xfrm>
            <a:off x="365760" y="3127248"/>
            <a:ext cx="3840480" cy="640080"/>
          </a:xfrm>
          <a:prstGeom prst="roundRect">
            <a:avLst>
              <a:gd name="adj" fmla="val 14286"/>
            </a:avLst>
          </a:prstGeom>
          <a:solidFill>
            <a:srgbClr val="1A2D5A"/>
          </a:solidFill>
          <a:ln w="19050">
            <a:solidFill>
              <a:srgbClr val="55C8E8"/>
            </a:solidFill>
            <a:prstDash val="solid"/>
          </a:ln>
        </p:spPr>
      </p:sp>
      <p:sp>
        <p:nvSpPr>
          <p:cNvPr id="11" name="Text 9"/>
          <p:cNvSpPr/>
          <p:nvPr/>
        </p:nvSpPr>
        <p:spPr>
          <a:xfrm>
            <a:off x="502920" y="3163824"/>
            <a:ext cx="3566160" cy="18288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YOUR ROLE</a:t>
            </a:r>
            <a:endParaRPr lang="en-US" sz="900" dirty="0"/>
          </a:p>
        </p:txBody>
      </p:sp>
      <p:sp>
        <p:nvSpPr>
          <p:cNvPr id="12" name="Text 10"/>
          <p:cNvSpPr/>
          <p:nvPr/>
        </p:nvSpPr>
        <p:spPr>
          <a:xfrm>
            <a:off x="502920" y="3346704"/>
            <a:ext cx="3566160" cy="347472"/>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Junior Editor  |  Front Page Desk</a:t>
            </a:r>
            <a:endParaRPr lang="en-US" sz="1300" dirty="0"/>
          </a:p>
        </p:txBody>
      </p:sp>
      <p:sp>
        <p:nvSpPr>
          <p:cNvPr id="13" name="Shape 11"/>
          <p:cNvSpPr/>
          <p:nvPr/>
        </p:nvSpPr>
        <p:spPr>
          <a:xfrm>
            <a:off x="4572000" y="3127248"/>
            <a:ext cx="4206240" cy="640080"/>
          </a:xfrm>
          <a:prstGeom prst="roundRect">
            <a:avLst>
              <a:gd name="adj" fmla="val 14286"/>
            </a:avLst>
          </a:prstGeom>
          <a:solidFill>
            <a:srgbClr val="1A8A7D"/>
          </a:solidFill>
          <a:ln w="19050">
            <a:solidFill>
              <a:srgbClr val="55C8E8"/>
            </a:solidFill>
            <a:prstDash val="solid"/>
          </a:ln>
        </p:spPr>
      </p:sp>
      <p:sp>
        <p:nvSpPr>
          <p:cNvPr id="14" name="Text 12"/>
          <p:cNvSpPr/>
          <p:nvPr/>
        </p:nvSpPr>
        <p:spPr>
          <a:xfrm>
            <a:off x="4709160" y="3163824"/>
            <a:ext cx="3931920" cy="182880"/>
          </a:xfrm>
          <a:prstGeom prst="rect">
            <a:avLst/>
          </a:prstGeom>
          <a:noFill/>
          <a:ln/>
        </p:spPr>
        <p:txBody>
          <a:bodyPr wrap="square" rtlCol="0" anchor="ctr"/>
          <a:lstStyle/>
          <a:p>
            <a:pPr indent="0" marL="0">
              <a:buNone/>
            </a:pPr>
            <a:r>
              <a:rPr lang="en-US" sz="900" b="1" spc="150" kern="0" dirty="0">
                <a:solidFill>
                  <a:srgbClr val="FFFFFF"/>
                </a:solidFill>
                <a:latin typeface="Calibri" pitchFamily="34" charset="0"/>
                <a:ea typeface="Calibri" pitchFamily="34" charset="-122"/>
                <a:cs typeface="Calibri" pitchFamily="34" charset="-120"/>
              </a:rPr>
              <a:t>TODAY'S MISSION</a:t>
            </a:r>
            <a:endParaRPr lang="en-US" sz="900" dirty="0"/>
          </a:p>
        </p:txBody>
      </p:sp>
      <p:sp>
        <p:nvSpPr>
          <p:cNvPr id="15" name="Text 13"/>
          <p:cNvSpPr/>
          <p:nvPr/>
        </p:nvSpPr>
        <p:spPr>
          <a:xfrm>
            <a:off x="4709160" y="3346704"/>
            <a:ext cx="393192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Prove or challenge the Herald's claim with geographic evidence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0E1C42"/>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200" b="1" spc="150" kern="0" dirty="0">
                <a:solidFill>
                  <a:srgbClr val="D4943A"/>
                </a:solidFill>
                <a:latin typeface="Calibri" pitchFamily="34" charset="0"/>
                <a:ea typeface="Calibri" pitchFamily="34" charset="-122"/>
                <a:cs typeface="Calibri" pitchFamily="34" charset="-120"/>
              </a:rPr>
              <a:t>CLUE BOX -- Colonial Map of the 13 Colonies</a:t>
            </a:r>
            <a:endParaRPr lang="en-US" sz="1200" dirty="0"/>
          </a:p>
        </p:txBody>
      </p:sp>
      <p:sp>
        <p:nvSpPr>
          <p:cNvPr id="5" name="Shape 3"/>
          <p:cNvSpPr/>
          <p:nvPr/>
        </p:nvSpPr>
        <p:spPr>
          <a:xfrm>
            <a:off x="320040" y="594360"/>
            <a:ext cx="5029200" cy="3566160"/>
          </a:xfrm>
          <a:prstGeom prst="roundRect">
            <a:avLst>
              <a:gd name="adj" fmla="val 3077"/>
            </a:avLst>
          </a:prstGeom>
          <a:solidFill>
            <a:srgbClr val="E2E8F4"/>
          </a:solidFill>
          <a:ln w="19050">
            <a:solidFill>
              <a:srgbClr val="B0B8CC"/>
            </a:solidFill>
            <a:prstDash val="dash"/>
          </a:ln>
        </p:spPr>
      </p:sp>
      <p:sp>
        <p:nvSpPr>
          <p:cNvPr id="6" name="Text 4"/>
          <p:cNvSpPr/>
          <p:nvPr/>
        </p:nvSpPr>
        <p:spPr>
          <a:xfrm>
            <a:off x="320040" y="594360"/>
            <a:ext cx="5029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868680"/>
            <a:ext cx="4754880" cy="3200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Colonial-era map of the 13 colonies showing rivers, harbors, coastal trade routes, and terrain features. Parchment-style. Compass rose visible.</a:t>
            </a:r>
            <a:endParaRPr lang="en-US" sz="1100" dirty="0"/>
          </a:p>
        </p:txBody>
      </p:sp>
      <p:sp>
        <p:nvSpPr>
          <p:cNvPr id="8" name="Shape 6"/>
          <p:cNvSpPr/>
          <p:nvPr/>
        </p:nvSpPr>
        <p:spPr>
          <a:xfrm>
            <a:off x="5532120" y="594360"/>
            <a:ext cx="3246120" cy="1371600"/>
          </a:xfrm>
          <a:prstGeom prst="roundRect">
            <a:avLst>
              <a:gd name="adj" fmla="val 6667"/>
            </a:avLst>
          </a:prstGeom>
          <a:solidFill>
            <a:srgbClr val="FFFFFF"/>
          </a:solidFill>
          <a:ln w="12700">
            <a:solidFill>
              <a:srgbClr val="B0B8CC"/>
            </a:solidFill>
            <a:prstDash val="solid"/>
          </a:ln>
        </p:spPr>
      </p:sp>
      <p:sp>
        <p:nvSpPr>
          <p:cNvPr id="9" name="Text 7"/>
          <p:cNvSpPr/>
          <p:nvPr/>
        </p:nvSpPr>
        <p:spPr>
          <a:xfrm>
            <a:off x="5669280" y="640080"/>
            <a:ext cx="2971800" cy="201168"/>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LOOK CAREFULLY</a:t>
            </a:r>
            <a:endParaRPr lang="en-US" sz="900" dirty="0"/>
          </a:p>
        </p:txBody>
      </p:sp>
      <p:sp>
        <p:nvSpPr>
          <p:cNvPr id="10" name="Text 8"/>
          <p:cNvSpPr/>
          <p:nvPr/>
        </p:nvSpPr>
        <p:spPr>
          <a:xfrm>
            <a:off x="5669280" y="859536"/>
            <a:ext cx="2971800" cy="1005840"/>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What do you see BEYOND just where places are?</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Look for: rivers, harbors, trade routes, the compass rose, terrain.</a:t>
            </a:r>
            <a:endParaRPr lang="en-US" sz="1100" dirty="0"/>
          </a:p>
        </p:txBody>
      </p:sp>
      <p:sp>
        <p:nvSpPr>
          <p:cNvPr id="11" name="Shape 9"/>
          <p:cNvSpPr/>
          <p:nvPr/>
        </p:nvSpPr>
        <p:spPr>
          <a:xfrm>
            <a:off x="5532120" y="2084832"/>
            <a:ext cx="3246120" cy="438912"/>
          </a:xfrm>
          <a:prstGeom prst="roundRect">
            <a:avLst>
              <a:gd name="adj" fmla="val 16667"/>
            </a:avLst>
          </a:prstGeom>
          <a:solidFill>
            <a:srgbClr val="FFF3DC"/>
          </a:solidFill>
          <a:ln w="12700">
            <a:solidFill>
              <a:srgbClr val="D4943A"/>
            </a:solidFill>
            <a:prstDash val="solid"/>
          </a:ln>
        </p:spPr>
      </p:sp>
      <p:sp>
        <p:nvSpPr>
          <p:cNvPr id="12" name="Text 10"/>
          <p:cNvSpPr/>
          <p:nvPr/>
        </p:nvSpPr>
        <p:spPr>
          <a:xfrm>
            <a:off x="5669280" y="2084832"/>
            <a:ext cx="2971800" cy="438912"/>
          </a:xfrm>
          <a:prstGeom prst="rect">
            <a:avLst/>
          </a:prstGeom>
          <a:noFill/>
          <a:ln/>
        </p:spPr>
        <p:txBody>
          <a:bodyPr wrap="square" rtlCol="0" anchor="ctr"/>
          <a:lstStyle/>
          <a:p>
            <a:pPr indent="0" marL="0">
              <a:buNone/>
            </a:pPr>
            <a:r>
              <a:rPr lang="en-US" sz="1000" i="1" dirty="0">
                <a:solidFill>
                  <a:srgbClr val="5A4A3A"/>
                </a:solidFill>
                <a:latin typeface="Calibri" pitchFamily="34" charset="0"/>
                <a:ea typeface="Calibri" pitchFamily="34" charset="-122"/>
                <a:cs typeface="Calibri" pitchFamily="34" charset="-120"/>
              </a:rPr>
              <a:t>5 seconds of silence -- observe before you type.</a:t>
            </a:r>
            <a:endParaRPr lang="en-US" sz="1000" dirty="0"/>
          </a:p>
        </p:txBody>
      </p:sp>
      <p:sp>
        <p:nvSpPr>
          <p:cNvPr id="13" name="Shape 11"/>
          <p:cNvSpPr/>
          <p:nvPr/>
        </p:nvSpPr>
        <p:spPr>
          <a:xfrm>
            <a:off x="5532120" y="2651760"/>
            <a:ext cx="3246120" cy="1389888"/>
          </a:xfrm>
          <a:prstGeom prst="roundRect">
            <a:avLst>
              <a:gd name="adj" fmla="val 7895"/>
            </a:avLst>
          </a:prstGeom>
          <a:solidFill>
            <a:srgbClr val="FFF3DC"/>
          </a:solidFill>
          <a:ln w="19050">
            <a:solidFill>
              <a:srgbClr val="F5E6C8"/>
            </a:solidFill>
            <a:prstDash val="solid"/>
          </a:ln>
        </p:spPr>
      </p:sp>
      <p:sp>
        <p:nvSpPr>
          <p:cNvPr id="14" name="Text 12"/>
          <p:cNvSpPr/>
          <p:nvPr/>
        </p:nvSpPr>
        <p:spPr>
          <a:xfrm>
            <a:off x="5669280" y="270662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5669280" y="2907792"/>
            <a:ext cx="2971800" cy="106984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colonies are located near... because..."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0E1C42"/>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200" b="1" spc="150" kern="0" dirty="0">
                <a:solidFill>
                  <a:srgbClr val="D4943A"/>
                </a:solidFill>
                <a:latin typeface="Calibri" pitchFamily="34" charset="0"/>
                <a:ea typeface="Calibri" pitchFamily="34" charset="-122"/>
                <a:cs typeface="Calibri" pitchFamily="34" charset="-120"/>
              </a:rPr>
              <a:t>DISCUSSION -- WHERE vs. WHY</a:t>
            </a:r>
            <a:endParaRPr lang="en-US" sz="1200" dirty="0"/>
          </a:p>
        </p:txBody>
      </p:sp>
      <p:sp>
        <p:nvSpPr>
          <p:cNvPr id="5" name="Shape 3"/>
          <p:cNvSpPr/>
          <p:nvPr/>
        </p:nvSpPr>
        <p:spPr>
          <a:xfrm>
            <a:off x="320040" y="594360"/>
            <a:ext cx="3931920" cy="438912"/>
          </a:xfrm>
          <a:prstGeom prst="roundRect">
            <a:avLst>
              <a:gd name="adj" fmla="val 16667"/>
            </a:avLst>
          </a:prstGeom>
          <a:solidFill>
            <a:srgbClr val="1A8A7D"/>
          </a:solidFill>
          <a:ln/>
        </p:spPr>
      </p:sp>
      <p:sp>
        <p:nvSpPr>
          <p:cNvPr id="6" name="Text 4"/>
          <p:cNvSpPr/>
          <p:nvPr/>
        </p:nvSpPr>
        <p:spPr>
          <a:xfrm>
            <a:off x="320040" y="594360"/>
            <a:ext cx="3931920" cy="438912"/>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WHERE</a:t>
            </a:r>
            <a:endParaRPr lang="en-US" sz="1600" dirty="0"/>
          </a:p>
        </p:txBody>
      </p:sp>
      <p:sp>
        <p:nvSpPr>
          <p:cNvPr id="7" name="Shape 5"/>
          <p:cNvSpPr/>
          <p:nvPr/>
        </p:nvSpPr>
        <p:spPr>
          <a:xfrm>
            <a:off x="4572000" y="594360"/>
            <a:ext cx="4206240" cy="438912"/>
          </a:xfrm>
          <a:prstGeom prst="roundRect">
            <a:avLst>
              <a:gd name="adj" fmla="val 16667"/>
            </a:avLst>
          </a:prstGeom>
          <a:solidFill>
            <a:srgbClr val="D4943A"/>
          </a:solidFill>
          <a:ln/>
        </p:spPr>
      </p:sp>
      <p:sp>
        <p:nvSpPr>
          <p:cNvPr id="8" name="Text 6"/>
          <p:cNvSpPr/>
          <p:nvPr/>
        </p:nvSpPr>
        <p:spPr>
          <a:xfrm>
            <a:off x="4572000" y="594360"/>
            <a:ext cx="4206240" cy="438912"/>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WHY</a:t>
            </a:r>
            <a:endParaRPr lang="en-US" sz="1600" dirty="0"/>
          </a:p>
        </p:txBody>
      </p:sp>
      <p:sp>
        <p:nvSpPr>
          <p:cNvPr id="9" name="Shape 7"/>
          <p:cNvSpPr/>
          <p:nvPr/>
        </p:nvSpPr>
        <p:spPr>
          <a:xfrm>
            <a:off x="320040" y="1115568"/>
            <a:ext cx="3931920" cy="1207008"/>
          </a:xfrm>
          <a:prstGeom prst="roundRect">
            <a:avLst>
              <a:gd name="adj" fmla="val 6061"/>
            </a:avLst>
          </a:prstGeom>
          <a:solidFill>
            <a:srgbClr val="FFFFFF"/>
          </a:solidFill>
          <a:ln w="12700">
            <a:solidFill>
              <a:srgbClr val="B0B8CC"/>
            </a:solidFill>
            <a:prstDash val="solid"/>
          </a:ln>
        </p:spPr>
      </p:sp>
      <p:sp>
        <p:nvSpPr>
          <p:cNvPr id="10" name="Text 8"/>
          <p:cNvSpPr/>
          <p:nvPr/>
        </p:nvSpPr>
        <p:spPr>
          <a:xfrm>
            <a:off x="457200" y="1188720"/>
            <a:ext cx="3657600" cy="105156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Location on a map</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Borders and regions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Distance between places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Names of cities or colonies</a:t>
            </a:r>
            <a:endParaRPr lang="en-US" sz="1200" dirty="0"/>
          </a:p>
        </p:txBody>
      </p:sp>
      <p:sp>
        <p:nvSpPr>
          <p:cNvPr id="11" name="Shape 9"/>
          <p:cNvSpPr/>
          <p:nvPr/>
        </p:nvSpPr>
        <p:spPr>
          <a:xfrm>
            <a:off x="4572000" y="1115568"/>
            <a:ext cx="4206240" cy="1207008"/>
          </a:xfrm>
          <a:prstGeom prst="roundRect">
            <a:avLst>
              <a:gd name="adj" fmla="val 6061"/>
            </a:avLst>
          </a:prstGeom>
          <a:solidFill>
            <a:srgbClr val="FFFFFF"/>
          </a:solidFill>
          <a:ln w="12700">
            <a:solidFill>
              <a:srgbClr val="B0B8CC"/>
            </a:solidFill>
            <a:prstDash val="solid"/>
          </a:ln>
        </p:spPr>
      </p:sp>
      <p:sp>
        <p:nvSpPr>
          <p:cNvPr id="12" name="Text 10"/>
          <p:cNvSpPr/>
          <p:nvPr/>
        </p:nvSpPr>
        <p:spPr>
          <a:xfrm>
            <a:off x="4709160" y="1188720"/>
            <a:ext cx="3931920" cy="105156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Why people settled near rivers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Why trade routes formed along coasts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Why armies traveled certain paths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Why colonies thrived in some regions</a:t>
            </a:r>
            <a:endParaRPr lang="en-US" sz="1200" dirty="0"/>
          </a:p>
        </p:txBody>
      </p:sp>
      <p:sp>
        <p:nvSpPr>
          <p:cNvPr id="13" name="Shape 11"/>
          <p:cNvSpPr/>
          <p:nvPr/>
        </p:nvSpPr>
        <p:spPr>
          <a:xfrm>
            <a:off x="320040" y="2450592"/>
            <a:ext cx="5303520" cy="1536192"/>
          </a:xfrm>
          <a:prstGeom prst="roundRect">
            <a:avLst>
              <a:gd name="adj" fmla="val 7143"/>
            </a:avLst>
          </a:prstGeom>
          <a:solidFill>
            <a:srgbClr val="1A2D5A"/>
          </a:solidFill>
          <a:ln w="12700">
            <a:solidFill>
              <a:srgbClr val="2A4070"/>
            </a:solidFill>
            <a:prstDash val="solid"/>
          </a:ln>
        </p:spPr>
      </p:sp>
      <p:sp>
        <p:nvSpPr>
          <p:cNvPr id="14" name="Text 12"/>
          <p:cNvSpPr/>
          <p:nvPr/>
        </p:nvSpPr>
        <p:spPr>
          <a:xfrm>
            <a:off x="457200" y="2505456"/>
            <a:ext cx="502920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02920" y="2770632"/>
            <a:ext cx="4937760" cy="1124712"/>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Can a map show BOTH -- where AND why?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on the colonial map gave you a WHY clue -- not just a WHERE?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If geography only told us WHERE, what would historians be missing?</a:t>
            </a:r>
            <a:endParaRPr lang="en-US" sz="1100" dirty="0"/>
          </a:p>
        </p:txBody>
      </p:sp>
      <p:sp>
        <p:nvSpPr>
          <p:cNvPr id="16" name="Shape 14"/>
          <p:cNvSpPr/>
          <p:nvPr/>
        </p:nvSpPr>
        <p:spPr>
          <a:xfrm>
            <a:off x="5760720" y="2450592"/>
            <a:ext cx="3017520" cy="1536192"/>
          </a:xfrm>
          <a:prstGeom prst="roundRect">
            <a:avLst>
              <a:gd name="adj" fmla="val 7143"/>
            </a:avLst>
          </a:prstGeom>
          <a:solidFill>
            <a:srgbClr val="FFF3DC"/>
          </a:solidFill>
          <a:ln w="19050">
            <a:solidFill>
              <a:srgbClr val="F5E6C8"/>
            </a:solidFill>
            <a:prstDash val="solid"/>
          </a:ln>
        </p:spPr>
      </p:sp>
      <p:sp>
        <p:nvSpPr>
          <p:cNvPr id="17" name="Text 15"/>
          <p:cNvSpPr/>
          <p:nvPr/>
        </p:nvSpPr>
        <p:spPr>
          <a:xfrm>
            <a:off x="5897880" y="2505456"/>
            <a:ext cx="2743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5897880" y="2706624"/>
            <a:ext cx="2743200" cy="121615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map shows WHY ___ because..."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28600"/>
            <a:ext cx="8229600" cy="475488"/>
          </a:xfrm>
          <a:prstGeom prst="roundRect">
            <a:avLst>
              <a:gd name="adj" fmla="val 15385"/>
            </a:avLst>
          </a:prstGeom>
          <a:solidFill>
            <a:srgbClr val="D4943A"/>
          </a:solidFill>
          <a:ln w="12700">
            <a:solidFill>
              <a:srgbClr val="B07A2A"/>
            </a:solidFill>
            <a:prstDash val="solid"/>
          </a:ln>
        </p:spPr>
      </p:sp>
      <p:sp>
        <p:nvSpPr>
          <p:cNvPr id="6" name="Text 3"/>
          <p:cNvSpPr/>
          <p:nvPr/>
        </p:nvSpPr>
        <p:spPr>
          <a:xfrm>
            <a:off x="457200" y="228600"/>
            <a:ext cx="8229600" cy="475488"/>
          </a:xfrm>
          <a:prstGeom prst="rect">
            <a:avLst/>
          </a:prstGeom>
          <a:noFill/>
          <a:ln/>
        </p:spPr>
        <p:txBody>
          <a:bodyPr wrap="square" rtlCol="0" anchor="ctr"/>
          <a:lstStyle/>
          <a:p>
            <a:pPr algn="ctr" indent="0" marL="0">
              <a:buNone/>
            </a:pPr>
            <a:r>
              <a:rPr lang="en-US" sz="1100" b="1" spc="150" kern="0" dirty="0">
                <a:solidFill>
                  <a:srgbClr val="0E1C42"/>
                </a:solidFill>
                <a:latin typeface="Calibri" pitchFamily="34" charset="0"/>
                <a:ea typeface="Calibri" pitchFamily="34" charset="-122"/>
                <a:cs typeface="Calibri" pitchFamily="34" charset="-120"/>
              </a:rPr>
              <a:t>YOU DISCOVERED IT -- GEOGRAPHIC TOOLS REVEAL</a:t>
            </a:r>
            <a:endParaRPr lang="en-US" sz="1100" dirty="0"/>
          </a:p>
        </p:txBody>
      </p:sp>
      <p:sp>
        <p:nvSpPr>
          <p:cNvPr id="7" name="Text 4"/>
          <p:cNvSpPr/>
          <p:nvPr/>
        </p:nvSpPr>
        <p:spPr>
          <a:xfrm>
            <a:off x="548640" y="868680"/>
            <a:ext cx="8046720" cy="3657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Geographic tools don't just tell us WHERE.</a:t>
            </a:r>
            <a:endParaRPr lang="en-US" sz="1800" dirty="0"/>
          </a:p>
        </p:txBody>
      </p:sp>
      <p:sp>
        <p:nvSpPr>
          <p:cNvPr id="8" name="Text 5"/>
          <p:cNvSpPr/>
          <p:nvPr/>
        </p:nvSpPr>
        <p:spPr>
          <a:xfrm>
            <a:off x="548640" y="1234440"/>
            <a:ext cx="8046720" cy="365760"/>
          </a:xfrm>
          <a:prstGeom prst="rect">
            <a:avLst/>
          </a:prstGeom>
          <a:noFill/>
          <a:ln/>
        </p:spPr>
        <p:txBody>
          <a:bodyPr wrap="square" rtlCol="0" anchor="ctr"/>
          <a:lstStyle/>
          <a:p>
            <a:pPr algn="ctr" indent="0" marL="0">
              <a:buNone/>
            </a:pPr>
            <a:r>
              <a:rPr lang="en-US" sz="1800" b="1" dirty="0">
                <a:solidFill>
                  <a:srgbClr val="55C8E8"/>
                </a:solidFill>
                <a:latin typeface="Cambria" pitchFamily="34" charset="0"/>
                <a:ea typeface="Cambria" pitchFamily="34" charset="-122"/>
                <a:cs typeface="Cambria" pitchFamily="34" charset="-120"/>
              </a:rPr>
              <a:t>They give historians evidence for WHY.</a:t>
            </a:r>
            <a:endParaRPr lang="en-US" sz="1800" dirty="0"/>
          </a:p>
        </p:txBody>
      </p:sp>
      <p:sp>
        <p:nvSpPr>
          <p:cNvPr id="9" name="Shape 6"/>
          <p:cNvSpPr/>
          <p:nvPr/>
        </p:nvSpPr>
        <p:spPr>
          <a:xfrm>
            <a:off x="365760" y="1828800"/>
            <a:ext cx="2651760" cy="2377440"/>
          </a:xfrm>
          <a:prstGeom prst="roundRect">
            <a:avLst>
              <a:gd name="adj" fmla="val 4615"/>
            </a:avLst>
          </a:prstGeom>
          <a:solidFill>
            <a:srgbClr val="1A2D5A"/>
          </a:solidFill>
          <a:ln w="25400">
            <a:solidFill>
              <a:srgbClr val="1A8A7D"/>
            </a:solidFill>
            <a:prstDash val="solid"/>
          </a:ln>
        </p:spPr>
      </p:sp>
      <p:sp>
        <p:nvSpPr>
          <p:cNvPr id="10" name="Text 7"/>
          <p:cNvSpPr/>
          <p:nvPr/>
        </p:nvSpPr>
        <p:spPr>
          <a:xfrm>
            <a:off x="457200" y="1883664"/>
            <a:ext cx="2468880" cy="292608"/>
          </a:xfrm>
          <a:prstGeom prst="rect">
            <a:avLst/>
          </a:prstGeom>
          <a:noFill/>
          <a:ln/>
        </p:spPr>
        <p:txBody>
          <a:bodyPr wrap="square" rtlCol="0" anchor="ctr"/>
          <a:lstStyle/>
          <a:p>
            <a:pPr algn="ctr" indent="0" marL="0">
              <a:buNone/>
            </a:pPr>
            <a:r>
              <a:rPr lang="en-US" sz="1100" b="1" spc="150" kern="0" dirty="0">
                <a:solidFill>
                  <a:srgbClr val="1A8A7D"/>
                </a:solidFill>
                <a:latin typeface="Calibri" pitchFamily="34" charset="0"/>
                <a:ea typeface="Calibri" pitchFamily="34" charset="-122"/>
                <a:cs typeface="Calibri" pitchFamily="34" charset="-120"/>
              </a:rPr>
              <a:t>MAPS</a:t>
            </a:r>
            <a:endParaRPr lang="en-US" sz="1100" dirty="0"/>
          </a:p>
        </p:txBody>
      </p:sp>
      <p:sp>
        <p:nvSpPr>
          <p:cNvPr id="11" name="Text 8"/>
          <p:cNvSpPr/>
          <p:nvPr/>
        </p:nvSpPr>
        <p:spPr>
          <a:xfrm>
            <a:off x="502920" y="2212848"/>
            <a:ext cx="2377440" cy="1901952"/>
          </a:xfrm>
          <a:prstGeom prst="rect">
            <a:avLst/>
          </a:prstGeom>
          <a:noFill/>
          <a:ln/>
        </p:spPr>
        <p:txBody>
          <a:bodyPr wrap="square" rtlCol="0" anchor="t"/>
          <a:lstStyle/>
          <a:p>
            <a:pPr indent="0" marL="0">
              <a:buNone/>
            </a:pPr>
            <a:r>
              <a:rPr lang="en-US" sz="1100" dirty="0">
                <a:solidFill>
                  <a:srgbClr val="D6F2FB"/>
                </a:solidFill>
                <a:latin typeface="Calibri" pitchFamily="34" charset="0"/>
                <a:ea typeface="Calibri" pitchFamily="34" charset="-122"/>
                <a:cs typeface="Calibri" pitchFamily="34" charset="-120"/>
              </a:rPr>
              <a:t>Show boundaries, routes, resources, and terrain -- all clues about WHY people moved, settled, or traded.</a:t>
            </a:r>
            <a:endParaRPr lang="en-US" sz="1100" dirty="0"/>
          </a:p>
        </p:txBody>
      </p:sp>
      <p:sp>
        <p:nvSpPr>
          <p:cNvPr id="12" name="Shape 9"/>
          <p:cNvSpPr/>
          <p:nvPr/>
        </p:nvSpPr>
        <p:spPr>
          <a:xfrm>
            <a:off x="3200400" y="1828800"/>
            <a:ext cx="2651760" cy="2377440"/>
          </a:xfrm>
          <a:prstGeom prst="roundRect">
            <a:avLst>
              <a:gd name="adj" fmla="val 4615"/>
            </a:avLst>
          </a:prstGeom>
          <a:solidFill>
            <a:srgbClr val="1A2D5A"/>
          </a:solidFill>
          <a:ln w="25400">
            <a:solidFill>
              <a:srgbClr val="8B6FC0"/>
            </a:solidFill>
            <a:prstDash val="solid"/>
          </a:ln>
        </p:spPr>
      </p:sp>
      <p:sp>
        <p:nvSpPr>
          <p:cNvPr id="13" name="Text 10"/>
          <p:cNvSpPr/>
          <p:nvPr/>
        </p:nvSpPr>
        <p:spPr>
          <a:xfrm>
            <a:off x="3291840" y="1883664"/>
            <a:ext cx="2468880" cy="292608"/>
          </a:xfrm>
          <a:prstGeom prst="rect">
            <a:avLst/>
          </a:prstGeom>
          <a:noFill/>
          <a:ln/>
        </p:spPr>
        <p:txBody>
          <a:bodyPr wrap="square" rtlCol="0" anchor="ctr"/>
          <a:lstStyle/>
          <a:p>
            <a:pPr algn="ctr" indent="0" marL="0">
              <a:buNone/>
            </a:pPr>
            <a:r>
              <a:rPr lang="en-US" sz="1100" b="1" spc="150" kern="0" dirty="0">
                <a:solidFill>
                  <a:srgbClr val="8B6FC0"/>
                </a:solidFill>
                <a:latin typeface="Calibri" pitchFamily="34" charset="0"/>
                <a:ea typeface="Calibri" pitchFamily="34" charset="-122"/>
                <a:cs typeface="Calibri" pitchFamily="34" charset="-120"/>
              </a:rPr>
              <a:t>GLOBES</a:t>
            </a:r>
            <a:endParaRPr lang="en-US" sz="1100" dirty="0"/>
          </a:p>
        </p:txBody>
      </p:sp>
      <p:sp>
        <p:nvSpPr>
          <p:cNvPr id="14" name="Text 11"/>
          <p:cNvSpPr/>
          <p:nvPr/>
        </p:nvSpPr>
        <p:spPr>
          <a:xfrm>
            <a:off x="3337560" y="2212848"/>
            <a:ext cx="2377440" cy="1901952"/>
          </a:xfrm>
          <a:prstGeom prst="rect">
            <a:avLst/>
          </a:prstGeom>
          <a:noFill/>
          <a:ln/>
        </p:spPr>
        <p:txBody>
          <a:bodyPr wrap="square" rtlCol="0" anchor="t"/>
          <a:lstStyle/>
          <a:p>
            <a:pPr indent="0" marL="0">
              <a:buNone/>
            </a:pPr>
            <a:r>
              <a:rPr lang="en-US" sz="1100" dirty="0">
                <a:solidFill>
                  <a:srgbClr val="D6F2FB"/>
                </a:solidFill>
                <a:latin typeface="Calibri" pitchFamily="34" charset="0"/>
                <a:ea typeface="Calibri" pitchFamily="34" charset="-122"/>
                <a:cs typeface="Calibri" pitchFamily="34" charset="-120"/>
              </a:rPr>
              <a:t>Show how continents and oceans relate -- helping historians see distances and patterns across the whole world.</a:t>
            </a:r>
            <a:endParaRPr lang="en-US" sz="1100" dirty="0"/>
          </a:p>
        </p:txBody>
      </p:sp>
      <p:sp>
        <p:nvSpPr>
          <p:cNvPr id="15" name="Shape 12"/>
          <p:cNvSpPr/>
          <p:nvPr/>
        </p:nvSpPr>
        <p:spPr>
          <a:xfrm>
            <a:off x="6035040" y="1828800"/>
            <a:ext cx="2651760" cy="2377440"/>
          </a:xfrm>
          <a:prstGeom prst="roundRect">
            <a:avLst>
              <a:gd name="adj" fmla="val 4615"/>
            </a:avLst>
          </a:prstGeom>
          <a:solidFill>
            <a:srgbClr val="1A2D5A"/>
          </a:solidFill>
          <a:ln w="25400">
            <a:solidFill>
              <a:srgbClr val="D4943A"/>
            </a:solidFill>
            <a:prstDash val="solid"/>
          </a:ln>
        </p:spPr>
      </p:sp>
      <p:sp>
        <p:nvSpPr>
          <p:cNvPr id="16" name="Text 13"/>
          <p:cNvSpPr/>
          <p:nvPr/>
        </p:nvSpPr>
        <p:spPr>
          <a:xfrm>
            <a:off x="6126480" y="1883664"/>
            <a:ext cx="2468880" cy="292608"/>
          </a:xfrm>
          <a:prstGeom prst="rect">
            <a:avLst/>
          </a:prstGeom>
          <a:noFill/>
          <a:ln/>
        </p:spPr>
        <p:txBody>
          <a:bodyPr wrap="square"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COMPASS ROSES</a:t>
            </a:r>
            <a:endParaRPr lang="en-US" sz="1100" dirty="0"/>
          </a:p>
        </p:txBody>
      </p:sp>
      <p:sp>
        <p:nvSpPr>
          <p:cNvPr id="17" name="Text 14"/>
          <p:cNvSpPr/>
          <p:nvPr/>
        </p:nvSpPr>
        <p:spPr>
          <a:xfrm>
            <a:off x="6172200" y="2212848"/>
            <a:ext cx="2377440" cy="1901952"/>
          </a:xfrm>
          <a:prstGeom prst="rect">
            <a:avLst/>
          </a:prstGeom>
          <a:noFill/>
          <a:ln/>
        </p:spPr>
        <p:txBody>
          <a:bodyPr wrap="square" rtlCol="0" anchor="t"/>
          <a:lstStyle/>
          <a:p>
            <a:pPr indent="0" marL="0">
              <a:buNone/>
            </a:pPr>
            <a:r>
              <a:rPr lang="en-US" sz="1100" dirty="0">
                <a:solidFill>
                  <a:srgbClr val="D6F2FB"/>
                </a:solidFill>
                <a:latin typeface="Calibri" pitchFamily="34" charset="0"/>
                <a:ea typeface="Calibri" pitchFamily="34" charset="-122"/>
                <a:cs typeface="Calibri" pitchFamily="34" charset="-120"/>
              </a:rPr>
              <a:t>Show direction -- helping historians understand which way people traveled, and why direction mattered.</a:t>
            </a:r>
            <a:endParaRPr lang="en-US" sz="1100" dirty="0"/>
          </a:p>
        </p:txBody>
      </p:sp>
      <p:sp>
        <p:nvSpPr>
          <p:cNvPr id="18" name="Shape 15"/>
          <p:cNvSpPr/>
          <p:nvPr/>
        </p:nvSpPr>
        <p:spPr>
          <a:xfrm>
            <a:off x="548640" y="4325112"/>
            <a:ext cx="8046720" cy="384048"/>
          </a:xfrm>
          <a:prstGeom prst="roundRect">
            <a:avLst>
              <a:gd name="adj" fmla="val 19048"/>
            </a:avLst>
          </a:prstGeom>
          <a:solidFill>
            <a:srgbClr val="0B1835"/>
          </a:solidFill>
          <a:ln w="12700">
            <a:solidFill>
              <a:srgbClr val="55C8E8"/>
            </a:solidFill>
            <a:prstDash val="solid"/>
          </a:ln>
        </p:spPr>
      </p:sp>
      <p:sp>
        <p:nvSpPr>
          <p:cNvPr id="19" name="Text 16"/>
          <p:cNvSpPr/>
          <p:nvPr/>
        </p:nvSpPr>
        <p:spPr>
          <a:xfrm>
            <a:off x="685800" y="4325112"/>
            <a:ext cx="7772400" cy="384048"/>
          </a:xfrm>
          <a:prstGeom prst="rect">
            <a:avLst/>
          </a:prstGeom>
          <a:noFill/>
          <a:ln/>
        </p:spPr>
        <p:txBody>
          <a:bodyPr wrap="square"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Quick check: Cover the screen. Name all three tools and one WHY thing each one shows.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1A8A7D"/>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TOOL SPOTLIGHT -- Maps</a:t>
            </a:r>
            <a:endParaRPr lang="en-US" sz="1400" dirty="0"/>
          </a:p>
        </p:txBody>
      </p:sp>
      <p:sp>
        <p:nvSpPr>
          <p:cNvPr id="5" name="Shape 3"/>
          <p:cNvSpPr/>
          <p:nvPr/>
        </p:nvSpPr>
        <p:spPr>
          <a:xfrm>
            <a:off x="365760" y="594360"/>
            <a:ext cx="8412480" cy="621792"/>
          </a:xfrm>
          <a:prstGeom prst="roundRect">
            <a:avLst>
              <a:gd name="adj" fmla="val 11765"/>
            </a:avLst>
          </a:prstGeom>
          <a:solidFill>
            <a:srgbClr val="FFFFFF"/>
          </a:solidFill>
          <a:ln w="19050">
            <a:solidFill>
              <a:srgbClr val="1A8A7D"/>
            </a:solidFill>
            <a:prstDash val="solid"/>
          </a:ln>
        </p:spPr>
      </p:sp>
      <p:sp>
        <p:nvSpPr>
          <p:cNvPr id="6" name="Text 4"/>
          <p:cNvSpPr/>
          <p:nvPr/>
        </p:nvSpPr>
        <p:spPr>
          <a:xfrm>
            <a:off x="502920" y="640080"/>
            <a:ext cx="8138160" cy="512064"/>
          </a:xfrm>
          <a:prstGeom prst="rect">
            <a:avLst/>
          </a:prstGeom>
          <a:noFill/>
          <a:ln/>
        </p:spPr>
        <p:txBody>
          <a:bodyPr wrap="square"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Maps: flat views that show boundaries, routes, resources, and terrain.</a:t>
            </a:r>
            <a:endParaRPr lang="en-US" sz="1300" dirty="0"/>
          </a:p>
        </p:txBody>
      </p:sp>
      <p:sp>
        <p:nvSpPr>
          <p:cNvPr id="7" name="Shape 5"/>
          <p:cNvSpPr/>
          <p:nvPr/>
        </p:nvSpPr>
        <p:spPr>
          <a:xfrm>
            <a:off x="365760" y="1353312"/>
            <a:ext cx="5029200" cy="2450592"/>
          </a:xfrm>
          <a:prstGeom prst="roundRect">
            <a:avLst>
              <a:gd name="adj" fmla="val 3731"/>
            </a:avLst>
          </a:prstGeom>
          <a:solidFill>
            <a:srgbClr val="FFFFFF"/>
          </a:solidFill>
          <a:ln w="12700">
            <a:solidFill>
              <a:srgbClr val="B0B8CC"/>
            </a:solidFill>
            <a:prstDash val="solid"/>
          </a:ln>
        </p:spPr>
      </p:sp>
      <p:sp>
        <p:nvSpPr>
          <p:cNvPr id="8" name="Text 6"/>
          <p:cNvSpPr/>
          <p:nvPr/>
        </p:nvSpPr>
        <p:spPr>
          <a:xfrm>
            <a:off x="502920" y="1399032"/>
            <a:ext cx="4754880" cy="201168"/>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WHAT MAPS SHOW BEYOND LOCATION</a:t>
            </a:r>
            <a:endParaRPr lang="en-US" sz="900" dirty="0"/>
          </a:p>
        </p:txBody>
      </p:sp>
      <p:sp>
        <p:nvSpPr>
          <p:cNvPr id="9" name="Text 7"/>
          <p:cNvSpPr/>
          <p:nvPr/>
        </p:nvSpPr>
        <p:spPr>
          <a:xfrm>
            <a:off x="548640" y="1664208"/>
            <a:ext cx="4663440" cy="347472"/>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 Trade routes -- why merchants traveled certain paths</a:t>
            </a:r>
            <a:endParaRPr lang="en-US" sz="1100" dirty="0"/>
          </a:p>
        </p:txBody>
      </p:sp>
      <p:sp>
        <p:nvSpPr>
          <p:cNvPr id="10" name="Text 8"/>
          <p:cNvSpPr/>
          <p:nvPr/>
        </p:nvSpPr>
        <p:spPr>
          <a:xfrm>
            <a:off x="548640" y="2066544"/>
            <a:ext cx="4663440" cy="347472"/>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 Terrain (mountains, rivers) -- why armies moved where they did</a:t>
            </a:r>
            <a:endParaRPr lang="en-US" sz="1100" dirty="0"/>
          </a:p>
        </p:txBody>
      </p:sp>
      <p:sp>
        <p:nvSpPr>
          <p:cNvPr id="11" name="Text 9"/>
          <p:cNvSpPr/>
          <p:nvPr/>
        </p:nvSpPr>
        <p:spPr>
          <a:xfrm>
            <a:off x="548640" y="2468880"/>
            <a:ext cx="4663440" cy="347472"/>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 Resources -- why settlers chose certain regions</a:t>
            </a:r>
            <a:endParaRPr lang="en-US" sz="1100" dirty="0"/>
          </a:p>
        </p:txBody>
      </p:sp>
      <p:sp>
        <p:nvSpPr>
          <p:cNvPr id="12" name="Text 10"/>
          <p:cNvSpPr/>
          <p:nvPr/>
        </p:nvSpPr>
        <p:spPr>
          <a:xfrm>
            <a:off x="548640" y="2871216"/>
            <a:ext cx="4663440" cy="347472"/>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 Harbors -- why coastal cities became trading centers</a:t>
            </a:r>
            <a:endParaRPr lang="en-US" sz="1100" dirty="0"/>
          </a:p>
        </p:txBody>
      </p:sp>
      <p:sp>
        <p:nvSpPr>
          <p:cNvPr id="13" name="Text 11"/>
          <p:cNvSpPr/>
          <p:nvPr/>
        </p:nvSpPr>
        <p:spPr>
          <a:xfrm>
            <a:off x="548640" y="3273552"/>
            <a:ext cx="4663440" cy="347472"/>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 Borders -- why political conflicts happened where they did</a:t>
            </a:r>
            <a:endParaRPr lang="en-US" sz="1100" dirty="0"/>
          </a:p>
        </p:txBody>
      </p:sp>
      <p:sp>
        <p:nvSpPr>
          <p:cNvPr id="14" name="Shape 12"/>
          <p:cNvSpPr/>
          <p:nvPr/>
        </p:nvSpPr>
        <p:spPr>
          <a:xfrm>
            <a:off x="5577840" y="1353312"/>
            <a:ext cx="3200400" cy="2450592"/>
          </a:xfrm>
          <a:prstGeom prst="roundRect">
            <a:avLst>
              <a:gd name="adj" fmla="val 4478"/>
            </a:avLst>
          </a:prstGeom>
          <a:solidFill>
            <a:srgbClr val="E2E8F4"/>
          </a:solidFill>
          <a:ln w="19050">
            <a:solidFill>
              <a:srgbClr val="B0B8CC"/>
            </a:solidFill>
            <a:prstDash val="dash"/>
          </a:ln>
        </p:spPr>
      </p:sp>
      <p:sp>
        <p:nvSpPr>
          <p:cNvPr id="15" name="Text 13"/>
          <p:cNvSpPr/>
          <p:nvPr/>
        </p:nvSpPr>
        <p:spPr>
          <a:xfrm>
            <a:off x="5577840" y="1353312"/>
            <a:ext cx="32004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6" name="Text 14"/>
          <p:cNvSpPr/>
          <p:nvPr/>
        </p:nvSpPr>
        <p:spPr>
          <a:xfrm>
            <a:off x="5715000" y="1627632"/>
            <a:ext cx="2926080" cy="2084832"/>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of colonial trade routes on the 13 colonies map, showing coastal harbors and river systems labeled.</a:t>
            </a:r>
            <a:endParaRPr lang="en-US" sz="1100" dirty="0"/>
          </a:p>
        </p:txBody>
      </p:sp>
      <p:sp>
        <p:nvSpPr>
          <p:cNvPr id="17" name="Shape 15"/>
          <p:cNvSpPr/>
          <p:nvPr/>
        </p:nvSpPr>
        <p:spPr>
          <a:xfrm>
            <a:off x="365760" y="3931920"/>
            <a:ext cx="8412480" cy="868680"/>
          </a:xfrm>
          <a:prstGeom prst="roundRect">
            <a:avLst>
              <a:gd name="adj" fmla="val 12632"/>
            </a:avLst>
          </a:prstGeom>
          <a:solidFill>
            <a:srgbClr val="FFF3DC"/>
          </a:solidFill>
          <a:ln w="19050">
            <a:solidFill>
              <a:srgbClr val="F5E6C8"/>
            </a:solidFill>
            <a:prstDash val="solid"/>
          </a:ln>
        </p:spPr>
      </p:sp>
      <p:sp>
        <p:nvSpPr>
          <p:cNvPr id="18" name="Text 16"/>
          <p:cNvSpPr/>
          <p:nvPr/>
        </p:nvSpPr>
        <p:spPr>
          <a:xfrm>
            <a:off x="502920" y="398678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502920" y="4187952"/>
            <a:ext cx="8138160"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 the colonial map, I can see ___ which tells a historian WHY ___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8B6FC0"/>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TOOL SPOTLIGHT -- Globes and Compass Roses</a:t>
            </a:r>
            <a:endParaRPr lang="en-US" sz="1400" dirty="0"/>
          </a:p>
        </p:txBody>
      </p:sp>
      <p:sp>
        <p:nvSpPr>
          <p:cNvPr id="5" name="Shape 3"/>
          <p:cNvSpPr/>
          <p:nvPr/>
        </p:nvSpPr>
        <p:spPr>
          <a:xfrm>
            <a:off x="320040" y="594360"/>
            <a:ext cx="4114800" cy="3383280"/>
          </a:xfrm>
          <a:prstGeom prst="roundRect">
            <a:avLst>
              <a:gd name="adj" fmla="val 3243"/>
            </a:avLst>
          </a:prstGeom>
          <a:solidFill>
            <a:srgbClr val="FFFFFF"/>
          </a:solidFill>
          <a:ln w="19050">
            <a:solidFill>
              <a:srgbClr val="8B6FC0"/>
            </a:solidFill>
            <a:prstDash val="solid"/>
          </a:ln>
        </p:spPr>
      </p:sp>
      <p:sp>
        <p:nvSpPr>
          <p:cNvPr id="6" name="Text 4"/>
          <p:cNvSpPr/>
          <p:nvPr/>
        </p:nvSpPr>
        <p:spPr>
          <a:xfrm>
            <a:off x="457200" y="640080"/>
            <a:ext cx="3840480" cy="274320"/>
          </a:xfrm>
          <a:prstGeom prst="rect">
            <a:avLst/>
          </a:prstGeom>
          <a:noFill/>
          <a:ln/>
        </p:spPr>
        <p:txBody>
          <a:bodyPr wrap="square" rtlCol="0" anchor="ctr"/>
          <a:lstStyle/>
          <a:p>
            <a:pPr indent="0" marL="0">
              <a:buNone/>
            </a:pPr>
            <a:r>
              <a:rPr lang="en-US" sz="1300" b="1" dirty="0">
                <a:solidFill>
                  <a:srgbClr val="8B6FC0"/>
                </a:solidFill>
                <a:latin typeface="Cambria" pitchFamily="34" charset="0"/>
                <a:ea typeface="Cambria" pitchFamily="34" charset="-122"/>
                <a:cs typeface="Cambria" pitchFamily="34" charset="-120"/>
              </a:rPr>
              <a:t>GLOBES</a:t>
            </a:r>
            <a:endParaRPr lang="en-US" sz="1300" dirty="0"/>
          </a:p>
        </p:txBody>
      </p:sp>
      <p:sp>
        <p:nvSpPr>
          <p:cNvPr id="7" name="Text 5"/>
          <p:cNvSpPr/>
          <p:nvPr/>
        </p:nvSpPr>
        <p:spPr>
          <a:xfrm>
            <a:off x="457200" y="932688"/>
            <a:ext cx="3840480" cy="411480"/>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Curved views that show how continents and oceans relate to each other.</a:t>
            </a:r>
            <a:endParaRPr lang="en-US" sz="1100" dirty="0"/>
          </a:p>
        </p:txBody>
      </p:sp>
      <p:sp>
        <p:nvSpPr>
          <p:cNvPr id="8" name="Shape 6"/>
          <p:cNvSpPr/>
          <p:nvPr/>
        </p:nvSpPr>
        <p:spPr>
          <a:xfrm>
            <a:off x="457200" y="1371600"/>
            <a:ext cx="3840480" cy="1645920"/>
          </a:xfrm>
          <a:prstGeom prst="roundRect">
            <a:avLst>
              <a:gd name="adj" fmla="val 6667"/>
            </a:avLst>
          </a:prstGeom>
          <a:solidFill>
            <a:srgbClr val="E2E8F4"/>
          </a:solidFill>
          <a:ln w="19050">
            <a:solidFill>
              <a:srgbClr val="B0B8CC"/>
            </a:solidFill>
            <a:prstDash val="dash"/>
          </a:ln>
        </p:spPr>
      </p:sp>
      <p:sp>
        <p:nvSpPr>
          <p:cNvPr id="9" name="Text 7"/>
          <p:cNvSpPr/>
          <p:nvPr/>
        </p:nvSpPr>
        <p:spPr>
          <a:xfrm>
            <a:off x="457200" y="137160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594360" y="1645920"/>
            <a:ext cx="3566160" cy="1280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globe showing the Atlantic Ocean between Europe and the Americas -- colonial era context.</a:t>
            </a:r>
            <a:endParaRPr lang="en-US" sz="1100" dirty="0"/>
          </a:p>
        </p:txBody>
      </p:sp>
      <p:sp>
        <p:nvSpPr>
          <p:cNvPr id="11" name="Text 9"/>
          <p:cNvSpPr/>
          <p:nvPr/>
        </p:nvSpPr>
        <p:spPr>
          <a:xfrm>
            <a:off x="457200" y="3044952"/>
            <a:ext cx="3840480" cy="804672"/>
          </a:xfrm>
          <a:prstGeom prst="rect">
            <a:avLst/>
          </a:prstGeom>
          <a:noFill/>
          <a:ln/>
        </p:spPr>
        <p:txBody>
          <a:bodyPr wrap="square" rtlCol="0" anchor="ctr"/>
          <a:lstStyle/>
          <a:p>
            <a:pPr indent="0" marL="0">
              <a:buNone/>
            </a:pPr>
            <a:r>
              <a:rPr lang="en-US" sz="1000" i="1" dirty="0">
                <a:solidFill>
                  <a:srgbClr val="1A2D5A"/>
                </a:solidFill>
                <a:latin typeface="Calibri" pitchFamily="34" charset="0"/>
                <a:ea typeface="Calibri" pitchFamily="34" charset="-122"/>
                <a:cs typeface="Calibri" pitchFamily="34" charset="-120"/>
              </a:rPr>
              <a:t>WHY it matters: Shows how far European ships had to travel -- explains the enormous risk and cost of colonial voyages.</a:t>
            </a:r>
            <a:endParaRPr lang="en-US" sz="1000" dirty="0"/>
          </a:p>
        </p:txBody>
      </p:sp>
      <p:sp>
        <p:nvSpPr>
          <p:cNvPr id="12" name="Shape 10"/>
          <p:cNvSpPr/>
          <p:nvPr/>
        </p:nvSpPr>
        <p:spPr>
          <a:xfrm>
            <a:off x="4663440" y="594360"/>
            <a:ext cx="4114800" cy="3383280"/>
          </a:xfrm>
          <a:prstGeom prst="roundRect">
            <a:avLst>
              <a:gd name="adj" fmla="val 3243"/>
            </a:avLst>
          </a:prstGeom>
          <a:solidFill>
            <a:srgbClr val="FFFFFF"/>
          </a:solidFill>
          <a:ln w="19050">
            <a:solidFill>
              <a:srgbClr val="D4943A"/>
            </a:solidFill>
            <a:prstDash val="solid"/>
          </a:ln>
        </p:spPr>
      </p:sp>
      <p:sp>
        <p:nvSpPr>
          <p:cNvPr id="13" name="Text 11"/>
          <p:cNvSpPr/>
          <p:nvPr/>
        </p:nvSpPr>
        <p:spPr>
          <a:xfrm>
            <a:off x="4800600" y="640080"/>
            <a:ext cx="3840480" cy="274320"/>
          </a:xfrm>
          <a:prstGeom prst="rect">
            <a:avLst/>
          </a:prstGeom>
          <a:noFill/>
          <a:ln/>
        </p:spPr>
        <p:txBody>
          <a:bodyPr wrap="square" rtlCol="0" anchor="ctr"/>
          <a:lstStyle/>
          <a:p>
            <a:pPr indent="0" marL="0">
              <a:buNone/>
            </a:pPr>
            <a:r>
              <a:rPr lang="en-US" sz="1300" b="1" dirty="0">
                <a:solidFill>
                  <a:srgbClr val="D4943A"/>
                </a:solidFill>
                <a:latin typeface="Cambria" pitchFamily="34" charset="0"/>
                <a:ea typeface="Cambria" pitchFamily="34" charset="-122"/>
                <a:cs typeface="Cambria" pitchFamily="34" charset="-120"/>
              </a:rPr>
              <a:t>COMPASS ROSES</a:t>
            </a:r>
            <a:endParaRPr lang="en-US" sz="1300" dirty="0"/>
          </a:p>
        </p:txBody>
      </p:sp>
      <p:sp>
        <p:nvSpPr>
          <p:cNvPr id="14" name="Text 12"/>
          <p:cNvSpPr/>
          <p:nvPr/>
        </p:nvSpPr>
        <p:spPr>
          <a:xfrm>
            <a:off x="4800600" y="932688"/>
            <a:ext cx="3840480" cy="411480"/>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Direction finders that show which way people traveled -- and why direction mattered.</a:t>
            </a:r>
            <a:endParaRPr lang="en-US" sz="1100" dirty="0"/>
          </a:p>
        </p:txBody>
      </p:sp>
      <p:sp>
        <p:nvSpPr>
          <p:cNvPr id="15" name="Shape 13"/>
          <p:cNvSpPr/>
          <p:nvPr/>
        </p:nvSpPr>
        <p:spPr>
          <a:xfrm>
            <a:off x="4800600" y="1371600"/>
            <a:ext cx="3840480" cy="1645920"/>
          </a:xfrm>
          <a:prstGeom prst="roundRect">
            <a:avLst>
              <a:gd name="adj" fmla="val 6667"/>
            </a:avLst>
          </a:prstGeom>
          <a:solidFill>
            <a:srgbClr val="E2E8F4"/>
          </a:solidFill>
          <a:ln w="19050">
            <a:solidFill>
              <a:srgbClr val="B0B8CC"/>
            </a:solidFill>
            <a:prstDash val="dash"/>
          </a:ln>
        </p:spPr>
      </p:sp>
      <p:sp>
        <p:nvSpPr>
          <p:cNvPr id="16" name="Text 14"/>
          <p:cNvSpPr/>
          <p:nvPr/>
        </p:nvSpPr>
        <p:spPr>
          <a:xfrm>
            <a:off x="4800600" y="137160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7" name="Text 15"/>
          <p:cNvSpPr/>
          <p:nvPr/>
        </p:nvSpPr>
        <p:spPr>
          <a:xfrm>
            <a:off x="4937760" y="1645920"/>
            <a:ext cx="3566160" cy="1280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Ornate colonial-era compass rose from a historical navigation map, showing N/S/E/W points.</a:t>
            </a:r>
            <a:endParaRPr lang="en-US" sz="1100" dirty="0"/>
          </a:p>
        </p:txBody>
      </p:sp>
      <p:sp>
        <p:nvSpPr>
          <p:cNvPr id="18" name="Text 16"/>
          <p:cNvSpPr/>
          <p:nvPr/>
        </p:nvSpPr>
        <p:spPr>
          <a:xfrm>
            <a:off x="4800600" y="3044952"/>
            <a:ext cx="3840480" cy="804672"/>
          </a:xfrm>
          <a:prstGeom prst="rect">
            <a:avLst/>
          </a:prstGeom>
          <a:noFill/>
          <a:ln/>
        </p:spPr>
        <p:txBody>
          <a:bodyPr wrap="square" rtlCol="0" anchor="ctr"/>
          <a:lstStyle/>
          <a:p>
            <a:pPr indent="0" marL="0">
              <a:buNone/>
            </a:pPr>
            <a:r>
              <a:rPr lang="en-US" sz="1000" i="1" dirty="0">
                <a:solidFill>
                  <a:srgbClr val="1A2D5A"/>
                </a:solidFill>
                <a:latin typeface="Calibri" pitchFamily="34" charset="0"/>
                <a:ea typeface="Calibri" pitchFamily="34" charset="-122"/>
                <a:cs typeface="Calibri" pitchFamily="34" charset="-120"/>
              </a:rPr>
              <a:t>WHY it matters: Knowing wind patterns went north-to-south explains why certain trade routes formed -- not just where they went.</a:t>
            </a:r>
            <a:endParaRPr lang="en-US" sz="1000" dirty="0"/>
          </a:p>
        </p:txBody>
      </p:sp>
      <p:sp>
        <p:nvSpPr>
          <p:cNvPr id="19" name="Shape 17"/>
          <p:cNvSpPr/>
          <p:nvPr/>
        </p:nvSpPr>
        <p:spPr>
          <a:xfrm>
            <a:off x="320040" y="4096512"/>
            <a:ext cx="8458200" cy="804672"/>
          </a:xfrm>
          <a:prstGeom prst="roundRect">
            <a:avLst>
              <a:gd name="adj" fmla="val 13636"/>
            </a:avLst>
          </a:prstGeom>
          <a:solidFill>
            <a:srgbClr val="FFF3DC"/>
          </a:solidFill>
          <a:ln w="19050">
            <a:solidFill>
              <a:srgbClr val="F5E6C8"/>
            </a:solidFill>
            <a:prstDash val="solid"/>
          </a:ln>
        </p:spPr>
      </p:sp>
      <p:sp>
        <p:nvSpPr>
          <p:cNvPr id="20" name="Text 18"/>
          <p:cNvSpPr/>
          <p:nvPr/>
        </p:nvSpPr>
        <p:spPr>
          <a:xfrm>
            <a:off x="457200" y="4151376"/>
            <a:ext cx="8183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1" name="Text 19"/>
          <p:cNvSpPr/>
          <p:nvPr/>
        </p:nvSpPr>
        <p:spPr>
          <a:xfrm>
            <a:off x="457200" y="4352544"/>
            <a:ext cx="8183880" cy="48463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"Globes and compass roses help explain WHY because..."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0E1C42"/>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200" b="1" spc="150" kern="0" dirty="0">
                <a:solidFill>
                  <a:srgbClr val="55C8E8"/>
                </a:solidFill>
                <a:latin typeface="Calibri" pitchFamily="34" charset="0"/>
                <a:ea typeface="Calibri" pitchFamily="34" charset="-122"/>
                <a:cs typeface="Calibri" pitchFamily="34" charset="-120"/>
              </a:rPr>
              <a:t>EDITOR'S NOTEBOOK -- Preparing for Question 1</a:t>
            </a:r>
            <a:endParaRPr lang="en-US" sz="1200" dirty="0"/>
          </a:p>
        </p:txBody>
      </p:sp>
      <p:sp>
        <p:nvSpPr>
          <p:cNvPr id="5" name="Shape 3"/>
          <p:cNvSpPr/>
          <p:nvPr/>
        </p:nvSpPr>
        <p:spPr>
          <a:xfrm>
            <a:off x="365760" y="594360"/>
            <a:ext cx="8412480" cy="804672"/>
          </a:xfrm>
          <a:prstGeom prst="roundRect">
            <a:avLst>
              <a:gd name="adj" fmla="val 11364"/>
            </a:avLst>
          </a:prstGeom>
          <a:solidFill>
            <a:srgbClr val="FFFFFF"/>
          </a:solidFill>
          <a:ln w="25400">
            <a:solidFill>
              <a:srgbClr val="1A8A7D"/>
            </a:solidFill>
            <a:prstDash val="solid"/>
          </a:ln>
        </p:spPr>
      </p:sp>
      <p:sp>
        <p:nvSpPr>
          <p:cNvPr id="6" name="Text 4"/>
          <p:cNvSpPr/>
          <p:nvPr/>
        </p:nvSpPr>
        <p:spPr>
          <a:xfrm>
            <a:off x="502920" y="640080"/>
            <a:ext cx="8138160" cy="201168"/>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COMING IN YOUR NOTEBOOK:</a:t>
            </a:r>
            <a:endParaRPr lang="en-US" sz="900" dirty="0"/>
          </a:p>
        </p:txBody>
      </p:sp>
      <p:sp>
        <p:nvSpPr>
          <p:cNvPr id="7" name="Text 5"/>
          <p:cNvSpPr/>
          <p:nvPr/>
        </p:nvSpPr>
        <p:spPr>
          <a:xfrm>
            <a:off x="502920" y="850392"/>
            <a:ext cx="8138160" cy="475488"/>
          </a:xfrm>
          <a:prstGeom prst="rect">
            <a:avLst/>
          </a:prstGeom>
          <a:noFill/>
          <a:ln/>
        </p:spPr>
        <p:txBody>
          <a:bodyPr wrap="square"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"Name one geographic tool (map, globe, or compass rose) and explain one thing it helps a historian figure out beyond just location."</a:t>
            </a:r>
            <a:endParaRPr lang="en-US" sz="1200" dirty="0"/>
          </a:p>
        </p:txBody>
      </p:sp>
      <p:sp>
        <p:nvSpPr>
          <p:cNvPr id="8" name="Shape 6"/>
          <p:cNvSpPr/>
          <p:nvPr/>
        </p:nvSpPr>
        <p:spPr>
          <a:xfrm>
            <a:off x="365760" y="1536192"/>
            <a:ext cx="5120640" cy="1828800"/>
          </a:xfrm>
          <a:prstGeom prst="roundRect">
            <a:avLst>
              <a:gd name="adj" fmla="val 6000"/>
            </a:avLst>
          </a:prstGeom>
          <a:solidFill>
            <a:srgbClr val="1A2D5A"/>
          </a:solidFill>
          <a:ln w="12700">
            <a:solidFill>
              <a:srgbClr val="2A4070"/>
            </a:solidFill>
            <a:prstDash val="solid"/>
          </a:ln>
        </p:spPr>
      </p:sp>
      <p:sp>
        <p:nvSpPr>
          <p:cNvPr id="9" name="Text 7"/>
          <p:cNvSpPr/>
          <p:nvPr/>
        </p:nvSpPr>
        <p:spPr>
          <a:xfrm>
            <a:off x="502920" y="1591056"/>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1856232"/>
            <a:ext cx="4754880" cy="141732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Which tool did you find most surprising today? What did it show you?</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is the difference between showing location and explaining history?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Could a historian answer a WHY question using only a compass rose? What would they still need?</a:t>
            </a:r>
            <a:endParaRPr lang="en-US" sz="1100" dirty="0"/>
          </a:p>
        </p:txBody>
      </p:sp>
      <p:sp>
        <p:nvSpPr>
          <p:cNvPr id="11" name="Shape 9"/>
          <p:cNvSpPr/>
          <p:nvPr/>
        </p:nvSpPr>
        <p:spPr>
          <a:xfrm>
            <a:off x="5623560" y="1536192"/>
            <a:ext cx="3154680" cy="1828800"/>
          </a:xfrm>
          <a:prstGeom prst="roundRect">
            <a:avLst>
              <a:gd name="adj" fmla="val 6000"/>
            </a:avLst>
          </a:prstGeom>
          <a:solidFill>
            <a:srgbClr val="FFF3DC"/>
          </a:solidFill>
          <a:ln w="19050">
            <a:solidFill>
              <a:srgbClr val="F5E6C8"/>
            </a:solidFill>
            <a:prstDash val="solid"/>
          </a:ln>
        </p:spPr>
      </p:sp>
      <p:sp>
        <p:nvSpPr>
          <p:cNvPr id="12" name="Text 10"/>
          <p:cNvSpPr/>
          <p:nvPr/>
        </p:nvSpPr>
        <p:spPr>
          <a:xfrm>
            <a:off x="5760720" y="1591056"/>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60720" y="1792224"/>
            <a:ext cx="288036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choose ___ because it shows historians..."</a:t>
            </a:r>
            <a:endParaRPr lang="en-US" sz="1200" dirty="0"/>
          </a:p>
        </p:txBody>
      </p:sp>
      <p:sp>
        <p:nvSpPr>
          <p:cNvPr id="14" name="Shape 12"/>
          <p:cNvSpPr/>
          <p:nvPr/>
        </p:nvSpPr>
        <p:spPr>
          <a:xfrm>
            <a:off x="365760" y="3493008"/>
            <a:ext cx="8412480" cy="713232"/>
          </a:xfrm>
          <a:prstGeom prst="roundRect">
            <a:avLst>
              <a:gd name="adj" fmla="val 10256"/>
            </a:avLst>
          </a:prstGeom>
          <a:solidFill>
            <a:srgbClr val="FFF3DC"/>
          </a:solidFill>
          <a:ln w="12700">
            <a:solidFill>
              <a:srgbClr val="D4943A"/>
            </a:solidFill>
            <a:prstDash val="solid"/>
          </a:ln>
        </p:spPr>
      </p:sp>
      <p:sp>
        <p:nvSpPr>
          <p:cNvPr id="15" name="Text 13"/>
          <p:cNvSpPr/>
          <p:nvPr/>
        </p:nvSpPr>
        <p:spPr>
          <a:xfrm>
            <a:off x="502920" y="3538728"/>
            <a:ext cx="8138160" cy="594360"/>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Tip: Don't just name the tool -- explain what the tool shows that pure location does NOT give you. One specific example is stronger than a general claim.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0E1C42"/>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200" b="1" spc="150" kern="0" dirty="0">
                <a:solidFill>
                  <a:srgbClr val="55C8E8"/>
                </a:solidFill>
                <a:latin typeface="Calibri" pitchFamily="34" charset="0"/>
                <a:ea typeface="Calibri" pitchFamily="34" charset="-122"/>
                <a:cs typeface="Calibri" pitchFamily="34" charset="-120"/>
              </a:rPr>
              <a:t>EDITOR'S NOTEBOOK -- Preparing for Question 2</a:t>
            </a:r>
            <a:endParaRPr lang="en-US" sz="1200" dirty="0"/>
          </a:p>
        </p:txBody>
      </p:sp>
      <p:sp>
        <p:nvSpPr>
          <p:cNvPr id="5" name="Shape 3"/>
          <p:cNvSpPr/>
          <p:nvPr/>
        </p:nvSpPr>
        <p:spPr>
          <a:xfrm>
            <a:off x="365760" y="594360"/>
            <a:ext cx="8412480" cy="804672"/>
          </a:xfrm>
          <a:prstGeom prst="roundRect">
            <a:avLst>
              <a:gd name="adj" fmla="val 11364"/>
            </a:avLst>
          </a:prstGeom>
          <a:solidFill>
            <a:srgbClr val="FFFFFF"/>
          </a:solidFill>
          <a:ln w="25400">
            <a:solidFill>
              <a:srgbClr val="D4943A"/>
            </a:solidFill>
            <a:prstDash val="solid"/>
          </a:ln>
        </p:spPr>
      </p:sp>
      <p:sp>
        <p:nvSpPr>
          <p:cNvPr id="6" name="Text 4"/>
          <p:cNvSpPr/>
          <p:nvPr/>
        </p:nvSpPr>
        <p:spPr>
          <a:xfrm>
            <a:off x="502920" y="640080"/>
            <a:ext cx="8138160" cy="201168"/>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COMING IN YOUR NOTEBOOK:</a:t>
            </a:r>
            <a:endParaRPr lang="en-US" sz="900" dirty="0"/>
          </a:p>
        </p:txBody>
      </p:sp>
      <p:sp>
        <p:nvSpPr>
          <p:cNvPr id="7" name="Text 5"/>
          <p:cNvSpPr/>
          <p:nvPr/>
        </p:nvSpPr>
        <p:spPr>
          <a:xfrm>
            <a:off x="502920" y="850392"/>
            <a:ext cx="8138160" cy="475488"/>
          </a:xfrm>
          <a:prstGeom prst="rect">
            <a:avLst/>
          </a:prstGeom>
          <a:noFill/>
          <a:ln/>
        </p:spPr>
        <p:txBody>
          <a:bodyPr wrap="square"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"The Herald says geography only tells us where. Give one example where a geographic tool helps explain why something happened."</a:t>
            </a:r>
            <a:endParaRPr lang="en-US" sz="1200" dirty="0"/>
          </a:p>
        </p:txBody>
      </p:sp>
      <p:sp>
        <p:nvSpPr>
          <p:cNvPr id="8" name="Shape 6"/>
          <p:cNvSpPr/>
          <p:nvPr/>
        </p:nvSpPr>
        <p:spPr>
          <a:xfrm>
            <a:off x="365760" y="1536192"/>
            <a:ext cx="5120640" cy="1828800"/>
          </a:xfrm>
          <a:prstGeom prst="roundRect">
            <a:avLst>
              <a:gd name="adj" fmla="val 6000"/>
            </a:avLst>
          </a:prstGeom>
          <a:solidFill>
            <a:srgbClr val="1A2D5A"/>
          </a:solidFill>
          <a:ln w="12700">
            <a:solidFill>
              <a:srgbClr val="2A4070"/>
            </a:solidFill>
            <a:prstDash val="solid"/>
          </a:ln>
        </p:spPr>
      </p:sp>
      <p:sp>
        <p:nvSpPr>
          <p:cNvPr id="9" name="Text 7"/>
          <p:cNvSpPr/>
          <p:nvPr/>
        </p:nvSpPr>
        <p:spPr>
          <a:xfrm>
            <a:off x="502920" y="1591056"/>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1856232"/>
            <a:ext cx="4754880" cy="141732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From the colonial map: why do you think the first colonies formed along the coast, not inland?</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If you could not see the rivers on the map, what question about settlement could you NOT answer?</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the compass rose on a map answer a WHY question? Give a specific example.</a:t>
            </a:r>
            <a:endParaRPr lang="en-US" sz="1100" dirty="0"/>
          </a:p>
        </p:txBody>
      </p:sp>
      <p:sp>
        <p:nvSpPr>
          <p:cNvPr id="11" name="Shape 9"/>
          <p:cNvSpPr/>
          <p:nvPr/>
        </p:nvSpPr>
        <p:spPr>
          <a:xfrm>
            <a:off x="5623560" y="1536192"/>
            <a:ext cx="3154680" cy="1828800"/>
          </a:xfrm>
          <a:prstGeom prst="roundRect">
            <a:avLst>
              <a:gd name="adj" fmla="val 6000"/>
            </a:avLst>
          </a:prstGeom>
          <a:solidFill>
            <a:srgbClr val="FFF3DC"/>
          </a:solidFill>
          <a:ln w="19050">
            <a:solidFill>
              <a:srgbClr val="F5E6C8"/>
            </a:solidFill>
            <a:prstDash val="solid"/>
          </a:ln>
        </p:spPr>
      </p:sp>
      <p:sp>
        <p:nvSpPr>
          <p:cNvPr id="12" name="Text 10"/>
          <p:cNvSpPr/>
          <p:nvPr/>
        </p:nvSpPr>
        <p:spPr>
          <a:xfrm>
            <a:off x="5760720" y="1591056"/>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60720" y="1792224"/>
            <a:ext cx="288036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"Geographic tools explain why ___ because..."</a:t>
            </a:r>
            <a:endParaRPr lang="en-US" sz="1200" dirty="0"/>
          </a:p>
        </p:txBody>
      </p:sp>
      <p:sp>
        <p:nvSpPr>
          <p:cNvPr id="14" name="Shape 12"/>
          <p:cNvSpPr/>
          <p:nvPr/>
        </p:nvSpPr>
        <p:spPr>
          <a:xfrm>
            <a:off x="365760" y="3493008"/>
            <a:ext cx="8412480" cy="713232"/>
          </a:xfrm>
          <a:prstGeom prst="roundRect">
            <a:avLst>
              <a:gd name="adj" fmla="val 10256"/>
            </a:avLst>
          </a:prstGeom>
          <a:solidFill>
            <a:srgbClr val="E2E8F4"/>
          </a:solidFill>
          <a:ln w="12700">
            <a:solidFill>
              <a:srgbClr val="B0B8CC"/>
            </a:solidFill>
            <a:prstDash val="solid"/>
          </a:ln>
        </p:spPr>
      </p:sp>
      <p:sp>
        <p:nvSpPr>
          <p:cNvPr id="15" name="Text 13"/>
          <p:cNvSpPr/>
          <p:nvPr/>
        </p:nvSpPr>
        <p:spPr>
          <a:xfrm>
            <a:off x="502920" y="3538728"/>
            <a:ext cx="8138160" cy="594360"/>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Example: A map showing rivers near Jamestown explains WHY colonists settled there -- rivers meant fresh water, transportation, and defense. That is a WHY answer, not just a WHERE.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0E1C42"/>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200" b="1" spc="150" kern="0" dirty="0">
                <a:solidFill>
                  <a:srgbClr val="55C8E8"/>
                </a:solidFill>
                <a:latin typeface="Calibri" pitchFamily="34" charset="0"/>
                <a:ea typeface="Calibri" pitchFamily="34" charset="-122"/>
                <a:cs typeface="Calibri" pitchFamily="34" charset="-120"/>
              </a:rPr>
              <a:t>EDITOR'S NOTEBOOK -- Preparing for Question 3  |  Herald Analysis</a:t>
            </a:r>
            <a:endParaRPr lang="en-US" sz="1200" dirty="0"/>
          </a:p>
        </p:txBody>
      </p:sp>
      <p:sp>
        <p:nvSpPr>
          <p:cNvPr id="5" name="Shape 3"/>
          <p:cNvSpPr/>
          <p:nvPr/>
        </p:nvSpPr>
        <p:spPr>
          <a:xfrm>
            <a:off x="365760" y="594360"/>
            <a:ext cx="8412480" cy="804672"/>
          </a:xfrm>
          <a:prstGeom prst="roundRect">
            <a:avLst>
              <a:gd name="adj" fmla="val 11364"/>
            </a:avLst>
          </a:prstGeom>
          <a:solidFill>
            <a:srgbClr val="FFFFFF"/>
          </a:solidFill>
          <a:ln w="25400">
            <a:solidFill>
              <a:srgbClr val="E8636B"/>
            </a:solidFill>
            <a:prstDash val="solid"/>
          </a:ln>
        </p:spPr>
      </p:sp>
      <p:sp>
        <p:nvSpPr>
          <p:cNvPr id="6" name="Text 4"/>
          <p:cNvSpPr/>
          <p:nvPr/>
        </p:nvSpPr>
        <p:spPr>
          <a:xfrm>
            <a:off x="502920" y="640080"/>
            <a:ext cx="8138160" cy="201168"/>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COMING IN YOUR NOTEBOOK:</a:t>
            </a:r>
            <a:endParaRPr lang="en-US" sz="900" dirty="0"/>
          </a:p>
        </p:txBody>
      </p:sp>
      <p:sp>
        <p:nvSpPr>
          <p:cNvPr id="7" name="Text 5"/>
          <p:cNvSpPr/>
          <p:nvPr/>
        </p:nvSpPr>
        <p:spPr>
          <a:xfrm>
            <a:off x="502920" y="850392"/>
            <a:ext cx="8138160" cy="475488"/>
          </a:xfrm>
          <a:prstGeom prst="rect">
            <a:avLst/>
          </a:prstGeom>
          <a:noFill/>
          <a:ln/>
        </p:spPr>
        <p:txBody>
          <a:bodyPr wrap="square"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"The Hasty Herald said 'Geography is only about where places are, not why events happened.' What's partly right about that? What's missing?"</a:t>
            </a:r>
            <a:endParaRPr lang="en-US" sz="1200" dirty="0"/>
          </a:p>
        </p:txBody>
      </p:sp>
      <p:sp>
        <p:nvSpPr>
          <p:cNvPr id="8" name="Shape 6"/>
          <p:cNvSpPr/>
          <p:nvPr/>
        </p:nvSpPr>
        <p:spPr>
          <a:xfrm>
            <a:off x="365760" y="1536192"/>
            <a:ext cx="4114800" cy="1737360"/>
          </a:xfrm>
          <a:prstGeom prst="roundRect">
            <a:avLst>
              <a:gd name="adj" fmla="val 5263"/>
            </a:avLst>
          </a:prstGeom>
          <a:solidFill>
            <a:srgbClr val="FFF3DC"/>
          </a:solidFill>
          <a:ln w="19050">
            <a:solidFill>
              <a:srgbClr val="D4943A"/>
            </a:solidFill>
            <a:prstDash val="solid"/>
          </a:ln>
        </p:spPr>
      </p:sp>
      <p:sp>
        <p:nvSpPr>
          <p:cNvPr id="9" name="Text 7"/>
          <p:cNvSpPr/>
          <p:nvPr/>
        </p:nvSpPr>
        <p:spPr>
          <a:xfrm>
            <a:off x="502920" y="1581912"/>
            <a:ext cx="3840480" cy="201168"/>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WHAT THE HERALD GOT RIGHT</a:t>
            </a:r>
            <a:endParaRPr lang="en-US" sz="900" dirty="0"/>
          </a:p>
        </p:txBody>
      </p:sp>
      <p:sp>
        <p:nvSpPr>
          <p:cNvPr id="10" name="Text 8"/>
          <p:cNvSpPr/>
          <p:nvPr/>
        </p:nvSpPr>
        <p:spPr>
          <a:xfrm>
            <a:off x="502920" y="1810512"/>
            <a:ext cx="3840480" cy="1353312"/>
          </a:xfrm>
          <a:prstGeom prst="rect">
            <a:avLst/>
          </a:prstGeom>
          <a:noFill/>
          <a:ln/>
        </p:spPr>
        <p:txBody>
          <a:bodyPr wrap="square" rtlCol="0" anchor="ctr"/>
          <a:lstStyle/>
          <a:p>
            <a:pPr indent="0" marL="0">
              <a:buNone/>
            </a:pPr>
            <a:r>
              <a:rPr lang="en-US" sz="1100" dirty="0">
                <a:solidFill>
                  <a:srgbClr val="5A4A3A"/>
                </a:solidFill>
                <a:latin typeface="Calibri" pitchFamily="34" charset="0"/>
                <a:ea typeface="Calibri" pitchFamily="34" charset="-122"/>
                <a:cs typeface="Calibri" pitchFamily="34" charset="-120"/>
              </a:rPr>
              <a:t>Geography does show WHERE things are. Maps DO include location. That part is true.</a:t>
            </a:r>
            <a:endParaRPr lang="en-US" sz="1100" dirty="0"/>
          </a:p>
        </p:txBody>
      </p:sp>
      <p:sp>
        <p:nvSpPr>
          <p:cNvPr id="11" name="Shape 9"/>
          <p:cNvSpPr/>
          <p:nvPr/>
        </p:nvSpPr>
        <p:spPr>
          <a:xfrm>
            <a:off x="4663440" y="1536192"/>
            <a:ext cx="4114800" cy="1737360"/>
          </a:xfrm>
          <a:prstGeom prst="roundRect">
            <a:avLst>
              <a:gd name="adj" fmla="val 5263"/>
            </a:avLst>
          </a:prstGeom>
          <a:solidFill>
            <a:srgbClr val="FFFFFF"/>
          </a:solidFill>
          <a:ln w="19050">
            <a:solidFill>
              <a:srgbClr val="E8636B"/>
            </a:solidFill>
            <a:prstDash val="solid"/>
          </a:ln>
        </p:spPr>
      </p:sp>
      <p:sp>
        <p:nvSpPr>
          <p:cNvPr id="12" name="Text 10"/>
          <p:cNvSpPr/>
          <p:nvPr/>
        </p:nvSpPr>
        <p:spPr>
          <a:xfrm>
            <a:off x="4800600" y="1581912"/>
            <a:ext cx="3840480" cy="201168"/>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WHAT THE HERALD MISSED</a:t>
            </a:r>
            <a:endParaRPr lang="en-US" sz="900" dirty="0"/>
          </a:p>
        </p:txBody>
      </p:sp>
      <p:sp>
        <p:nvSpPr>
          <p:cNvPr id="13" name="Text 11"/>
          <p:cNvSpPr/>
          <p:nvPr/>
        </p:nvSpPr>
        <p:spPr>
          <a:xfrm>
            <a:off x="4800600" y="1810512"/>
            <a:ext cx="3840480" cy="1353312"/>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Geographic tools ALSO show routes, terrain, resources, and direction -- all of which give historians evidence for WHY things happened.</a:t>
            </a:r>
            <a:endParaRPr lang="en-US" sz="1100" dirty="0"/>
          </a:p>
        </p:txBody>
      </p:sp>
      <p:sp>
        <p:nvSpPr>
          <p:cNvPr id="14" name="Shape 12"/>
          <p:cNvSpPr/>
          <p:nvPr/>
        </p:nvSpPr>
        <p:spPr>
          <a:xfrm>
            <a:off x="365760" y="3401568"/>
            <a:ext cx="8412480" cy="1261872"/>
          </a:xfrm>
          <a:prstGeom prst="roundRect">
            <a:avLst>
              <a:gd name="adj" fmla="val 8696"/>
            </a:avLst>
          </a:prstGeom>
          <a:solidFill>
            <a:srgbClr val="FFF3DC"/>
          </a:solidFill>
          <a:ln w="19050">
            <a:solidFill>
              <a:srgbClr val="F5E6C8"/>
            </a:solidFill>
            <a:prstDash val="solid"/>
          </a:ln>
        </p:spPr>
      </p:sp>
      <p:sp>
        <p:nvSpPr>
          <p:cNvPr id="15" name="Text 13"/>
          <p:cNvSpPr/>
          <p:nvPr/>
        </p:nvSpPr>
        <p:spPr>
          <a:xfrm>
            <a:off x="502920" y="345643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3657600"/>
            <a:ext cx="8138160" cy="94183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 was partly right about ___, but missed..."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1A8A7D"/>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WHY IT MATTERS -- Geographic Evidence and Front Page Briefs</a:t>
            </a:r>
            <a:endParaRPr lang="en-US" sz="1200" dirty="0"/>
          </a:p>
        </p:txBody>
      </p:sp>
      <p:sp>
        <p:nvSpPr>
          <p:cNvPr id="5" name="Text 3"/>
          <p:cNvSpPr/>
          <p:nvPr/>
        </p:nvSpPr>
        <p:spPr>
          <a:xfrm>
            <a:off x="457200" y="640080"/>
            <a:ext cx="8229600" cy="365760"/>
          </a:xfrm>
          <a:prstGeom prst="rect">
            <a:avLst/>
          </a:prstGeom>
          <a:noFill/>
          <a:ln/>
        </p:spPr>
        <p:txBody>
          <a:bodyPr wrap="square"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Geographic tools don't just correct the Herald -- they make your claims stronger.</a:t>
            </a:r>
            <a:endParaRPr lang="en-US" sz="1400" dirty="0"/>
          </a:p>
        </p:txBody>
      </p:sp>
      <p:sp>
        <p:nvSpPr>
          <p:cNvPr id="6" name="Shape 4"/>
          <p:cNvSpPr/>
          <p:nvPr/>
        </p:nvSpPr>
        <p:spPr>
          <a:xfrm>
            <a:off x="365760" y="1115568"/>
            <a:ext cx="2651760" cy="2468880"/>
          </a:xfrm>
          <a:prstGeom prst="roundRect">
            <a:avLst>
              <a:gd name="adj" fmla="val 4444"/>
            </a:avLst>
          </a:prstGeom>
          <a:solidFill>
            <a:srgbClr val="FFFFFF"/>
          </a:solidFill>
          <a:ln w="25400">
            <a:solidFill>
              <a:srgbClr val="1A8A7D"/>
            </a:solidFill>
            <a:prstDash val="solid"/>
          </a:ln>
        </p:spPr>
      </p:sp>
      <p:sp>
        <p:nvSpPr>
          <p:cNvPr id="7" name="Shape 5"/>
          <p:cNvSpPr/>
          <p:nvPr/>
        </p:nvSpPr>
        <p:spPr>
          <a:xfrm>
            <a:off x="1143000" y="1207008"/>
            <a:ext cx="1097280" cy="1005840"/>
          </a:xfrm>
          <a:prstGeom prst="roundRect">
            <a:avLst>
              <a:gd name="adj" fmla="val 50000"/>
            </a:avLst>
          </a:prstGeom>
          <a:solidFill>
            <a:srgbClr val="1A8A7D"/>
          </a:solidFill>
          <a:ln/>
        </p:spPr>
      </p:sp>
      <p:sp>
        <p:nvSpPr>
          <p:cNvPr id="8" name="Text 6"/>
          <p:cNvSpPr/>
          <p:nvPr/>
        </p:nvSpPr>
        <p:spPr>
          <a:xfrm>
            <a:off x="1143000" y="1207008"/>
            <a:ext cx="1097280" cy="10058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457200" y="2331720"/>
            <a:ext cx="2468880" cy="292608"/>
          </a:xfrm>
          <a:prstGeom prst="rect">
            <a:avLst/>
          </a:prstGeom>
          <a:noFill/>
          <a:ln/>
        </p:spPr>
        <p:txBody>
          <a:bodyPr wrap="square" rtlCol="0" anchor="ctr"/>
          <a:lstStyle/>
          <a:p>
            <a:pPr algn="ctr" indent="0" marL="0">
              <a:buNone/>
            </a:pPr>
            <a:r>
              <a:rPr lang="en-US" sz="1200" b="1" dirty="0">
                <a:solidFill>
                  <a:srgbClr val="1A8A7D"/>
                </a:solidFill>
                <a:latin typeface="Cambria" pitchFamily="34" charset="0"/>
                <a:ea typeface="Cambria" pitchFamily="34" charset="-122"/>
                <a:cs typeface="Cambria" pitchFamily="34" charset="-120"/>
              </a:rPr>
              <a:t>Make a Claim</a:t>
            </a:r>
            <a:endParaRPr lang="en-US" sz="1200" dirty="0"/>
          </a:p>
        </p:txBody>
      </p:sp>
      <p:sp>
        <p:nvSpPr>
          <p:cNvPr id="10" name="Text 8"/>
          <p:cNvSpPr/>
          <p:nvPr/>
        </p:nvSpPr>
        <p:spPr>
          <a:xfrm>
            <a:off x="502920" y="2651760"/>
            <a:ext cx="2377440" cy="841248"/>
          </a:xfrm>
          <a:prstGeom prst="rect">
            <a:avLst/>
          </a:prstGeom>
          <a:noFill/>
          <a:ln/>
        </p:spPr>
        <p:txBody>
          <a:bodyPr wrap="square" rtlCol="0" anchor="ctr"/>
          <a:lstStyle/>
          <a:p>
            <a:pPr algn="ctr" indent="0" marL="0">
              <a:buNone/>
            </a:pPr>
            <a:r>
              <a:rPr lang="en-US" sz="1000" dirty="0">
                <a:solidFill>
                  <a:srgbClr val="0E1C42"/>
                </a:solidFill>
                <a:latin typeface="Calibri" pitchFamily="34" charset="0"/>
                <a:ea typeface="Calibri" pitchFamily="34" charset="-122"/>
                <a:cs typeface="Calibri" pitchFamily="34" charset="-120"/>
              </a:rPr>
              <a:t>State what geographic tools can do beyond showing location.</a:t>
            </a:r>
            <a:endParaRPr lang="en-US" sz="1000" dirty="0"/>
          </a:p>
        </p:txBody>
      </p:sp>
      <p:sp>
        <p:nvSpPr>
          <p:cNvPr id="11" name="Shape 9"/>
          <p:cNvSpPr/>
          <p:nvPr/>
        </p:nvSpPr>
        <p:spPr>
          <a:xfrm>
            <a:off x="3200400" y="1115568"/>
            <a:ext cx="2651760" cy="2468880"/>
          </a:xfrm>
          <a:prstGeom prst="roundRect">
            <a:avLst>
              <a:gd name="adj" fmla="val 4444"/>
            </a:avLst>
          </a:prstGeom>
          <a:solidFill>
            <a:srgbClr val="FFFFFF"/>
          </a:solidFill>
          <a:ln w="25400">
            <a:solidFill>
              <a:srgbClr val="D4943A"/>
            </a:solidFill>
            <a:prstDash val="solid"/>
          </a:ln>
        </p:spPr>
      </p:sp>
      <p:sp>
        <p:nvSpPr>
          <p:cNvPr id="12" name="Shape 10"/>
          <p:cNvSpPr/>
          <p:nvPr/>
        </p:nvSpPr>
        <p:spPr>
          <a:xfrm>
            <a:off x="3977640" y="1207008"/>
            <a:ext cx="1097280" cy="1005840"/>
          </a:xfrm>
          <a:prstGeom prst="roundRect">
            <a:avLst>
              <a:gd name="adj" fmla="val 50000"/>
            </a:avLst>
          </a:prstGeom>
          <a:solidFill>
            <a:srgbClr val="D4943A"/>
          </a:solidFill>
          <a:ln/>
        </p:spPr>
      </p:sp>
      <p:sp>
        <p:nvSpPr>
          <p:cNvPr id="13" name="Text 11"/>
          <p:cNvSpPr/>
          <p:nvPr/>
        </p:nvSpPr>
        <p:spPr>
          <a:xfrm>
            <a:off x="3977640" y="1207008"/>
            <a:ext cx="1097280" cy="10058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2"/>
          <p:cNvSpPr/>
          <p:nvPr/>
        </p:nvSpPr>
        <p:spPr>
          <a:xfrm>
            <a:off x="3291840" y="2331720"/>
            <a:ext cx="2468880" cy="292608"/>
          </a:xfrm>
          <a:prstGeom prst="rect">
            <a:avLst/>
          </a:prstGeom>
          <a:noFill/>
          <a:ln/>
        </p:spPr>
        <p:txBody>
          <a:bodyPr wrap="square" rtlCol="0" anchor="ctr"/>
          <a:lstStyle/>
          <a:p>
            <a:pPr algn="ctr" indent="0" marL="0">
              <a:buNone/>
            </a:pPr>
            <a:r>
              <a:rPr lang="en-US" sz="1200" b="1" dirty="0">
                <a:solidFill>
                  <a:srgbClr val="D4943A"/>
                </a:solidFill>
                <a:latin typeface="Cambria" pitchFamily="34" charset="0"/>
                <a:ea typeface="Cambria" pitchFamily="34" charset="-122"/>
                <a:cs typeface="Cambria" pitchFamily="34" charset="-120"/>
              </a:rPr>
              <a:t>Cite Evidence</a:t>
            </a:r>
            <a:endParaRPr lang="en-US" sz="1200" dirty="0"/>
          </a:p>
        </p:txBody>
      </p:sp>
      <p:sp>
        <p:nvSpPr>
          <p:cNvPr id="15" name="Text 13"/>
          <p:cNvSpPr/>
          <p:nvPr/>
        </p:nvSpPr>
        <p:spPr>
          <a:xfrm>
            <a:off x="3337560" y="2651760"/>
            <a:ext cx="2377440" cy="841248"/>
          </a:xfrm>
          <a:prstGeom prst="rect">
            <a:avLst/>
          </a:prstGeom>
          <a:noFill/>
          <a:ln/>
        </p:spPr>
        <p:txBody>
          <a:bodyPr wrap="square" rtlCol="0" anchor="ctr"/>
          <a:lstStyle/>
          <a:p>
            <a:pPr algn="ctr" indent="0" marL="0">
              <a:buNone/>
            </a:pPr>
            <a:r>
              <a:rPr lang="en-US" sz="1000" dirty="0">
                <a:solidFill>
                  <a:srgbClr val="0E1C42"/>
                </a:solidFill>
                <a:latin typeface="Calibri" pitchFamily="34" charset="0"/>
                <a:ea typeface="Calibri" pitchFamily="34" charset="-122"/>
                <a:cs typeface="Calibri" pitchFamily="34" charset="-120"/>
              </a:rPr>
              <a:t>Point to something specific on the map, globe, or compass rose that supports your claim.</a:t>
            </a:r>
            <a:endParaRPr lang="en-US" sz="1000" dirty="0"/>
          </a:p>
        </p:txBody>
      </p:sp>
      <p:sp>
        <p:nvSpPr>
          <p:cNvPr id="16" name="Shape 14"/>
          <p:cNvSpPr/>
          <p:nvPr/>
        </p:nvSpPr>
        <p:spPr>
          <a:xfrm>
            <a:off x="6035040" y="1115568"/>
            <a:ext cx="2651760" cy="2468880"/>
          </a:xfrm>
          <a:prstGeom prst="roundRect">
            <a:avLst>
              <a:gd name="adj" fmla="val 4444"/>
            </a:avLst>
          </a:prstGeom>
          <a:solidFill>
            <a:srgbClr val="FFFFFF"/>
          </a:solidFill>
          <a:ln w="25400">
            <a:solidFill>
              <a:srgbClr val="8B6FC0"/>
            </a:solidFill>
            <a:prstDash val="solid"/>
          </a:ln>
        </p:spPr>
      </p:sp>
      <p:sp>
        <p:nvSpPr>
          <p:cNvPr id="17" name="Shape 15"/>
          <p:cNvSpPr/>
          <p:nvPr/>
        </p:nvSpPr>
        <p:spPr>
          <a:xfrm>
            <a:off x="6812280" y="1207008"/>
            <a:ext cx="1097280" cy="1005840"/>
          </a:xfrm>
          <a:prstGeom prst="roundRect">
            <a:avLst>
              <a:gd name="adj" fmla="val 50000"/>
            </a:avLst>
          </a:prstGeom>
          <a:solidFill>
            <a:srgbClr val="8B6FC0"/>
          </a:solidFill>
          <a:ln/>
        </p:spPr>
      </p:sp>
      <p:sp>
        <p:nvSpPr>
          <p:cNvPr id="18" name="Text 16"/>
          <p:cNvSpPr/>
          <p:nvPr/>
        </p:nvSpPr>
        <p:spPr>
          <a:xfrm>
            <a:off x="6812280" y="1207008"/>
            <a:ext cx="1097280" cy="10058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7"/>
          <p:cNvSpPr/>
          <p:nvPr/>
        </p:nvSpPr>
        <p:spPr>
          <a:xfrm>
            <a:off x="6126480" y="2331720"/>
            <a:ext cx="2468880" cy="292608"/>
          </a:xfrm>
          <a:prstGeom prst="rect">
            <a:avLst/>
          </a:prstGeom>
          <a:noFill/>
          <a:ln/>
        </p:spPr>
        <p:txBody>
          <a:bodyPr wrap="square" rtlCol="0" anchor="ctr"/>
          <a:lstStyle/>
          <a:p>
            <a:pPr algn="ctr" indent="0" marL="0">
              <a:buNone/>
            </a:pPr>
            <a:r>
              <a:rPr lang="en-US" sz="1200" b="1" dirty="0">
                <a:solidFill>
                  <a:srgbClr val="8B6FC0"/>
                </a:solidFill>
                <a:latin typeface="Cambria" pitchFamily="34" charset="0"/>
                <a:ea typeface="Cambria" pitchFamily="34" charset="-122"/>
                <a:cs typeface="Cambria" pitchFamily="34" charset="-120"/>
              </a:rPr>
              <a:t>Explain the Connection</a:t>
            </a:r>
            <a:endParaRPr lang="en-US" sz="1200" dirty="0"/>
          </a:p>
        </p:txBody>
      </p:sp>
      <p:sp>
        <p:nvSpPr>
          <p:cNvPr id="20" name="Text 18"/>
          <p:cNvSpPr/>
          <p:nvPr/>
        </p:nvSpPr>
        <p:spPr>
          <a:xfrm>
            <a:off x="6172200" y="2651760"/>
            <a:ext cx="2377440" cy="841248"/>
          </a:xfrm>
          <a:prstGeom prst="rect">
            <a:avLst/>
          </a:prstGeom>
          <a:noFill/>
          <a:ln/>
        </p:spPr>
        <p:txBody>
          <a:bodyPr wrap="square" rtlCol="0" anchor="ctr"/>
          <a:lstStyle/>
          <a:p>
            <a:pPr algn="ctr" indent="0" marL="0">
              <a:buNone/>
            </a:pPr>
            <a:r>
              <a:rPr lang="en-US" sz="1000" dirty="0">
                <a:solidFill>
                  <a:srgbClr val="0E1C42"/>
                </a:solidFill>
                <a:latin typeface="Calibri" pitchFamily="34" charset="0"/>
                <a:ea typeface="Calibri" pitchFamily="34" charset="-122"/>
                <a:cs typeface="Calibri" pitchFamily="34" charset="-120"/>
              </a:rPr>
              <a:t>Tell your reader HOW that geographic feature answers a WHY question -- not just a WHERE.</a:t>
            </a:r>
            <a:endParaRPr lang="en-US" sz="1000" dirty="0"/>
          </a:p>
        </p:txBody>
      </p:sp>
      <p:sp>
        <p:nvSpPr>
          <p:cNvPr id="21" name="Shape 19"/>
          <p:cNvSpPr/>
          <p:nvPr/>
        </p:nvSpPr>
        <p:spPr>
          <a:xfrm>
            <a:off x="365760" y="3721608"/>
            <a:ext cx="8412480" cy="713232"/>
          </a:xfrm>
          <a:prstGeom prst="roundRect">
            <a:avLst>
              <a:gd name="adj" fmla="val 12821"/>
            </a:avLst>
          </a:prstGeom>
          <a:solidFill>
            <a:srgbClr val="FFF3DC"/>
          </a:solidFill>
          <a:ln w="19050">
            <a:solidFill>
              <a:srgbClr val="D4943A"/>
            </a:solidFill>
            <a:prstDash val="solid"/>
          </a:ln>
        </p:spPr>
      </p:sp>
      <p:sp>
        <p:nvSpPr>
          <p:cNvPr id="22" name="Text 20"/>
          <p:cNvSpPr/>
          <p:nvPr/>
        </p:nvSpPr>
        <p:spPr>
          <a:xfrm>
            <a:off x="502920" y="3767328"/>
            <a:ext cx="8138160" cy="594360"/>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ARCHIVE LINE: "In one careful sentence, write what future citizens should remember about geographic tools for historical questions."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75488"/>
          </a:xfrm>
          <a:prstGeom prst="roundRect">
            <a:avLst>
              <a:gd name="adj" fmla="val 15385"/>
            </a:avLst>
          </a:prstGeom>
          <a:solidFill>
            <a:srgbClr val="D4943A"/>
          </a:solidFill>
          <a:ln w="12700">
            <a:solidFill>
              <a:srgbClr val="B07A2A"/>
            </a:solidFill>
            <a:prstDash val="solid"/>
          </a:ln>
        </p:spPr>
      </p:sp>
      <p:sp>
        <p:nvSpPr>
          <p:cNvPr id="6" name="Text 3"/>
          <p:cNvSpPr/>
          <p:nvPr/>
        </p:nvSpPr>
        <p:spPr>
          <a:xfrm>
            <a:off x="457200" y="274320"/>
            <a:ext cx="8229600" cy="475488"/>
          </a:xfrm>
          <a:prstGeom prst="rect">
            <a:avLst/>
          </a:prstGeom>
          <a:noFill/>
          <a:ln/>
        </p:spPr>
        <p:txBody>
          <a:bodyPr wrap="square" rtlCol="0" anchor="ctr"/>
          <a:lstStyle/>
          <a:p>
            <a:pPr algn="ctr" indent="0" marL="0">
              <a:buNone/>
            </a:pPr>
            <a:r>
              <a:rPr lang="en-US" sz="1100" b="1" spc="200" kern="0" dirty="0">
                <a:solidFill>
                  <a:srgbClr val="0E1C42"/>
                </a:solidFill>
                <a:latin typeface="Calibri" pitchFamily="34" charset="0"/>
                <a:ea typeface="Calibri" pitchFamily="34" charset="-122"/>
                <a:cs typeface="Calibri" pitchFamily="34" charset="-120"/>
              </a:rPr>
              <a:t>VIRTUE SPOTLIGHT</a:t>
            </a:r>
            <a:endParaRPr lang="en-US" sz="1100" dirty="0"/>
          </a:p>
        </p:txBody>
      </p:sp>
      <p:sp>
        <p:nvSpPr>
          <p:cNvPr id="7" name="Text 4"/>
          <p:cNvSpPr/>
          <p:nvPr/>
        </p:nvSpPr>
        <p:spPr>
          <a:xfrm>
            <a:off x="457200" y="914400"/>
            <a:ext cx="8229600" cy="658368"/>
          </a:xfrm>
          <a:prstGeom prst="rect">
            <a:avLst/>
          </a:prstGeom>
          <a:noFill/>
          <a:ln/>
        </p:spPr>
        <p:txBody>
          <a:bodyPr wrap="square" rtlCol="0" anchor="ctr"/>
          <a:lstStyle/>
          <a:p>
            <a:pPr algn="ctr" indent="0" marL="0">
              <a:buNone/>
            </a:pPr>
            <a:r>
              <a:rPr lang="en-US" sz="4000" b="1" dirty="0">
                <a:solidFill>
                  <a:srgbClr val="D4943A"/>
                </a:solidFill>
                <a:latin typeface="Cambria" pitchFamily="34" charset="0"/>
                <a:ea typeface="Cambria" pitchFamily="34" charset="-122"/>
                <a:cs typeface="Cambria" pitchFamily="34" charset="-120"/>
              </a:rPr>
              <a:t>SERVICE</a:t>
            </a:r>
            <a:endParaRPr lang="en-US" sz="4000" dirty="0"/>
          </a:p>
        </p:txBody>
      </p:sp>
      <p:sp>
        <p:nvSpPr>
          <p:cNvPr id="8" name="Shape 5"/>
          <p:cNvSpPr/>
          <p:nvPr/>
        </p:nvSpPr>
        <p:spPr>
          <a:xfrm>
            <a:off x="1097280" y="1719072"/>
            <a:ext cx="6949440" cy="1371600"/>
          </a:xfrm>
          <a:prstGeom prst="roundRect">
            <a:avLst>
              <a:gd name="adj" fmla="val 8000"/>
            </a:avLst>
          </a:prstGeom>
          <a:solidFill>
            <a:srgbClr val="1A2D5A"/>
          </a:solidFill>
          <a:ln w="19050">
            <a:solidFill>
              <a:srgbClr val="D4943A"/>
            </a:solidFill>
            <a:prstDash val="solid"/>
          </a:ln>
        </p:spPr>
      </p:sp>
      <p:sp>
        <p:nvSpPr>
          <p:cNvPr id="9" name="Text 6"/>
          <p:cNvSpPr/>
          <p:nvPr/>
        </p:nvSpPr>
        <p:spPr>
          <a:xfrm>
            <a:off x="1234440" y="1773936"/>
            <a:ext cx="6675120" cy="1207008"/>
          </a:xfrm>
          <a:prstGeom prst="rect">
            <a:avLst/>
          </a:prstGeom>
          <a:noFill/>
          <a:ln/>
        </p:spPr>
        <p:txBody>
          <a:bodyPr wrap="square" rtlCol="0" anchor="ctr"/>
          <a:lstStyle/>
          <a:p>
            <a:pPr algn="ctr" indent="0" marL="0">
              <a:buNone/>
            </a:pPr>
            <a:r>
              <a:rPr lang="en-US" sz="1600" i="1" dirty="0">
                <a:solidFill>
                  <a:srgbClr val="FFFFFF"/>
                </a:solidFill>
                <a:latin typeface="Cambria" pitchFamily="34" charset="0"/>
                <a:ea typeface="Cambria" pitchFamily="34" charset="-122"/>
                <a:cs typeface="Cambria" pitchFamily="34" charset="-120"/>
              </a:rPr>
              <a:t>An editor who serves the public gathers the full picture before printing -- not just the first fact.</a:t>
            </a:r>
            <a:endParaRPr lang="en-US" sz="1600" dirty="0"/>
          </a:p>
        </p:txBody>
      </p:sp>
      <p:sp>
        <p:nvSpPr>
          <p:cNvPr id="10" name="Text 7"/>
          <p:cNvSpPr/>
          <p:nvPr/>
        </p:nvSpPr>
        <p:spPr>
          <a:xfrm>
            <a:off x="914400" y="3246120"/>
            <a:ext cx="7315200" cy="804672"/>
          </a:xfrm>
          <a:prstGeom prst="rect">
            <a:avLst/>
          </a:prstGeom>
          <a:noFill/>
          <a:ln/>
        </p:spPr>
        <p:txBody>
          <a:bodyPr wrap="square" rtlCol="0" anchor="ctr"/>
          <a:lstStyle/>
          <a:p>
            <a:pPr algn="ctr" indent="0" marL="0">
              <a:buNone/>
            </a:pPr>
            <a:r>
              <a:rPr lang="en-US" sz="1200" dirty="0">
                <a:solidFill>
                  <a:srgbClr val="D6F2FB"/>
                </a:solidFill>
                <a:latin typeface="Calibri" pitchFamily="34" charset="0"/>
                <a:ea typeface="Calibri" pitchFamily="34" charset="-122"/>
                <a:cs typeface="Calibri" pitchFamily="34" charset="-120"/>
              </a:rPr>
              <a:t>The Republic Gazette serves readers by checking all the evidence -- including what geographic tools reveal about WHY events happened. That is how an honest editor corrects an incomplete story.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0E1C42"/>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200" b="1" spc="150" kern="0" dirty="0">
                <a:solidFill>
                  <a:srgbClr val="D4943A"/>
                </a:solidFill>
                <a:latin typeface="Calibri" pitchFamily="34" charset="0"/>
                <a:ea typeface="Calibri" pitchFamily="34" charset="-122"/>
                <a:cs typeface="Calibri" pitchFamily="34" charset="-120"/>
              </a:rPr>
              <a:t>GUIDED PRACTICE -- Teacher Models</a:t>
            </a:r>
            <a:endParaRPr lang="en-US" sz="1200" dirty="0"/>
          </a:p>
        </p:txBody>
      </p:sp>
      <p:sp>
        <p:nvSpPr>
          <p:cNvPr id="5" name="Shape 3"/>
          <p:cNvSpPr/>
          <p:nvPr/>
        </p:nvSpPr>
        <p:spPr>
          <a:xfrm>
            <a:off x="365760" y="594360"/>
            <a:ext cx="8412480" cy="530352"/>
          </a:xfrm>
          <a:prstGeom prst="roundRect">
            <a:avLst>
              <a:gd name="adj" fmla="val 13793"/>
            </a:avLst>
          </a:prstGeom>
          <a:solidFill>
            <a:srgbClr val="FFFFFF"/>
          </a:solidFill>
          <a:ln w="19050">
            <a:solidFill>
              <a:srgbClr val="1A8A7D"/>
            </a:solidFill>
            <a:prstDash val="solid"/>
          </a:ln>
        </p:spPr>
      </p:sp>
      <p:sp>
        <p:nvSpPr>
          <p:cNvPr id="6" name="Text 4"/>
          <p:cNvSpPr/>
          <p:nvPr/>
        </p:nvSpPr>
        <p:spPr>
          <a:xfrm>
            <a:off x="502920" y="640080"/>
            <a:ext cx="8138160" cy="411480"/>
          </a:xfrm>
          <a:prstGeom prst="rect">
            <a:avLst/>
          </a:prstGeom>
          <a:noFill/>
          <a:ln/>
        </p:spPr>
        <p:txBody>
          <a:bodyPr wrap="square"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Example: I want to argue that a colonial map explains why the first settlements were near water.</a:t>
            </a:r>
            <a:endParaRPr lang="en-US" sz="1200" dirty="0"/>
          </a:p>
        </p:txBody>
      </p:sp>
      <p:sp>
        <p:nvSpPr>
          <p:cNvPr id="7" name="Shape 5"/>
          <p:cNvSpPr/>
          <p:nvPr/>
        </p:nvSpPr>
        <p:spPr>
          <a:xfrm>
            <a:off x="365760" y="1234440"/>
            <a:ext cx="8412480" cy="914400"/>
          </a:xfrm>
          <a:prstGeom prst="roundRect">
            <a:avLst>
              <a:gd name="adj" fmla="val 8000"/>
            </a:avLst>
          </a:prstGeom>
          <a:solidFill>
            <a:srgbClr val="FFFFFF"/>
          </a:solidFill>
          <a:ln w="25400">
            <a:solidFill>
              <a:srgbClr val="1A8A7D"/>
            </a:solidFill>
            <a:prstDash val="solid"/>
          </a:ln>
        </p:spPr>
      </p:sp>
      <p:sp>
        <p:nvSpPr>
          <p:cNvPr id="8" name="Text 6"/>
          <p:cNvSpPr/>
          <p:nvPr/>
        </p:nvSpPr>
        <p:spPr>
          <a:xfrm>
            <a:off x="502920" y="1280160"/>
            <a:ext cx="1828800" cy="22860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CLAIM</a:t>
            </a:r>
            <a:endParaRPr lang="en-US" sz="1000" dirty="0"/>
          </a:p>
        </p:txBody>
      </p:sp>
      <p:sp>
        <p:nvSpPr>
          <p:cNvPr id="9" name="Text 7"/>
          <p:cNvSpPr/>
          <p:nvPr/>
        </p:nvSpPr>
        <p:spPr>
          <a:xfrm>
            <a:off x="502920" y="1508760"/>
            <a:ext cx="8138160" cy="566928"/>
          </a:xfrm>
          <a:prstGeom prst="rect">
            <a:avLst/>
          </a:prstGeom>
          <a:noFill/>
          <a:ln/>
        </p:spPr>
        <p:txBody>
          <a:bodyPr wrap="square"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"Maps give historians evidence for why colonists settled near rivers and harbors, not just where they settled."</a:t>
            </a:r>
            <a:endParaRPr lang="en-US" sz="1200" dirty="0"/>
          </a:p>
        </p:txBody>
      </p:sp>
      <p:sp>
        <p:nvSpPr>
          <p:cNvPr id="10" name="Shape 8"/>
          <p:cNvSpPr/>
          <p:nvPr/>
        </p:nvSpPr>
        <p:spPr>
          <a:xfrm>
            <a:off x="365760" y="2258568"/>
            <a:ext cx="8412480" cy="914400"/>
          </a:xfrm>
          <a:prstGeom prst="roundRect">
            <a:avLst>
              <a:gd name="adj" fmla="val 8000"/>
            </a:avLst>
          </a:prstGeom>
          <a:solidFill>
            <a:srgbClr val="FFFFFF"/>
          </a:solidFill>
          <a:ln w="25400">
            <a:solidFill>
              <a:srgbClr val="D4943A"/>
            </a:solidFill>
            <a:prstDash val="solid"/>
          </a:ln>
        </p:spPr>
      </p:sp>
      <p:sp>
        <p:nvSpPr>
          <p:cNvPr id="11" name="Text 9"/>
          <p:cNvSpPr/>
          <p:nvPr/>
        </p:nvSpPr>
        <p:spPr>
          <a:xfrm>
            <a:off x="502920" y="2304288"/>
            <a:ext cx="1828800" cy="22860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EVIDENCE</a:t>
            </a:r>
            <a:endParaRPr lang="en-US" sz="1000" dirty="0"/>
          </a:p>
        </p:txBody>
      </p:sp>
      <p:sp>
        <p:nvSpPr>
          <p:cNvPr id="12" name="Text 10"/>
          <p:cNvSpPr/>
          <p:nvPr/>
        </p:nvSpPr>
        <p:spPr>
          <a:xfrm>
            <a:off x="502920" y="2532888"/>
            <a:ext cx="8138160" cy="566928"/>
          </a:xfrm>
          <a:prstGeom prst="rect">
            <a:avLst/>
          </a:prstGeom>
          <a:noFill/>
          <a:ln/>
        </p:spPr>
        <p:txBody>
          <a:bodyPr wrap="square"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"The colonial map shows the James River and Chesapeake Bay -- both labeled along the coastline."</a:t>
            </a:r>
            <a:endParaRPr lang="en-US" sz="1200" dirty="0"/>
          </a:p>
        </p:txBody>
      </p:sp>
      <p:sp>
        <p:nvSpPr>
          <p:cNvPr id="13" name="Shape 11"/>
          <p:cNvSpPr/>
          <p:nvPr/>
        </p:nvSpPr>
        <p:spPr>
          <a:xfrm>
            <a:off x="365760" y="3282696"/>
            <a:ext cx="8412480" cy="914400"/>
          </a:xfrm>
          <a:prstGeom prst="roundRect">
            <a:avLst>
              <a:gd name="adj" fmla="val 8000"/>
            </a:avLst>
          </a:prstGeom>
          <a:solidFill>
            <a:srgbClr val="FFFFFF"/>
          </a:solidFill>
          <a:ln w="25400">
            <a:solidFill>
              <a:srgbClr val="8B6FC0"/>
            </a:solidFill>
            <a:prstDash val="solid"/>
          </a:ln>
        </p:spPr>
      </p:sp>
      <p:sp>
        <p:nvSpPr>
          <p:cNvPr id="14" name="Text 12"/>
          <p:cNvSpPr/>
          <p:nvPr/>
        </p:nvSpPr>
        <p:spPr>
          <a:xfrm>
            <a:off x="502920" y="3328416"/>
            <a:ext cx="1828800" cy="228600"/>
          </a:xfrm>
          <a:prstGeom prst="rect">
            <a:avLst/>
          </a:prstGeom>
          <a:noFill/>
          <a:ln/>
        </p:spPr>
        <p:txBody>
          <a:bodyPr wrap="square"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EXPLANATION</a:t>
            </a:r>
            <a:endParaRPr lang="en-US" sz="1000" dirty="0"/>
          </a:p>
        </p:txBody>
      </p:sp>
      <p:sp>
        <p:nvSpPr>
          <p:cNvPr id="15" name="Text 13"/>
          <p:cNvSpPr/>
          <p:nvPr/>
        </p:nvSpPr>
        <p:spPr>
          <a:xfrm>
            <a:off x="502920" y="3557016"/>
            <a:ext cx="8138160" cy="566928"/>
          </a:xfrm>
          <a:prstGeom prst="rect">
            <a:avLst/>
          </a:prstGeom>
          <a:noFill/>
          <a:ln/>
        </p:spPr>
        <p:txBody>
          <a:bodyPr wrap="square"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"A river means fresh water, food, and a way to travel inland. A harbor means ships can land. These features explain WHY Jamestown was placed there -- not just that it was there."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1A8A7D"/>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WE TRY TOGETHER -- Whole Class Practice</a:t>
            </a:r>
            <a:endParaRPr lang="en-US" sz="1200" dirty="0"/>
          </a:p>
        </p:txBody>
      </p:sp>
      <p:sp>
        <p:nvSpPr>
          <p:cNvPr id="5" name="Text 3"/>
          <p:cNvSpPr/>
          <p:nvPr/>
        </p:nvSpPr>
        <p:spPr>
          <a:xfrm>
            <a:off x="457200" y="594360"/>
            <a:ext cx="8229600" cy="320040"/>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New example -- let's build a response together:</a:t>
            </a:r>
            <a:endParaRPr lang="en-US" sz="1200" dirty="0"/>
          </a:p>
        </p:txBody>
      </p:sp>
      <p:sp>
        <p:nvSpPr>
          <p:cNvPr id="6" name="Shape 4"/>
          <p:cNvSpPr/>
          <p:nvPr/>
        </p:nvSpPr>
        <p:spPr>
          <a:xfrm>
            <a:off x="365760" y="960120"/>
            <a:ext cx="8412480" cy="530352"/>
          </a:xfrm>
          <a:prstGeom prst="roundRect">
            <a:avLst>
              <a:gd name="adj" fmla="val 13793"/>
            </a:avLst>
          </a:prstGeom>
          <a:solidFill>
            <a:srgbClr val="FFFFFF"/>
          </a:solidFill>
          <a:ln w="12700">
            <a:solidFill>
              <a:srgbClr val="B0B8CC"/>
            </a:solidFill>
            <a:prstDash val="solid"/>
          </a:ln>
        </p:spPr>
      </p:sp>
      <p:sp>
        <p:nvSpPr>
          <p:cNvPr id="7" name="Text 5"/>
          <p:cNvSpPr/>
          <p:nvPr/>
        </p:nvSpPr>
        <p:spPr>
          <a:xfrm>
            <a:off x="502920" y="1005840"/>
            <a:ext cx="8138160" cy="411480"/>
          </a:xfrm>
          <a:prstGeom prst="rect">
            <a:avLst/>
          </a:prstGeom>
          <a:noFill/>
          <a:ln/>
        </p:spPr>
        <p:txBody>
          <a:bodyPr wrap="square"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"A compass rose on a 13 colonies map shows that trade ships sailed north along the Atlantic coast."</a:t>
            </a:r>
            <a:endParaRPr lang="en-US" sz="1200" dirty="0"/>
          </a:p>
        </p:txBody>
      </p:sp>
      <p:sp>
        <p:nvSpPr>
          <p:cNvPr id="8" name="Shape 6"/>
          <p:cNvSpPr/>
          <p:nvPr/>
        </p:nvSpPr>
        <p:spPr>
          <a:xfrm>
            <a:off x="365760" y="1627632"/>
            <a:ext cx="5120640" cy="2011680"/>
          </a:xfrm>
          <a:prstGeom prst="roundRect">
            <a:avLst>
              <a:gd name="adj" fmla="val 5455"/>
            </a:avLst>
          </a:prstGeom>
          <a:solidFill>
            <a:srgbClr val="1A2D5A"/>
          </a:solidFill>
          <a:ln w="12700">
            <a:solidFill>
              <a:srgbClr val="2A4070"/>
            </a:solidFill>
            <a:prstDash val="solid"/>
          </a:ln>
        </p:spPr>
      </p:sp>
      <p:sp>
        <p:nvSpPr>
          <p:cNvPr id="9" name="Text 7"/>
          <p:cNvSpPr/>
          <p:nvPr/>
        </p:nvSpPr>
        <p:spPr>
          <a:xfrm>
            <a:off x="502920" y="1682496"/>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1947672"/>
            <a:ext cx="4754880" cy="160020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Is that a WHERE statement or a WHY statement -- or both?</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historical question could this compass rose evidence help answer?</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explanation would connect this evidence to a WHY claim?</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would you turn this into a complete Claim + Evidence + Explanation?</a:t>
            </a:r>
            <a:endParaRPr lang="en-US" sz="1100" dirty="0"/>
          </a:p>
        </p:txBody>
      </p:sp>
      <p:sp>
        <p:nvSpPr>
          <p:cNvPr id="11" name="Shape 9"/>
          <p:cNvSpPr/>
          <p:nvPr/>
        </p:nvSpPr>
        <p:spPr>
          <a:xfrm>
            <a:off x="5623560" y="1627632"/>
            <a:ext cx="3154680" cy="2011680"/>
          </a:xfrm>
          <a:prstGeom prst="roundRect">
            <a:avLst>
              <a:gd name="adj" fmla="val 5455"/>
            </a:avLst>
          </a:prstGeom>
          <a:solidFill>
            <a:srgbClr val="FFF3DC"/>
          </a:solidFill>
          <a:ln w="19050">
            <a:solidFill>
              <a:srgbClr val="F5E6C8"/>
            </a:solidFill>
            <a:prstDash val="solid"/>
          </a:ln>
        </p:spPr>
      </p:sp>
      <p:sp>
        <p:nvSpPr>
          <p:cNvPr id="12" name="Text 10"/>
          <p:cNvSpPr/>
          <p:nvPr/>
        </p:nvSpPr>
        <p:spPr>
          <a:xfrm>
            <a:off x="5760720" y="1682496"/>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60720" y="1883664"/>
            <a:ext cx="2880360" cy="1691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compass rose evidence helps explain why 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claim would be: ___. The explanation is: ___"</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D4943A"/>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400" b="1" spc="150" kern="0" dirty="0">
                <a:solidFill>
                  <a:srgbClr val="FFFFFF"/>
                </a:solidFill>
                <a:latin typeface="Cambria" pitchFamily="34" charset="0"/>
                <a:ea typeface="Cambria" pitchFamily="34" charset="-122"/>
                <a:cs typeface="Cambria" pitchFamily="34" charset="-120"/>
              </a:rPr>
              <a:t>YOUR TURN WITH SUPPORT</a:t>
            </a:r>
            <a:endParaRPr lang="en-US" sz="1400" dirty="0"/>
          </a:p>
        </p:txBody>
      </p:sp>
      <p:sp>
        <p:nvSpPr>
          <p:cNvPr id="5" name="Text 3"/>
          <p:cNvSpPr/>
          <p:nvPr/>
        </p:nvSpPr>
        <p:spPr>
          <a:xfrm>
            <a:off x="457200" y="594360"/>
            <a:ext cx="8229600" cy="320040"/>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Choose one geographic tool from today and build your own response:</a:t>
            </a:r>
            <a:endParaRPr lang="en-US" sz="1200" dirty="0"/>
          </a:p>
        </p:txBody>
      </p:sp>
      <p:sp>
        <p:nvSpPr>
          <p:cNvPr id="6" name="Shape 4"/>
          <p:cNvSpPr/>
          <p:nvPr/>
        </p:nvSpPr>
        <p:spPr>
          <a:xfrm>
            <a:off x="365760" y="1024128"/>
            <a:ext cx="8412480" cy="676656"/>
          </a:xfrm>
          <a:prstGeom prst="roundRect">
            <a:avLst>
              <a:gd name="adj" fmla="val 10811"/>
            </a:avLst>
          </a:prstGeom>
          <a:solidFill>
            <a:srgbClr val="FFFFFF"/>
          </a:solidFill>
          <a:ln w="19050">
            <a:solidFill>
              <a:srgbClr val="D4943A"/>
            </a:solidFill>
            <a:prstDash val="solid"/>
          </a:ln>
        </p:spPr>
      </p:sp>
      <p:sp>
        <p:nvSpPr>
          <p:cNvPr id="7" name="Text 5"/>
          <p:cNvSpPr/>
          <p:nvPr/>
        </p:nvSpPr>
        <p:spPr>
          <a:xfrm>
            <a:off x="502920" y="1069848"/>
            <a:ext cx="3200400" cy="228600"/>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1. CHOOSE your tool</a:t>
            </a:r>
            <a:endParaRPr lang="en-US" sz="1000" dirty="0"/>
          </a:p>
        </p:txBody>
      </p:sp>
      <p:sp>
        <p:nvSpPr>
          <p:cNvPr id="8" name="Text 6"/>
          <p:cNvSpPr/>
          <p:nvPr/>
        </p:nvSpPr>
        <p:spPr>
          <a:xfrm>
            <a:off x="502920" y="1307592"/>
            <a:ext cx="8138160" cy="320040"/>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Map  |  Globe  |  Compass Rose</a:t>
            </a:r>
            <a:endParaRPr lang="en-US" sz="1100" dirty="0"/>
          </a:p>
        </p:txBody>
      </p:sp>
      <p:sp>
        <p:nvSpPr>
          <p:cNvPr id="9" name="Shape 7"/>
          <p:cNvSpPr/>
          <p:nvPr/>
        </p:nvSpPr>
        <p:spPr>
          <a:xfrm>
            <a:off x="365760" y="1819656"/>
            <a:ext cx="8412480" cy="676656"/>
          </a:xfrm>
          <a:prstGeom prst="roundRect">
            <a:avLst>
              <a:gd name="adj" fmla="val 10811"/>
            </a:avLst>
          </a:prstGeom>
          <a:solidFill>
            <a:srgbClr val="FFFFFF"/>
          </a:solidFill>
          <a:ln w="19050">
            <a:solidFill>
              <a:srgbClr val="D4943A"/>
            </a:solidFill>
            <a:prstDash val="solid"/>
          </a:ln>
        </p:spPr>
      </p:sp>
      <p:sp>
        <p:nvSpPr>
          <p:cNvPr id="10" name="Text 8"/>
          <p:cNvSpPr/>
          <p:nvPr/>
        </p:nvSpPr>
        <p:spPr>
          <a:xfrm>
            <a:off x="502920" y="1865376"/>
            <a:ext cx="3200400" cy="228600"/>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2. WRITE your claim</a:t>
            </a:r>
            <a:endParaRPr lang="en-US" sz="1000" dirty="0"/>
          </a:p>
        </p:txBody>
      </p:sp>
      <p:sp>
        <p:nvSpPr>
          <p:cNvPr id="11" name="Text 9"/>
          <p:cNvSpPr/>
          <p:nvPr/>
        </p:nvSpPr>
        <p:spPr>
          <a:xfrm>
            <a:off x="502920" y="2103120"/>
            <a:ext cx="8138160" cy="320040"/>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What can this tool help a historian understand beyond WHERE?</a:t>
            </a:r>
            <a:endParaRPr lang="en-US" sz="1100" dirty="0"/>
          </a:p>
        </p:txBody>
      </p:sp>
      <p:sp>
        <p:nvSpPr>
          <p:cNvPr id="12" name="Shape 10"/>
          <p:cNvSpPr/>
          <p:nvPr/>
        </p:nvSpPr>
        <p:spPr>
          <a:xfrm>
            <a:off x="365760" y="2615184"/>
            <a:ext cx="8412480" cy="676656"/>
          </a:xfrm>
          <a:prstGeom prst="roundRect">
            <a:avLst>
              <a:gd name="adj" fmla="val 10811"/>
            </a:avLst>
          </a:prstGeom>
          <a:solidFill>
            <a:srgbClr val="FFFFFF"/>
          </a:solidFill>
          <a:ln w="19050">
            <a:solidFill>
              <a:srgbClr val="D4943A"/>
            </a:solidFill>
            <a:prstDash val="solid"/>
          </a:ln>
        </p:spPr>
      </p:sp>
      <p:sp>
        <p:nvSpPr>
          <p:cNvPr id="13" name="Text 11"/>
          <p:cNvSpPr/>
          <p:nvPr/>
        </p:nvSpPr>
        <p:spPr>
          <a:xfrm>
            <a:off x="502920" y="2660904"/>
            <a:ext cx="3200400" cy="228600"/>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3. NAME your evidence</a:t>
            </a:r>
            <a:endParaRPr lang="en-US" sz="1000" dirty="0"/>
          </a:p>
        </p:txBody>
      </p:sp>
      <p:sp>
        <p:nvSpPr>
          <p:cNvPr id="14" name="Text 12"/>
          <p:cNvSpPr/>
          <p:nvPr/>
        </p:nvSpPr>
        <p:spPr>
          <a:xfrm>
            <a:off x="502920" y="2898648"/>
            <a:ext cx="8138160" cy="320040"/>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What specific feature on this tool shows that? (routes, rivers, oceans, direction)</a:t>
            </a:r>
            <a:endParaRPr lang="en-US" sz="1100" dirty="0"/>
          </a:p>
        </p:txBody>
      </p:sp>
      <p:sp>
        <p:nvSpPr>
          <p:cNvPr id="15" name="Shape 13"/>
          <p:cNvSpPr/>
          <p:nvPr/>
        </p:nvSpPr>
        <p:spPr>
          <a:xfrm>
            <a:off x="365760" y="3410712"/>
            <a:ext cx="8412480" cy="676656"/>
          </a:xfrm>
          <a:prstGeom prst="roundRect">
            <a:avLst>
              <a:gd name="adj" fmla="val 10811"/>
            </a:avLst>
          </a:prstGeom>
          <a:solidFill>
            <a:srgbClr val="FFFFFF"/>
          </a:solidFill>
          <a:ln w="19050">
            <a:solidFill>
              <a:srgbClr val="D4943A"/>
            </a:solidFill>
            <a:prstDash val="solid"/>
          </a:ln>
        </p:spPr>
      </p:sp>
      <p:sp>
        <p:nvSpPr>
          <p:cNvPr id="16" name="Text 14"/>
          <p:cNvSpPr/>
          <p:nvPr/>
        </p:nvSpPr>
        <p:spPr>
          <a:xfrm>
            <a:off x="502920" y="3456432"/>
            <a:ext cx="3200400" cy="228600"/>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4. EXPLAIN the connection</a:t>
            </a:r>
            <a:endParaRPr lang="en-US" sz="1000" dirty="0"/>
          </a:p>
        </p:txBody>
      </p:sp>
      <p:sp>
        <p:nvSpPr>
          <p:cNvPr id="17" name="Text 15"/>
          <p:cNvSpPr/>
          <p:nvPr/>
        </p:nvSpPr>
        <p:spPr>
          <a:xfrm>
            <a:off x="502920" y="3694176"/>
            <a:ext cx="8138160" cy="320040"/>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How does that feature answer a WHY question about history?</a:t>
            </a:r>
            <a:endParaRPr lang="en-US" sz="1100" dirty="0"/>
          </a:p>
        </p:txBody>
      </p:sp>
      <p:sp>
        <p:nvSpPr>
          <p:cNvPr id="18" name="Shape 16"/>
          <p:cNvSpPr/>
          <p:nvPr/>
        </p:nvSpPr>
        <p:spPr>
          <a:xfrm>
            <a:off x="365760" y="4206240"/>
            <a:ext cx="8412480" cy="594360"/>
          </a:xfrm>
          <a:prstGeom prst="roundRect">
            <a:avLst>
              <a:gd name="adj" fmla="val 18462"/>
            </a:avLst>
          </a:prstGeom>
          <a:solidFill>
            <a:srgbClr val="FFF3DC"/>
          </a:solidFill>
          <a:ln w="19050">
            <a:solidFill>
              <a:srgbClr val="F5E6C8"/>
            </a:solidFill>
            <a:prstDash val="solid"/>
          </a:ln>
        </p:spPr>
      </p:sp>
      <p:sp>
        <p:nvSpPr>
          <p:cNvPr id="19" name="Text 17"/>
          <p:cNvSpPr/>
          <p:nvPr/>
        </p:nvSpPr>
        <p:spPr>
          <a:xfrm>
            <a:off x="502920" y="426110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0" name="Text 18"/>
          <p:cNvSpPr/>
          <p:nvPr/>
        </p:nvSpPr>
        <p:spPr>
          <a:xfrm>
            <a:off x="502920" y="4462272"/>
            <a:ext cx="8138160" cy="2743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tool: ___. My claim: ___. My evidence: ___. My explanation: ___."</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E8636B"/>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ERROR ANALYSIS -- Spot the Flaw</a:t>
            </a:r>
            <a:endParaRPr lang="en-US" sz="1200" dirty="0"/>
          </a:p>
        </p:txBody>
      </p:sp>
      <p:sp>
        <p:nvSpPr>
          <p:cNvPr id="5" name="Shape 3"/>
          <p:cNvSpPr/>
          <p:nvPr/>
        </p:nvSpPr>
        <p:spPr>
          <a:xfrm>
            <a:off x="365760" y="594360"/>
            <a:ext cx="8412480" cy="1170432"/>
          </a:xfrm>
          <a:prstGeom prst="roundRect">
            <a:avLst>
              <a:gd name="adj" fmla="val 9375"/>
            </a:avLst>
          </a:prstGeom>
          <a:solidFill>
            <a:srgbClr val="FFFFFF"/>
          </a:solidFill>
          <a:ln w="31750">
            <a:solidFill>
              <a:srgbClr val="E8636B"/>
            </a:solidFill>
            <a:prstDash val="solid"/>
          </a:ln>
        </p:spPr>
      </p:sp>
      <p:sp>
        <p:nvSpPr>
          <p:cNvPr id="6" name="Text 4"/>
          <p:cNvSpPr/>
          <p:nvPr/>
        </p:nvSpPr>
        <p:spPr>
          <a:xfrm>
            <a:off x="502920" y="640080"/>
            <a:ext cx="8138160" cy="201168"/>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SAMPLE STUDENT RESPONSE -- What is wrong with this?</a:t>
            </a:r>
            <a:endParaRPr lang="en-US" sz="900" dirty="0"/>
          </a:p>
        </p:txBody>
      </p:sp>
      <p:sp>
        <p:nvSpPr>
          <p:cNvPr id="7" name="Text 5"/>
          <p:cNvSpPr/>
          <p:nvPr/>
        </p:nvSpPr>
        <p:spPr>
          <a:xfrm>
            <a:off x="502920" y="859536"/>
            <a:ext cx="8138160" cy="822960"/>
          </a:xfrm>
          <a:prstGeom prst="rect">
            <a:avLst/>
          </a:prstGeom>
          <a:noFill/>
          <a:ln/>
        </p:spPr>
        <p:txBody>
          <a:bodyPr wrap="square"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"Geography only matters for where you are, not for history. A map just shows the colonies -- it doesn't tell us anything about why things happened because you can't read reasons off a map."</a:t>
            </a:r>
            <a:endParaRPr lang="en-US" sz="1200" dirty="0"/>
          </a:p>
        </p:txBody>
      </p:sp>
      <p:sp>
        <p:nvSpPr>
          <p:cNvPr id="8" name="Shape 6"/>
          <p:cNvSpPr/>
          <p:nvPr/>
        </p:nvSpPr>
        <p:spPr>
          <a:xfrm>
            <a:off x="365760" y="1901952"/>
            <a:ext cx="5120640" cy="1920240"/>
          </a:xfrm>
          <a:prstGeom prst="roundRect">
            <a:avLst>
              <a:gd name="adj" fmla="val 5714"/>
            </a:avLst>
          </a:prstGeom>
          <a:solidFill>
            <a:srgbClr val="1A2D5A"/>
          </a:solidFill>
          <a:ln w="12700">
            <a:solidFill>
              <a:srgbClr val="2A4070"/>
            </a:solidFill>
            <a:prstDash val="solid"/>
          </a:ln>
        </p:spPr>
      </p:sp>
      <p:sp>
        <p:nvSpPr>
          <p:cNvPr id="9" name="Text 7"/>
          <p:cNvSpPr/>
          <p:nvPr/>
        </p:nvSpPr>
        <p:spPr>
          <a:xfrm>
            <a:off x="502920" y="1956816"/>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221992"/>
            <a:ext cx="4754880" cy="15087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is this student assuming about what a map shows?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Which specific things on the colonial map DO give us WHY evidence?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you add or change to make this response accurate?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Is this student making the same mistake as the Hasty Herald? Explain.</a:t>
            </a:r>
            <a:endParaRPr lang="en-US" sz="1100" dirty="0"/>
          </a:p>
        </p:txBody>
      </p:sp>
      <p:sp>
        <p:nvSpPr>
          <p:cNvPr id="11" name="Shape 9"/>
          <p:cNvSpPr/>
          <p:nvPr/>
        </p:nvSpPr>
        <p:spPr>
          <a:xfrm>
            <a:off x="5623560" y="1901952"/>
            <a:ext cx="3154680" cy="1920240"/>
          </a:xfrm>
          <a:prstGeom prst="roundRect">
            <a:avLst>
              <a:gd name="adj" fmla="val 5714"/>
            </a:avLst>
          </a:prstGeom>
          <a:solidFill>
            <a:srgbClr val="FFF3DC"/>
          </a:solidFill>
          <a:ln w="19050">
            <a:solidFill>
              <a:srgbClr val="F5E6C8"/>
            </a:solidFill>
            <a:prstDash val="solid"/>
          </a:ln>
        </p:spPr>
      </p:sp>
      <p:sp>
        <p:nvSpPr>
          <p:cNvPr id="12" name="Text 10"/>
          <p:cNvSpPr/>
          <p:nvPr/>
        </p:nvSpPr>
        <p:spPr>
          <a:xfrm>
            <a:off x="5760720" y="1956816"/>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60720" y="2157984"/>
            <a:ext cx="2880360" cy="1600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error in this response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better version would say: ___"</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8B6FC0"/>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THE TRICKY ONE -- Debate This</a:t>
            </a:r>
            <a:endParaRPr lang="en-US" sz="1200" dirty="0"/>
          </a:p>
        </p:txBody>
      </p:sp>
      <p:sp>
        <p:nvSpPr>
          <p:cNvPr id="5" name="Shape 3"/>
          <p:cNvSpPr/>
          <p:nvPr/>
        </p:nvSpPr>
        <p:spPr>
          <a:xfrm>
            <a:off x="365760" y="594360"/>
            <a:ext cx="8412480" cy="841248"/>
          </a:xfrm>
          <a:prstGeom prst="roundRect">
            <a:avLst>
              <a:gd name="adj" fmla="val 13043"/>
            </a:avLst>
          </a:prstGeom>
          <a:solidFill>
            <a:srgbClr val="FFFFFF"/>
          </a:solidFill>
          <a:ln w="25400">
            <a:solidFill>
              <a:srgbClr val="8B6FC0"/>
            </a:solidFill>
            <a:prstDash val="solid"/>
          </a:ln>
        </p:spPr>
      </p:sp>
      <p:sp>
        <p:nvSpPr>
          <p:cNvPr id="6" name="Text 4"/>
          <p:cNvSpPr/>
          <p:nvPr/>
        </p:nvSpPr>
        <p:spPr>
          <a:xfrm>
            <a:off x="502920" y="640080"/>
            <a:ext cx="8138160" cy="731520"/>
          </a:xfrm>
          <a:prstGeom prst="rect">
            <a:avLst/>
          </a:prstGeom>
          <a:noFill/>
          <a:ln/>
        </p:spPr>
        <p:txBody>
          <a:bodyPr wrap="square"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"A compass rose shows direction -- but can direction alone explain WHY something happened in history?"</a:t>
            </a:r>
            <a:endParaRPr lang="en-US" sz="1400" dirty="0"/>
          </a:p>
        </p:txBody>
      </p:sp>
      <p:sp>
        <p:nvSpPr>
          <p:cNvPr id="7" name="Shape 5"/>
          <p:cNvSpPr/>
          <p:nvPr/>
        </p:nvSpPr>
        <p:spPr>
          <a:xfrm>
            <a:off x="365760" y="1572768"/>
            <a:ext cx="5120640" cy="2212848"/>
          </a:xfrm>
          <a:prstGeom prst="roundRect">
            <a:avLst>
              <a:gd name="adj" fmla="val 4959"/>
            </a:avLst>
          </a:prstGeom>
          <a:solidFill>
            <a:srgbClr val="1A2D5A"/>
          </a:solidFill>
          <a:ln w="12700">
            <a:solidFill>
              <a:srgbClr val="2A4070"/>
            </a:solidFill>
            <a:prstDash val="solid"/>
          </a:ln>
        </p:spPr>
      </p:sp>
      <p:sp>
        <p:nvSpPr>
          <p:cNvPr id="8" name="Text 6"/>
          <p:cNvSpPr/>
          <p:nvPr/>
        </p:nvSpPr>
        <p:spPr>
          <a:xfrm>
            <a:off x="502920" y="1627632"/>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548640" y="1892808"/>
            <a:ext cx="4754880" cy="1801368"/>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a compass rose tell you that text alone would not?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Can you think of a historical event where direction was part of the WHY -- not just the WHAT?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Is direction-alone enough to explain WHY? Or does it need to be combined with other evidence?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Could two historians look at the same compass rose and reach different WHY conclusions?</a:t>
            </a:r>
            <a:endParaRPr lang="en-US" sz="1100" dirty="0"/>
          </a:p>
        </p:txBody>
      </p:sp>
      <p:sp>
        <p:nvSpPr>
          <p:cNvPr id="10" name="Shape 8"/>
          <p:cNvSpPr/>
          <p:nvPr/>
        </p:nvSpPr>
        <p:spPr>
          <a:xfrm>
            <a:off x="5623560" y="1572768"/>
            <a:ext cx="3154680" cy="2212848"/>
          </a:xfrm>
          <a:prstGeom prst="roundRect">
            <a:avLst>
              <a:gd name="adj" fmla="val 4959"/>
            </a:avLst>
          </a:prstGeom>
          <a:solidFill>
            <a:srgbClr val="FFF3DC"/>
          </a:solidFill>
          <a:ln w="19050">
            <a:solidFill>
              <a:srgbClr val="F5E6C8"/>
            </a:solidFill>
            <a:prstDash val="solid"/>
          </a:ln>
        </p:spPr>
      </p:sp>
      <p:sp>
        <p:nvSpPr>
          <p:cNvPr id="11" name="Text 9"/>
          <p:cNvSpPr/>
          <p:nvPr/>
        </p:nvSpPr>
        <p:spPr>
          <a:xfrm>
            <a:off x="5760720" y="1627632"/>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760720" y="1828800"/>
            <a:ext cx="2880360" cy="189280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direction CAN explain WHY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"BUT direction alone is not enough because..."</a:t>
            </a:r>
            <a:endParaRPr lang="en-US" sz="1200" dirty="0"/>
          </a:p>
        </p:txBody>
      </p:sp>
      <p:sp>
        <p:nvSpPr>
          <p:cNvPr id="13" name="Shape 11"/>
          <p:cNvSpPr/>
          <p:nvPr/>
        </p:nvSpPr>
        <p:spPr>
          <a:xfrm>
            <a:off x="365760" y="3913632"/>
            <a:ext cx="8412480" cy="658368"/>
          </a:xfrm>
          <a:prstGeom prst="roundRect">
            <a:avLst>
              <a:gd name="adj" fmla="val 11111"/>
            </a:avLst>
          </a:prstGeom>
          <a:solidFill>
            <a:srgbClr val="E2E8F4"/>
          </a:solidFill>
          <a:ln w="12700">
            <a:solidFill>
              <a:srgbClr val="8B6FC0"/>
            </a:solidFill>
            <a:prstDash val="solid"/>
          </a:ln>
        </p:spPr>
      </p:sp>
      <p:sp>
        <p:nvSpPr>
          <p:cNvPr id="14" name="Text 12"/>
          <p:cNvSpPr/>
          <p:nvPr/>
        </p:nvSpPr>
        <p:spPr>
          <a:xfrm>
            <a:off x="502920" y="3959352"/>
            <a:ext cx="8138160" cy="548640"/>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Takeaway: Geographic tools are most powerful when combined -- a compass rose AND a map together tell a richer WHY story than either one alone.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0E1C42"/>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200" b="1" spc="150" kern="0" dirty="0">
                <a:solidFill>
                  <a:srgbClr val="D4943A"/>
                </a:solidFill>
                <a:latin typeface="Calibri" pitchFamily="34" charset="0"/>
                <a:ea typeface="Calibri" pitchFamily="34" charset="-122"/>
                <a:cs typeface="Calibri" pitchFamily="34" charset="-120"/>
              </a:rPr>
              <a:t>SELF-CHECK -- 3 Key Concepts + Quick Retrieval</a:t>
            </a:r>
            <a:endParaRPr lang="en-US" sz="1200" dirty="0"/>
          </a:p>
        </p:txBody>
      </p:sp>
      <p:sp>
        <p:nvSpPr>
          <p:cNvPr id="5" name="Shape 3"/>
          <p:cNvSpPr/>
          <p:nvPr/>
        </p:nvSpPr>
        <p:spPr>
          <a:xfrm>
            <a:off x="320040" y="594360"/>
            <a:ext cx="8503920" cy="1024128"/>
          </a:xfrm>
          <a:prstGeom prst="roundRect">
            <a:avLst>
              <a:gd name="adj" fmla="val 8929"/>
            </a:avLst>
          </a:prstGeom>
          <a:solidFill>
            <a:srgbClr val="FFFFFF"/>
          </a:solidFill>
          <a:ln w="19050">
            <a:solidFill>
              <a:srgbClr val="1A8A7D"/>
            </a:solidFill>
            <a:prstDash val="solid"/>
          </a:ln>
        </p:spPr>
      </p:sp>
      <p:sp>
        <p:nvSpPr>
          <p:cNvPr id="6" name="Shape 4"/>
          <p:cNvSpPr/>
          <p:nvPr/>
        </p:nvSpPr>
        <p:spPr>
          <a:xfrm>
            <a:off x="365760" y="640080"/>
            <a:ext cx="548640" cy="548640"/>
          </a:xfrm>
          <a:prstGeom prst="roundRect">
            <a:avLst>
              <a:gd name="adj" fmla="val 50000"/>
            </a:avLst>
          </a:prstGeom>
          <a:solidFill>
            <a:srgbClr val="1A8A7D"/>
          </a:solidFill>
          <a:ln/>
        </p:spPr>
      </p:sp>
      <p:sp>
        <p:nvSpPr>
          <p:cNvPr id="7" name="Text 5"/>
          <p:cNvSpPr/>
          <p:nvPr/>
        </p:nvSpPr>
        <p:spPr>
          <a:xfrm>
            <a:off x="365760" y="640080"/>
            <a:ext cx="548640" cy="5486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1005840" y="667512"/>
            <a:ext cx="7680960" cy="256032"/>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Geographic Tools Show WHERE and WHY</a:t>
            </a:r>
            <a:endParaRPr lang="en-US" sz="1200" dirty="0"/>
          </a:p>
        </p:txBody>
      </p:sp>
      <p:sp>
        <p:nvSpPr>
          <p:cNvPr id="9" name="Text 7"/>
          <p:cNvSpPr/>
          <p:nvPr/>
        </p:nvSpPr>
        <p:spPr>
          <a:xfrm>
            <a:off x="1005840" y="932688"/>
            <a:ext cx="7680960" cy="594360"/>
          </a:xfrm>
          <a:prstGeom prst="rect">
            <a:avLst/>
          </a:prstGeom>
          <a:noFill/>
          <a:ln/>
        </p:spPr>
        <p:txBody>
          <a:bodyPr wrap="square" rtlCol="0" anchor="ctr"/>
          <a:lstStyle/>
          <a:p>
            <a:pPr indent="0" marL="0">
              <a:buNone/>
            </a:pPr>
            <a:r>
              <a:rPr lang="en-US" sz="1050" dirty="0">
                <a:solidFill>
                  <a:srgbClr val="0E1C42"/>
                </a:solidFill>
                <a:latin typeface="Calibri" pitchFamily="34" charset="0"/>
                <a:ea typeface="Calibri" pitchFamily="34" charset="-122"/>
                <a:cs typeface="Calibri" pitchFamily="34" charset="-120"/>
              </a:rPr>
              <a:t>Maps, globes, and compass roses show location AND provide evidence for why events happened -- routes, terrain, distances, and direction all answer historical WHY questions.</a:t>
            </a:r>
            <a:endParaRPr lang="en-US" sz="1050" dirty="0"/>
          </a:p>
        </p:txBody>
      </p:sp>
      <p:sp>
        <p:nvSpPr>
          <p:cNvPr id="10" name="Shape 8"/>
          <p:cNvSpPr/>
          <p:nvPr/>
        </p:nvSpPr>
        <p:spPr>
          <a:xfrm>
            <a:off x="320040" y="1764792"/>
            <a:ext cx="8503920" cy="1024128"/>
          </a:xfrm>
          <a:prstGeom prst="roundRect">
            <a:avLst>
              <a:gd name="adj" fmla="val 8929"/>
            </a:avLst>
          </a:prstGeom>
          <a:solidFill>
            <a:srgbClr val="FFFFFF"/>
          </a:solidFill>
          <a:ln w="19050">
            <a:solidFill>
              <a:srgbClr val="1A8A7D"/>
            </a:solidFill>
            <a:prstDash val="solid"/>
          </a:ln>
        </p:spPr>
      </p:sp>
      <p:sp>
        <p:nvSpPr>
          <p:cNvPr id="11" name="Shape 9"/>
          <p:cNvSpPr/>
          <p:nvPr/>
        </p:nvSpPr>
        <p:spPr>
          <a:xfrm>
            <a:off x="365760" y="1810512"/>
            <a:ext cx="548640" cy="548640"/>
          </a:xfrm>
          <a:prstGeom prst="roundRect">
            <a:avLst>
              <a:gd name="adj" fmla="val 50000"/>
            </a:avLst>
          </a:prstGeom>
          <a:solidFill>
            <a:srgbClr val="1A8A7D"/>
          </a:solidFill>
          <a:ln/>
        </p:spPr>
      </p:sp>
      <p:sp>
        <p:nvSpPr>
          <p:cNvPr id="12" name="Text 10"/>
          <p:cNvSpPr/>
          <p:nvPr/>
        </p:nvSpPr>
        <p:spPr>
          <a:xfrm>
            <a:off x="365760" y="1810512"/>
            <a:ext cx="548640" cy="5486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005840" y="1837944"/>
            <a:ext cx="7680960" cy="256032"/>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The WHERE vs. WHY Distinction</a:t>
            </a:r>
            <a:endParaRPr lang="en-US" sz="1200" dirty="0"/>
          </a:p>
        </p:txBody>
      </p:sp>
      <p:sp>
        <p:nvSpPr>
          <p:cNvPr id="14" name="Text 12"/>
          <p:cNvSpPr/>
          <p:nvPr/>
        </p:nvSpPr>
        <p:spPr>
          <a:xfrm>
            <a:off x="1005840" y="2103120"/>
            <a:ext cx="7680960" cy="594360"/>
          </a:xfrm>
          <a:prstGeom prst="rect">
            <a:avLst/>
          </a:prstGeom>
          <a:noFill/>
          <a:ln/>
        </p:spPr>
        <p:txBody>
          <a:bodyPr wrap="square" rtlCol="0" anchor="ctr"/>
          <a:lstStyle/>
          <a:p>
            <a:pPr indent="0" marL="0">
              <a:buNone/>
            </a:pPr>
            <a:r>
              <a:rPr lang="en-US" sz="1050" dirty="0">
                <a:solidFill>
                  <a:srgbClr val="0E1C42"/>
                </a:solidFill>
                <a:latin typeface="Calibri" pitchFamily="34" charset="0"/>
                <a:ea typeface="Calibri" pitchFamily="34" charset="-122"/>
                <a:cs typeface="Calibri" pitchFamily="34" charset="-120"/>
              </a:rPr>
              <a:t>WHERE = location. WHY = the historical cause or reason. Good historians use geographic tools to answer both -- and connect the two.</a:t>
            </a:r>
            <a:endParaRPr lang="en-US" sz="1050" dirty="0"/>
          </a:p>
        </p:txBody>
      </p:sp>
      <p:sp>
        <p:nvSpPr>
          <p:cNvPr id="15" name="Shape 13"/>
          <p:cNvSpPr/>
          <p:nvPr/>
        </p:nvSpPr>
        <p:spPr>
          <a:xfrm>
            <a:off x="320040" y="2935224"/>
            <a:ext cx="8503920" cy="1024128"/>
          </a:xfrm>
          <a:prstGeom prst="roundRect">
            <a:avLst>
              <a:gd name="adj" fmla="val 8929"/>
            </a:avLst>
          </a:prstGeom>
          <a:solidFill>
            <a:srgbClr val="FFFFFF"/>
          </a:solidFill>
          <a:ln w="19050">
            <a:solidFill>
              <a:srgbClr val="1A8A7D"/>
            </a:solidFill>
            <a:prstDash val="solid"/>
          </a:ln>
        </p:spPr>
      </p:sp>
      <p:sp>
        <p:nvSpPr>
          <p:cNvPr id="16" name="Shape 14"/>
          <p:cNvSpPr/>
          <p:nvPr/>
        </p:nvSpPr>
        <p:spPr>
          <a:xfrm>
            <a:off x="365760" y="2980944"/>
            <a:ext cx="548640" cy="548640"/>
          </a:xfrm>
          <a:prstGeom prst="roundRect">
            <a:avLst>
              <a:gd name="adj" fmla="val 50000"/>
            </a:avLst>
          </a:prstGeom>
          <a:solidFill>
            <a:srgbClr val="1A8A7D"/>
          </a:solidFill>
          <a:ln/>
        </p:spPr>
      </p:sp>
      <p:sp>
        <p:nvSpPr>
          <p:cNvPr id="17" name="Text 15"/>
          <p:cNvSpPr/>
          <p:nvPr/>
        </p:nvSpPr>
        <p:spPr>
          <a:xfrm>
            <a:off x="365760" y="2980944"/>
            <a:ext cx="548640" cy="5486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005840" y="3008376"/>
            <a:ext cx="7680960" cy="256032"/>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Geographic Evidence Supports Historical Claims</a:t>
            </a:r>
            <a:endParaRPr lang="en-US" sz="1200" dirty="0"/>
          </a:p>
        </p:txBody>
      </p:sp>
      <p:sp>
        <p:nvSpPr>
          <p:cNvPr id="19" name="Text 17"/>
          <p:cNvSpPr/>
          <p:nvPr/>
        </p:nvSpPr>
        <p:spPr>
          <a:xfrm>
            <a:off x="1005840" y="3273552"/>
            <a:ext cx="7680960" cy="594360"/>
          </a:xfrm>
          <a:prstGeom prst="rect">
            <a:avLst/>
          </a:prstGeom>
          <a:noFill/>
          <a:ln/>
        </p:spPr>
        <p:txBody>
          <a:bodyPr wrap="square" rtlCol="0" anchor="ctr"/>
          <a:lstStyle/>
          <a:p>
            <a:pPr indent="0" marL="0">
              <a:buNone/>
            </a:pPr>
            <a:r>
              <a:rPr lang="en-US" sz="1050" dirty="0">
                <a:solidFill>
                  <a:srgbClr val="0E1C42"/>
                </a:solidFill>
                <a:latin typeface="Calibri" pitchFamily="34" charset="0"/>
                <a:ea typeface="Calibri" pitchFamily="34" charset="-122"/>
                <a:cs typeface="Calibri" pitchFamily="34" charset="-120"/>
              </a:rPr>
              <a:t>A claim without geographic evidence is just an opinion. Pointing to a specific map feature and explaining what it reveals makes a claim credible.</a:t>
            </a:r>
            <a:endParaRPr lang="en-US" sz="1050" dirty="0"/>
          </a:p>
        </p:txBody>
      </p:sp>
      <p:sp>
        <p:nvSpPr>
          <p:cNvPr id="20" name="Shape 18"/>
          <p:cNvSpPr/>
          <p:nvPr/>
        </p:nvSpPr>
        <p:spPr>
          <a:xfrm>
            <a:off x="320040" y="4142232"/>
            <a:ext cx="8503920" cy="594360"/>
          </a:xfrm>
          <a:prstGeom prst="roundRect">
            <a:avLst>
              <a:gd name="adj" fmla="val 12308"/>
            </a:avLst>
          </a:prstGeom>
          <a:solidFill>
            <a:srgbClr val="1A2D5A"/>
          </a:solidFill>
          <a:ln w="12700">
            <a:solidFill>
              <a:srgbClr val="55C8E8"/>
            </a:solidFill>
            <a:prstDash val="solid"/>
          </a:ln>
        </p:spPr>
      </p:sp>
      <p:sp>
        <p:nvSpPr>
          <p:cNvPr id="21" name="Text 19"/>
          <p:cNvSpPr/>
          <p:nvPr/>
        </p:nvSpPr>
        <p:spPr>
          <a:xfrm>
            <a:off x="457200" y="4169664"/>
            <a:ext cx="8229600" cy="530352"/>
          </a:xfrm>
          <a:prstGeom prst="rect">
            <a:avLst/>
          </a:prstGeom>
          <a:noFill/>
          <a:ln/>
        </p:spPr>
        <p:txBody>
          <a:bodyPr wrap="square" rtlCol="0" anchor="ctr"/>
          <a:lstStyle/>
          <a:p>
            <a:pPr indent="0" marL="0">
              <a:buNone/>
            </a:pPr>
            <a:r>
              <a:rPr lang="en-US" sz="1050" dirty="0">
                <a:solidFill>
                  <a:srgbClr val="D6F2FB"/>
                </a:solidFill>
                <a:latin typeface="Calibri" pitchFamily="34" charset="0"/>
                <a:ea typeface="Calibri" pitchFamily="34" charset="-122"/>
                <a:cs typeface="Calibri" pitchFamily="34" charset="-120"/>
              </a:rPr>
              <a:t>Quick Check: (1) Name all 3 geographic tools. (2) Which one best explains WHY colonists settled near water? (3) What does the Herald's claim get wrong?</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0E1C42"/>
          </a:solidFill>
          <a:ln/>
        </p:spPr>
      </p:sp>
      <p:sp>
        <p:nvSpPr>
          <p:cNvPr id="4" name="Text 2"/>
          <p:cNvSpPr/>
          <p:nvPr/>
        </p:nvSpPr>
        <p:spPr>
          <a:xfrm>
            <a:off x="274320" y="0"/>
            <a:ext cx="8595360" cy="475488"/>
          </a:xfrm>
          <a:prstGeom prst="rect">
            <a:avLst/>
          </a:prstGeom>
          <a:noFill/>
          <a:ln/>
        </p:spPr>
        <p:txBody>
          <a:bodyPr wrap="square" rtlCol="0" anchor="ctr"/>
          <a:lstStyle/>
          <a:p>
            <a:pPr algn="ctr" indent="0" marL="0">
              <a:buNone/>
            </a:pPr>
            <a:r>
              <a:rPr lang="en-US" sz="1200" b="1" spc="150" kern="0" dirty="0">
                <a:solidFill>
                  <a:srgbClr val="D4943A"/>
                </a:solidFill>
                <a:latin typeface="Calibri" pitchFamily="34" charset="0"/>
                <a:ea typeface="Calibri" pitchFamily="34" charset="-122"/>
                <a:cs typeface="Calibri" pitchFamily="34" charset="-120"/>
              </a:rPr>
              <a:t>ASSIGNMENT PREVIEW -- Editor's Notebook + Front Page Brief</a:t>
            </a:r>
            <a:endParaRPr lang="en-US" sz="1200" dirty="0"/>
          </a:p>
        </p:txBody>
      </p:sp>
      <p:sp>
        <p:nvSpPr>
          <p:cNvPr id="5" name="Shape 3"/>
          <p:cNvSpPr/>
          <p:nvPr/>
        </p:nvSpPr>
        <p:spPr>
          <a:xfrm>
            <a:off x="320040" y="594360"/>
            <a:ext cx="5212080" cy="2606040"/>
          </a:xfrm>
          <a:prstGeom prst="roundRect">
            <a:avLst>
              <a:gd name="adj" fmla="val 3509"/>
            </a:avLst>
          </a:prstGeom>
          <a:solidFill>
            <a:srgbClr val="FFFFFF"/>
          </a:solidFill>
          <a:ln w="19050">
            <a:solidFill>
              <a:srgbClr val="1A2D5A"/>
            </a:solidFill>
            <a:prstDash val="solid"/>
          </a:ln>
        </p:spPr>
      </p:sp>
      <p:sp>
        <p:nvSpPr>
          <p:cNvPr id="6" name="Text 4"/>
          <p:cNvSpPr/>
          <p:nvPr/>
        </p:nvSpPr>
        <p:spPr>
          <a:xfrm>
            <a:off x="457200" y="640080"/>
            <a:ext cx="4937760" cy="228600"/>
          </a:xfrm>
          <a:prstGeom prst="rect">
            <a:avLst/>
          </a:prstGeom>
          <a:noFill/>
          <a:ln/>
        </p:spPr>
        <p:txBody>
          <a:bodyPr wrap="square" rtlCol="0" anchor="ctr"/>
          <a:lstStyle/>
          <a:p>
            <a:pPr indent="0" marL="0">
              <a:buNone/>
            </a:pPr>
            <a:r>
              <a:rPr lang="en-US" sz="1000" b="1" spc="150" kern="0" dirty="0">
                <a:solidFill>
                  <a:srgbClr val="0E1C42"/>
                </a:solidFill>
                <a:latin typeface="Calibri" pitchFamily="34" charset="0"/>
                <a:ea typeface="Calibri" pitchFamily="34" charset="-122"/>
                <a:cs typeface="Calibri" pitchFamily="34" charset="-120"/>
              </a:rPr>
              <a:t>EDITOR'S NOTEBOOK -- 3 Questions</a:t>
            </a:r>
            <a:endParaRPr lang="en-US" sz="1000" dirty="0"/>
          </a:p>
        </p:txBody>
      </p:sp>
      <p:sp>
        <p:nvSpPr>
          <p:cNvPr id="7" name="Shape 5"/>
          <p:cNvSpPr/>
          <p:nvPr/>
        </p:nvSpPr>
        <p:spPr>
          <a:xfrm>
            <a:off x="411480" y="896112"/>
            <a:ext cx="411480" cy="274320"/>
          </a:xfrm>
          <a:prstGeom prst="roundRect">
            <a:avLst>
              <a:gd name="adj" fmla="val 20000"/>
            </a:avLst>
          </a:prstGeom>
          <a:solidFill>
            <a:srgbClr val="1A2D5A"/>
          </a:solidFill>
          <a:ln/>
        </p:spPr>
      </p:sp>
      <p:sp>
        <p:nvSpPr>
          <p:cNvPr id="8" name="Text 6"/>
          <p:cNvSpPr/>
          <p:nvPr/>
        </p:nvSpPr>
        <p:spPr>
          <a:xfrm>
            <a:off x="411480" y="896112"/>
            <a:ext cx="411480" cy="274320"/>
          </a:xfrm>
          <a:prstGeom prst="rect">
            <a:avLst/>
          </a:prstGeom>
          <a:noFill/>
          <a:ln/>
        </p:spPr>
        <p:txBody>
          <a:bodyPr wrap="square" rtlCol="0" anchor="ctr"/>
          <a:lstStyle/>
          <a:p>
            <a:pPr algn="ctr" indent="0" marL="0">
              <a:buNone/>
            </a:pPr>
            <a:r>
              <a:rPr lang="en-US" sz="900" b="1" dirty="0">
                <a:solidFill>
                  <a:srgbClr val="55C8E8"/>
                </a:solidFill>
                <a:latin typeface="Calibri" pitchFamily="34" charset="0"/>
                <a:ea typeface="Calibri" pitchFamily="34" charset="-122"/>
                <a:cs typeface="Calibri" pitchFamily="34" charset="-120"/>
              </a:rPr>
              <a:t>Q1</a:t>
            </a:r>
            <a:endParaRPr lang="en-US" sz="900" dirty="0"/>
          </a:p>
        </p:txBody>
      </p:sp>
      <p:sp>
        <p:nvSpPr>
          <p:cNvPr id="9" name="Text 7"/>
          <p:cNvSpPr/>
          <p:nvPr/>
        </p:nvSpPr>
        <p:spPr>
          <a:xfrm>
            <a:off x="914400" y="877824"/>
            <a:ext cx="4434840" cy="658368"/>
          </a:xfrm>
          <a:prstGeom prst="rect">
            <a:avLst/>
          </a:prstGeom>
          <a:noFill/>
          <a:ln/>
        </p:spPr>
        <p:txBody>
          <a:bodyPr wrap="square" rtlCol="0" anchor="t"/>
          <a:lstStyle/>
          <a:p>
            <a:pPr indent="0" marL="0">
              <a:buNone/>
            </a:pPr>
            <a:r>
              <a:rPr lang="en-US" sz="1000" i="1" dirty="0">
                <a:solidFill>
                  <a:srgbClr val="0E1C42"/>
                </a:solidFill>
                <a:latin typeface="Calibri" pitchFamily="34" charset="0"/>
                <a:ea typeface="Calibri" pitchFamily="34" charset="-122"/>
                <a:cs typeface="Calibri" pitchFamily="34" charset="-120"/>
              </a:rPr>
              <a:t>"Name one geographic tool (map, globe, or compass rose) and explain one thing it helps a historian figure out beyond just location."</a:t>
            </a:r>
            <a:endParaRPr lang="en-US" sz="1000" dirty="0"/>
          </a:p>
        </p:txBody>
      </p:sp>
      <p:sp>
        <p:nvSpPr>
          <p:cNvPr id="10" name="Shape 8"/>
          <p:cNvSpPr/>
          <p:nvPr/>
        </p:nvSpPr>
        <p:spPr>
          <a:xfrm>
            <a:off x="411480" y="1609344"/>
            <a:ext cx="411480" cy="274320"/>
          </a:xfrm>
          <a:prstGeom prst="roundRect">
            <a:avLst>
              <a:gd name="adj" fmla="val 20000"/>
            </a:avLst>
          </a:prstGeom>
          <a:solidFill>
            <a:srgbClr val="1A2D5A"/>
          </a:solidFill>
          <a:ln/>
        </p:spPr>
      </p:sp>
      <p:sp>
        <p:nvSpPr>
          <p:cNvPr id="11" name="Text 9"/>
          <p:cNvSpPr/>
          <p:nvPr/>
        </p:nvSpPr>
        <p:spPr>
          <a:xfrm>
            <a:off x="411480" y="1609344"/>
            <a:ext cx="411480" cy="274320"/>
          </a:xfrm>
          <a:prstGeom prst="rect">
            <a:avLst/>
          </a:prstGeom>
          <a:noFill/>
          <a:ln/>
        </p:spPr>
        <p:txBody>
          <a:bodyPr wrap="square" rtlCol="0" anchor="ctr"/>
          <a:lstStyle/>
          <a:p>
            <a:pPr algn="ctr" indent="0" marL="0">
              <a:buNone/>
            </a:pPr>
            <a:r>
              <a:rPr lang="en-US" sz="900" b="1" dirty="0">
                <a:solidFill>
                  <a:srgbClr val="55C8E8"/>
                </a:solidFill>
                <a:latin typeface="Calibri" pitchFamily="34" charset="0"/>
                <a:ea typeface="Calibri" pitchFamily="34" charset="-122"/>
                <a:cs typeface="Calibri" pitchFamily="34" charset="-120"/>
              </a:rPr>
              <a:t>Q2</a:t>
            </a:r>
            <a:endParaRPr lang="en-US" sz="900" dirty="0"/>
          </a:p>
        </p:txBody>
      </p:sp>
      <p:sp>
        <p:nvSpPr>
          <p:cNvPr id="12" name="Text 10"/>
          <p:cNvSpPr/>
          <p:nvPr/>
        </p:nvSpPr>
        <p:spPr>
          <a:xfrm>
            <a:off x="914400" y="1591056"/>
            <a:ext cx="4434840" cy="658368"/>
          </a:xfrm>
          <a:prstGeom prst="rect">
            <a:avLst/>
          </a:prstGeom>
          <a:noFill/>
          <a:ln/>
        </p:spPr>
        <p:txBody>
          <a:bodyPr wrap="square" rtlCol="0" anchor="t"/>
          <a:lstStyle/>
          <a:p>
            <a:pPr indent="0" marL="0">
              <a:buNone/>
            </a:pPr>
            <a:r>
              <a:rPr lang="en-US" sz="1000" i="1" dirty="0">
                <a:solidFill>
                  <a:srgbClr val="0E1C42"/>
                </a:solidFill>
                <a:latin typeface="Calibri" pitchFamily="34" charset="0"/>
                <a:ea typeface="Calibri" pitchFamily="34" charset="-122"/>
                <a:cs typeface="Calibri" pitchFamily="34" charset="-120"/>
              </a:rPr>
              <a:t>"The Herald says geography only tells us where. Give one example where a geographic tool helps explain why something happened."</a:t>
            </a:r>
            <a:endParaRPr lang="en-US" sz="1000" dirty="0"/>
          </a:p>
        </p:txBody>
      </p:sp>
      <p:sp>
        <p:nvSpPr>
          <p:cNvPr id="13" name="Shape 11"/>
          <p:cNvSpPr/>
          <p:nvPr/>
        </p:nvSpPr>
        <p:spPr>
          <a:xfrm>
            <a:off x="411480" y="2322576"/>
            <a:ext cx="411480" cy="274320"/>
          </a:xfrm>
          <a:prstGeom prst="roundRect">
            <a:avLst>
              <a:gd name="adj" fmla="val 20000"/>
            </a:avLst>
          </a:prstGeom>
          <a:solidFill>
            <a:srgbClr val="1A2D5A"/>
          </a:solidFill>
          <a:ln/>
        </p:spPr>
      </p:sp>
      <p:sp>
        <p:nvSpPr>
          <p:cNvPr id="14" name="Text 12"/>
          <p:cNvSpPr/>
          <p:nvPr/>
        </p:nvSpPr>
        <p:spPr>
          <a:xfrm>
            <a:off x="411480" y="2322576"/>
            <a:ext cx="411480" cy="274320"/>
          </a:xfrm>
          <a:prstGeom prst="rect">
            <a:avLst/>
          </a:prstGeom>
          <a:noFill/>
          <a:ln/>
        </p:spPr>
        <p:txBody>
          <a:bodyPr wrap="square" rtlCol="0" anchor="ctr"/>
          <a:lstStyle/>
          <a:p>
            <a:pPr algn="ctr" indent="0" marL="0">
              <a:buNone/>
            </a:pPr>
            <a:r>
              <a:rPr lang="en-US" sz="900" b="1" dirty="0">
                <a:solidFill>
                  <a:srgbClr val="55C8E8"/>
                </a:solidFill>
                <a:latin typeface="Calibri" pitchFamily="34" charset="0"/>
                <a:ea typeface="Calibri" pitchFamily="34" charset="-122"/>
                <a:cs typeface="Calibri" pitchFamily="34" charset="-120"/>
              </a:rPr>
              <a:t>Q3</a:t>
            </a:r>
            <a:endParaRPr lang="en-US" sz="900" dirty="0"/>
          </a:p>
        </p:txBody>
      </p:sp>
      <p:sp>
        <p:nvSpPr>
          <p:cNvPr id="15" name="Text 13"/>
          <p:cNvSpPr/>
          <p:nvPr/>
        </p:nvSpPr>
        <p:spPr>
          <a:xfrm>
            <a:off x="914400" y="2304288"/>
            <a:ext cx="4434840" cy="658368"/>
          </a:xfrm>
          <a:prstGeom prst="rect">
            <a:avLst/>
          </a:prstGeom>
          <a:noFill/>
          <a:ln/>
        </p:spPr>
        <p:txBody>
          <a:bodyPr wrap="square" rtlCol="0" anchor="t"/>
          <a:lstStyle/>
          <a:p>
            <a:pPr indent="0" marL="0">
              <a:buNone/>
            </a:pPr>
            <a:r>
              <a:rPr lang="en-US" sz="1000" i="1" dirty="0">
                <a:solidFill>
                  <a:srgbClr val="0E1C42"/>
                </a:solidFill>
                <a:latin typeface="Calibri" pitchFamily="34" charset="0"/>
                <a:ea typeface="Calibri" pitchFamily="34" charset="-122"/>
                <a:cs typeface="Calibri" pitchFamily="34" charset="-120"/>
              </a:rPr>
              <a:t>"The Hasty Herald said 'Geography is only about where places are, not why events happened.' What's partly right about that? What's missing?"</a:t>
            </a:r>
            <a:endParaRPr lang="en-US" sz="1000" dirty="0"/>
          </a:p>
        </p:txBody>
      </p:sp>
      <p:sp>
        <p:nvSpPr>
          <p:cNvPr id="16" name="Shape 14"/>
          <p:cNvSpPr/>
          <p:nvPr/>
        </p:nvSpPr>
        <p:spPr>
          <a:xfrm>
            <a:off x="5715000" y="594360"/>
            <a:ext cx="3063240" cy="2606040"/>
          </a:xfrm>
          <a:prstGeom prst="roundRect">
            <a:avLst>
              <a:gd name="adj" fmla="val 3509"/>
            </a:avLst>
          </a:prstGeom>
          <a:solidFill>
            <a:srgbClr val="FFFFFF"/>
          </a:solidFill>
          <a:ln w="19050">
            <a:solidFill>
              <a:srgbClr val="D4943A"/>
            </a:solidFill>
            <a:prstDash val="solid"/>
          </a:ln>
        </p:spPr>
      </p:sp>
      <p:sp>
        <p:nvSpPr>
          <p:cNvPr id="17" name="Text 15"/>
          <p:cNvSpPr/>
          <p:nvPr/>
        </p:nvSpPr>
        <p:spPr>
          <a:xfrm>
            <a:off x="5852160" y="640080"/>
            <a:ext cx="2788920" cy="22860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FRONT PAGE BRIEF</a:t>
            </a:r>
            <a:endParaRPr lang="en-US" sz="1000" dirty="0"/>
          </a:p>
        </p:txBody>
      </p:sp>
      <p:sp>
        <p:nvSpPr>
          <p:cNvPr id="18" name="Text 16"/>
          <p:cNvSpPr/>
          <p:nvPr/>
        </p:nvSpPr>
        <p:spPr>
          <a:xfrm>
            <a:off x="5852160" y="914400"/>
            <a:ext cx="2788920" cy="228600"/>
          </a:xfrm>
          <a:prstGeom prst="rect">
            <a:avLst/>
          </a:prstGeom>
          <a:noFill/>
          <a:ln/>
        </p:spPr>
        <p:txBody>
          <a:bodyPr wrap="square"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Your brief must include:</a:t>
            </a:r>
            <a:endParaRPr lang="en-US" sz="1000" dirty="0"/>
          </a:p>
        </p:txBody>
      </p:sp>
      <p:sp>
        <p:nvSpPr>
          <p:cNvPr id="19" name="Text 17"/>
          <p:cNvSpPr/>
          <p:nvPr/>
        </p:nvSpPr>
        <p:spPr>
          <a:xfrm>
            <a:off x="5852160" y="1170432"/>
            <a:ext cx="2788920" cy="502920"/>
          </a:xfrm>
          <a:prstGeom prst="rect">
            <a:avLst/>
          </a:prstGeom>
          <a:noFill/>
          <a:ln/>
        </p:spPr>
        <p:txBody>
          <a:bodyPr wrap="square" rtlCol="0" anchor="ctr"/>
          <a:lstStyle/>
          <a:p>
            <a:pPr indent="0" marL="0">
              <a:buNone/>
            </a:pPr>
            <a:r>
              <a:rPr lang="en-US" sz="1000" dirty="0">
                <a:solidFill>
                  <a:srgbClr val="0E1C42"/>
                </a:solidFill>
                <a:latin typeface="Calibri" pitchFamily="34" charset="0"/>
                <a:ea typeface="Calibri" pitchFamily="34" charset="-122"/>
                <a:cs typeface="Calibri" pitchFamily="34" charset="-120"/>
              </a:rPr>
              <a:t>(1) One clear claim about geographic tools.</a:t>
            </a:r>
            <a:endParaRPr lang="en-US" sz="1000" dirty="0"/>
          </a:p>
        </p:txBody>
      </p:sp>
      <p:sp>
        <p:nvSpPr>
          <p:cNvPr id="20" name="Text 18"/>
          <p:cNvSpPr/>
          <p:nvPr/>
        </p:nvSpPr>
        <p:spPr>
          <a:xfrm>
            <a:off x="5852160" y="1737360"/>
            <a:ext cx="2788920" cy="502920"/>
          </a:xfrm>
          <a:prstGeom prst="rect">
            <a:avLst/>
          </a:prstGeom>
          <a:noFill/>
          <a:ln/>
        </p:spPr>
        <p:txBody>
          <a:bodyPr wrap="square" rtlCol="0" anchor="ctr"/>
          <a:lstStyle/>
          <a:p>
            <a:pPr indent="0" marL="0">
              <a:buNone/>
            </a:pPr>
            <a:r>
              <a:rPr lang="en-US" sz="1000" dirty="0">
                <a:solidFill>
                  <a:srgbClr val="0E1C42"/>
                </a:solidFill>
                <a:latin typeface="Calibri" pitchFamily="34" charset="0"/>
                <a:ea typeface="Calibri" pitchFamily="34" charset="-122"/>
                <a:cs typeface="Calibri" pitchFamily="34" charset="-120"/>
              </a:rPr>
              <a:t>(2) Evidence from the map, globe, or compass rose that supports your claim.</a:t>
            </a:r>
            <a:endParaRPr lang="en-US" sz="1000" dirty="0"/>
          </a:p>
        </p:txBody>
      </p:sp>
      <p:sp>
        <p:nvSpPr>
          <p:cNvPr id="21" name="Text 19"/>
          <p:cNvSpPr/>
          <p:nvPr/>
        </p:nvSpPr>
        <p:spPr>
          <a:xfrm>
            <a:off x="5852160" y="2304288"/>
            <a:ext cx="2788920" cy="502920"/>
          </a:xfrm>
          <a:prstGeom prst="rect">
            <a:avLst/>
          </a:prstGeom>
          <a:noFill/>
          <a:ln/>
        </p:spPr>
        <p:txBody>
          <a:bodyPr wrap="square" rtlCol="0" anchor="ctr"/>
          <a:lstStyle/>
          <a:p>
            <a:pPr indent="0" marL="0">
              <a:buNone/>
            </a:pPr>
            <a:r>
              <a:rPr lang="en-US" sz="1000" dirty="0">
                <a:solidFill>
                  <a:srgbClr val="0E1C42"/>
                </a:solidFill>
                <a:latin typeface="Calibri" pitchFamily="34" charset="0"/>
                <a:ea typeface="Calibri" pitchFamily="34" charset="-122"/>
                <a:cs typeface="Calibri" pitchFamily="34" charset="-120"/>
              </a:rPr>
              <a:t>(3) An explanation of how your claim corrects the Herald's incomplete wording.</a:t>
            </a:r>
            <a:endParaRPr lang="en-US" sz="1000" dirty="0"/>
          </a:p>
        </p:txBody>
      </p:sp>
      <p:sp>
        <p:nvSpPr>
          <p:cNvPr id="22" name="Shape 20"/>
          <p:cNvSpPr/>
          <p:nvPr/>
        </p:nvSpPr>
        <p:spPr>
          <a:xfrm>
            <a:off x="320040" y="3319272"/>
            <a:ext cx="5212080" cy="621792"/>
          </a:xfrm>
          <a:prstGeom prst="roundRect">
            <a:avLst>
              <a:gd name="adj" fmla="val 11765"/>
            </a:avLst>
          </a:prstGeom>
          <a:solidFill>
            <a:srgbClr val="FFF3DC"/>
          </a:solidFill>
          <a:ln w="12700">
            <a:solidFill>
              <a:srgbClr val="D4943A"/>
            </a:solidFill>
            <a:prstDash val="solid"/>
          </a:ln>
        </p:spPr>
      </p:sp>
      <p:sp>
        <p:nvSpPr>
          <p:cNvPr id="23" name="Text 21"/>
          <p:cNvSpPr/>
          <p:nvPr/>
        </p:nvSpPr>
        <p:spPr>
          <a:xfrm>
            <a:off x="457200" y="3355848"/>
            <a:ext cx="4937760" cy="18288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ARCHIVE LINE</a:t>
            </a:r>
            <a:endParaRPr lang="en-US" sz="900" dirty="0"/>
          </a:p>
        </p:txBody>
      </p:sp>
      <p:sp>
        <p:nvSpPr>
          <p:cNvPr id="24" name="Text 22"/>
          <p:cNvSpPr/>
          <p:nvPr/>
        </p:nvSpPr>
        <p:spPr>
          <a:xfrm>
            <a:off x="457200" y="3547872"/>
            <a:ext cx="4937760" cy="347472"/>
          </a:xfrm>
          <a:prstGeom prst="rect">
            <a:avLst/>
          </a:prstGeom>
          <a:noFill/>
          <a:ln/>
        </p:spPr>
        <p:txBody>
          <a:bodyPr wrap="square" rtlCol="0" anchor="ctr"/>
          <a:lstStyle/>
          <a:p>
            <a:pPr indent="0" marL="0">
              <a:buNone/>
            </a:pPr>
            <a:r>
              <a:rPr lang="en-US" sz="1000" i="1" dirty="0">
                <a:solidFill>
                  <a:srgbClr val="5A4A3A"/>
                </a:solidFill>
                <a:latin typeface="Calibri" pitchFamily="34" charset="0"/>
                <a:ea typeface="Calibri" pitchFamily="34" charset="-122"/>
                <a:cs typeface="Calibri" pitchFamily="34" charset="-120"/>
              </a:rPr>
              <a:t>"In one careful sentence, write what future citizens should remember about geographic tools for historical questions."</a:t>
            </a:r>
            <a:endParaRPr lang="en-US" sz="1000" dirty="0"/>
          </a:p>
        </p:txBody>
      </p:sp>
      <p:sp>
        <p:nvSpPr>
          <p:cNvPr id="25" name="Shape 23"/>
          <p:cNvSpPr/>
          <p:nvPr/>
        </p:nvSpPr>
        <p:spPr>
          <a:xfrm>
            <a:off x="5715000" y="3319272"/>
            <a:ext cx="3063240" cy="1389888"/>
          </a:xfrm>
          <a:prstGeom prst="roundRect">
            <a:avLst>
              <a:gd name="adj" fmla="val 5263"/>
            </a:avLst>
          </a:prstGeom>
          <a:solidFill>
            <a:srgbClr val="E2E8F4"/>
          </a:solidFill>
          <a:ln w="12700">
            <a:solidFill>
              <a:srgbClr val="B0B8CC"/>
            </a:solidFill>
            <a:prstDash val="solid"/>
          </a:ln>
        </p:spPr>
      </p:sp>
      <p:sp>
        <p:nvSpPr>
          <p:cNvPr id="26" name="Text 24"/>
          <p:cNvSpPr/>
          <p:nvPr/>
        </p:nvSpPr>
        <p:spPr>
          <a:xfrm>
            <a:off x="5852160" y="3355848"/>
            <a:ext cx="2788920" cy="201168"/>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TURN-IN CHECKLIST</a:t>
            </a:r>
            <a:endParaRPr lang="en-US" sz="900" dirty="0"/>
          </a:p>
        </p:txBody>
      </p:sp>
      <p:sp>
        <p:nvSpPr>
          <p:cNvPr id="27" name="Shape 25"/>
          <p:cNvSpPr/>
          <p:nvPr/>
        </p:nvSpPr>
        <p:spPr>
          <a:xfrm>
            <a:off x="5852160" y="3593592"/>
            <a:ext cx="164592" cy="146304"/>
          </a:xfrm>
          <a:prstGeom prst="roundRect">
            <a:avLst>
              <a:gd name="adj" fmla="val 25000"/>
            </a:avLst>
          </a:prstGeom>
          <a:solidFill>
            <a:srgbClr val="FFFFFF"/>
          </a:solidFill>
          <a:ln w="9525">
            <a:solidFill>
              <a:srgbClr val="0E1C42"/>
            </a:solidFill>
            <a:prstDash val="solid"/>
          </a:ln>
        </p:spPr>
      </p:sp>
      <p:sp>
        <p:nvSpPr>
          <p:cNvPr id="28" name="Text 26"/>
          <p:cNvSpPr/>
          <p:nvPr/>
        </p:nvSpPr>
        <p:spPr>
          <a:xfrm>
            <a:off x="6080760" y="3584448"/>
            <a:ext cx="2560320" cy="164592"/>
          </a:xfrm>
          <a:prstGeom prst="rect">
            <a:avLst/>
          </a:prstGeom>
          <a:noFill/>
          <a:ln/>
        </p:spPr>
        <p:txBody>
          <a:bodyPr wrap="square" rtlCol="0" anchor="ctr"/>
          <a:lstStyle/>
          <a:p>
            <a:pPr indent="0" marL="0">
              <a:buNone/>
            </a:pPr>
            <a:r>
              <a:rPr lang="en-US" sz="900" dirty="0">
                <a:solidFill>
                  <a:srgbClr val="0E1C42"/>
                </a:solidFill>
                <a:latin typeface="Calibri" pitchFamily="34" charset="0"/>
                <a:ea typeface="Calibri" pitchFamily="34" charset="-122"/>
                <a:cs typeface="Calibri" pitchFamily="34" charset="-120"/>
              </a:rPr>
              <a:t>Answered all 3 Notebook questions</a:t>
            </a:r>
            <a:endParaRPr lang="en-US" sz="900" dirty="0"/>
          </a:p>
        </p:txBody>
      </p:sp>
      <p:sp>
        <p:nvSpPr>
          <p:cNvPr id="29" name="Shape 27"/>
          <p:cNvSpPr/>
          <p:nvPr/>
        </p:nvSpPr>
        <p:spPr>
          <a:xfrm>
            <a:off x="5852160" y="3762756"/>
            <a:ext cx="164592" cy="146304"/>
          </a:xfrm>
          <a:prstGeom prst="roundRect">
            <a:avLst>
              <a:gd name="adj" fmla="val 25000"/>
            </a:avLst>
          </a:prstGeom>
          <a:solidFill>
            <a:srgbClr val="FFFFFF"/>
          </a:solidFill>
          <a:ln w="9525">
            <a:solidFill>
              <a:srgbClr val="0E1C42"/>
            </a:solidFill>
            <a:prstDash val="solid"/>
          </a:ln>
        </p:spPr>
      </p:sp>
      <p:sp>
        <p:nvSpPr>
          <p:cNvPr id="30" name="Text 28"/>
          <p:cNvSpPr/>
          <p:nvPr/>
        </p:nvSpPr>
        <p:spPr>
          <a:xfrm>
            <a:off x="6080760" y="3753612"/>
            <a:ext cx="2560320" cy="164592"/>
          </a:xfrm>
          <a:prstGeom prst="rect">
            <a:avLst/>
          </a:prstGeom>
          <a:noFill/>
          <a:ln/>
        </p:spPr>
        <p:txBody>
          <a:bodyPr wrap="square" rtlCol="0" anchor="ctr"/>
          <a:lstStyle/>
          <a:p>
            <a:pPr indent="0" marL="0">
              <a:buNone/>
            </a:pPr>
            <a:r>
              <a:rPr lang="en-US" sz="900" dirty="0">
                <a:solidFill>
                  <a:srgbClr val="0E1C42"/>
                </a:solidFill>
                <a:latin typeface="Calibri" pitchFamily="34" charset="0"/>
                <a:ea typeface="Calibri" pitchFamily="34" charset="-122"/>
                <a:cs typeface="Calibri" pitchFamily="34" charset="-120"/>
              </a:rPr>
              <a:t>Completed Fact-Check questions</a:t>
            </a:r>
            <a:endParaRPr lang="en-US" sz="900" dirty="0"/>
          </a:p>
        </p:txBody>
      </p:sp>
      <p:sp>
        <p:nvSpPr>
          <p:cNvPr id="31" name="Shape 29"/>
          <p:cNvSpPr/>
          <p:nvPr/>
        </p:nvSpPr>
        <p:spPr>
          <a:xfrm>
            <a:off x="5852160" y="3931920"/>
            <a:ext cx="164592" cy="146304"/>
          </a:xfrm>
          <a:prstGeom prst="roundRect">
            <a:avLst>
              <a:gd name="adj" fmla="val 25000"/>
            </a:avLst>
          </a:prstGeom>
          <a:solidFill>
            <a:srgbClr val="FFFFFF"/>
          </a:solidFill>
          <a:ln w="9525">
            <a:solidFill>
              <a:srgbClr val="0E1C42"/>
            </a:solidFill>
            <a:prstDash val="solid"/>
          </a:ln>
        </p:spPr>
      </p:sp>
      <p:sp>
        <p:nvSpPr>
          <p:cNvPr id="32" name="Text 30"/>
          <p:cNvSpPr/>
          <p:nvPr/>
        </p:nvSpPr>
        <p:spPr>
          <a:xfrm>
            <a:off x="6080760" y="3922776"/>
            <a:ext cx="2560320" cy="164592"/>
          </a:xfrm>
          <a:prstGeom prst="rect">
            <a:avLst/>
          </a:prstGeom>
          <a:noFill/>
          <a:ln/>
        </p:spPr>
        <p:txBody>
          <a:bodyPr wrap="square" rtlCol="0" anchor="ctr"/>
          <a:lstStyle/>
          <a:p>
            <a:pPr indent="0" marL="0">
              <a:buNone/>
            </a:pPr>
            <a:r>
              <a:rPr lang="en-US" sz="900" dirty="0">
                <a:solidFill>
                  <a:srgbClr val="0E1C42"/>
                </a:solidFill>
                <a:latin typeface="Calibri" pitchFamily="34" charset="0"/>
                <a:ea typeface="Calibri" pitchFamily="34" charset="-122"/>
                <a:cs typeface="Calibri" pitchFamily="34" charset="-120"/>
              </a:rPr>
              <a:t>Wrote headline + Front Page Brief</a:t>
            </a:r>
            <a:endParaRPr lang="en-US" sz="900" dirty="0"/>
          </a:p>
        </p:txBody>
      </p:sp>
      <p:sp>
        <p:nvSpPr>
          <p:cNvPr id="33" name="Shape 31"/>
          <p:cNvSpPr/>
          <p:nvPr/>
        </p:nvSpPr>
        <p:spPr>
          <a:xfrm>
            <a:off x="5852160" y="4101084"/>
            <a:ext cx="164592" cy="146304"/>
          </a:xfrm>
          <a:prstGeom prst="roundRect">
            <a:avLst>
              <a:gd name="adj" fmla="val 25000"/>
            </a:avLst>
          </a:prstGeom>
          <a:solidFill>
            <a:srgbClr val="FFFFFF"/>
          </a:solidFill>
          <a:ln w="9525">
            <a:solidFill>
              <a:srgbClr val="0E1C42"/>
            </a:solidFill>
            <a:prstDash val="solid"/>
          </a:ln>
        </p:spPr>
      </p:sp>
      <p:sp>
        <p:nvSpPr>
          <p:cNvPr id="34" name="Text 32"/>
          <p:cNvSpPr/>
          <p:nvPr/>
        </p:nvSpPr>
        <p:spPr>
          <a:xfrm>
            <a:off x="6080760" y="4091940"/>
            <a:ext cx="2560320" cy="164592"/>
          </a:xfrm>
          <a:prstGeom prst="rect">
            <a:avLst/>
          </a:prstGeom>
          <a:noFill/>
          <a:ln/>
        </p:spPr>
        <p:txBody>
          <a:bodyPr wrap="square" rtlCol="0" anchor="ctr"/>
          <a:lstStyle/>
          <a:p>
            <a:pPr indent="0" marL="0">
              <a:buNone/>
            </a:pPr>
            <a:r>
              <a:rPr lang="en-US" sz="900" dirty="0">
                <a:solidFill>
                  <a:srgbClr val="0E1C42"/>
                </a:solidFill>
                <a:latin typeface="Calibri" pitchFamily="34" charset="0"/>
                <a:ea typeface="Calibri" pitchFamily="34" charset="-122"/>
                <a:cs typeface="Calibri" pitchFamily="34" charset="-120"/>
              </a:rPr>
              <a:t>Added your name to the byline</a:t>
            </a:r>
            <a:endParaRPr lang="en-US" sz="900" dirty="0"/>
          </a:p>
        </p:txBody>
      </p:sp>
      <p:sp>
        <p:nvSpPr>
          <p:cNvPr id="35" name="Shape 33"/>
          <p:cNvSpPr/>
          <p:nvPr/>
        </p:nvSpPr>
        <p:spPr>
          <a:xfrm>
            <a:off x="5852160" y="4270248"/>
            <a:ext cx="164592" cy="146304"/>
          </a:xfrm>
          <a:prstGeom prst="roundRect">
            <a:avLst>
              <a:gd name="adj" fmla="val 25000"/>
            </a:avLst>
          </a:prstGeom>
          <a:solidFill>
            <a:srgbClr val="FFFFFF"/>
          </a:solidFill>
          <a:ln w="9525">
            <a:solidFill>
              <a:srgbClr val="0E1C42"/>
            </a:solidFill>
            <a:prstDash val="solid"/>
          </a:ln>
        </p:spPr>
      </p:sp>
      <p:sp>
        <p:nvSpPr>
          <p:cNvPr id="36" name="Text 34"/>
          <p:cNvSpPr/>
          <p:nvPr/>
        </p:nvSpPr>
        <p:spPr>
          <a:xfrm>
            <a:off x="6080760" y="4261104"/>
            <a:ext cx="2560320" cy="164592"/>
          </a:xfrm>
          <a:prstGeom prst="rect">
            <a:avLst/>
          </a:prstGeom>
          <a:noFill/>
          <a:ln/>
        </p:spPr>
        <p:txBody>
          <a:bodyPr wrap="square" rtlCol="0" anchor="ctr"/>
          <a:lstStyle/>
          <a:p>
            <a:pPr indent="0" marL="0">
              <a:buNone/>
            </a:pPr>
            <a:r>
              <a:rPr lang="en-US" sz="900" dirty="0">
                <a:solidFill>
                  <a:srgbClr val="0E1C42"/>
                </a:solidFill>
                <a:latin typeface="Calibri" pitchFamily="34" charset="0"/>
                <a:ea typeface="Calibri" pitchFamily="34" charset="-122"/>
                <a:cs typeface="Calibri" pitchFamily="34" charset="-120"/>
              </a:rPr>
              <a:t>Wrote one Archive Line sentence</a:t>
            </a:r>
            <a:endParaRPr lang="en-US" sz="900" dirty="0"/>
          </a:p>
        </p:txBody>
      </p:sp>
      <p:sp>
        <p:nvSpPr>
          <p:cNvPr id="37" name="Shape 35"/>
          <p:cNvSpPr/>
          <p:nvPr/>
        </p:nvSpPr>
        <p:spPr>
          <a:xfrm>
            <a:off x="5852160" y="4439412"/>
            <a:ext cx="164592" cy="146304"/>
          </a:xfrm>
          <a:prstGeom prst="roundRect">
            <a:avLst>
              <a:gd name="adj" fmla="val 25000"/>
            </a:avLst>
          </a:prstGeom>
          <a:solidFill>
            <a:srgbClr val="FFFFFF"/>
          </a:solidFill>
          <a:ln w="9525">
            <a:solidFill>
              <a:srgbClr val="0E1C42"/>
            </a:solidFill>
            <a:prstDash val="solid"/>
          </a:ln>
        </p:spPr>
      </p:sp>
      <p:sp>
        <p:nvSpPr>
          <p:cNvPr id="38" name="Text 36"/>
          <p:cNvSpPr/>
          <p:nvPr/>
        </p:nvSpPr>
        <p:spPr>
          <a:xfrm>
            <a:off x="6080760" y="4430268"/>
            <a:ext cx="2560320" cy="164592"/>
          </a:xfrm>
          <a:prstGeom prst="rect">
            <a:avLst/>
          </a:prstGeom>
          <a:noFill/>
          <a:ln/>
        </p:spPr>
        <p:txBody>
          <a:bodyPr wrap="square" rtlCol="0" anchor="ctr"/>
          <a:lstStyle/>
          <a:p>
            <a:pPr indent="0" marL="0">
              <a:buNone/>
            </a:pPr>
            <a:r>
              <a:rPr lang="en-US" sz="900" dirty="0">
                <a:solidFill>
                  <a:srgbClr val="0E1C42"/>
                </a:solidFill>
                <a:latin typeface="Calibri" pitchFamily="34" charset="0"/>
                <a:ea typeface="Calibri" pitchFamily="34" charset="-122"/>
                <a:cs typeface="Calibri" pitchFamily="34" charset="-120"/>
              </a:rPr>
              <a:t>Copied/downloaded Gathered Answers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530352"/>
          </a:xfrm>
          <a:prstGeom prst="roundRect">
            <a:avLst>
              <a:gd name="adj" fmla="val 13793"/>
            </a:avLst>
          </a:prstGeom>
          <a:solidFill>
            <a:srgbClr val="D4943A"/>
          </a:solidFill>
          <a:ln w="12700">
            <a:solidFill>
              <a:srgbClr val="B07A2A"/>
            </a:solidFill>
            <a:prstDash val="solid"/>
          </a:ln>
        </p:spPr>
      </p:sp>
      <p:sp>
        <p:nvSpPr>
          <p:cNvPr id="6" name="Text 3"/>
          <p:cNvSpPr/>
          <p:nvPr/>
        </p:nvSpPr>
        <p:spPr>
          <a:xfrm>
            <a:off x="457200" y="274320"/>
            <a:ext cx="8229600" cy="530352"/>
          </a:xfrm>
          <a:prstGeom prst="rect">
            <a:avLst/>
          </a:prstGeom>
          <a:noFill/>
          <a:ln/>
        </p:spPr>
        <p:txBody>
          <a:bodyPr wrap="square" rtlCol="0" anchor="ctr"/>
          <a:lstStyle/>
          <a:p>
            <a:pPr algn="ctr" indent="0" marL="0">
              <a:buNone/>
            </a:pPr>
            <a:r>
              <a:rPr lang="en-US" sz="1300" b="1" spc="200" kern="0" dirty="0">
                <a:solidFill>
                  <a:srgbClr val="0E1C42"/>
                </a:solidFill>
                <a:latin typeface="Cambria" pitchFamily="34" charset="0"/>
                <a:ea typeface="Cambria" pitchFamily="34" charset="-122"/>
                <a:cs typeface="Cambria" pitchFamily="34" charset="-120"/>
              </a:rPr>
              <a:t>THE REPUBLIC GAZETTE -- ISSUE 3 GOING TO PRESS</a:t>
            </a:r>
            <a:endParaRPr lang="en-US" sz="1300" dirty="0"/>
          </a:p>
        </p:txBody>
      </p:sp>
      <p:sp>
        <p:nvSpPr>
          <p:cNvPr id="7" name="Text 4"/>
          <p:cNvSpPr/>
          <p:nvPr/>
        </p:nvSpPr>
        <p:spPr>
          <a:xfrm>
            <a:off x="457200" y="987552"/>
            <a:ext cx="8229600" cy="438912"/>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Well done, Junior Editors.</a:t>
            </a:r>
            <a:endParaRPr lang="en-US" sz="2000" dirty="0"/>
          </a:p>
        </p:txBody>
      </p:sp>
      <p:sp>
        <p:nvSpPr>
          <p:cNvPr id="8" name="Shape 5"/>
          <p:cNvSpPr/>
          <p:nvPr/>
        </p:nvSpPr>
        <p:spPr>
          <a:xfrm>
            <a:off x="1097280" y="1554480"/>
            <a:ext cx="6949440" cy="1261872"/>
          </a:xfrm>
          <a:prstGeom prst="roundRect">
            <a:avLst>
              <a:gd name="adj" fmla="val 8696"/>
            </a:avLst>
          </a:prstGeom>
          <a:solidFill>
            <a:srgbClr val="1A2D5A"/>
          </a:solidFill>
          <a:ln w="19050">
            <a:solidFill>
              <a:srgbClr val="55C8E8"/>
            </a:solidFill>
            <a:prstDash val="solid"/>
          </a:ln>
        </p:spPr>
      </p:sp>
      <p:sp>
        <p:nvSpPr>
          <p:cNvPr id="9" name="Text 6"/>
          <p:cNvSpPr/>
          <p:nvPr/>
        </p:nvSpPr>
        <p:spPr>
          <a:xfrm>
            <a:off x="1234440" y="1609344"/>
            <a:ext cx="6675120" cy="1143000"/>
          </a:xfrm>
          <a:prstGeom prst="rect">
            <a:avLst/>
          </a:prstGeom>
          <a:noFill/>
          <a:ln/>
        </p:spPr>
        <p:txBody>
          <a:bodyPr wrap="square" rtlCol="0" anchor="ctr"/>
          <a:lstStyle/>
          <a:p>
            <a:pPr algn="ctr" indent="0" marL="0">
              <a:buNone/>
            </a:pPr>
            <a:r>
              <a:rPr lang="en-US" sz="1300" dirty="0">
                <a:solidFill>
                  <a:srgbClr val="D6F2FB"/>
                </a:solidFill>
                <a:latin typeface="Calibri" pitchFamily="34" charset="0"/>
                <a:ea typeface="Calibri" pitchFamily="34" charset="-122"/>
                <a:cs typeface="Calibri" pitchFamily="34" charset="-120"/>
              </a:rPr>
              <a:t>Today you proved what The Hasty Herald missed:</a:t>
            </a:r>
            <a:endParaRPr lang="en-US" sz="1300" dirty="0"/>
          </a:p>
          <a:p>
            <a:pPr algn="ctr" indent="0" marL="0">
              <a:buNone/>
            </a:pPr>
            <a:r>
              <a:rPr lang="en-US" sz="1300" dirty="0">
                <a:solidFill>
                  <a:srgbClr val="D6F2FB"/>
                </a:solidFill>
                <a:latin typeface="Calibri" pitchFamily="34" charset="0"/>
                <a:ea typeface="Calibri" pitchFamily="34" charset="-122"/>
                <a:cs typeface="Calibri" pitchFamily="34" charset="-120"/>
              </a:rPr>
              <a:t>Geographic tools don't just tell us WHERE things are -- they give historians</a:t>
            </a:r>
            <a:endParaRPr lang="en-US" sz="1300" dirty="0"/>
          </a:p>
          <a:p>
            <a:pPr algn="ctr" indent="0" marL="0">
              <a:buNone/>
            </a:pPr>
            <a:r>
              <a:rPr lang="en-US" sz="1300" dirty="0">
                <a:solidFill>
                  <a:srgbClr val="D6F2FB"/>
                </a:solidFill>
                <a:latin typeface="Calibri" pitchFamily="34" charset="0"/>
                <a:ea typeface="Calibri" pitchFamily="34" charset="-122"/>
                <a:cs typeface="Calibri" pitchFamily="34" charset="-120"/>
              </a:rPr>
              <a:t>evidence for WHY events happened. Issue 3 tells the full story.</a:t>
            </a:r>
            <a:endParaRPr lang="en-US" sz="1300" dirty="0"/>
          </a:p>
        </p:txBody>
      </p:sp>
      <p:sp>
        <p:nvSpPr>
          <p:cNvPr id="10" name="Shape 7"/>
          <p:cNvSpPr/>
          <p:nvPr/>
        </p:nvSpPr>
        <p:spPr>
          <a:xfrm>
            <a:off x="731520" y="2944368"/>
            <a:ext cx="7680960" cy="1234440"/>
          </a:xfrm>
          <a:prstGeom prst="roundRect">
            <a:avLst>
              <a:gd name="adj" fmla="val 8889"/>
            </a:avLst>
          </a:prstGeom>
          <a:solidFill>
            <a:srgbClr val="0B1835"/>
          </a:solidFill>
          <a:ln w="25400">
            <a:solidFill>
              <a:srgbClr val="D4943A"/>
            </a:solidFill>
            <a:prstDash val="solid"/>
          </a:ln>
        </p:spPr>
      </p:sp>
      <p:sp>
        <p:nvSpPr>
          <p:cNvPr id="11" name="Text 8"/>
          <p:cNvSpPr/>
          <p:nvPr/>
        </p:nvSpPr>
        <p:spPr>
          <a:xfrm>
            <a:off x="868680" y="2990088"/>
            <a:ext cx="7406640" cy="22860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IN THE NEXT ISSUE (5.01.04)</a:t>
            </a:r>
            <a:endParaRPr lang="en-US" sz="1000" dirty="0"/>
          </a:p>
        </p:txBody>
      </p:sp>
      <p:sp>
        <p:nvSpPr>
          <p:cNvPr id="12" name="Text 9"/>
          <p:cNvSpPr/>
          <p:nvPr/>
        </p:nvSpPr>
        <p:spPr>
          <a:xfrm>
            <a:off x="868680" y="3218688"/>
            <a:ext cx="7406640" cy="27432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Claim, Evidence, and Reasoning in Social Studies</a:t>
            </a:r>
            <a:endParaRPr lang="en-US" sz="1400" dirty="0"/>
          </a:p>
        </p:txBody>
      </p:sp>
      <p:sp>
        <p:nvSpPr>
          <p:cNvPr id="13" name="Text 10"/>
          <p:cNvSpPr/>
          <p:nvPr/>
        </p:nvSpPr>
        <p:spPr>
          <a:xfrm>
            <a:off x="868680" y="3511296"/>
            <a:ext cx="7406640" cy="548640"/>
          </a:xfrm>
          <a:prstGeom prst="rect">
            <a:avLst/>
          </a:prstGeom>
          <a:noFill/>
          <a:ln/>
        </p:spPr>
        <p:txBody>
          <a:bodyPr wrap="square" rtlCol="0" anchor="ctr"/>
          <a:lstStyle/>
          <a:p>
            <a:pPr algn="ctr" indent="0" marL="0">
              <a:buNone/>
            </a:pPr>
            <a:r>
              <a:rPr lang="en-US" sz="1100" i="1" dirty="0">
                <a:solidFill>
                  <a:srgbClr val="D6F2FB"/>
                </a:solidFill>
                <a:latin typeface="Calibri" pitchFamily="34" charset="0"/>
                <a:ea typeface="Calibri" pitchFamily="34" charset="-122"/>
                <a:cs typeface="Calibri" pitchFamily="34" charset="-120"/>
              </a:rPr>
              <a:t>A new dispatch arrives at the Source Desk -- and The Hasty Herald has already rushed to print the claim that a strong opinion is enough for a newspaper claim.</a:t>
            </a:r>
            <a:endParaRPr lang="en-US" sz="1100" dirty="0"/>
          </a:p>
        </p:txBody>
      </p:sp>
      <p:sp>
        <p:nvSpPr>
          <p:cNvPr id="14" name="Text 11"/>
          <p:cNvSpPr/>
          <p:nvPr/>
        </p:nvSpPr>
        <p:spPr>
          <a:xfrm>
            <a:off x="457200" y="4681728"/>
            <a:ext cx="8229600" cy="228600"/>
          </a:xfrm>
          <a:prstGeom prst="rect">
            <a:avLst/>
          </a:prstGeom>
          <a:noFill/>
          <a:ln/>
        </p:spPr>
        <p:txBody>
          <a:bodyPr wrap="square"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Standards: SS.5.A.1.1  |  SS.5.A.1.2  |  SS.5.G.1.1  |  Virtue: Service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2026-07-16T17:02:17Z</dcterms:created>
  <dcterms:modified xsi:type="dcterms:W3CDTF">2026-07-16T17:02:17Z</dcterms:modified>
</cp:coreProperties>
</file>