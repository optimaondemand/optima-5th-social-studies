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Tenochtitlan aerial view or Aztec codex art — full bleed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Aztec codex page or wide-angle illustration of the Aztec Empire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Aztec tribute list or long-distance trade network map across Mesoamerica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Aztec judge or educator illustration — representing self-governance and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Republic Gazette newsroom celebration — junior editors at press, warm gold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457200"/>
          </a:xfrm>
          <a:prstGeom prst="rect">
            <a:avLst/>
          </a:prstGeom>
          <a:solidFill>
            <a:srgbClr val="D4943A"/>
          </a:solidFill>
          <a:ln/>
        </p:spPr>
      </p:sp>
      <p:sp>
        <p:nvSpPr>
          <p:cNvPr id="6" name="Text 3"/>
          <p:cNvSpPr/>
          <p:nvPr/>
        </p:nvSpPr>
        <p:spPr>
          <a:xfrm>
            <a:off x="0" y="0"/>
            <a:ext cx="9144000" cy="457200"/>
          </a:xfrm>
          <a:prstGeom prst="rect">
            <a:avLst/>
          </a:prstGeom>
          <a:noFill/>
          <a:ln/>
        </p:spPr>
        <p:txBody>
          <a:bodyPr wrap="square" lIns="0" tIns="0" rIns="0" bIns="0"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THE REPUBLIC GAZETTE  ·  Vol. 1, Issue 12  ·  Early American Civilizations</a:t>
            </a:r>
            <a:endParaRPr lang="en-US" sz="1100" dirty="0"/>
          </a:p>
        </p:txBody>
      </p:sp>
      <p:sp>
        <p:nvSpPr>
          <p:cNvPr id="7" name="Text 4"/>
          <p:cNvSpPr/>
          <p:nvPr/>
        </p:nvSpPr>
        <p:spPr>
          <a:xfrm>
            <a:off x="457200" y="640080"/>
            <a:ext cx="8229600" cy="1188720"/>
          </a:xfrm>
          <a:prstGeom prst="rect">
            <a:avLst/>
          </a:prstGeom>
          <a:noFill/>
          <a:ln/>
          <a:effectLst>
            <a:outerShdw sx="100000" sy="100000" kx="0" ky="0" algn="bl" rotWithShape="0" blurRad="152400" dist="50800" dir="2700000">
              <a:srgbClr val="000000">
                <a:alpha val="75000"/>
              </a:srgbClr>
            </a:outerShdw>
          </a:effectLst>
        </p:spPr>
        <p:txBody>
          <a:bodyPr wrap="square"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AZTEC CIVILIZATION</a:t>
            </a:r>
            <a:endParaRPr lang="en-US" sz="5200" dirty="0"/>
          </a:p>
        </p:txBody>
      </p:sp>
      <p:sp>
        <p:nvSpPr>
          <p:cNvPr id="8" name="Text 5"/>
          <p:cNvSpPr/>
          <p:nvPr/>
        </p:nvSpPr>
        <p:spPr>
          <a:xfrm>
            <a:off x="457200" y="1783080"/>
            <a:ext cx="8229600" cy="320040"/>
          </a:xfrm>
          <a:prstGeom prst="rect">
            <a:avLst/>
          </a:prstGeom>
          <a:noFill/>
          <a:ln/>
        </p:spPr>
        <p:txBody>
          <a:bodyPr wrap="square" rtlCol="0" anchor="ctr"/>
          <a:lstStyle/>
          <a:p>
            <a:pPr algn="ctr" indent="0" marL="0">
              <a:buNone/>
            </a:pPr>
            <a:r>
              <a:rPr lang="en-US" sz="1500" i="1" dirty="0">
                <a:solidFill>
                  <a:srgbClr val="55C8E8"/>
                </a:solidFill>
                <a:latin typeface="Calibri" pitchFamily="34" charset="0"/>
                <a:ea typeface="Calibri" pitchFamily="34" charset="-122"/>
                <a:cs typeface="Calibri" pitchFamily="34" charset="-120"/>
              </a:rPr>
              <a:t>Issue 12  ·  Source Desk Edition</a:t>
            </a:r>
            <a:endParaRPr lang="en-US" sz="1500" dirty="0"/>
          </a:p>
        </p:txBody>
      </p:sp>
      <p:sp>
        <p:nvSpPr>
          <p:cNvPr id="9" name="Shape 6"/>
          <p:cNvSpPr/>
          <p:nvPr/>
        </p:nvSpPr>
        <p:spPr>
          <a:xfrm>
            <a:off x="1645920" y="2240280"/>
            <a:ext cx="5852160" cy="1005840"/>
          </a:xfrm>
          <a:prstGeom prst="roundRect">
            <a:avLst>
              <a:gd name="adj" fmla="val 9091"/>
            </a:avLst>
          </a:prstGeom>
          <a:solidFill>
            <a:srgbClr val="E8636B">
              <a:alpha val="80000"/>
            </a:srgbClr>
          </a:solidFill>
          <a:ln w="25400">
            <a:solidFill>
              <a:srgbClr val="E8636B"/>
            </a:solidFill>
            <a:prstDash val="solid"/>
          </a:ln>
        </p:spPr>
      </p:sp>
      <p:sp>
        <p:nvSpPr>
          <p:cNvPr id="10" name="Text 7"/>
          <p:cNvSpPr/>
          <p:nvPr/>
        </p:nvSpPr>
        <p:spPr>
          <a:xfrm>
            <a:off x="1828800" y="2286000"/>
            <a:ext cx="5486400" cy="228600"/>
          </a:xfrm>
          <a:prstGeom prst="rect">
            <a:avLst/>
          </a:prstGeom>
          <a:noFill/>
          <a:ln/>
        </p:spPr>
        <p:txBody>
          <a:bodyPr wrap="square"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THE HASTY HERALD CLAIMS:</a:t>
            </a:r>
            <a:endParaRPr lang="en-US" sz="900" dirty="0"/>
          </a:p>
        </p:txBody>
      </p:sp>
      <p:sp>
        <p:nvSpPr>
          <p:cNvPr id="11" name="Text 8"/>
          <p:cNvSpPr/>
          <p:nvPr/>
        </p:nvSpPr>
        <p:spPr>
          <a:xfrm>
            <a:off x="1828800" y="2514600"/>
            <a:ext cx="5486400" cy="594360"/>
          </a:xfrm>
          <a:prstGeom prst="rect">
            <a:avLst/>
          </a:prstGeom>
          <a:noFill/>
          <a:ln/>
        </p:spPr>
        <p:txBody>
          <a:bodyPr wrap="square" rtlCol="0" anchor="ctr"/>
          <a:lstStyle/>
          <a:p>
            <a:pPr algn="ctr" indent="0" marL="0">
              <a:buNone/>
            </a:pPr>
            <a:r>
              <a:rPr lang="en-US" sz="1300" i="1" dirty="0">
                <a:solidFill>
                  <a:srgbClr val="FFD6D8"/>
                </a:solidFill>
                <a:latin typeface="Cambria" pitchFamily="34" charset="0"/>
                <a:ea typeface="Cambria" pitchFamily="34" charset="-122"/>
                <a:cs typeface="Cambria" pitchFamily="34" charset="-120"/>
              </a:rPr>
              <a:t>"The Aztec capital tells us everything we need to know about the whole civilization."</a:t>
            </a:r>
            <a:endParaRPr lang="en-US" sz="1300" dirty="0"/>
          </a:p>
        </p:txBody>
      </p:sp>
      <p:sp>
        <p:nvSpPr>
          <p:cNvPr id="12" name="Text 9"/>
          <p:cNvSpPr/>
          <p:nvPr/>
        </p:nvSpPr>
        <p:spPr>
          <a:xfrm>
            <a:off x="457200" y="3383280"/>
            <a:ext cx="8229600" cy="365760"/>
          </a:xfrm>
          <a:prstGeom prst="rect">
            <a:avLst/>
          </a:prstGeom>
          <a:noFill/>
          <a:ln/>
        </p:spPr>
        <p:txBody>
          <a:bodyPr wrap="square" rtlCol="0" anchor="ctr"/>
          <a:lstStyle/>
          <a:p>
            <a:pPr algn="ctr" indent="0" marL="0">
              <a:buNone/>
            </a:pPr>
            <a:r>
              <a:rPr lang="en-US" sz="1600" b="1" dirty="0">
                <a:solidFill>
                  <a:srgbClr val="D4943A"/>
                </a:solidFill>
                <a:latin typeface="Calibri" pitchFamily="34" charset="0"/>
                <a:ea typeface="Calibri" pitchFamily="34" charset="-122"/>
                <a:cs typeface="Calibri" pitchFamily="34" charset="-120"/>
              </a:rPr>
              <a:t>Junior Editors — is that the whole story?</a:t>
            </a:r>
            <a:endParaRPr lang="en-US" sz="1600" dirty="0"/>
          </a:p>
        </p:txBody>
      </p:sp>
      <p:sp>
        <p:nvSpPr>
          <p:cNvPr id="13" name="Shape 10"/>
          <p:cNvSpPr/>
          <p:nvPr/>
        </p:nvSpPr>
        <p:spPr>
          <a:xfrm>
            <a:off x="365760" y="3886200"/>
            <a:ext cx="3931920" cy="594360"/>
          </a:xfrm>
          <a:prstGeom prst="roundRect">
            <a:avLst>
              <a:gd name="adj" fmla="val 15385"/>
            </a:avLst>
          </a:prstGeom>
          <a:solidFill>
            <a:srgbClr val="1A2D5A"/>
          </a:solidFill>
          <a:ln w="12700">
            <a:solidFill>
              <a:srgbClr val="55C8E8"/>
            </a:solidFill>
            <a:prstDash val="solid"/>
          </a:ln>
        </p:spPr>
      </p:sp>
      <p:sp>
        <p:nvSpPr>
          <p:cNvPr id="14" name="Text 11"/>
          <p:cNvSpPr/>
          <p:nvPr/>
        </p:nvSpPr>
        <p:spPr>
          <a:xfrm>
            <a:off x="502920" y="3959352"/>
            <a:ext cx="3657600" cy="201168"/>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Virtue Lens: Self-Governance</a:t>
            </a:r>
            <a:endParaRPr lang="en-US" sz="1100" dirty="0"/>
          </a:p>
        </p:txBody>
      </p:sp>
      <p:sp>
        <p:nvSpPr>
          <p:cNvPr id="15" name="Text 12"/>
          <p:cNvSpPr/>
          <p:nvPr/>
        </p:nvSpPr>
        <p:spPr>
          <a:xfrm>
            <a:off x="502920" y="4160520"/>
            <a:ext cx="3657600" cy="256032"/>
          </a:xfrm>
          <a:prstGeom prst="rect">
            <a:avLst/>
          </a:prstGeom>
          <a:noFill/>
          <a:ln/>
        </p:spPr>
        <p:txBody>
          <a:bodyPr wrap="square" rtlCol="0" anchor="ctr"/>
          <a:lstStyle/>
          <a:p>
            <a:pPr indent="0" marL="0">
              <a:buNone/>
            </a:pPr>
            <a:r>
              <a:rPr lang="en-US" sz="1000" i="1" dirty="0">
                <a:solidFill>
                  <a:srgbClr val="D6F2FB"/>
                </a:solidFill>
                <a:latin typeface="Calibri" pitchFamily="34" charset="0"/>
                <a:ea typeface="Calibri" pitchFamily="34" charset="-122"/>
                <a:cs typeface="Calibri" pitchFamily="34" charset="-120"/>
              </a:rPr>
              <a:t>Control your conclusions — evidence first.</a:t>
            </a:r>
            <a:endParaRPr lang="en-US" sz="1000" dirty="0"/>
          </a:p>
        </p:txBody>
      </p:sp>
      <p:sp>
        <p:nvSpPr>
          <p:cNvPr id="16" name="Shape 13"/>
          <p:cNvSpPr/>
          <p:nvPr/>
        </p:nvSpPr>
        <p:spPr>
          <a:xfrm>
            <a:off x="4572000" y="3886200"/>
            <a:ext cx="4114800" cy="594360"/>
          </a:xfrm>
          <a:prstGeom prst="roundRect">
            <a:avLst>
              <a:gd name="adj" fmla="val 15385"/>
            </a:avLst>
          </a:prstGeom>
          <a:solidFill>
            <a:srgbClr val="1A2D5A"/>
          </a:solidFill>
          <a:ln w="12700">
            <a:solidFill>
              <a:srgbClr val="D4943A"/>
            </a:solidFill>
            <a:prstDash val="solid"/>
          </a:ln>
        </p:spPr>
      </p:sp>
      <p:sp>
        <p:nvSpPr>
          <p:cNvPr id="17" name="Text 14"/>
          <p:cNvSpPr/>
          <p:nvPr/>
        </p:nvSpPr>
        <p:spPr>
          <a:xfrm>
            <a:off x="4709160" y="3959352"/>
            <a:ext cx="3840480" cy="201168"/>
          </a:xfrm>
          <a:prstGeom prst="rect">
            <a:avLst/>
          </a:prstGeom>
          <a:noFill/>
          <a:ln/>
        </p:spPr>
        <p:txBody>
          <a:bodyPr wrap="square"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Standards: SS.5.A.2.1  ·  SS.5.G.1.1  ·  SS.5.G.1.4</a:t>
            </a:r>
            <a:endParaRPr lang="en-US" sz="1100" dirty="0"/>
          </a:p>
        </p:txBody>
      </p:sp>
      <p:sp>
        <p:nvSpPr>
          <p:cNvPr id="18" name="Text 15"/>
          <p:cNvSpPr/>
          <p:nvPr/>
        </p:nvSpPr>
        <p:spPr>
          <a:xfrm>
            <a:off x="4709160" y="4160520"/>
            <a:ext cx="3840480" cy="256032"/>
          </a:xfrm>
          <a:prstGeom prst="rect">
            <a:avLst/>
          </a:prstGeom>
          <a:noFill/>
          <a:ln/>
        </p:spPr>
        <p:txBody>
          <a:bodyPr wrap="square" rtlCol="0" anchor="ctr"/>
          <a:lstStyle/>
          <a:p>
            <a:pPr indent="0" marL="0">
              <a:buNone/>
            </a:pPr>
            <a:r>
              <a:rPr lang="en-US" sz="1000" dirty="0">
                <a:solidFill>
                  <a:srgbClr val="FFF3DC"/>
                </a:solidFill>
                <a:latin typeface="Calibri" pitchFamily="34" charset="0"/>
                <a:ea typeface="Calibri" pitchFamily="34" charset="-122"/>
                <a:cs typeface="Calibri" pitchFamily="34" charset="-120"/>
              </a:rPr>
              <a:t>Week 6  ·  Q1  ·  Unit 3: Early American Civilizations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594360"/>
          </a:xfrm>
          <a:prstGeom prst="rect">
            <a:avLst/>
          </a:prstGeom>
          <a:solidFill>
            <a:srgbClr val="E8636B"/>
          </a:solidFill>
          <a:ln/>
        </p:spPr>
      </p:sp>
      <p:sp>
        <p:nvSpPr>
          <p:cNvPr id="4" name="Text 2"/>
          <p:cNvSpPr/>
          <p:nvPr/>
        </p:nvSpPr>
        <p:spPr>
          <a:xfrm>
            <a:off x="0" y="0"/>
            <a:ext cx="9144000" cy="5943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THE HASTY HERALD  ·  Today's News · Yesterday · Maybe</a:t>
            </a:r>
            <a:endParaRPr lang="en-US" sz="1800" dirty="0"/>
          </a:p>
        </p:txBody>
      </p:sp>
      <p:sp>
        <p:nvSpPr>
          <p:cNvPr id="5" name="Shape 3"/>
          <p:cNvSpPr/>
          <p:nvPr/>
        </p:nvSpPr>
        <p:spPr>
          <a:xfrm>
            <a:off x="457200" y="685800"/>
            <a:ext cx="8412480" cy="1051560"/>
          </a:xfrm>
          <a:prstGeom prst="roundRect">
            <a:avLst>
              <a:gd name="adj" fmla="val 8696"/>
            </a:avLst>
          </a:prstGeom>
          <a:solidFill>
            <a:srgbClr val="FFF0F0"/>
          </a:solidFill>
          <a:ln w="25400">
            <a:solidFill>
              <a:srgbClr val="E8636B"/>
            </a:solidFill>
            <a:prstDash val="solid"/>
          </a:ln>
        </p:spPr>
      </p:sp>
      <p:sp>
        <p:nvSpPr>
          <p:cNvPr id="6" name="Text 4"/>
          <p:cNvSpPr/>
          <p:nvPr/>
        </p:nvSpPr>
        <p:spPr>
          <a:xfrm>
            <a:off x="594360" y="749808"/>
            <a:ext cx="8138160" cy="365760"/>
          </a:xfrm>
          <a:prstGeom prst="rect">
            <a:avLst/>
          </a:prstGeom>
          <a:noFill/>
          <a:ln/>
        </p:spPr>
        <p:txBody>
          <a:bodyPr wrap="square" rtlCol="0" anchor="ctr"/>
          <a:lstStyle/>
          <a:p>
            <a:pPr algn="ctr" indent="0" marL="0">
              <a:buNone/>
            </a:pPr>
            <a:r>
              <a:rPr lang="en-US" sz="2200" b="1" dirty="0">
                <a:solidFill>
                  <a:srgbClr val="C02030"/>
                </a:solidFill>
                <a:latin typeface="Cambria" pitchFamily="34" charset="0"/>
                <a:ea typeface="Cambria" pitchFamily="34" charset="-122"/>
                <a:cs typeface="Cambria" pitchFamily="34" charset="-120"/>
              </a:rPr>
              <a:t>AZTEC CAPITAL TELLS THE WHOLE STORY!</a:t>
            </a:r>
            <a:endParaRPr lang="en-US" sz="2200" dirty="0"/>
          </a:p>
        </p:txBody>
      </p:sp>
      <p:sp>
        <p:nvSpPr>
          <p:cNvPr id="7" name="Text 5"/>
          <p:cNvSpPr/>
          <p:nvPr/>
        </p:nvSpPr>
        <p:spPr>
          <a:xfrm>
            <a:off x="594360" y="1115568"/>
            <a:ext cx="8138160" cy="411480"/>
          </a:xfrm>
          <a:prstGeom prst="rect">
            <a:avLst/>
          </a:prstGeom>
          <a:noFill/>
          <a:ln/>
        </p:spPr>
        <p:txBody>
          <a:bodyPr wrap="square" rtlCol="0" anchor="ctr"/>
          <a:lstStyle/>
          <a:p>
            <a:pPr algn="ctr" indent="0" marL="0">
              <a:buNone/>
            </a:pPr>
            <a:r>
              <a:rPr lang="en-US" sz="1400" i="1" dirty="0">
                <a:solidFill>
                  <a:srgbClr val="7A3040"/>
                </a:solidFill>
                <a:latin typeface="Cambria" pitchFamily="34" charset="0"/>
                <a:ea typeface="Cambria" pitchFamily="34" charset="-122"/>
                <a:cs typeface="Cambria" pitchFamily="34" charset="-120"/>
              </a:rPr>
              <a:t>"The Aztec capital tells us everything we need to know about the whole civilization."</a:t>
            </a:r>
            <a:endParaRPr lang="en-US" sz="1400" dirty="0"/>
          </a:p>
        </p:txBody>
      </p:sp>
      <p:sp>
        <p:nvSpPr>
          <p:cNvPr id="8" name="Text 6"/>
          <p:cNvSpPr/>
          <p:nvPr/>
        </p:nvSpPr>
        <p:spPr>
          <a:xfrm>
            <a:off x="594360" y="1554480"/>
            <a:ext cx="8138160" cy="201168"/>
          </a:xfrm>
          <a:prstGeom prst="rect">
            <a:avLst/>
          </a:prstGeom>
          <a:noFill/>
          <a:ln/>
        </p:spPr>
        <p:txBody>
          <a:bodyPr wrap="square"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 Filed by The Herald, minutes ago  ·  Rushed to Print!</a:t>
            </a:r>
            <a:endParaRPr lang="en-US" sz="1000" dirty="0"/>
          </a:p>
        </p:txBody>
      </p:sp>
      <p:sp>
        <p:nvSpPr>
          <p:cNvPr id="9" name="Shape 7"/>
          <p:cNvSpPr/>
          <p:nvPr/>
        </p:nvSpPr>
        <p:spPr>
          <a:xfrm>
            <a:off x="365760" y="1874520"/>
            <a:ext cx="4663440" cy="1783080"/>
          </a:xfrm>
          <a:prstGeom prst="roundRect">
            <a:avLst>
              <a:gd name="adj" fmla="val 6154"/>
            </a:avLst>
          </a:prstGeom>
          <a:solidFill>
            <a:srgbClr val="1A2D5A"/>
          </a:solidFill>
          <a:ln w="12700">
            <a:solidFill>
              <a:srgbClr val="2A4070"/>
            </a:solidFill>
            <a:prstDash val="solid"/>
          </a:ln>
        </p:spPr>
      </p:sp>
      <p:sp>
        <p:nvSpPr>
          <p:cNvPr id="10" name="Text 8"/>
          <p:cNvSpPr/>
          <p:nvPr/>
        </p:nvSpPr>
        <p:spPr>
          <a:xfrm>
            <a:off x="502920" y="1929384"/>
            <a:ext cx="43891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48640" y="2194560"/>
            <a:ext cx="4297680" cy="13716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is The Herald actually claiming here? Read it precisely.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The Herald need as evidence to prove this claim is true?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Before we study the source — what's your hunch? Does a capital city tell the WHOLE story of a civilization?</a:t>
            </a:r>
            <a:endParaRPr lang="en-US" sz="1100" dirty="0"/>
          </a:p>
        </p:txBody>
      </p:sp>
      <p:sp>
        <p:nvSpPr>
          <p:cNvPr id="12" name="Shape 10"/>
          <p:cNvSpPr/>
          <p:nvPr/>
        </p:nvSpPr>
        <p:spPr>
          <a:xfrm>
            <a:off x="5166360" y="1874520"/>
            <a:ext cx="3474720" cy="1783080"/>
          </a:xfrm>
          <a:prstGeom prst="roundRect">
            <a:avLst>
              <a:gd name="adj" fmla="val 6154"/>
            </a:avLst>
          </a:prstGeom>
          <a:solidFill>
            <a:srgbClr val="FFF3DC"/>
          </a:solidFill>
          <a:ln w="19050">
            <a:solidFill>
              <a:srgbClr val="F5E6C8"/>
            </a:solidFill>
            <a:prstDash val="solid"/>
          </a:ln>
        </p:spPr>
      </p:sp>
      <p:sp>
        <p:nvSpPr>
          <p:cNvPr id="13" name="Text 11"/>
          <p:cNvSpPr/>
          <p:nvPr/>
        </p:nvSpPr>
        <p:spPr>
          <a:xfrm>
            <a:off x="5303520" y="1929384"/>
            <a:ext cx="32004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303520" y="2130552"/>
            <a:ext cx="3200400" cy="14630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Herald means..."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that might be missing from that claim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"From last issue with the Maya, I remember that..."</a:t>
            </a:r>
            <a:endParaRPr lang="en-US" sz="1200" dirty="0"/>
          </a:p>
        </p:txBody>
      </p:sp>
      <p:sp>
        <p:nvSpPr>
          <p:cNvPr id="15" name="Shape 13"/>
          <p:cNvSpPr/>
          <p:nvPr/>
        </p:nvSpPr>
        <p:spPr>
          <a:xfrm>
            <a:off x="365760" y="3749040"/>
            <a:ext cx="8412480" cy="777240"/>
          </a:xfrm>
          <a:prstGeom prst="roundRect">
            <a:avLst>
              <a:gd name="adj" fmla="val 11765"/>
            </a:avLst>
          </a:prstGeom>
          <a:solidFill>
            <a:srgbClr val="FFF3DC"/>
          </a:solidFill>
          <a:ln w="19050">
            <a:solidFill>
              <a:srgbClr val="D4943A"/>
            </a:solidFill>
            <a:prstDash val="solid"/>
          </a:ln>
        </p:spPr>
      </p:sp>
      <p:sp>
        <p:nvSpPr>
          <p:cNvPr id="16" name="Text 14"/>
          <p:cNvSpPr/>
          <p:nvPr/>
        </p:nvSpPr>
        <p:spPr>
          <a:xfrm>
            <a:off x="548640" y="3822192"/>
            <a:ext cx="1828800" cy="228600"/>
          </a:xfrm>
          <a:prstGeom prst="rect">
            <a:avLst/>
          </a:prstGeom>
          <a:noFill/>
          <a:ln/>
        </p:spPr>
        <p:txBody>
          <a:bodyPr wrap="square"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Your job today:</a:t>
            </a:r>
            <a:endParaRPr lang="en-US" sz="1100" dirty="0"/>
          </a:p>
        </p:txBody>
      </p:sp>
      <p:sp>
        <p:nvSpPr>
          <p:cNvPr id="17" name="Text 15"/>
          <p:cNvSpPr/>
          <p:nvPr/>
        </p:nvSpPr>
        <p:spPr>
          <a:xfrm>
            <a:off x="548640" y="4041648"/>
            <a:ext cx="8046720" cy="411480"/>
          </a:xfrm>
          <a:prstGeom prst="rect">
            <a:avLst/>
          </a:prstGeom>
          <a:noFill/>
          <a:ln/>
        </p:spPr>
        <p:txBody>
          <a:bodyPr wrap="square" rtlCol="0" anchor="ctr"/>
          <a:lstStyle/>
          <a:p>
            <a:pPr indent="0" marL="0">
              <a:buNone/>
            </a:pPr>
            <a:r>
              <a:rPr lang="en-US" sz="1200" dirty="0">
                <a:solidFill>
                  <a:srgbClr val="5A4A3A"/>
                </a:solidFill>
                <a:latin typeface="Calibri" pitchFamily="34" charset="0"/>
                <a:ea typeface="Calibri" pitchFamily="34" charset="-122"/>
                <a:cs typeface="Calibri" pitchFamily="34" charset="-120"/>
              </a:rPr>
              <a:t>As a Junior Editor on the Source Desk, examine the Aztec source and find evidence that the civilization included much more than its famous capital.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9FC"/>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D4943A"/>
                </a:solidFill>
                <a:latin typeface="Cambria" pitchFamily="34" charset="0"/>
                <a:ea typeface="Cambria" pitchFamily="34" charset="-122"/>
                <a:cs typeface="Cambria" pitchFamily="34" charset="-120"/>
              </a:rPr>
              <a:t>THE REPUBLIC GAZETTE  ·  DISPATCH  ·  5.03.04</a:t>
            </a:r>
            <a:endParaRPr lang="en-US" sz="1300" dirty="0"/>
          </a:p>
        </p:txBody>
      </p:sp>
      <p:sp>
        <p:nvSpPr>
          <p:cNvPr id="5" name="Shape 3"/>
          <p:cNvSpPr/>
          <p:nvPr/>
        </p:nvSpPr>
        <p:spPr>
          <a:xfrm>
            <a:off x="365760" y="640080"/>
            <a:ext cx="1828800" cy="2103120"/>
          </a:xfrm>
          <a:prstGeom prst="roundRect">
            <a:avLst>
              <a:gd name="adj" fmla="val 6000"/>
            </a:avLst>
          </a:prstGeom>
          <a:solidFill>
            <a:srgbClr val="E2E8F4"/>
          </a:solidFill>
          <a:ln w="19050">
            <a:solidFill>
              <a:srgbClr val="B0B8CC"/>
            </a:solidFill>
            <a:prstDash val="dash"/>
          </a:ln>
        </p:spPr>
      </p:sp>
      <p:sp>
        <p:nvSpPr>
          <p:cNvPr id="6" name="Text 4"/>
          <p:cNvSpPr/>
          <p:nvPr/>
        </p:nvSpPr>
        <p:spPr>
          <a:xfrm>
            <a:off x="365760" y="640080"/>
            <a:ext cx="1828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914400"/>
            <a:ext cx="1554480" cy="1737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Ms. Avery — Editor-in-Chief portrait</a:t>
            </a:r>
            <a:endParaRPr lang="en-US" sz="1100" dirty="0"/>
          </a:p>
        </p:txBody>
      </p:sp>
      <p:sp>
        <p:nvSpPr>
          <p:cNvPr id="8" name="Shape 6"/>
          <p:cNvSpPr/>
          <p:nvPr/>
        </p:nvSpPr>
        <p:spPr>
          <a:xfrm>
            <a:off x="2423160" y="640080"/>
            <a:ext cx="6400800" cy="2103120"/>
          </a:xfrm>
          <a:prstGeom prst="roundRect">
            <a:avLst>
              <a:gd name="adj" fmla="val 4348"/>
            </a:avLst>
          </a:prstGeom>
          <a:solidFill>
            <a:srgbClr val="FFFFFF"/>
          </a:solidFill>
          <a:ln w="19050">
            <a:solidFill>
              <a:srgbClr val="D4943A"/>
            </a:solidFill>
            <a:prstDash val="solid"/>
          </a:ln>
        </p:spPr>
      </p:sp>
      <p:sp>
        <p:nvSpPr>
          <p:cNvPr id="9" name="Text 7"/>
          <p:cNvSpPr/>
          <p:nvPr/>
        </p:nvSpPr>
        <p:spPr>
          <a:xfrm>
            <a:off x="2560320" y="713232"/>
            <a:ext cx="6126480" cy="256032"/>
          </a:xfrm>
          <a:prstGeom prst="rect">
            <a:avLst/>
          </a:prstGeom>
          <a:noFill/>
          <a:ln/>
        </p:spPr>
        <p:txBody>
          <a:bodyPr wrap="square"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From the Editor's Desk — Ms. Avery, Editor-in-Chief</a:t>
            </a:r>
            <a:endParaRPr lang="en-US" sz="1300" dirty="0"/>
          </a:p>
        </p:txBody>
      </p:sp>
      <p:sp>
        <p:nvSpPr>
          <p:cNvPr id="10" name="Text 8"/>
          <p:cNvSpPr/>
          <p:nvPr/>
        </p:nvSpPr>
        <p:spPr>
          <a:xfrm>
            <a:off x="2560320" y="1005840"/>
            <a:ext cx="6126480" cy="1627632"/>
          </a:xfrm>
          <a:prstGeom prst="rect">
            <a:avLst/>
          </a:prstGeom>
          <a:noFill/>
          <a:ln/>
        </p:spPr>
        <p:txBody>
          <a:bodyPr wrap="square" rtlCol="0" anchor="t"/>
          <a:lstStyle/>
          <a:p>
            <a:pPr indent="0" marL="0">
              <a:buNone/>
            </a:pPr>
            <a:r>
              <a:rPr lang="en-US" sz="1200" dirty="0">
                <a:solidFill>
                  <a:srgbClr val="3A3A4A"/>
                </a:solidFill>
                <a:latin typeface="Calibri" pitchFamily="34" charset="0"/>
                <a:ea typeface="Calibri" pitchFamily="34" charset="-122"/>
                <a:cs typeface="Calibri" pitchFamily="34" charset="-120"/>
              </a:rPr>
              <a:t>Last issue, the Gazette examined Maya civilization. Today the editor asks whether that evidence changes how we should understand the Aztec.</a:t>
            </a:r>
            <a:endParaRPr lang="en-US" sz="1200" dirty="0"/>
          </a:p>
          <a:p>
            <a:pPr indent="0" marL="0">
              <a:buNone/>
            </a:pPr>
            <a:endParaRPr lang="en-US" sz="1200" dirty="0"/>
          </a:p>
          <a:p>
            <a:pPr indent="0" marL="0">
              <a:buNone/>
            </a:pPr>
            <a:r>
              <a:rPr lang="en-US" sz="1200" dirty="0">
                <a:solidFill>
                  <a:srgbClr val="3A3A4A"/>
                </a:solidFill>
                <a:latin typeface="Calibri" pitchFamily="34" charset="0"/>
                <a:ea typeface="Calibri" pitchFamily="34" charset="-122"/>
                <a:cs typeface="Calibri" pitchFamily="34" charset="-120"/>
              </a:rPr>
              <a:t>A new file marked 5.03.04 — Aztec Civilization arrives on the Source Desk. The Gazette may print only after you examine the source carefully and improve the public account. The Hasty Herald has already rushed its version to print.</a:t>
            </a:r>
            <a:endParaRPr lang="en-US" sz="1200" dirty="0"/>
          </a:p>
        </p:txBody>
      </p:sp>
      <p:sp>
        <p:nvSpPr>
          <p:cNvPr id="11" name="Shape 9"/>
          <p:cNvSpPr/>
          <p:nvPr/>
        </p:nvSpPr>
        <p:spPr>
          <a:xfrm>
            <a:off x="365760" y="2880360"/>
            <a:ext cx="4114800" cy="1737360"/>
          </a:xfrm>
          <a:prstGeom prst="roundRect">
            <a:avLst>
              <a:gd name="adj" fmla="val 6316"/>
            </a:avLst>
          </a:prstGeom>
          <a:solidFill>
            <a:srgbClr val="0E1C42"/>
          </a:solidFill>
          <a:ln w="19050">
            <a:solidFill>
              <a:srgbClr val="55C8E8"/>
            </a:solidFill>
            <a:prstDash val="solid"/>
          </a:ln>
        </p:spPr>
      </p:sp>
      <p:sp>
        <p:nvSpPr>
          <p:cNvPr id="12" name="Text 10"/>
          <p:cNvSpPr/>
          <p:nvPr/>
        </p:nvSpPr>
        <p:spPr>
          <a:xfrm>
            <a:off x="502920" y="2944368"/>
            <a:ext cx="3840480" cy="2286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TODAY'S BEAT</a:t>
            </a:r>
            <a:endParaRPr lang="en-US" sz="900" dirty="0"/>
          </a:p>
        </p:txBody>
      </p:sp>
      <p:sp>
        <p:nvSpPr>
          <p:cNvPr id="13" name="Text 11"/>
          <p:cNvSpPr/>
          <p:nvPr/>
        </p:nvSpPr>
        <p:spPr>
          <a:xfrm>
            <a:off x="502920" y="3200400"/>
            <a:ext cx="3840480" cy="201168"/>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Junior Editor's Question:</a:t>
            </a:r>
            <a:endParaRPr lang="en-US" sz="1000" dirty="0"/>
          </a:p>
        </p:txBody>
      </p:sp>
      <p:sp>
        <p:nvSpPr>
          <p:cNvPr id="14" name="Text 12"/>
          <p:cNvSpPr/>
          <p:nvPr/>
        </p:nvSpPr>
        <p:spPr>
          <a:xfrm>
            <a:off x="502920" y="3419856"/>
            <a:ext cx="3840480" cy="1115568"/>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What can we learn about the Aztec civilization that goes beyond just their capital city, and why does the difference matter?</a:t>
            </a:r>
            <a:endParaRPr lang="en-US" sz="1100" dirty="0"/>
          </a:p>
        </p:txBody>
      </p:sp>
      <p:sp>
        <p:nvSpPr>
          <p:cNvPr id="15" name="Shape 13"/>
          <p:cNvSpPr/>
          <p:nvPr/>
        </p:nvSpPr>
        <p:spPr>
          <a:xfrm>
            <a:off x="4663440" y="2880360"/>
            <a:ext cx="4160520" cy="1737360"/>
          </a:xfrm>
          <a:prstGeom prst="roundRect">
            <a:avLst>
              <a:gd name="adj" fmla="val 6316"/>
            </a:avLst>
          </a:prstGeom>
          <a:solidFill>
            <a:srgbClr val="34B76F">
              <a:alpha val="85000"/>
            </a:srgbClr>
          </a:solidFill>
          <a:ln w="19050">
            <a:solidFill>
              <a:srgbClr val="34B76F"/>
            </a:solidFill>
            <a:prstDash val="solid"/>
          </a:ln>
        </p:spPr>
      </p:sp>
      <p:sp>
        <p:nvSpPr>
          <p:cNvPr id="16" name="Text 14"/>
          <p:cNvSpPr/>
          <p:nvPr/>
        </p:nvSpPr>
        <p:spPr>
          <a:xfrm>
            <a:off x="4800600" y="2944368"/>
            <a:ext cx="3840480" cy="228600"/>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YOUR ROLE TODAY</a:t>
            </a:r>
            <a:endParaRPr lang="en-US" sz="900" dirty="0"/>
          </a:p>
        </p:txBody>
      </p:sp>
      <p:sp>
        <p:nvSpPr>
          <p:cNvPr id="17" name="Text 15"/>
          <p:cNvSpPr/>
          <p:nvPr/>
        </p:nvSpPr>
        <p:spPr>
          <a:xfrm>
            <a:off x="4800600" y="3200400"/>
            <a:ext cx="3840480" cy="256032"/>
          </a:xfrm>
          <a:prstGeom prst="rect">
            <a:avLst/>
          </a:prstGeom>
          <a:noFill/>
          <a:ln/>
        </p:spPr>
        <p:txBody>
          <a:bodyPr wrap="square"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Junior Editor  ·  Source Desk</a:t>
            </a:r>
            <a:endParaRPr lang="en-US" sz="1300" dirty="0"/>
          </a:p>
        </p:txBody>
      </p:sp>
      <p:sp>
        <p:nvSpPr>
          <p:cNvPr id="18" name="Text 16"/>
          <p:cNvSpPr/>
          <p:nvPr/>
        </p:nvSpPr>
        <p:spPr>
          <a:xfrm>
            <a:off x="4800600" y="3493008"/>
            <a:ext cx="3840480" cy="105156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The Republic Gazette</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Examine the Aztec source, separate observation from inference, and publish a Gazette Correction that uses evidence to fix the Herald's claim.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9FC"/>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55C8E8"/>
                </a:solidFill>
                <a:latin typeface="Cambria" pitchFamily="34" charset="0"/>
                <a:ea typeface="Cambria" pitchFamily="34" charset="-122"/>
                <a:cs typeface="Cambria" pitchFamily="34" charset="-120"/>
              </a:rPr>
              <a:t>CLUE BOX  ·  Source Desk  ·  Round 1 of 3</a:t>
            </a:r>
            <a:endParaRPr lang="en-US" sz="1300" dirty="0"/>
          </a:p>
        </p:txBody>
      </p:sp>
      <p:sp>
        <p:nvSpPr>
          <p:cNvPr id="5" name="Text 3"/>
          <p:cNvSpPr/>
          <p:nvPr/>
        </p:nvSpPr>
        <p:spPr>
          <a:xfrm>
            <a:off x="365760" y="594360"/>
            <a:ext cx="8412480" cy="438912"/>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does the capital city tell us?</a:t>
            </a:r>
            <a:endParaRPr lang="en-US" sz="2200" dirty="0"/>
          </a:p>
        </p:txBody>
      </p:sp>
      <p:sp>
        <p:nvSpPr>
          <p:cNvPr id="6" name="Shape 4"/>
          <p:cNvSpPr/>
          <p:nvPr/>
        </p:nvSpPr>
        <p:spPr>
          <a:xfrm>
            <a:off x="365760" y="1115568"/>
            <a:ext cx="5303520" cy="2423160"/>
          </a:xfrm>
          <a:prstGeom prst="roundRect">
            <a:avLst>
              <a:gd name="adj" fmla="val 4528"/>
            </a:avLst>
          </a:prstGeom>
          <a:solidFill>
            <a:srgbClr val="FFFFFF"/>
          </a:solidFill>
          <a:ln w="19050">
            <a:solidFill>
              <a:srgbClr val="0E1C42"/>
            </a:solidFill>
            <a:prstDash val="solid"/>
          </a:ln>
        </p:spPr>
      </p:sp>
      <p:sp>
        <p:nvSpPr>
          <p:cNvPr id="7" name="Text 5"/>
          <p:cNvSpPr/>
          <p:nvPr/>
        </p:nvSpPr>
        <p:spPr>
          <a:xfrm>
            <a:off x="502920" y="1179576"/>
            <a:ext cx="5029200" cy="201168"/>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FROM THE SOURCE</a:t>
            </a:r>
            <a:endParaRPr lang="en-US" sz="900" dirty="0"/>
          </a:p>
        </p:txBody>
      </p:sp>
      <p:sp>
        <p:nvSpPr>
          <p:cNvPr id="8" name="Text 6"/>
          <p:cNvSpPr/>
          <p:nvPr/>
        </p:nvSpPr>
        <p:spPr>
          <a:xfrm>
            <a:off x="502920" y="1417320"/>
            <a:ext cx="5029200" cy="2057400"/>
          </a:xfrm>
          <a:prstGeom prst="rect">
            <a:avLst/>
          </a:prstGeom>
          <a:noFill/>
          <a:ln/>
        </p:spPr>
        <p:txBody>
          <a:bodyPr wrap="square" rtlCol="0" anchor="t"/>
          <a:lstStyle/>
          <a:p>
            <a:pPr indent="0" marL="0">
              <a:buNone/>
            </a:pPr>
            <a:r>
              <a:rPr lang="en-US" sz="1100" dirty="0">
                <a:solidFill>
                  <a:srgbClr val="3A3A4A"/>
                </a:solidFill>
                <a:latin typeface="Calibri" pitchFamily="34" charset="0"/>
                <a:ea typeface="Calibri" pitchFamily="34" charset="-122"/>
                <a:cs typeface="Calibri" pitchFamily="34" charset="-120"/>
              </a:rPr>
              <a:t>The Aztec people — who called themselves the Mexica — founded their capital city, Tenochtitlan, on an island in Lake Texcoco in 1325 CE. By the time Spanish explorers arrived in 1519, Tenochtitlan had grown into one of the largest cities in the world, with more than 200,000 residents.</a:t>
            </a:r>
            <a:endParaRPr lang="en-US" sz="1100" dirty="0"/>
          </a:p>
          <a:p>
            <a:pPr indent="0" marL="0">
              <a:buNone/>
            </a:pPr>
            <a:endParaRPr lang="en-US" sz="1100" dirty="0"/>
          </a:p>
          <a:p>
            <a:pPr indent="0" marL="0">
              <a:buNone/>
            </a:pPr>
            <a:r>
              <a:rPr lang="en-US" sz="1100" dirty="0">
                <a:solidFill>
                  <a:srgbClr val="3A3A4A"/>
                </a:solidFill>
                <a:latin typeface="Calibri" pitchFamily="34" charset="0"/>
                <a:ea typeface="Calibri" pitchFamily="34" charset="-122"/>
                <a:cs typeface="Calibri" pitchFamily="34" charset="-120"/>
              </a:rPr>
              <a:t>The city was an engineering marvel: causeways connected the island to the mainland, aqueducts carried fresh water from mountain springs, and chinampas (floating gardens) allowed farmers to grow food on the lake itself. A massive marketplace at nearby Tlatelolco attracted thousands of traders every day.</a:t>
            </a:r>
            <a:endParaRPr lang="en-US" sz="1100" dirty="0"/>
          </a:p>
        </p:txBody>
      </p:sp>
      <p:sp>
        <p:nvSpPr>
          <p:cNvPr id="9" name="Shape 7"/>
          <p:cNvSpPr/>
          <p:nvPr/>
        </p:nvSpPr>
        <p:spPr>
          <a:xfrm>
            <a:off x="5897880" y="1115568"/>
            <a:ext cx="2834640" cy="2423160"/>
          </a:xfrm>
          <a:prstGeom prst="roundRect">
            <a:avLst>
              <a:gd name="adj" fmla="val 4528"/>
            </a:avLst>
          </a:prstGeom>
          <a:solidFill>
            <a:srgbClr val="E2E8F4"/>
          </a:solidFill>
          <a:ln w="19050">
            <a:solidFill>
              <a:srgbClr val="B0B8CC"/>
            </a:solidFill>
            <a:prstDash val="dash"/>
          </a:ln>
        </p:spPr>
      </p:sp>
      <p:sp>
        <p:nvSpPr>
          <p:cNvPr id="10" name="Text 8"/>
          <p:cNvSpPr/>
          <p:nvPr/>
        </p:nvSpPr>
        <p:spPr>
          <a:xfrm>
            <a:off x="5897880" y="1115568"/>
            <a:ext cx="28346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6035040" y="1389888"/>
            <a:ext cx="2560320" cy="2057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Tenochtitlan reconstruction or map of island city in Lake Texcoco</a:t>
            </a:r>
            <a:endParaRPr lang="en-US" sz="1100" dirty="0"/>
          </a:p>
        </p:txBody>
      </p:sp>
      <p:sp>
        <p:nvSpPr>
          <p:cNvPr id="12" name="Shape 10"/>
          <p:cNvSpPr/>
          <p:nvPr/>
        </p:nvSpPr>
        <p:spPr>
          <a:xfrm>
            <a:off x="365760" y="3657600"/>
            <a:ext cx="5029200" cy="1097280"/>
          </a:xfrm>
          <a:prstGeom prst="roundRect">
            <a:avLst>
              <a:gd name="adj" fmla="val 10000"/>
            </a:avLst>
          </a:prstGeom>
          <a:solidFill>
            <a:srgbClr val="1A2D5A"/>
          </a:solidFill>
          <a:ln w="12700">
            <a:solidFill>
              <a:srgbClr val="2A4070"/>
            </a:solidFill>
            <a:prstDash val="solid"/>
          </a:ln>
        </p:spPr>
      </p:sp>
      <p:sp>
        <p:nvSpPr>
          <p:cNvPr id="13" name="Text 11"/>
          <p:cNvSpPr/>
          <p:nvPr/>
        </p:nvSpPr>
        <p:spPr>
          <a:xfrm>
            <a:off x="502920" y="3712464"/>
            <a:ext cx="47548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48640" y="3977640"/>
            <a:ext cx="4663440" cy="6858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specific details are observations (directly stated) vs. inferences?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 causeways, aqueducts, and chinampas tell you about the Aztecs as engineers?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200,000 residents — why does that number matter as evidence?</a:t>
            </a:r>
            <a:endParaRPr lang="en-US" sz="1100" dirty="0"/>
          </a:p>
        </p:txBody>
      </p:sp>
      <p:sp>
        <p:nvSpPr>
          <p:cNvPr id="15" name="Shape 13"/>
          <p:cNvSpPr/>
          <p:nvPr/>
        </p:nvSpPr>
        <p:spPr>
          <a:xfrm>
            <a:off x="5577840" y="3657600"/>
            <a:ext cx="3154680" cy="1097280"/>
          </a:xfrm>
          <a:prstGeom prst="roundRect">
            <a:avLst>
              <a:gd name="adj" fmla="val 10000"/>
            </a:avLst>
          </a:prstGeom>
          <a:solidFill>
            <a:srgbClr val="FFF3DC"/>
          </a:solidFill>
          <a:ln w="19050">
            <a:solidFill>
              <a:srgbClr val="F5E6C8"/>
            </a:solidFill>
            <a:prstDash val="solid"/>
          </a:ln>
        </p:spPr>
      </p:sp>
      <p:sp>
        <p:nvSpPr>
          <p:cNvPr id="16" name="Text 14"/>
          <p:cNvSpPr/>
          <p:nvPr/>
        </p:nvSpPr>
        <p:spPr>
          <a:xfrm>
            <a:off x="5715000" y="3712464"/>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715000" y="3913632"/>
            <a:ext cx="288036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source shows me that..."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that surprises me is..."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A"/>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55C8E8"/>
                </a:solidFill>
                <a:latin typeface="Cambria" pitchFamily="34" charset="0"/>
                <a:ea typeface="Cambria" pitchFamily="34" charset="-122"/>
                <a:cs typeface="Cambria" pitchFamily="34" charset="-120"/>
              </a:rPr>
              <a:t>DISCUSSION  ·  Round 1</a:t>
            </a:r>
            <a:endParaRPr lang="en-US" sz="1300" dirty="0"/>
          </a:p>
        </p:txBody>
      </p:sp>
      <p:sp>
        <p:nvSpPr>
          <p:cNvPr id="5" name="Text 3"/>
          <p:cNvSpPr/>
          <p:nvPr/>
        </p:nvSpPr>
        <p:spPr>
          <a:xfrm>
            <a:off x="365760" y="594360"/>
            <a:ext cx="8412480" cy="438912"/>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Does a great capital city prove a great civilization?</a:t>
            </a:r>
            <a:endParaRPr lang="en-US" sz="2200" dirty="0"/>
          </a:p>
        </p:txBody>
      </p:sp>
      <p:sp>
        <p:nvSpPr>
          <p:cNvPr id="6" name="Shape 4"/>
          <p:cNvSpPr/>
          <p:nvPr/>
        </p:nvSpPr>
        <p:spPr>
          <a:xfrm>
            <a:off x="320040" y="1170432"/>
            <a:ext cx="2651760" cy="3520440"/>
          </a:xfrm>
          <a:prstGeom prst="roundRect">
            <a:avLst>
              <a:gd name="adj" fmla="val 4138"/>
            </a:avLst>
          </a:prstGeom>
          <a:solidFill>
            <a:srgbClr val="FFFFFF"/>
          </a:solidFill>
          <a:ln w="25400">
            <a:solidFill>
              <a:srgbClr val="34B76F"/>
            </a:solidFill>
            <a:prstDash val="solid"/>
          </a:ln>
        </p:spPr>
      </p:sp>
      <p:sp>
        <p:nvSpPr>
          <p:cNvPr id="7" name="Shape 5"/>
          <p:cNvSpPr/>
          <p:nvPr/>
        </p:nvSpPr>
        <p:spPr>
          <a:xfrm>
            <a:off x="320040" y="1170432"/>
            <a:ext cx="2651760" cy="347472"/>
          </a:xfrm>
          <a:prstGeom prst="roundRect">
            <a:avLst>
              <a:gd name="adj" fmla="val 26316"/>
            </a:avLst>
          </a:prstGeom>
          <a:solidFill>
            <a:srgbClr val="34B76F"/>
          </a:solidFill>
          <a:ln/>
        </p:spPr>
      </p:sp>
      <p:sp>
        <p:nvSpPr>
          <p:cNvPr id="8" name="Text 6"/>
          <p:cNvSpPr/>
          <p:nvPr/>
        </p:nvSpPr>
        <p:spPr>
          <a:xfrm>
            <a:off x="411480" y="1170432"/>
            <a:ext cx="24688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Capital SHOWS</a:t>
            </a:r>
            <a:endParaRPr lang="en-US" sz="1100" dirty="0"/>
          </a:p>
        </p:txBody>
      </p:sp>
      <p:sp>
        <p:nvSpPr>
          <p:cNvPr id="9" name="Shape 7"/>
          <p:cNvSpPr/>
          <p:nvPr/>
        </p:nvSpPr>
        <p:spPr>
          <a:xfrm>
            <a:off x="457200" y="1627632"/>
            <a:ext cx="2377440" cy="594360"/>
          </a:xfrm>
          <a:prstGeom prst="roundRect">
            <a:avLst>
              <a:gd name="adj" fmla="val 12308"/>
            </a:avLst>
          </a:prstGeom>
          <a:solidFill>
            <a:srgbClr val="F8F9FC"/>
          </a:solidFill>
          <a:ln w="9525">
            <a:solidFill>
              <a:srgbClr val="34B76F"/>
            </a:solidFill>
            <a:prstDash val="solid"/>
          </a:ln>
        </p:spPr>
      </p:sp>
      <p:sp>
        <p:nvSpPr>
          <p:cNvPr id="10" name="Text 8"/>
          <p:cNvSpPr/>
          <p:nvPr/>
        </p:nvSpPr>
        <p:spPr>
          <a:xfrm>
            <a:off x="548640" y="1664208"/>
            <a:ext cx="2194560" cy="530352"/>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Engineering skill (causeways, aqueducts)</a:t>
            </a:r>
            <a:endParaRPr lang="en-US" sz="1100" dirty="0"/>
          </a:p>
        </p:txBody>
      </p:sp>
      <p:sp>
        <p:nvSpPr>
          <p:cNvPr id="11" name="Shape 9"/>
          <p:cNvSpPr/>
          <p:nvPr/>
        </p:nvSpPr>
        <p:spPr>
          <a:xfrm>
            <a:off x="457200" y="2286000"/>
            <a:ext cx="2377440" cy="594360"/>
          </a:xfrm>
          <a:prstGeom prst="roundRect">
            <a:avLst>
              <a:gd name="adj" fmla="val 12308"/>
            </a:avLst>
          </a:prstGeom>
          <a:solidFill>
            <a:srgbClr val="F8F9FC"/>
          </a:solidFill>
          <a:ln w="9525">
            <a:solidFill>
              <a:srgbClr val="34B76F"/>
            </a:solidFill>
            <a:prstDash val="solid"/>
          </a:ln>
        </p:spPr>
      </p:sp>
      <p:sp>
        <p:nvSpPr>
          <p:cNvPr id="12" name="Text 10"/>
          <p:cNvSpPr/>
          <p:nvPr/>
        </p:nvSpPr>
        <p:spPr>
          <a:xfrm>
            <a:off x="548640" y="2322576"/>
            <a:ext cx="2194560" cy="530352"/>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Agricultural innovation (chinampas)</a:t>
            </a:r>
            <a:endParaRPr lang="en-US" sz="1100" dirty="0"/>
          </a:p>
        </p:txBody>
      </p:sp>
      <p:sp>
        <p:nvSpPr>
          <p:cNvPr id="13" name="Shape 11"/>
          <p:cNvSpPr/>
          <p:nvPr/>
        </p:nvSpPr>
        <p:spPr>
          <a:xfrm>
            <a:off x="457200" y="2944368"/>
            <a:ext cx="2377440" cy="594360"/>
          </a:xfrm>
          <a:prstGeom prst="roundRect">
            <a:avLst>
              <a:gd name="adj" fmla="val 12308"/>
            </a:avLst>
          </a:prstGeom>
          <a:solidFill>
            <a:srgbClr val="F8F9FC"/>
          </a:solidFill>
          <a:ln w="9525">
            <a:solidFill>
              <a:srgbClr val="34B76F"/>
            </a:solidFill>
            <a:prstDash val="solid"/>
          </a:ln>
        </p:spPr>
      </p:sp>
      <p:sp>
        <p:nvSpPr>
          <p:cNvPr id="14" name="Text 12"/>
          <p:cNvSpPr/>
          <p:nvPr/>
        </p:nvSpPr>
        <p:spPr>
          <a:xfrm>
            <a:off x="548640" y="2980944"/>
            <a:ext cx="2194560" cy="530352"/>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Organized trade (Tlatelolco marketplace)</a:t>
            </a:r>
            <a:endParaRPr lang="en-US" sz="1100" dirty="0"/>
          </a:p>
        </p:txBody>
      </p:sp>
      <p:sp>
        <p:nvSpPr>
          <p:cNvPr id="15" name="Shape 13"/>
          <p:cNvSpPr/>
          <p:nvPr/>
        </p:nvSpPr>
        <p:spPr>
          <a:xfrm>
            <a:off x="457200" y="3602736"/>
            <a:ext cx="2377440" cy="594360"/>
          </a:xfrm>
          <a:prstGeom prst="roundRect">
            <a:avLst>
              <a:gd name="adj" fmla="val 12308"/>
            </a:avLst>
          </a:prstGeom>
          <a:solidFill>
            <a:srgbClr val="F8F9FC"/>
          </a:solidFill>
          <a:ln w="9525">
            <a:solidFill>
              <a:srgbClr val="34B76F"/>
            </a:solidFill>
            <a:prstDash val="solid"/>
          </a:ln>
        </p:spPr>
      </p:sp>
      <p:sp>
        <p:nvSpPr>
          <p:cNvPr id="16" name="Text 14"/>
          <p:cNvSpPr/>
          <p:nvPr/>
        </p:nvSpPr>
        <p:spPr>
          <a:xfrm>
            <a:off x="548640" y="3639312"/>
            <a:ext cx="2194560" cy="530352"/>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Large, organized population (200,000+)</a:t>
            </a:r>
            <a:endParaRPr lang="en-US" sz="1100" dirty="0"/>
          </a:p>
        </p:txBody>
      </p:sp>
      <p:sp>
        <p:nvSpPr>
          <p:cNvPr id="17" name="Shape 15"/>
          <p:cNvSpPr/>
          <p:nvPr/>
        </p:nvSpPr>
        <p:spPr>
          <a:xfrm>
            <a:off x="3154680" y="1170432"/>
            <a:ext cx="2651760" cy="3520440"/>
          </a:xfrm>
          <a:prstGeom prst="roundRect">
            <a:avLst>
              <a:gd name="adj" fmla="val 4138"/>
            </a:avLst>
          </a:prstGeom>
          <a:solidFill>
            <a:srgbClr val="FFFFFF"/>
          </a:solidFill>
          <a:ln w="25400">
            <a:solidFill>
              <a:srgbClr val="E8636B"/>
            </a:solidFill>
            <a:prstDash val="solid"/>
          </a:ln>
        </p:spPr>
      </p:sp>
      <p:sp>
        <p:nvSpPr>
          <p:cNvPr id="18" name="Shape 16"/>
          <p:cNvSpPr/>
          <p:nvPr/>
        </p:nvSpPr>
        <p:spPr>
          <a:xfrm>
            <a:off x="3154680" y="1170432"/>
            <a:ext cx="2651760" cy="347472"/>
          </a:xfrm>
          <a:prstGeom prst="roundRect">
            <a:avLst>
              <a:gd name="adj" fmla="val 26316"/>
            </a:avLst>
          </a:prstGeom>
          <a:solidFill>
            <a:srgbClr val="E8636B"/>
          </a:solidFill>
          <a:ln/>
        </p:spPr>
      </p:sp>
      <p:sp>
        <p:nvSpPr>
          <p:cNvPr id="19" name="Text 17"/>
          <p:cNvSpPr/>
          <p:nvPr/>
        </p:nvSpPr>
        <p:spPr>
          <a:xfrm>
            <a:off x="3246120" y="1170432"/>
            <a:ext cx="24688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Capital CANNOT SHOW</a:t>
            </a:r>
            <a:endParaRPr lang="en-US" sz="1100" dirty="0"/>
          </a:p>
        </p:txBody>
      </p:sp>
      <p:sp>
        <p:nvSpPr>
          <p:cNvPr id="20" name="Shape 18"/>
          <p:cNvSpPr/>
          <p:nvPr/>
        </p:nvSpPr>
        <p:spPr>
          <a:xfrm>
            <a:off x="3291840" y="1627632"/>
            <a:ext cx="2377440" cy="594360"/>
          </a:xfrm>
          <a:prstGeom prst="roundRect">
            <a:avLst>
              <a:gd name="adj" fmla="val 12308"/>
            </a:avLst>
          </a:prstGeom>
          <a:solidFill>
            <a:srgbClr val="F8F9FC"/>
          </a:solidFill>
          <a:ln w="9525">
            <a:solidFill>
              <a:srgbClr val="E8636B"/>
            </a:solidFill>
            <a:prstDash val="solid"/>
          </a:ln>
        </p:spPr>
      </p:sp>
      <p:sp>
        <p:nvSpPr>
          <p:cNvPr id="21" name="Text 19"/>
          <p:cNvSpPr/>
          <p:nvPr/>
        </p:nvSpPr>
        <p:spPr>
          <a:xfrm>
            <a:off x="3383280" y="1664208"/>
            <a:ext cx="2194560" cy="530352"/>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Education system for all children</a:t>
            </a:r>
            <a:endParaRPr lang="en-US" sz="1100" dirty="0"/>
          </a:p>
        </p:txBody>
      </p:sp>
      <p:sp>
        <p:nvSpPr>
          <p:cNvPr id="22" name="Shape 20"/>
          <p:cNvSpPr/>
          <p:nvPr/>
        </p:nvSpPr>
        <p:spPr>
          <a:xfrm>
            <a:off x="3291840" y="2286000"/>
            <a:ext cx="2377440" cy="594360"/>
          </a:xfrm>
          <a:prstGeom prst="roundRect">
            <a:avLst>
              <a:gd name="adj" fmla="val 12308"/>
            </a:avLst>
          </a:prstGeom>
          <a:solidFill>
            <a:srgbClr val="F8F9FC"/>
          </a:solidFill>
          <a:ln w="9525">
            <a:solidFill>
              <a:srgbClr val="E8636B"/>
            </a:solidFill>
            <a:prstDash val="solid"/>
          </a:ln>
        </p:spPr>
      </p:sp>
      <p:sp>
        <p:nvSpPr>
          <p:cNvPr id="23" name="Text 21"/>
          <p:cNvSpPr/>
          <p:nvPr/>
        </p:nvSpPr>
        <p:spPr>
          <a:xfrm>
            <a:off x="3383280" y="2322576"/>
            <a:ext cx="2194560" cy="530352"/>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Poetry and artistic traditions</a:t>
            </a:r>
            <a:endParaRPr lang="en-US" sz="1100" dirty="0"/>
          </a:p>
        </p:txBody>
      </p:sp>
      <p:sp>
        <p:nvSpPr>
          <p:cNvPr id="24" name="Shape 22"/>
          <p:cNvSpPr/>
          <p:nvPr/>
        </p:nvSpPr>
        <p:spPr>
          <a:xfrm>
            <a:off x="3291840" y="2944368"/>
            <a:ext cx="2377440" cy="594360"/>
          </a:xfrm>
          <a:prstGeom prst="roundRect">
            <a:avLst>
              <a:gd name="adj" fmla="val 12308"/>
            </a:avLst>
          </a:prstGeom>
          <a:solidFill>
            <a:srgbClr val="F8F9FC"/>
          </a:solidFill>
          <a:ln w="9525">
            <a:solidFill>
              <a:srgbClr val="E8636B"/>
            </a:solidFill>
            <a:prstDash val="solid"/>
          </a:ln>
        </p:spPr>
      </p:sp>
      <p:sp>
        <p:nvSpPr>
          <p:cNvPr id="25" name="Text 23"/>
          <p:cNvSpPr/>
          <p:nvPr/>
        </p:nvSpPr>
        <p:spPr>
          <a:xfrm>
            <a:off x="3383280" y="2980944"/>
            <a:ext cx="2194560" cy="530352"/>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Legal system and courts</a:t>
            </a:r>
            <a:endParaRPr lang="en-US" sz="1100" dirty="0"/>
          </a:p>
        </p:txBody>
      </p:sp>
      <p:sp>
        <p:nvSpPr>
          <p:cNvPr id="26" name="Shape 24"/>
          <p:cNvSpPr/>
          <p:nvPr/>
        </p:nvSpPr>
        <p:spPr>
          <a:xfrm>
            <a:off x="3291840" y="3602736"/>
            <a:ext cx="2377440" cy="594360"/>
          </a:xfrm>
          <a:prstGeom prst="roundRect">
            <a:avLst>
              <a:gd name="adj" fmla="val 12308"/>
            </a:avLst>
          </a:prstGeom>
          <a:solidFill>
            <a:srgbClr val="F8F9FC"/>
          </a:solidFill>
          <a:ln w="9525">
            <a:solidFill>
              <a:srgbClr val="E8636B"/>
            </a:solidFill>
            <a:prstDash val="solid"/>
          </a:ln>
        </p:spPr>
      </p:sp>
      <p:sp>
        <p:nvSpPr>
          <p:cNvPr id="27" name="Text 25"/>
          <p:cNvSpPr/>
          <p:nvPr/>
        </p:nvSpPr>
        <p:spPr>
          <a:xfrm>
            <a:off x="3383280" y="3639312"/>
            <a:ext cx="2194560" cy="530352"/>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Tribute empire across central Mexico</a:t>
            </a:r>
            <a:endParaRPr lang="en-US" sz="1100" dirty="0"/>
          </a:p>
        </p:txBody>
      </p:sp>
      <p:sp>
        <p:nvSpPr>
          <p:cNvPr id="28" name="Shape 26"/>
          <p:cNvSpPr/>
          <p:nvPr/>
        </p:nvSpPr>
        <p:spPr>
          <a:xfrm>
            <a:off x="5989320" y="1170432"/>
            <a:ext cx="2651760" cy="3520440"/>
          </a:xfrm>
          <a:prstGeom prst="roundRect">
            <a:avLst>
              <a:gd name="adj" fmla="val 4138"/>
            </a:avLst>
          </a:prstGeom>
          <a:solidFill>
            <a:srgbClr val="FFFFFF"/>
          </a:solidFill>
          <a:ln w="25400">
            <a:solidFill>
              <a:srgbClr val="D4943A"/>
            </a:solidFill>
            <a:prstDash val="solid"/>
          </a:ln>
        </p:spPr>
      </p:sp>
      <p:sp>
        <p:nvSpPr>
          <p:cNvPr id="29" name="Shape 27"/>
          <p:cNvSpPr/>
          <p:nvPr/>
        </p:nvSpPr>
        <p:spPr>
          <a:xfrm>
            <a:off x="5989320" y="1170432"/>
            <a:ext cx="2651760" cy="347472"/>
          </a:xfrm>
          <a:prstGeom prst="roundRect">
            <a:avLst>
              <a:gd name="adj" fmla="val 26316"/>
            </a:avLst>
          </a:prstGeom>
          <a:solidFill>
            <a:srgbClr val="D4943A"/>
          </a:solidFill>
          <a:ln/>
        </p:spPr>
      </p:sp>
      <p:sp>
        <p:nvSpPr>
          <p:cNvPr id="30" name="Text 28"/>
          <p:cNvSpPr/>
          <p:nvPr/>
        </p:nvSpPr>
        <p:spPr>
          <a:xfrm>
            <a:off x="6080760" y="1170432"/>
            <a:ext cx="24688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Herald's Logic Gap</a:t>
            </a:r>
            <a:endParaRPr lang="en-US" sz="1100" dirty="0"/>
          </a:p>
        </p:txBody>
      </p:sp>
      <p:sp>
        <p:nvSpPr>
          <p:cNvPr id="31" name="Shape 29"/>
          <p:cNvSpPr/>
          <p:nvPr/>
        </p:nvSpPr>
        <p:spPr>
          <a:xfrm>
            <a:off x="6126480" y="1627632"/>
            <a:ext cx="2377440" cy="594360"/>
          </a:xfrm>
          <a:prstGeom prst="roundRect">
            <a:avLst>
              <a:gd name="adj" fmla="val 12308"/>
            </a:avLst>
          </a:prstGeom>
          <a:solidFill>
            <a:srgbClr val="F8F9FC"/>
          </a:solidFill>
          <a:ln w="9525">
            <a:solidFill>
              <a:srgbClr val="D4943A"/>
            </a:solidFill>
            <a:prstDash val="solid"/>
          </a:ln>
        </p:spPr>
      </p:sp>
      <p:sp>
        <p:nvSpPr>
          <p:cNvPr id="32" name="Text 30"/>
          <p:cNvSpPr/>
          <p:nvPr/>
        </p:nvSpPr>
        <p:spPr>
          <a:xfrm>
            <a:off x="6217920" y="1664208"/>
            <a:ext cx="2194560" cy="530352"/>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Picks the most impressive piece</a:t>
            </a:r>
            <a:endParaRPr lang="en-US" sz="1100" dirty="0"/>
          </a:p>
        </p:txBody>
      </p:sp>
      <p:sp>
        <p:nvSpPr>
          <p:cNvPr id="33" name="Shape 31"/>
          <p:cNvSpPr/>
          <p:nvPr/>
        </p:nvSpPr>
        <p:spPr>
          <a:xfrm>
            <a:off x="6126480" y="2286000"/>
            <a:ext cx="2377440" cy="594360"/>
          </a:xfrm>
          <a:prstGeom prst="roundRect">
            <a:avLst>
              <a:gd name="adj" fmla="val 12308"/>
            </a:avLst>
          </a:prstGeom>
          <a:solidFill>
            <a:srgbClr val="F8F9FC"/>
          </a:solidFill>
          <a:ln w="9525">
            <a:solidFill>
              <a:srgbClr val="D4943A"/>
            </a:solidFill>
            <a:prstDash val="solid"/>
          </a:ln>
        </p:spPr>
      </p:sp>
      <p:sp>
        <p:nvSpPr>
          <p:cNvPr id="34" name="Text 32"/>
          <p:cNvSpPr/>
          <p:nvPr/>
        </p:nvSpPr>
        <p:spPr>
          <a:xfrm>
            <a:off x="6217920" y="2322576"/>
            <a:ext cx="2194560" cy="530352"/>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Claims it represents everything</a:t>
            </a:r>
            <a:endParaRPr lang="en-US" sz="1100" dirty="0"/>
          </a:p>
        </p:txBody>
      </p:sp>
      <p:sp>
        <p:nvSpPr>
          <p:cNvPr id="35" name="Shape 33"/>
          <p:cNvSpPr/>
          <p:nvPr/>
        </p:nvSpPr>
        <p:spPr>
          <a:xfrm>
            <a:off x="6126480" y="2944368"/>
            <a:ext cx="2377440" cy="594360"/>
          </a:xfrm>
          <a:prstGeom prst="roundRect">
            <a:avLst>
              <a:gd name="adj" fmla="val 12308"/>
            </a:avLst>
          </a:prstGeom>
          <a:solidFill>
            <a:srgbClr val="F8F9FC"/>
          </a:solidFill>
          <a:ln w="9525">
            <a:solidFill>
              <a:srgbClr val="D4943A"/>
            </a:solidFill>
            <a:prstDash val="solid"/>
          </a:ln>
        </p:spPr>
      </p:sp>
      <p:sp>
        <p:nvSpPr>
          <p:cNvPr id="36" name="Text 34"/>
          <p:cNvSpPr/>
          <p:nvPr/>
        </p:nvSpPr>
        <p:spPr>
          <a:xfrm>
            <a:off x="6217920" y="2980944"/>
            <a:ext cx="2194560" cy="530352"/>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Ignores what isn't in the capital</a:t>
            </a:r>
            <a:endParaRPr lang="en-US" sz="1100" dirty="0"/>
          </a:p>
        </p:txBody>
      </p:sp>
      <p:sp>
        <p:nvSpPr>
          <p:cNvPr id="37" name="Shape 35"/>
          <p:cNvSpPr/>
          <p:nvPr/>
        </p:nvSpPr>
        <p:spPr>
          <a:xfrm>
            <a:off x="6126480" y="3602736"/>
            <a:ext cx="2377440" cy="594360"/>
          </a:xfrm>
          <a:prstGeom prst="roundRect">
            <a:avLst>
              <a:gd name="adj" fmla="val 12308"/>
            </a:avLst>
          </a:prstGeom>
          <a:solidFill>
            <a:srgbClr val="F8F9FC"/>
          </a:solidFill>
          <a:ln w="9525">
            <a:solidFill>
              <a:srgbClr val="D4943A"/>
            </a:solidFill>
            <a:prstDash val="solid"/>
          </a:ln>
        </p:spPr>
      </p:sp>
      <p:sp>
        <p:nvSpPr>
          <p:cNvPr id="38" name="Text 36"/>
          <p:cNvSpPr/>
          <p:nvPr/>
        </p:nvSpPr>
        <p:spPr>
          <a:xfrm>
            <a:off x="6217920" y="3639312"/>
            <a:ext cx="2194560" cy="530352"/>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A careful editor looks for what's missing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alpha val="85000"/>
            </a:srgbClr>
          </a:solidFill>
          <a:ln/>
        </p:spPr>
      </p:sp>
      <p:sp>
        <p:nvSpPr>
          <p:cNvPr id="6" name="Text 3"/>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0E1C42"/>
                </a:solidFill>
                <a:latin typeface="Cambria" pitchFamily="34" charset="0"/>
                <a:ea typeface="Cambria" pitchFamily="34" charset="-122"/>
                <a:cs typeface="Cambria" pitchFamily="34" charset="-120"/>
              </a:rPr>
              <a:t>CONCEPT REVEAL  ·  Round 1</a:t>
            </a:r>
            <a:endParaRPr lang="en-US" sz="1300" dirty="0"/>
          </a:p>
        </p:txBody>
      </p:sp>
      <p:sp>
        <p:nvSpPr>
          <p:cNvPr id="7" name="Text 4"/>
          <p:cNvSpPr/>
          <p:nvPr/>
        </p:nvSpPr>
        <p:spPr>
          <a:xfrm>
            <a:off x="457200" y="640080"/>
            <a:ext cx="8229600" cy="594360"/>
          </a:xfrm>
          <a:prstGeom prst="rect">
            <a:avLst/>
          </a:prstGeom>
          <a:noFill/>
          <a:ln/>
          <a:effectLst>
            <a:outerShdw sx="100000" sy="100000" kx="0" ky="0" algn="bl" rotWithShape="0" blurRad="127000" dist="50800" dir="2700000">
              <a:srgbClr val="000000">
                <a:alpha val="75000"/>
              </a:srgbClr>
            </a:outerShdw>
          </a:effectLst>
        </p:spPr>
        <p:txBody>
          <a:bodyPr wrap="square"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EVIDENCE BEYOND THE CAPITAL</a:t>
            </a:r>
            <a:endParaRPr lang="en-US" sz="3400" dirty="0"/>
          </a:p>
        </p:txBody>
      </p:sp>
      <p:sp>
        <p:nvSpPr>
          <p:cNvPr id="8" name="Shape 5"/>
          <p:cNvSpPr/>
          <p:nvPr/>
        </p:nvSpPr>
        <p:spPr>
          <a:xfrm>
            <a:off x="731520" y="1371600"/>
            <a:ext cx="7680960" cy="1234440"/>
          </a:xfrm>
          <a:prstGeom prst="roundRect">
            <a:avLst>
              <a:gd name="adj" fmla="val 8889"/>
            </a:avLst>
          </a:prstGeom>
          <a:solidFill>
            <a:srgbClr val="1A2D5A"/>
          </a:solidFill>
          <a:ln w="19050">
            <a:solidFill>
              <a:srgbClr val="55C8E8"/>
            </a:solidFill>
            <a:prstDash val="solid"/>
          </a:ln>
        </p:spPr>
      </p:sp>
      <p:sp>
        <p:nvSpPr>
          <p:cNvPr id="9" name="Text 6"/>
          <p:cNvSpPr/>
          <p:nvPr/>
        </p:nvSpPr>
        <p:spPr>
          <a:xfrm>
            <a:off x="914400" y="1444752"/>
            <a:ext cx="7315200" cy="10972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Aztec civilization included mandatory education for all children (boys and girls), a rich tradition of Nahuatl poetry and painted codices, tribute collected from hundreds of conquered communities, and long-distance trade networks reaching both coasts — none of which are visible from Tenochtitlan alone.</a:t>
            </a:r>
            <a:endParaRPr lang="en-US" sz="1300" dirty="0"/>
          </a:p>
        </p:txBody>
      </p:sp>
      <p:sp>
        <p:nvSpPr>
          <p:cNvPr id="10" name="Shape 7"/>
          <p:cNvSpPr/>
          <p:nvPr/>
        </p:nvSpPr>
        <p:spPr>
          <a:xfrm>
            <a:off x="365760" y="2743200"/>
            <a:ext cx="3931920" cy="1783080"/>
          </a:xfrm>
          <a:prstGeom prst="roundRect">
            <a:avLst>
              <a:gd name="adj" fmla="val 6154"/>
            </a:avLst>
          </a:prstGeom>
          <a:solidFill>
            <a:srgbClr val="0B1835"/>
          </a:solidFill>
          <a:ln w="19050">
            <a:solidFill>
              <a:srgbClr val="D4943A"/>
            </a:solidFill>
            <a:prstDash val="solid"/>
          </a:ln>
        </p:spPr>
      </p:sp>
      <p:sp>
        <p:nvSpPr>
          <p:cNvPr id="11" name="Text 8"/>
          <p:cNvSpPr/>
          <p:nvPr/>
        </p:nvSpPr>
        <p:spPr>
          <a:xfrm>
            <a:off x="502920" y="2816352"/>
            <a:ext cx="3657600" cy="228600"/>
          </a:xfrm>
          <a:prstGeom prst="rect">
            <a:avLst/>
          </a:prstGeom>
          <a:noFill/>
          <a:ln/>
        </p:spPr>
        <p:txBody>
          <a:bodyPr wrap="square"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What the Source Says</a:t>
            </a:r>
            <a:endParaRPr lang="en-US" sz="1100" dirty="0"/>
          </a:p>
        </p:txBody>
      </p:sp>
      <p:sp>
        <p:nvSpPr>
          <p:cNvPr id="12" name="Text 9"/>
          <p:cNvSpPr/>
          <p:nvPr/>
        </p:nvSpPr>
        <p:spPr>
          <a:xfrm>
            <a:off x="502920" y="3072384"/>
            <a:ext cx="3657600" cy="1353312"/>
          </a:xfrm>
          <a:prstGeom prst="rect">
            <a:avLst/>
          </a:prstGeom>
          <a:noFill/>
          <a:ln/>
        </p:spPr>
        <p:txBody>
          <a:bodyPr wrap="square" rtlCol="0" anchor="t"/>
          <a:lstStyle/>
          <a:p>
            <a:pPr indent="0" marL="0">
              <a:buNone/>
            </a:pPr>
            <a:r>
              <a:rPr lang="en-US" sz="1100" i="1" dirty="0">
                <a:solidFill>
                  <a:srgbClr val="FFFFFF"/>
                </a:solidFill>
                <a:latin typeface="Calibri" pitchFamily="34" charset="0"/>
                <a:ea typeface="Calibri" pitchFamily="34" charset="-122"/>
                <a:cs typeface="Calibri" pitchFamily="34" charset="-120"/>
              </a:rPr>
              <a:t>Focusing only on Tenochtitlan is like judging a whole country by its capital — you miss the farmers, the poets, the traders, and the teachers who made the civilization work.</a:t>
            </a:r>
            <a:endParaRPr lang="en-US" sz="1100" dirty="0"/>
          </a:p>
        </p:txBody>
      </p:sp>
      <p:sp>
        <p:nvSpPr>
          <p:cNvPr id="13" name="Shape 10"/>
          <p:cNvSpPr/>
          <p:nvPr/>
        </p:nvSpPr>
        <p:spPr>
          <a:xfrm>
            <a:off x="4572000" y="2743200"/>
            <a:ext cx="4160520" cy="1783080"/>
          </a:xfrm>
          <a:prstGeom prst="roundRect">
            <a:avLst>
              <a:gd name="adj" fmla="val 6154"/>
            </a:avLst>
          </a:prstGeom>
          <a:solidFill>
            <a:srgbClr val="0B1835"/>
          </a:solidFill>
          <a:ln w="19050">
            <a:solidFill>
              <a:srgbClr val="55C8E8"/>
            </a:solidFill>
            <a:prstDash val="solid"/>
          </a:ln>
        </p:spPr>
      </p:sp>
      <p:sp>
        <p:nvSpPr>
          <p:cNvPr id="14" name="Text 11"/>
          <p:cNvSpPr/>
          <p:nvPr/>
        </p:nvSpPr>
        <p:spPr>
          <a:xfrm>
            <a:off x="4709160" y="2816352"/>
            <a:ext cx="3886200" cy="228600"/>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Ms. Avery's Lens</a:t>
            </a:r>
            <a:endParaRPr lang="en-US" sz="1100" dirty="0"/>
          </a:p>
        </p:txBody>
      </p:sp>
      <p:sp>
        <p:nvSpPr>
          <p:cNvPr id="15" name="Text 12"/>
          <p:cNvSpPr/>
          <p:nvPr/>
        </p:nvSpPr>
        <p:spPr>
          <a:xfrm>
            <a:off x="4709160" y="3072384"/>
            <a:ext cx="3886200" cy="1353312"/>
          </a:xfrm>
          <a:prstGeom prst="rect">
            <a:avLst/>
          </a:prstGeom>
          <a:noFill/>
          <a:ln/>
        </p:spPr>
        <p:txBody>
          <a:bodyPr wrap="square" rtlCol="0" anchor="t"/>
          <a:lstStyle/>
          <a:p>
            <a:pPr indent="0" marL="0">
              <a:buNone/>
            </a:pPr>
            <a:r>
              <a:rPr lang="en-US" sz="1100" i="1" dirty="0">
                <a:solidFill>
                  <a:srgbClr val="D6F2FB"/>
                </a:solidFill>
                <a:latin typeface="Cambria" pitchFamily="34" charset="0"/>
                <a:ea typeface="Cambria" pitchFamily="34" charset="-122"/>
                <a:cs typeface="Cambria" pitchFamily="34" charset="-120"/>
              </a:rPr>
              <a:t>"What does this source say, what can we infer, and what must we still question? Consider more than one perspective before forming your claim."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9FC"/>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55C8E8"/>
                </a:solidFill>
                <a:latin typeface="Cambria" pitchFamily="34" charset="0"/>
                <a:ea typeface="Cambria" pitchFamily="34" charset="-122"/>
                <a:cs typeface="Cambria" pitchFamily="34" charset="-120"/>
              </a:rPr>
              <a:t>CLUE BOX  ·  Source Desk  ·  Round 2 of 3</a:t>
            </a:r>
            <a:endParaRPr lang="en-US" sz="1300" dirty="0"/>
          </a:p>
        </p:txBody>
      </p:sp>
      <p:sp>
        <p:nvSpPr>
          <p:cNvPr id="5" name="Text 3"/>
          <p:cNvSpPr/>
          <p:nvPr/>
        </p:nvSpPr>
        <p:spPr>
          <a:xfrm>
            <a:off x="365760" y="594360"/>
            <a:ext cx="8412480" cy="438912"/>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What did the Aztec civilization include beyond Tenochtitlan?</a:t>
            </a:r>
            <a:endParaRPr lang="en-US" sz="2000" dirty="0"/>
          </a:p>
        </p:txBody>
      </p:sp>
      <p:sp>
        <p:nvSpPr>
          <p:cNvPr id="6" name="Shape 4"/>
          <p:cNvSpPr/>
          <p:nvPr/>
        </p:nvSpPr>
        <p:spPr>
          <a:xfrm>
            <a:off x="365760" y="1115568"/>
            <a:ext cx="5303520" cy="2560320"/>
          </a:xfrm>
          <a:prstGeom prst="roundRect">
            <a:avLst>
              <a:gd name="adj" fmla="val 4286"/>
            </a:avLst>
          </a:prstGeom>
          <a:solidFill>
            <a:srgbClr val="FFFFFF"/>
          </a:solidFill>
          <a:ln w="19050">
            <a:solidFill>
              <a:srgbClr val="0E1C42"/>
            </a:solidFill>
            <a:prstDash val="solid"/>
          </a:ln>
        </p:spPr>
      </p:sp>
      <p:sp>
        <p:nvSpPr>
          <p:cNvPr id="7" name="Text 5"/>
          <p:cNvSpPr/>
          <p:nvPr/>
        </p:nvSpPr>
        <p:spPr>
          <a:xfrm>
            <a:off x="502920" y="1179576"/>
            <a:ext cx="5029200" cy="201168"/>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FROM THE SOURCE</a:t>
            </a:r>
            <a:endParaRPr lang="en-US" sz="900" dirty="0"/>
          </a:p>
        </p:txBody>
      </p:sp>
      <p:sp>
        <p:nvSpPr>
          <p:cNvPr id="8" name="Text 6"/>
          <p:cNvSpPr/>
          <p:nvPr/>
        </p:nvSpPr>
        <p:spPr>
          <a:xfrm>
            <a:off x="502920" y="1417320"/>
            <a:ext cx="5029200" cy="2176272"/>
          </a:xfrm>
          <a:prstGeom prst="rect">
            <a:avLst/>
          </a:prstGeom>
          <a:noFill/>
          <a:ln/>
        </p:spPr>
        <p:txBody>
          <a:bodyPr wrap="square" rtlCol="0" anchor="t"/>
          <a:lstStyle/>
          <a:p>
            <a:pPr indent="0" marL="0">
              <a:buNone/>
            </a:pPr>
            <a:r>
              <a:rPr lang="en-US" sz="1100" dirty="0">
                <a:solidFill>
                  <a:srgbClr val="3A3A4A"/>
                </a:solidFill>
                <a:latin typeface="Calibri" pitchFamily="34" charset="0"/>
                <a:ea typeface="Calibri" pitchFamily="34" charset="-122"/>
                <a:cs typeface="Calibri" pitchFamily="34" charset="-120"/>
              </a:rPr>
              <a:t>But the Aztec civilization was about much more than one city. The Aztec Empire stretched across central Mexico and collected tribute from hundreds of conquered communities. The Aztecs had a complex system of laws and courts, mandatory schools for all children (both boys and girls), a rich tradition of poetry and art, and long-distance trade networks that brought goods from the Gulf Coast to the Pacific.</a:t>
            </a:r>
            <a:endParaRPr lang="en-US" sz="1100" dirty="0"/>
          </a:p>
          <a:p>
            <a:pPr indent="0" marL="0">
              <a:buNone/>
            </a:pPr>
            <a:endParaRPr lang="en-US" sz="1100" dirty="0"/>
          </a:p>
          <a:p>
            <a:pPr indent="0" marL="0">
              <a:buNone/>
            </a:pPr>
            <a:r>
              <a:rPr lang="en-US" sz="1100" dirty="0">
                <a:solidFill>
                  <a:srgbClr val="3A3A4A"/>
                </a:solidFill>
                <a:latin typeface="Calibri" pitchFamily="34" charset="0"/>
                <a:ea typeface="Calibri" pitchFamily="34" charset="-122"/>
                <a:cs typeface="Calibri" pitchFamily="34" charset="-120"/>
              </a:rPr>
              <a:t>They also used a detailed calendar system and kept careful historical records using painted codices.</a:t>
            </a:r>
            <a:endParaRPr lang="en-US" sz="1100" dirty="0"/>
          </a:p>
        </p:txBody>
      </p:sp>
      <p:sp>
        <p:nvSpPr>
          <p:cNvPr id="9" name="Shape 7"/>
          <p:cNvSpPr/>
          <p:nvPr/>
        </p:nvSpPr>
        <p:spPr>
          <a:xfrm>
            <a:off x="5897880" y="1115568"/>
            <a:ext cx="2834640" cy="2560320"/>
          </a:xfrm>
          <a:prstGeom prst="roundRect">
            <a:avLst>
              <a:gd name="adj" fmla="val 4286"/>
            </a:avLst>
          </a:prstGeom>
          <a:solidFill>
            <a:srgbClr val="E2E8F4"/>
          </a:solidFill>
          <a:ln w="19050">
            <a:solidFill>
              <a:srgbClr val="B0B8CC"/>
            </a:solidFill>
            <a:prstDash val="dash"/>
          </a:ln>
        </p:spPr>
      </p:sp>
      <p:sp>
        <p:nvSpPr>
          <p:cNvPr id="10" name="Text 8"/>
          <p:cNvSpPr/>
          <p:nvPr/>
        </p:nvSpPr>
        <p:spPr>
          <a:xfrm>
            <a:off x="5897880" y="1115568"/>
            <a:ext cx="28346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6035040" y="1389888"/>
            <a:ext cx="2560320" cy="2194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Aztec codex or painted manuscript — Nahuatl poetry or historical record</a:t>
            </a:r>
            <a:endParaRPr lang="en-US" sz="1100" dirty="0"/>
          </a:p>
        </p:txBody>
      </p:sp>
      <p:sp>
        <p:nvSpPr>
          <p:cNvPr id="12" name="Shape 10"/>
          <p:cNvSpPr/>
          <p:nvPr/>
        </p:nvSpPr>
        <p:spPr>
          <a:xfrm>
            <a:off x="365760" y="3767328"/>
            <a:ext cx="8458200" cy="1005840"/>
          </a:xfrm>
          <a:prstGeom prst="roundRect">
            <a:avLst>
              <a:gd name="adj" fmla="val 10909"/>
            </a:avLst>
          </a:prstGeom>
          <a:solidFill>
            <a:srgbClr val="1A2D5A"/>
          </a:solidFill>
          <a:ln w="12700">
            <a:solidFill>
              <a:srgbClr val="2A4070"/>
            </a:solidFill>
            <a:prstDash val="solid"/>
          </a:ln>
        </p:spPr>
      </p:sp>
      <p:sp>
        <p:nvSpPr>
          <p:cNvPr id="13" name="Text 11"/>
          <p:cNvSpPr/>
          <p:nvPr/>
        </p:nvSpPr>
        <p:spPr>
          <a:xfrm>
            <a:off x="502920" y="3822192"/>
            <a:ext cx="81838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48640" y="4087368"/>
            <a:ext cx="8092440" cy="5943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detail surprises you most — and why does that surprise matter?</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mandatory education for ALL children (boys AND girls) tell us about Aztec society?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If you were the Herald, which of these facts would you have left out — and why?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A"/>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55C8E8"/>
                </a:solidFill>
                <a:latin typeface="Cambria" pitchFamily="34" charset="0"/>
                <a:ea typeface="Cambria" pitchFamily="34" charset="-122"/>
                <a:cs typeface="Cambria" pitchFamily="34" charset="-120"/>
              </a:rPr>
              <a:t>DISCUSSION  ·  Round 2  ·  Observation vs. Inference</a:t>
            </a:r>
            <a:endParaRPr lang="en-US" sz="1300" dirty="0"/>
          </a:p>
        </p:txBody>
      </p:sp>
      <p:sp>
        <p:nvSpPr>
          <p:cNvPr id="5" name="Text 3"/>
          <p:cNvSpPr/>
          <p:nvPr/>
        </p:nvSpPr>
        <p:spPr>
          <a:xfrm>
            <a:off x="365760" y="594360"/>
            <a:ext cx="8412480" cy="438912"/>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can we observe? What must we infer?</a:t>
            </a:r>
            <a:endParaRPr lang="en-US" sz="2200" dirty="0"/>
          </a:p>
        </p:txBody>
      </p:sp>
      <p:sp>
        <p:nvSpPr>
          <p:cNvPr id="6" name="Shape 4"/>
          <p:cNvSpPr/>
          <p:nvPr/>
        </p:nvSpPr>
        <p:spPr>
          <a:xfrm>
            <a:off x="320040" y="1115568"/>
            <a:ext cx="4206240" cy="347472"/>
          </a:xfrm>
          <a:prstGeom prst="roundRect">
            <a:avLst>
              <a:gd name="adj" fmla="val 21053"/>
            </a:avLst>
          </a:prstGeom>
          <a:solidFill>
            <a:srgbClr val="34B76F"/>
          </a:solidFill>
          <a:ln/>
        </p:spPr>
      </p:sp>
      <p:sp>
        <p:nvSpPr>
          <p:cNvPr id="7" name="Text 5"/>
          <p:cNvSpPr/>
          <p:nvPr/>
        </p:nvSpPr>
        <p:spPr>
          <a:xfrm>
            <a:off x="411480" y="1115568"/>
            <a:ext cx="4023360" cy="347472"/>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DIRECTLY STATED</a:t>
            </a:r>
            <a:endParaRPr lang="en-US" sz="1000" dirty="0"/>
          </a:p>
        </p:txBody>
      </p:sp>
      <p:sp>
        <p:nvSpPr>
          <p:cNvPr id="8" name="Shape 6"/>
          <p:cNvSpPr/>
          <p:nvPr/>
        </p:nvSpPr>
        <p:spPr>
          <a:xfrm>
            <a:off x="320040" y="1536192"/>
            <a:ext cx="4206240" cy="475488"/>
          </a:xfrm>
          <a:prstGeom prst="roundRect">
            <a:avLst>
              <a:gd name="adj" fmla="val 15385"/>
            </a:avLst>
          </a:prstGeom>
          <a:solidFill>
            <a:srgbClr val="FFFFFF"/>
          </a:solidFill>
          <a:ln w="12700">
            <a:solidFill>
              <a:srgbClr val="34B76F"/>
            </a:solidFill>
            <a:prstDash val="solid"/>
          </a:ln>
        </p:spPr>
      </p:sp>
      <p:sp>
        <p:nvSpPr>
          <p:cNvPr id="9" name="Text 7"/>
          <p:cNvSpPr/>
          <p:nvPr/>
        </p:nvSpPr>
        <p:spPr>
          <a:xfrm>
            <a:off x="457200" y="1536192"/>
            <a:ext cx="3931920" cy="47548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Tenochtitlan founded 1325 CE on Lake Texcoco island</a:t>
            </a:r>
            <a:endParaRPr lang="en-US" sz="1050" dirty="0"/>
          </a:p>
        </p:txBody>
      </p:sp>
      <p:sp>
        <p:nvSpPr>
          <p:cNvPr id="10" name="Shape 8"/>
          <p:cNvSpPr/>
          <p:nvPr/>
        </p:nvSpPr>
        <p:spPr>
          <a:xfrm>
            <a:off x="320040" y="2066544"/>
            <a:ext cx="4206240" cy="475488"/>
          </a:xfrm>
          <a:prstGeom prst="roundRect">
            <a:avLst>
              <a:gd name="adj" fmla="val 15385"/>
            </a:avLst>
          </a:prstGeom>
          <a:solidFill>
            <a:srgbClr val="FFFFFF"/>
          </a:solidFill>
          <a:ln w="12700">
            <a:solidFill>
              <a:srgbClr val="34B76F"/>
            </a:solidFill>
            <a:prstDash val="solid"/>
          </a:ln>
        </p:spPr>
      </p:sp>
      <p:sp>
        <p:nvSpPr>
          <p:cNvPr id="11" name="Text 9"/>
          <p:cNvSpPr/>
          <p:nvPr/>
        </p:nvSpPr>
        <p:spPr>
          <a:xfrm>
            <a:off x="457200" y="2066544"/>
            <a:ext cx="3931920" cy="47548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200,000+ residents by 1519</a:t>
            </a:r>
            <a:endParaRPr lang="en-US" sz="1050" dirty="0"/>
          </a:p>
        </p:txBody>
      </p:sp>
      <p:sp>
        <p:nvSpPr>
          <p:cNvPr id="12" name="Shape 10"/>
          <p:cNvSpPr/>
          <p:nvPr/>
        </p:nvSpPr>
        <p:spPr>
          <a:xfrm>
            <a:off x="320040" y="2596896"/>
            <a:ext cx="4206240" cy="475488"/>
          </a:xfrm>
          <a:prstGeom prst="roundRect">
            <a:avLst>
              <a:gd name="adj" fmla="val 15385"/>
            </a:avLst>
          </a:prstGeom>
          <a:solidFill>
            <a:srgbClr val="FFFFFF"/>
          </a:solidFill>
          <a:ln w="12700">
            <a:solidFill>
              <a:srgbClr val="34B76F"/>
            </a:solidFill>
            <a:prstDash val="solid"/>
          </a:ln>
        </p:spPr>
      </p:sp>
      <p:sp>
        <p:nvSpPr>
          <p:cNvPr id="13" name="Text 11"/>
          <p:cNvSpPr/>
          <p:nvPr/>
        </p:nvSpPr>
        <p:spPr>
          <a:xfrm>
            <a:off x="457200" y="2596896"/>
            <a:ext cx="3931920" cy="47548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Causeways, aqueducts, chinampas as engineering works</a:t>
            </a:r>
            <a:endParaRPr lang="en-US" sz="1050" dirty="0"/>
          </a:p>
        </p:txBody>
      </p:sp>
      <p:sp>
        <p:nvSpPr>
          <p:cNvPr id="14" name="Shape 12"/>
          <p:cNvSpPr/>
          <p:nvPr/>
        </p:nvSpPr>
        <p:spPr>
          <a:xfrm>
            <a:off x="320040" y="3127248"/>
            <a:ext cx="4206240" cy="475488"/>
          </a:xfrm>
          <a:prstGeom prst="roundRect">
            <a:avLst>
              <a:gd name="adj" fmla="val 15385"/>
            </a:avLst>
          </a:prstGeom>
          <a:solidFill>
            <a:srgbClr val="FFFFFF"/>
          </a:solidFill>
          <a:ln w="12700">
            <a:solidFill>
              <a:srgbClr val="34B76F"/>
            </a:solidFill>
            <a:prstDash val="solid"/>
          </a:ln>
        </p:spPr>
      </p:sp>
      <p:sp>
        <p:nvSpPr>
          <p:cNvPr id="15" name="Text 13"/>
          <p:cNvSpPr/>
          <p:nvPr/>
        </p:nvSpPr>
        <p:spPr>
          <a:xfrm>
            <a:off x="457200" y="3127248"/>
            <a:ext cx="3931920" cy="47548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Tribute from hundreds of conquered communities</a:t>
            </a:r>
            <a:endParaRPr lang="en-US" sz="1050" dirty="0"/>
          </a:p>
        </p:txBody>
      </p:sp>
      <p:sp>
        <p:nvSpPr>
          <p:cNvPr id="16" name="Shape 14"/>
          <p:cNvSpPr/>
          <p:nvPr/>
        </p:nvSpPr>
        <p:spPr>
          <a:xfrm>
            <a:off x="320040" y="3657600"/>
            <a:ext cx="4206240" cy="475488"/>
          </a:xfrm>
          <a:prstGeom prst="roundRect">
            <a:avLst>
              <a:gd name="adj" fmla="val 15385"/>
            </a:avLst>
          </a:prstGeom>
          <a:solidFill>
            <a:srgbClr val="FFFFFF"/>
          </a:solidFill>
          <a:ln w="12700">
            <a:solidFill>
              <a:srgbClr val="34B76F"/>
            </a:solidFill>
            <a:prstDash val="solid"/>
          </a:ln>
        </p:spPr>
      </p:sp>
      <p:sp>
        <p:nvSpPr>
          <p:cNvPr id="17" name="Text 15"/>
          <p:cNvSpPr/>
          <p:nvPr/>
        </p:nvSpPr>
        <p:spPr>
          <a:xfrm>
            <a:off x="457200" y="3657600"/>
            <a:ext cx="3931920" cy="47548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Mandatory schools for all children, boys and girls</a:t>
            </a:r>
            <a:endParaRPr lang="en-US" sz="1050" dirty="0"/>
          </a:p>
        </p:txBody>
      </p:sp>
      <p:sp>
        <p:nvSpPr>
          <p:cNvPr id="18" name="Shape 16"/>
          <p:cNvSpPr/>
          <p:nvPr/>
        </p:nvSpPr>
        <p:spPr>
          <a:xfrm>
            <a:off x="320040" y="4187952"/>
            <a:ext cx="4206240" cy="475488"/>
          </a:xfrm>
          <a:prstGeom prst="roundRect">
            <a:avLst>
              <a:gd name="adj" fmla="val 15385"/>
            </a:avLst>
          </a:prstGeom>
          <a:solidFill>
            <a:srgbClr val="FFFFFF"/>
          </a:solidFill>
          <a:ln w="12700">
            <a:solidFill>
              <a:srgbClr val="34B76F"/>
            </a:solidFill>
            <a:prstDash val="solid"/>
          </a:ln>
        </p:spPr>
      </p:sp>
      <p:sp>
        <p:nvSpPr>
          <p:cNvPr id="19" name="Text 17"/>
          <p:cNvSpPr/>
          <p:nvPr/>
        </p:nvSpPr>
        <p:spPr>
          <a:xfrm>
            <a:off x="457200" y="4187952"/>
            <a:ext cx="3931920" cy="47548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Painted codices for historical records</a:t>
            </a:r>
            <a:endParaRPr lang="en-US" sz="1050" dirty="0"/>
          </a:p>
        </p:txBody>
      </p:sp>
      <p:sp>
        <p:nvSpPr>
          <p:cNvPr id="20" name="Shape 18"/>
          <p:cNvSpPr/>
          <p:nvPr/>
        </p:nvSpPr>
        <p:spPr>
          <a:xfrm>
            <a:off x="4754880" y="1115568"/>
            <a:ext cx="4206240" cy="347472"/>
          </a:xfrm>
          <a:prstGeom prst="roundRect">
            <a:avLst>
              <a:gd name="adj" fmla="val 21053"/>
            </a:avLst>
          </a:prstGeom>
          <a:solidFill>
            <a:srgbClr val="55C8E8"/>
          </a:solidFill>
          <a:ln/>
        </p:spPr>
      </p:sp>
      <p:sp>
        <p:nvSpPr>
          <p:cNvPr id="21" name="Text 19"/>
          <p:cNvSpPr/>
          <p:nvPr/>
        </p:nvSpPr>
        <p:spPr>
          <a:xfrm>
            <a:off x="4846320" y="1115568"/>
            <a:ext cx="4023360" cy="347472"/>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CAN INFER</a:t>
            </a:r>
            <a:endParaRPr lang="en-US" sz="1000" dirty="0"/>
          </a:p>
        </p:txBody>
      </p:sp>
      <p:sp>
        <p:nvSpPr>
          <p:cNvPr id="22" name="Shape 20"/>
          <p:cNvSpPr/>
          <p:nvPr/>
        </p:nvSpPr>
        <p:spPr>
          <a:xfrm>
            <a:off x="4754880" y="1536192"/>
            <a:ext cx="4206240" cy="475488"/>
          </a:xfrm>
          <a:prstGeom prst="roundRect">
            <a:avLst>
              <a:gd name="adj" fmla="val 15385"/>
            </a:avLst>
          </a:prstGeom>
          <a:solidFill>
            <a:srgbClr val="FFFFFF"/>
          </a:solidFill>
          <a:ln w="12700">
            <a:solidFill>
              <a:srgbClr val="55C8E8"/>
            </a:solidFill>
            <a:prstDash val="solid"/>
          </a:ln>
        </p:spPr>
      </p:sp>
      <p:sp>
        <p:nvSpPr>
          <p:cNvPr id="23" name="Text 21"/>
          <p:cNvSpPr/>
          <p:nvPr/>
        </p:nvSpPr>
        <p:spPr>
          <a:xfrm>
            <a:off x="4892040" y="1536192"/>
            <a:ext cx="3931920" cy="47548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Aztecs valued long-term planning and organization</a:t>
            </a:r>
            <a:endParaRPr lang="en-US" sz="1050" dirty="0"/>
          </a:p>
        </p:txBody>
      </p:sp>
      <p:sp>
        <p:nvSpPr>
          <p:cNvPr id="24" name="Shape 22"/>
          <p:cNvSpPr/>
          <p:nvPr/>
        </p:nvSpPr>
        <p:spPr>
          <a:xfrm>
            <a:off x="4754880" y="2066544"/>
            <a:ext cx="4206240" cy="475488"/>
          </a:xfrm>
          <a:prstGeom prst="roundRect">
            <a:avLst>
              <a:gd name="adj" fmla="val 15385"/>
            </a:avLst>
          </a:prstGeom>
          <a:solidFill>
            <a:srgbClr val="FFFFFF"/>
          </a:solidFill>
          <a:ln w="12700">
            <a:solidFill>
              <a:srgbClr val="55C8E8"/>
            </a:solidFill>
            <a:prstDash val="solid"/>
          </a:ln>
        </p:spPr>
      </p:sp>
      <p:sp>
        <p:nvSpPr>
          <p:cNvPr id="25" name="Text 23"/>
          <p:cNvSpPr/>
          <p:nvPr/>
        </p:nvSpPr>
        <p:spPr>
          <a:xfrm>
            <a:off x="4892040" y="2066544"/>
            <a:ext cx="3931920" cy="47548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Society had specialized roles (engineers, teachers, poets)</a:t>
            </a:r>
            <a:endParaRPr lang="en-US" sz="1050" dirty="0"/>
          </a:p>
        </p:txBody>
      </p:sp>
      <p:sp>
        <p:nvSpPr>
          <p:cNvPr id="26" name="Shape 24"/>
          <p:cNvSpPr/>
          <p:nvPr/>
        </p:nvSpPr>
        <p:spPr>
          <a:xfrm>
            <a:off x="4754880" y="2596896"/>
            <a:ext cx="4206240" cy="475488"/>
          </a:xfrm>
          <a:prstGeom prst="roundRect">
            <a:avLst>
              <a:gd name="adj" fmla="val 15385"/>
            </a:avLst>
          </a:prstGeom>
          <a:solidFill>
            <a:srgbClr val="FFFFFF"/>
          </a:solidFill>
          <a:ln w="12700">
            <a:solidFill>
              <a:srgbClr val="55C8E8"/>
            </a:solidFill>
            <a:prstDash val="solid"/>
          </a:ln>
        </p:spPr>
      </p:sp>
      <p:sp>
        <p:nvSpPr>
          <p:cNvPr id="27" name="Text 25"/>
          <p:cNvSpPr/>
          <p:nvPr/>
        </p:nvSpPr>
        <p:spPr>
          <a:xfrm>
            <a:off x="4892040" y="2596896"/>
            <a:ext cx="3931920" cy="47548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Education for girls suggests some degree of social inclusion</a:t>
            </a:r>
            <a:endParaRPr lang="en-US" sz="1050" dirty="0"/>
          </a:p>
        </p:txBody>
      </p:sp>
      <p:sp>
        <p:nvSpPr>
          <p:cNvPr id="28" name="Shape 26"/>
          <p:cNvSpPr/>
          <p:nvPr/>
        </p:nvSpPr>
        <p:spPr>
          <a:xfrm>
            <a:off x="4754880" y="3127248"/>
            <a:ext cx="4206240" cy="475488"/>
          </a:xfrm>
          <a:prstGeom prst="roundRect">
            <a:avLst>
              <a:gd name="adj" fmla="val 15385"/>
            </a:avLst>
          </a:prstGeom>
          <a:solidFill>
            <a:srgbClr val="FFFFFF"/>
          </a:solidFill>
          <a:ln w="12700">
            <a:solidFill>
              <a:srgbClr val="55C8E8"/>
            </a:solidFill>
            <a:prstDash val="solid"/>
          </a:ln>
        </p:spPr>
      </p:sp>
      <p:sp>
        <p:nvSpPr>
          <p:cNvPr id="29" name="Text 27"/>
          <p:cNvSpPr/>
          <p:nvPr/>
        </p:nvSpPr>
        <p:spPr>
          <a:xfrm>
            <a:off x="4892040" y="3127248"/>
            <a:ext cx="3931920" cy="47548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Long-distance trade required trust and legal systems</a:t>
            </a:r>
            <a:endParaRPr lang="en-US" sz="1050" dirty="0"/>
          </a:p>
        </p:txBody>
      </p:sp>
      <p:sp>
        <p:nvSpPr>
          <p:cNvPr id="30" name="Shape 28"/>
          <p:cNvSpPr/>
          <p:nvPr/>
        </p:nvSpPr>
        <p:spPr>
          <a:xfrm>
            <a:off x="4754880" y="3657600"/>
            <a:ext cx="4206240" cy="475488"/>
          </a:xfrm>
          <a:prstGeom prst="roundRect">
            <a:avLst>
              <a:gd name="adj" fmla="val 15385"/>
            </a:avLst>
          </a:prstGeom>
          <a:solidFill>
            <a:srgbClr val="FFFFFF"/>
          </a:solidFill>
          <a:ln w="12700">
            <a:solidFill>
              <a:srgbClr val="55C8E8"/>
            </a:solidFill>
            <a:prstDash val="solid"/>
          </a:ln>
        </p:spPr>
      </p:sp>
      <p:sp>
        <p:nvSpPr>
          <p:cNvPr id="31" name="Text 29"/>
          <p:cNvSpPr/>
          <p:nvPr/>
        </p:nvSpPr>
        <p:spPr>
          <a:xfrm>
            <a:off x="4892040" y="3657600"/>
            <a:ext cx="3931920" cy="47548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Calendar system shows advanced astronomical knowledge</a:t>
            </a:r>
            <a:endParaRPr lang="en-US" sz="1050" dirty="0"/>
          </a:p>
        </p:txBody>
      </p:sp>
      <p:sp>
        <p:nvSpPr>
          <p:cNvPr id="32" name="Shape 30"/>
          <p:cNvSpPr/>
          <p:nvPr/>
        </p:nvSpPr>
        <p:spPr>
          <a:xfrm>
            <a:off x="4754880" y="4187952"/>
            <a:ext cx="4206240" cy="475488"/>
          </a:xfrm>
          <a:prstGeom prst="roundRect">
            <a:avLst>
              <a:gd name="adj" fmla="val 15385"/>
            </a:avLst>
          </a:prstGeom>
          <a:solidFill>
            <a:srgbClr val="FFFFFF"/>
          </a:solidFill>
          <a:ln w="12700">
            <a:solidFill>
              <a:srgbClr val="55C8E8"/>
            </a:solidFill>
            <a:prstDash val="solid"/>
          </a:ln>
        </p:spPr>
      </p:sp>
      <p:sp>
        <p:nvSpPr>
          <p:cNvPr id="33" name="Text 31"/>
          <p:cNvSpPr/>
          <p:nvPr/>
        </p:nvSpPr>
        <p:spPr>
          <a:xfrm>
            <a:off x="4892040" y="4187952"/>
            <a:ext cx="3931920" cy="47548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Tribute empire required political and military power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alpha val="85000"/>
            </a:srgbClr>
          </a:solidFill>
          <a:ln/>
        </p:spPr>
      </p:sp>
      <p:sp>
        <p:nvSpPr>
          <p:cNvPr id="6" name="Text 3"/>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0E1C42"/>
                </a:solidFill>
                <a:latin typeface="Cambria" pitchFamily="34" charset="0"/>
                <a:ea typeface="Cambria" pitchFamily="34" charset="-122"/>
                <a:cs typeface="Cambria" pitchFamily="34" charset="-120"/>
              </a:rPr>
              <a:t>CONCEPT REVEAL  ·  Round 2</a:t>
            </a:r>
            <a:endParaRPr lang="en-US" sz="1300" dirty="0"/>
          </a:p>
        </p:txBody>
      </p:sp>
      <p:sp>
        <p:nvSpPr>
          <p:cNvPr id="7" name="Text 4"/>
          <p:cNvSpPr/>
          <p:nvPr/>
        </p:nvSpPr>
        <p:spPr>
          <a:xfrm>
            <a:off x="457200" y="640080"/>
            <a:ext cx="8229600" cy="566928"/>
          </a:xfrm>
          <a:prstGeom prst="rect">
            <a:avLst/>
          </a:prstGeom>
          <a:noFill/>
          <a:ln/>
          <a:effectLst>
            <a:outerShdw sx="100000" sy="100000" kx="0" ky="0" algn="bl" rotWithShape="0" blurRad="127000" dist="50800" dir="2700000">
              <a:srgbClr val="000000">
                <a:alpha val="75000"/>
              </a:srgbClr>
            </a:outerShdw>
          </a:effectLst>
        </p:spPr>
        <p:txBody>
          <a:bodyPr wrap="square"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A COMPLEX EMPIRE, NOT JUST A CITY</a:t>
            </a:r>
            <a:endParaRPr lang="en-US" sz="3000" dirty="0"/>
          </a:p>
        </p:txBody>
      </p:sp>
      <p:sp>
        <p:nvSpPr>
          <p:cNvPr id="8" name="Shape 5"/>
          <p:cNvSpPr/>
          <p:nvPr/>
        </p:nvSpPr>
        <p:spPr>
          <a:xfrm>
            <a:off x="320040" y="1353312"/>
            <a:ext cx="4160520" cy="1051560"/>
          </a:xfrm>
          <a:prstGeom prst="roundRect">
            <a:avLst>
              <a:gd name="adj" fmla="val 10435"/>
            </a:avLst>
          </a:prstGeom>
          <a:solidFill>
            <a:srgbClr val="1A2D5A"/>
          </a:solidFill>
          <a:ln w="12700">
            <a:solidFill>
              <a:srgbClr val="55C8E8"/>
            </a:solidFill>
            <a:prstDash val="solid"/>
          </a:ln>
        </p:spPr>
      </p:sp>
      <p:sp>
        <p:nvSpPr>
          <p:cNvPr id="9" name="Text 6"/>
          <p:cNvSpPr/>
          <p:nvPr/>
        </p:nvSpPr>
        <p:spPr>
          <a:xfrm>
            <a:off x="457200" y="1426464"/>
            <a:ext cx="3886200" cy="256032"/>
          </a:xfrm>
          <a:prstGeom prst="rect">
            <a:avLst/>
          </a:prstGeom>
          <a:noFill/>
          <a:ln/>
        </p:spPr>
        <p:txBody>
          <a:bodyPr wrap="square"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Education</a:t>
            </a:r>
            <a:endParaRPr lang="en-US" sz="1200" dirty="0"/>
          </a:p>
        </p:txBody>
      </p:sp>
      <p:sp>
        <p:nvSpPr>
          <p:cNvPr id="10" name="Text 7"/>
          <p:cNvSpPr/>
          <p:nvPr/>
        </p:nvSpPr>
        <p:spPr>
          <a:xfrm>
            <a:off x="457200" y="1719072"/>
            <a:ext cx="3886200" cy="59436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Mandatory schools for ALL children — boys and girls — throughout the empire</a:t>
            </a:r>
            <a:endParaRPr lang="en-US" sz="1100" dirty="0"/>
          </a:p>
        </p:txBody>
      </p:sp>
      <p:sp>
        <p:nvSpPr>
          <p:cNvPr id="11" name="Shape 8"/>
          <p:cNvSpPr/>
          <p:nvPr/>
        </p:nvSpPr>
        <p:spPr>
          <a:xfrm>
            <a:off x="4709160" y="1353312"/>
            <a:ext cx="4160520" cy="1051560"/>
          </a:xfrm>
          <a:prstGeom prst="roundRect">
            <a:avLst>
              <a:gd name="adj" fmla="val 10435"/>
            </a:avLst>
          </a:prstGeom>
          <a:solidFill>
            <a:srgbClr val="1A2D5A"/>
          </a:solidFill>
          <a:ln w="12700">
            <a:solidFill>
              <a:srgbClr val="55C8E8"/>
            </a:solidFill>
            <a:prstDash val="solid"/>
          </a:ln>
        </p:spPr>
      </p:sp>
      <p:sp>
        <p:nvSpPr>
          <p:cNvPr id="12" name="Text 9"/>
          <p:cNvSpPr/>
          <p:nvPr/>
        </p:nvSpPr>
        <p:spPr>
          <a:xfrm>
            <a:off x="4846320" y="1426464"/>
            <a:ext cx="3886200" cy="256032"/>
          </a:xfrm>
          <a:prstGeom prst="rect">
            <a:avLst/>
          </a:prstGeom>
          <a:noFill/>
          <a:ln/>
        </p:spPr>
        <p:txBody>
          <a:bodyPr wrap="square"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Poetry &amp; Art</a:t>
            </a:r>
            <a:endParaRPr lang="en-US" sz="1200" dirty="0"/>
          </a:p>
        </p:txBody>
      </p:sp>
      <p:sp>
        <p:nvSpPr>
          <p:cNvPr id="13" name="Text 10"/>
          <p:cNvSpPr/>
          <p:nvPr/>
        </p:nvSpPr>
        <p:spPr>
          <a:xfrm>
            <a:off x="4846320" y="1719072"/>
            <a:ext cx="3886200" cy="59436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A rich tradition of Nahuatl poetry, codices (painted books), and visual art</a:t>
            </a:r>
            <a:endParaRPr lang="en-US" sz="1100" dirty="0"/>
          </a:p>
        </p:txBody>
      </p:sp>
      <p:sp>
        <p:nvSpPr>
          <p:cNvPr id="14" name="Shape 11"/>
          <p:cNvSpPr/>
          <p:nvPr/>
        </p:nvSpPr>
        <p:spPr>
          <a:xfrm>
            <a:off x="320040" y="2560320"/>
            <a:ext cx="4160520" cy="1051560"/>
          </a:xfrm>
          <a:prstGeom prst="roundRect">
            <a:avLst>
              <a:gd name="adj" fmla="val 10435"/>
            </a:avLst>
          </a:prstGeom>
          <a:solidFill>
            <a:srgbClr val="1A2D5A"/>
          </a:solidFill>
          <a:ln w="12700">
            <a:solidFill>
              <a:srgbClr val="55C8E8"/>
            </a:solidFill>
            <a:prstDash val="solid"/>
          </a:ln>
        </p:spPr>
      </p:sp>
      <p:sp>
        <p:nvSpPr>
          <p:cNvPr id="15" name="Text 12"/>
          <p:cNvSpPr/>
          <p:nvPr/>
        </p:nvSpPr>
        <p:spPr>
          <a:xfrm>
            <a:off x="457200" y="2633472"/>
            <a:ext cx="3886200" cy="256032"/>
          </a:xfrm>
          <a:prstGeom prst="rect">
            <a:avLst/>
          </a:prstGeom>
          <a:noFill/>
          <a:ln/>
        </p:spPr>
        <p:txBody>
          <a:bodyPr wrap="square"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Trade Networks</a:t>
            </a:r>
            <a:endParaRPr lang="en-US" sz="1200" dirty="0"/>
          </a:p>
        </p:txBody>
      </p:sp>
      <p:sp>
        <p:nvSpPr>
          <p:cNvPr id="16" name="Text 13"/>
          <p:cNvSpPr/>
          <p:nvPr/>
        </p:nvSpPr>
        <p:spPr>
          <a:xfrm>
            <a:off x="457200" y="2926080"/>
            <a:ext cx="3886200" cy="59436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Long-distance routes from Gulf Coast to the Pacific — goods, ideas, culture</a:t>
            </a:r>
            <a:endParaRPr lang="en-US" sz="1100" dirty="0"/>
          </a:p>
        </p:txBody>
      </p:sp>
      <p:sp>
        <p:nvSpPr>
          <p:cNvPr id="17" name="Shape 14"/>
          <p:cNvSpPr/>
          <p:nvPr/>
        </p:nvSpPr>
        <p:spPr>
          <a:xfrm>
            <a:off x="4709160" y="2560320"/>
            <a:ext cx="4160520" cy="1051560"/>
          </a:xfrm>
          <a:prstGeom prst="roundRect">
            <a:avLst>
              <a:gd name="adj" fmla="val 10435"/>
            </a:avLst>
          </a:prstGeom>
          <a:solidFill>
            <a:srgbClr val="1A2D5A"/>
          </a:solidFill>
          <a:ln w="12700">
            <a:solidFill>
              <a:srgbClr val="55C8E8"/>
            </a:solidFill>
            <a:prstDash val="solid"/>
          </a:ln>
        </p:spPr>
      </p:sp>
      <p:sp>
        <p:nvSpPr>
          <p:cNvPr id="18" name="Text 15"/>
          <p:cNvSpPr/>
          <p:nvPr/>
        </p:nvSpPr>
        <p:spPr>
          <a:xfrm>
            <a:off x="4846320" y="2633472"/>
            <a:ext cx="3886200" cy="256032"/>
          </a:xfrm>
          <a:prstGeom prst="rect">
            <a:avLst/>
          </a:prstGeom>
          <a:noFill/>
          <a:ln/>
        </p:spPr>
        <p:txBody>
          <a:bodyPr wrap="square"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Tribute Empire</a:t>
            </a:r>
            <a:endParaRPr lang="en-US" sz="1200" dirty="0"/>
          </a:p>
        </p:txBody>
      </p:sp>
      <p:sp>
        <p:nvSpPr>
          <p:cNvPr id="19" name="Text 16"/>
          <p:cNvSpPr/>
          <p:nvPr/>
        </p:nvSpPr>
        <p:spPr>
          <a:xfrm>
            <a:off x="4846320" y="2926080"/>
            <a:ext cx="3886200" cy="59436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Hundreds of conquered communities sent tribute — political power beyond the city</a:t>
            </a:r>
            <a:endParaRPr lang="en-US" sz="1100" dirty="0"/>
          </a:p>
        </p:txBody>
      </p:sp>
      <p:sp>
        <p:nvSpPr>
          <p:cNvPr id="20" name="Shape 17"/>
          <p:cNvSpPr/>
          <p:nvPr/>
        </p:nvSpPr>
        <p:spPr>
          <a:xfrm>
            <a:off x="548640" y="3840480"/>
            <a:ext cx="8046720" cy="621792"/>
          </a:xfrm>
          <a:prstGeom prst="roundRect">
            <a:avLst>
              <a:gd name="adj" fmla="val 14706"/>
            </a:avLst>
          </a:prstGeom>
          <a:solidFill>
            <a:srgbClr val="0B1835"/>
          </a:solidFill>
          <a:ln w="12700">
            <a:solidFill>
              <a:srgbClr val="D4943A"/>
            </a:solidFill>
            <a:prstDash val="solid"/>
          </a:ln>
        </p:spPr>
      </p:sp>
      <p:sp>
        <p:nvSpPr>
          <p:cNvPr id="21" name="Text 18"/>
          <p:cNvSpPr/>
          <p:nvPr/>
        </p:nvSpPr>
        <p:spPr>
          <a:xfrm>
            <a:off x="731520" y="3858768"/>
            <a:ext cx="7680960" cy="566928"/>
          </a:xfrm>
          <a:prstGeom prst="rect">
            <a:avLst/>
          </a:prstGeom>
          <a:noFill/>
          <a:ln/>
        </p:spPr>
        <p:txBody>
          <a:bodyPr wrap="square" rtlCol="0" anchor="ctr"/>
          <a:lstStyle/>
          <a:p>
            <a:pPr algn="ctr" indent="0" marL="0">
              <a:buNone/>
            </a:pPr>
            <a:r>
              <a:rPr lang="en-US" sz="1300" b="1" i="1" dirty="0">
                <a:solidFill>
                  <a:srgbClr val="FFF3DC"/>
                </a:solidFill>
                <a:latin typeface="Cambria" pitchFamily="34" charset="0"/>
                <a:ea typeface="Cambria" pitchFamily="34" charset="-122"/>
                <a:cs typeface="Cambria" pitchFamily="34" charset="-120"/>
              </a:rPr>
              <a:t>Careful editors look past the most impressive landmark to find the FULL story.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9FC"/>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55C8E8"/>
                </a:solidFill>
                <a:latin typeface="Cambria" pitchFamily="34" charset="0"/>
                <a:ea typeface="Cambria" pitchFamily="34" charset="-122"/>
                <a:cs typeface="Cambria" pitchFamily="34" charset="-120"/>
              </a:rPr>
              <a:t>CLUE BOX  ·  Source Desk  ·  Round 3 of 3  ·  Close Read</a:t>
            </a:r>
            <a:endParaRPr lang="en-US" sz="1300" dirty="0"/>
          </a:p>
        </p:txBody>
      </p:sp>
      <p:sp>
        <p:nvSpPr>
          <p:cNvPr id="5" name="Text 3"/>
          <p:cNvSpPr/>
          <p:nvPr/>
        </p:nvSpPr>
        <p:spPr>
          <a:xfrm>
            <a:off x="365760" y="594360"/>
            <a:ext cx="8412480" cy="438912"/>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What does the source say — and what does it leave out?</a:t>
            </a:r>
            <a:endParaRPr lang="en-US" sz="2000" dirty="0"/>
          </a:p>
        </p:txBody>
      </p:sp>
      <p:sp>
        <p:nvSpPr>
          <p:cNvPr id="6" name="Shape 4"/>
          <p:cNvSpPr/>
          <p:nvPr/>
        </p:nvSpPr>
        <p:spPr>
          <a:xfrm>
            <a:off x="320040" y="1115568"/>
            <a:ext cx="4206240" cy="3547872"/>
          </a:xfrm>
          <a:prstGeom prst="roundRect">
            <a:avLst>
              <a:gd name="adj" fmla="val 3093"/>
            </a:avLst>
          </a:prstGeom>
          <a:solidFill>
            <a:srgbClr val="FFFFFF"/>
          </a:solidFill>
          <a:ln w="25400">
            <a:solidFill>
              <a:srgbClr val="34B76F"/>
            </a:solidFill>
            <a:prstDash val="solid"/>
          </a:ln>
        </p:spPr>
      </p:sp>
      <p:sp>
        <p:nvSpPr>
          <p:cNvPr id="7" name="Shape 5"/>
          <p:cNvSpPr/>
          <p:nvPr/>
        </p:nvSpPr>
        <p:spPr>
          <a:xfrm>
            <a:off x="320040" y="1115568"/>
            <a:ext cx="4206240" cy="502920"/>
          </a:xfrm>
          <a:prstGeom prst="roundRect">
            <a:avLst>
              <a:gd name="adj" fmla="val 18182"/>
            </a:avLst>
          </a:prstGeom>
          <a:solidFill>
            <a:srgbClr val="34B76F"/>
          </a:solidFill>
          <a:ln/>
        </p:spPr>
      </p:sp>
      <p:sp>
        <p:nvSpPr>
          <p:cNvPr id="8" name="Text 6"/>
          <p:cNvSpPr/>
          <p:nvPr/>
        </p:nvSpPr>
        <p:spPr>
          <a:xfrm>
            <a:off x="411480" y="1115568"/>
            <a:ext cx="4023360" cy="27432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the Capital SHOWS</a:t>
            </a:r>
            <a:endParaRPr lang="en-US" sz="1200" dirty="0"/>
          </a:p>
        </p:txBody>
      </p:sp>
      <p:sp>
        <p:nvSpPr>
          <p:cNvPr id="9" name="Text 7"/>
          <p:cNvSpPr/>
          <p:nvPr/>
        </p:nvSpPr>
        <p:spPr>
          <a:xfrm>
            <a:off x="411480" y="1371600"/>
            <a:ext cx="4023360" cy="201168"/>
          </a:xfrm>
          <a:prstGeom prst="rect">
            <a:avLst/>
          </a:prstGeom>
          <a:noFill/>
          <a:ln/>
        </p:spPr>
        <p:txBody>
          <a:bodyPr wrap="square" rtlCol="0" anchor="ctr"/>
          <a:lstStyle/>
          <a:p>
            <a:pPr algn="ctr" indent="0" marL="0">
              <a:buNone/>
            </a:pPr>
            <a:r>
              <a:rPr lang="en-US" sz="900" i="1" dirty="0">
                <a:solidFill>
                  <a:srgbClr val="FFFFFF"/>
                </a:solidFill>
                <a:latin typeface="Calibri" pitchFamily="34" charset="0"/>
                <a:ea typeface="Calibri" pitchFamily="34" charset="-122"/>
                <a:cs typeface="Calibri" pitchFamily="34" charset="-120"/>
              </a:rPr>
              <a:t>Tenochtitlan's Evidence</a:t>
            </a:r>
            <a:endParaRPr lang="en-US" sz="900" dirty="0"/>
          </a:p>
        </p:txBody>
      </p:sp>
      <p:sp>
        <p:nvSpPr>
          <p:cNvPr id="10" name="Shape 8"/>
          <p:cNvSpPr/>
          <p:nvPr/>
        </p:nvSpPr>
        <p:spPr>
          <a:xfrm>
            <a:off x="502920" y="1719072"/>
            <a:ext cx="3840480" cy="594360"/>
          </a:xfrm>
          <a:prstGeom prst="roundRect">
            <a:avLst>
              <a:gd name="adj" fmla="val 12308"/>
            </a:avLst>
          </a:prstGeom>
          <a:solidFill>
            <a:srgbClr val="F8F9FC"/>
          </a:solidFill>
          <a:ln w="9525">
            <a:solidFill>
              <a:srgbClr val="34B76F"/>
            </a:solidFill>
            <a:prstDash val="solid"/>
          </a:ln>
        </p:spPr>
      </p:sp>
      <p:sp>
        <p:nvSpPr>
          <p:cNvPr id="11" name="Text 9"/>
          <p:cNvSpPr/>
          <p:nvPr/>
        </p:nvSpPr>
        <p:spPr>
          <a:xfrm>
            <a:off x="640080" y="1719072"/>
            <a:ext cx="3566160" cy="594360"/>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Causeways and aqueducts — advanced engineering</a:t>
            </a:r>
            <a:endParaRPr lang="en-US" sz="1100" dirty="0"/>
          </a:p>
        </p:txBody>
      </p:sp>
      <p:sp>
        <p:nvSpPr>
          <p:cNvPr id="12" name="Shape 10"/>
          <p:cNvSpPr/>
          <p:nvPr/>
        </p:nvSpPr>
        <p:spPr>
          <a:xfrm>
            <a:off x="502920" y="2377440"/>
            <a:ext cx="3840480" cy="594360"/>
          </a:xfrm>
          <a:prstGeom prst="roundRect">
            <a:avLst>
              <a:gd name="adj" fmla="val 12308"/>
            </a:avLst>
          </a:prstGeom>
          <a:solidFill>
            <a:srgbClr val="F8F9FC"/>
          </a:solidFill>
          <a:ln w="9525">
            <a:solidFill>
              <a:srgbClr val="34B76F"/>
            </a:solidFill>
            <a:prstDash val="solid"/>
          </a:ln>
        </p:spPr>
      </p:sp>
      <p:sp>
        <p:nvSpPr>
          <p:cNvPr id="13" name="Text 11"/>
          <p:cNvSpPr/>
          <p:nvPr/>
        </p:nvSpPr>
        <p:spPr>
          <a:xfrm>
            <a:off x="640080" y="2377440"/>
            <a:ext cx="3566160" cy="594360"/>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Chinampas (floating gardens) — agricultural innovation</a:t>
            </a:r>
            <a:endParaRPr lang="en-US" sz="1100" dirty="0"/>
          </a:p>
        </p:txBody>
      </p:sp>
      <p:sp>
        <p:nvSpPr>
          <p:cNvPr id="14" name="Shape 12"/>
          <p:cNvSpPr/>
          <p:nvPr/>
        </p:nvSpPr>
        <p:spPr>
          <a:xfrm>
            <a:off x="502920" y="3035808"/>
            <a:ext cx="3840480" cy="594360"/>
          </a:xfrm>
          <a:prstGeom prst="roundRect">
            <a:avLst>
              <a:gd name="adj" fmla="val 12308"/>
            </a:avLst>
          </a:prstGeom>
          <a:solidFill>
            <a:srgbClr val="F8F9FC"/>
          </a:solidFill>
          <a:ln w="9525">
            <a:solidFill>
              <a:srgbClr val="34B76F"/>
            </a:solidFill>
            <a:prstDash val="solid"/>
          </a:ln>
        </p:spPr>
      </p:sp>
      <p:sp>
        <p:nvSpPr>
          <p:cNvPr id="15" name="Text 13"/>
          <p:cNvSpPr/>
          <p:nvPr/>
        </p:nvSpPr>
        <p:spPr>
          <a:xfrm>
            <a:off x="640080" y="3035808"/>
            <a:ext cx="3566160" cy="594360"/>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Tlatelolco marketplace — organized trade and economy</a:t>
            </a:r>
            <a:endParaRPr lang="en-US" sz="1100" dirty="0"/>
          </a:p>
        </p:txBody>
      </p:sp>
      <p:sp>
        <p:nvSpPr>
          <p:cNvPr id="16" name="Shape 14"/>
          <p:cNvSpPr/>
          <p:nvPr/>
        </p:nvSpPr>
        <p:spPr>
          <a:xfrm>
            <a:off x="502920" y="3694176"/>
            <a:ext cx="3840480" cy="594360"/>
          </a:xfrm>
          <a:prstGeom prst="roundRect">
            <a:avLst>
              <a:gd name="adj" fmla="val 12308"/>
            </a:avLst>
          </a:prstGeom>
          <a:solidFill>
            <a:srgbClr val="F8F9FC"/>
          </a:solidFill>
          <a:ln w="9525">
            <a:solidFill>
              <a:srgbClr val="34B76F"/>
            </a:solidFill>
            <a:prstDash val="solid"/>
          </a:ln>
        </p:spPr>
      </p:sp>
      <p:sp>
        <p:nvSpPr>
          <p:cNvPr id="17" name="Text 15"/>
          <p:cNvSpPr/>
          <p:nvPr/>
        </p:nvSpPr>
        <p:spPr>
          <a:xfrm>
            <a:off x="640080" y="3694176"/>
            <a:ext cx="3566160" cy="594360"/>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Central temple precinct — religious and political center</a:t>
            </a:r>
            <a:endParaRPr lang="en-US" sz="1100" dirty="0"/>
          </a:p>
        </p:txBody>
      </p:sp>
      <p:sp>
        <p:nvSpPr>
          <p:cNvPr id="18" name="Shape 16"/>
          <p:cNvSpPr/>
          <p:nvPr/>
        </p:nvSpPr>
        <p:spPr>
          <a:xfrm>
            <a:off x="4754880" y="1115568"/>
            <a:ext cx="4206240" cy="3547872"/>
          </a:xfrm>
          <a:prstGeom prst="roundRect">
            <a:avLst>
              <a:gd name="adj" fmla="val 3093"/>
            </a:avLst>
          </a:prstGeom>
          <a:solidFill>
            <a:srgbClr val="FFFFFF"/>
          </a:solidFill>
          <a:ln w="25400">
            <a:solidFill>
              <a:srgbClr val="E8636B"/>
            </a:solidFill>
            <a:prstDash val="solid"/>
          </a:ln>
        </p:spPr>
      </p:sp>
      <p:sp>
        <p:nvSpPr>
          <p:cNvPr id="19" name="Shape 17"/>
          <p:cNvSpPr/>
          <p:nvPr/>
        </p:nvSpPr>
        <p:spPr>
          <a:xfrm>
            <a:off x="4754880" y="1115568"/>
            <a:ext cx="4206240" cy="502920"/>
          </a:xfrm>
          <a:prstGeom prst="roundRect">
            <a:avLst>
              <a:gd name="adj" fmla="val 18182"/>
            </a:avLst>
          </a:prstGeom>
          <a:solidFill>
            <a:srgbClr val="E8636B"/>
          </a:solidFill>
          <a:ln/>
        </p:spPr>
      </p:sp>
      <p:sp>
        <p:nvSpPr>
          <p:cNvPr id="20" name="Text 18"/>
          <p:cNvSpPr/>
          <p:nvPr/>
        </p:nvSpPr>
        <p:spPr>
          <a:xfrm>
            <a:off x="4846320" y="1115568"/>
            <a:ext cx="4023360" cy="27432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the Capital MISSES</a:t>
            </a:r>
            <a:endParaRPr lang="en-US" sz="1200" dirty="0"/>
          </a:p>
        </p:txBody>
      </p:sp>
      <p:sp>
        <p:nvSpPr>
          <p:cNvPr id="21" name="Text 19"/>
          <p:cNvSpPr/>
          <p:nvPr/>
        </p:nvSpPr>
        <p:spPr>
          <a:xfrm>
            <a:off x="4846320" y="1371600"/>
            <a:ext cx="4023360" cy="201168"/>
          </a:xfrm>
          <a:prstGeom prst="rect">
            <a:avLst/>
          </a:prstGeom>
          <a:noFill/>
          <a:ln/>
        </p:spPr>
        <p:txBody>
          <a:bodyPr wrap="square" rtlCol="0" anchor="ctr"/>
          <a:lstStyle/>
          <a:p>
            <a:pPr algn="ctr" indent="0" marL="0">
              <a:buNone/>
            </a:pPr>
            <a:r>
              <a:rPr lang="en-US" sz="900" i="1" dirty="0">
                <a:solidFill>
                  <a:srgbClr val="FFFFFF"/>
                </a:solidFill>
                <a:latin typeface="Calibri" pitchFamily="34" charset="0"/>
                <a:ea typeface="Calibri" pitchFamily="34" charset="-122"/>
                <a:cs typeface="Calibri" pitchFamily="34" charset="-120"/>
              </a:rPr>
              <a:t>Evidence Beyond Tenochtitlan</a:t>
            </a:r>
            <a:endParaRPr lang="en-US" sz="900" dirty="0"/>
          </a:p>
        </p:txBody>
      </p:sp>
      <p:sp>
        <p:nvSpPr>
          <p:cNvPr id="22" name="Shape 20"/>
          <p:cNvSpPr/>
          <p:nvPr/>
        </p:nvSpPr>
        <p:spPr>
          <a:xfrm>
            <a:off x="4937760" y="1719072"/>
            <a:ext cx="3840480" cy="594360"/>
          </a:xfrm>
          <a:prstGeom prst="roundRect">
            <a:avLst>
              <a:gd name="adj" fmla="val 12308"/>
            </a:avLst>
          </a:prstGeom>
          <a:solidFill>
            <a:srgbClr val="F8F9FC"/>
          </a:solidFill>
          <a:ln w="9525">
            <a:solidFill>
              <a:srgbClr val="E8636B"/>
            </a:solidFill>
            <a:prstDash val="solid"/>
          </a:ln>
        </p:spPr>
      </p:sp>
      <p:sp>
        <p:nvSpPr>
          <p:cNvPr id="23" name="Text 21"/>
          <p:cNvSpPr/>
          <p:nvPr/>
        </p:nvSpPr>
        <p:spPr>
          <a:xfrm>
            <a:off x="5074920" y="1719072"/>
            <a:ext cx="3566160" cy="594360"/>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Mandatory education for all children</a:t>
            </a:r>
            <a:endParaRPr lang="en-US" sz="1100" dirty="0"/>
          </a:p>
        </p:txBody>
      </p:sp>
      <p:sp>
        <p:nvSpPr>
          <p:cNvPr id="24" name="Shape 22"/>
          <p:cNvSpPr/>
          <p:nvPr/>
        </p:nvSpPr>
        <p:spPr>
          <a:xfrm>
            <a:off x="4937760" y="2377440"/>
            <a:ext cx="3840480" cy="594360"/>
          </a:xfrm>
          <a:prstGeom prst="roundRect">
            <a:avLst>
              <a:gd name="adj" fmla="val 12308"/>
            </a:avLst>
          </a:prstGeom>
          <a:solidFill>
            <a:srgbClr val="F8F9FC"/>
          </a:solidFill>
          <a:ln w="9525">
            <a:solidFill>
              <a:srgbClr val="E8636B"/>
            </a:solidFill>
            <a:prstDash val="solid"/>
          </a:ln>
        </p:spPr>
      </p:sp>
      <p:sp>
        <p:nvSpPr>
          <p:cNvPr id="25" name="Text 23"/>
          <p:cNvSpPr/>
          <p:nvPr/>
        </p:nvSpPr>
        <p:spPr>
          <a:xfrm>
            <a:off x="5074920" y="2377440"/>
            <a:ext cx="3566160" cy="594360"/>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Rich tradition of Nahuatl poetry and painted codices</a:t>
            </a:r>
            <a:endParaRPr lang="en-US" sz="1100" dirty="0"/>
          </a:p>
        </p:txBody>
      </p:sp>
      <p:sp>
        <p:nvSpPr>
          <p:cNvPr id="26" name="Shape 24"/>
          <p:cNvSpPr/>
          <p:nvPr/>
        </p:nvSpPr>
        <p:spPr>
          <a:xfrm>
            <a:off x="4937760" y="3035808"/>
            <a:ext cx="3840480" cy="594360"/>
          </a:xfrm>
          <a:prstGeom prst="roundRect">
            <a:avLst>
              <a:gd name="adj" fmla="val 12308"/>
            </a:avLst>
          </a:prstGeom>
          <a:solidFill>
            <a:srgbClr val="F8F9FC"/>
          </a:solidFill>
          <a:ln w="9525">
            <a:solidFill>
              <a:srgbClr val="E8636B"/>
            </a:solidFill>
            <a:prstDash val="solid"/>
          </a:ln>
        </p:spPr>
      </p:sp>
      <p:sp>
        <p:nvSpPr>
          <p:cNvPr id="27" name="Text 25"/>
          <p:cNvSpPr/>
          <p:nvPr/>
        </p:nvSpPr>
        <p:spPr>
          <a:xfrm>
            <a:off x="5074920" y="3035808"/>
            <a:ext cx="3566160" cy="594360"/>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Tribute from hundreds of conquered communities</a:t>
            </a:r>
            <a:endParaRPr lang="en-US" sz="1100" dirty="0"/>
          </a:p>
        </p:txBody>
      </p:sp>
      <p:sp>
        <p:nvSpPr>
          <p:cNvPr id="28" name="Shape 26"/>
          <p:cNvSpPr/>
          <p:nvPr/>
        </p:nvSpPr>
        <p:spPr>
          <a:xfrm>
            <a:off x="4937760" y="3694176"/>
            <a:ext cx="3840480" cy="594360"/>
          </a:xfrm>
          <a:prstGeom prst="roundRect">
            <a:avLst>
              <a:gd name="adj" fmla="val 12308"/>
            </a:avLst>
          </a:prstGeom>
          <a:solidFill>
            <a:srgbClr val="F8F9FC"/>
          </a:solidFill>
          <a:ln w="9525">
            <a:solidFill>
              <a:srgbClr val="E8636B"/>
            </a:solidFill>
            <a:prstDash val="solid"/>
          </a:ln>
        </p:spPr>
      </p:sp>
      <p:sp>
        <p:nvSpPr>
          <p:cNvPr id="29" name="Text 27"/>
          <p:cNvSpPr/>
          <p:nvPr/>
        </p:nvSpPr>
        <p:spPr>
          <a:xfrm>
            <a:off x="5074920" y="3694176"/>
            <a:ext cx="3566160" cy="594360"/>
          </a:xfrm>
          <a:prstGeom prst="rect">
            <a:avLst/>
          </a:prstGeom>
          <a:noFill/>
          <a:ln/>
        </p:spPr>
        <p:txBody>
          <a:bodyPr wrap="square" rtlCol="0" anchor="ctr"/>
          <a:lstStyle/>
          <a:p>
            <a:pPr indent="0" marL="0">
              <a:buNone/>
            </a:pPr>
            <a:r>
              <a:rPr lang="en-US" sz="1100" dirty="0">
                <a:solidFill>
                  <a:srgbClr val="3A3A4A"/>
                </a:solidFill>
                <a:latin typeface="Calibri" pitchFamily="34" charset="0"/>
                <a:ea typeface="Calibri" pitchFamily="34" charset="-122"/>
                <a:cs typeface="Calibri" pitchFamily="34" charset="-120"/>
              </a:rPr>
              <a:t>Long-distance trade networks reaching both coasts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9FC"/>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D4943A"/>
                </a:solidFill>
                <a:latin typeface="Cambria" pitchFamily="34" charset="0"/>
                <a:ea typeface="Cambria" pitchFamily="34" charset="-122"/>
                <a:cs typeface="Cambria" pitchFamily="34" charset="-120"/>
              </a:rPr>
              <a:t>WHY IT MATTERS  ·  The Editor's Obligation</a:t>
            </a:r>
            <a:endParaRPr lang="en-US" sz="1300" dirty="0"/>
          </a:p>
        </p:txBody>
      </p:sp>
      <p:sp>
        <p:nvSpPr>
          <p:cNvPr id="5" name="Text 3"/>
          <p:cNvSpPr/>
          <p:nvPr/>
        </p:nvSpPr>
        <p:spPr>
          <a:xfrm>
            <a:off x="365760" y="594360"/>
            <a:ext cx="8412480" cy="438912"/>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Why does it matter which story we tell?</a:t>
            </a:r>
            <a:endParaRPr lang="en-US" sz="2200" dirty="0"/>
          </a:p>
        </p:txBody>
      </p:sp>
      <p:sp>
        <p:nvSpPr>
          <p:cNvPr id="6" name="Shape 4"/>
          <p:cNvSpPr/>
          <p:nvPr/>
        </p:nvSpPr>
        <p:spPr>
          <a:xfrm>
            <a:off x="365760" y="1115568"/>
            <a:ext cx="8412480" cy="960120"/>
          </a:xfrm>
          <a:prstGeom prst="roundRect">
            <a:avLst>
              <a:gd name="adj" fmla="val 9524"/>
            </a:avLst>
          </a:prstGeom>
          <a:solidFill>
            <a:srgbClr val="FFF3DC"/>
          </a:solidFill>
          <a:ln w="19050">
            <a:solidFill>
              <a:srgbClr val="D4943A"/>
            </a:solidFill>
            <a:prstDash val="solid"/>
          </a:ln>
        </p:spPr>
      </p:sp>
      <p:sp>
        <p:nvSpPr>
          <p:cNvPr id="7" name="Text 5"/>
          <p:cNvSpPr/>
          <p:nvPr/>
        </p:nvSpPr>
        <p:spPr>
          <a:xfrm>
            <a:off x="548640" y="1179576"/>
            <a:ext cx="2286000" cy="228600"/>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The Source Says:</a:t>
            </a:r>
            <a:endParaRPr lang="en-US" sz="1000" dirty="0"/>
          </a:p>
        </p:txBody>
      </p:sp>
      <p:sp>
        <p:nvSpPr>
          <p:cNvPr id="8" name="Text 6"/>
          <p:cNvSpPr/>
          <p:nvPr/>
        </p:nvSpPr>
        <p:spPr>
          <a:xfrm>
            <a:off x="548640" y="1389888"/>
            <a:ext cx="8046720" cy="621792"/>
          </a:xfrm>
          <a:prstGeom prst="rect">
            <a:avLst/>
          </a:prstGeom>
          <a:noFill/>
          <a:ln/>
        </p:spPr>
        <p:txBody>
          <a:bodyPr wrap="square" rtlCol="0" anchor="ctr"/>
          <a:lstStyle/>
          <a:p>
            <a:pPr indent="0" marL="0">
              <a:buNone/>
            </a:pPr>
            <a:r>
              <a:rPr lang="en-US" sz="1200" i="1" dirty="0">
                <a:solidFill>
                  <a:srgbClr val="5A4A3A"/>
                </a:solidFill>
                <a:latin typeface="Cambria" pitchFamily="34" charset="0"/>
                <a:ea typeface="Cambria" pitchFamily="34" charset="-122"/>
                <a:cs typeface="Cambria" pitchFamily="34" charset="-120"/>
              </a:rPr>
              <a:t>"Focusing only on Tenochtitlan is like judging a whole country by its capital — you miss the farmers, the poets, the traders, and the teachers who made the civilization work."</a:t>
            </a:r>
            <a:endParaRPr lang="en-US" sz="1200" dirty="0"/>
          </a:p>
        </p:txBody>
      </p:sp>
      <p:sp>
        <p:nvSpPr>
          <p:cNvPr id="9" name="Shape 7"/>
          <p:cNvSpPr/>
          <p:nvPr/>
        </p:nvSpPr>
        <p:spPr>
          <a:xfrm>
            <a:off x="320040" y="2212848"/>
            <a:ext cx="4160520" cy="1170432"/>
          </a:xfrm>
          <a:prstGeom prst="roundRect">
            <a:avLst>
              <a:gd name="adj" fmla="val 9375"/>
            </a:avLst>
          </a:prstGeom>
          <a:solidFill>
            <a:srgbClr val="FFFFFF"/>
          </a:solidFill>
          <a:ln w="19050">
            <a:solidFill>
              <a:srgbClr val="0E1C42"/>
            </a:solidFill>
            <a:prstDash val="solid"/>
          </a:ln>
        </p:spPr>
      </p:sp>
      <p:sp>
        <p:nvSpPr>
          <p:cNvPr id="10" name="Text 8"/>
          <p:cNvSpPr/>
          <p:nvPr/>
        </p:nvSpPr>
        <p:spPr>
          <a:xfrm>
            <a:off x="457200" y="2304288"/>
            <a:ext cx="3886200" cy="228600"/>
          </a:xfrm>
          <a:prstGeom prst="rect">
            <a:avLst/>
          </a:prstGeom>
          <a:noFill/>
          <a:ln/>
        </p:spPr>
        <p:txBody>
          <a:bodyPr wrap="square" rtlCol="0" anchor="ctr"/>
          <a:lstStyle/>
          <a:p>
            <a:pPr indent="0" marL="0">
              <a:buNone/>
            </a:pPr>
            <a:r>
              <a:rPr lang="en-US" sz="1000" b="1" spc="100" kern="0" dirty="0">
                <a:solidFill>
                  <a:srgbClr val="0E1C42"/>
                </a:solidFill>
                <a:latin typeface="Calibri" pitchFamily="34" charset="0"/>
                <a:ea typeface="Calibri" pitchFamily="34" charset="-122"/>
                <a:cs typeface="Calibri" pitchFamily="34" charset="-120"/>
              </a:rPr>
              <a:t>History</a:t>
            </a:r>
            <a:endParaRPr lang="en-US" sz="1000" dirty="0"/>
          </a:p>
        </p:txBody>
      </p:sp>
      <p:sp>
        <p:nvSpPr>
          <p:cNvPr id="11" name="Text 9"/>
          <p:cNvSpPr/>
          <p:nvPr/>
        </p:nvSpPr>
        <p:spPr>
          <a:xfrm>
            <a:off x="457200" y="2560320"/>
            <a:ext cx="3886200" cy="749808"/>
          </a:xfrm>
          <a:prstGeom prst="rect">
            <a:avLst/>
          </a:prstGeom>
          <a:noFill/>
          <a:ln/>
        </p:spPr>
        <p:txBody>
          <a:bodyPr wrap="square" rtlCol="0" anchor="t"/>
          <a:lstStyle/>
          <a:p>
            <a:pPr indent="0" marL="0">
              <a:buNone/>
            </a:pPr>
            <a:r>
              <a:rPr lang="en-US" sz="1100" dirty="0">
                <a:solidFill>
                  <a:srgbClr val="3A3A4A"/>
                </a:solidFill>
                <a:latin typeface="Calibri" pitchFamily="34" charset="0"/>
                <a:ea typeface="Calibri" pitchFamily="34" charset="-122"/>
                <a:cs typeface="Calibri" pitchFamily="34" charset="-120"/>
              </a:rPr>
              <a:t>If we only remember the capital, we erase millions of people — teachers, farmers, poets, traders, judges — who made the civilization work.</a:t>
            </a:r>
            <a:endParaRPr lang="en-US" sz="1100" dirty="0"/>
          </a:p>
        </p:txBody>
      </p:sp>
      <p:sp>
        <p:nvSpPr>
          <p:cNvPr id="12" name="Shape 10"/>
          <p:cNvSpPr/>
          <p:nvPr/>
        </p:nvSpPr>
        <p:spPr>
          <a:xfrm>
            <a:off x="4709160" y="2212848"/>
            <a:ext cx="4160520" cy="1170432"/>
          </a:xfrm>
          <a:prstGeom prst="roundRect">
            <a:avLst>
              <a:gd name="adj" fmla="val 9375"/>
            </a:avLst>
          </a:prstGeom>
          <a:solidFill>
            <a:srgbClr val="FFFFFF"/>
          </a:solidFill>
          <a:ln w="19050">
            <a:solidFill>
              <a:srgbClr val="34B76F"/>
            </a:solidFill>
            <a:prstDash val="solid"/>
          </a:ln>
        </p:spPr>
      </p:sp>
      <p:sp>
        <p:nvSpPr>
          <p:cNvPr id="13" name="Text 11"/>
          <p:cNvSpPr/>
          <p:nvPr/>
        </p:nvSpPr>
        <p:spPr>
          <a:xfrm>
            <a:off x="4846320" y="2304288"/>
            <a:ext cx="3886200" cy="228600"/>
          </a:xfrm>
          <a:prstGeom prst="rect">
            <a:avLst/>
          </a:prstGeom>
          <a:noFill/>
          <a:ln/>
        </p:spPr>
        <p:txBody>
          <a:bodyPr wrap="square" rtlCol="0" anchor="ctr"/>
          <a:lstStyle/>
          <a:p>
            <a:pPr indent="0" marL="0">
              <a:buNone/>
            </a:pPr>
            <a:r>
              <a:rPr lang="en-US" sz="1000" b="1" spc="100" kern="0" dirty="0">
                <a:solidFill>
                  <a:srgbClr val="34B76F"/>
                </a:solidFill>
                <a:latin typeface="Calibri" pitchFamily="34" charset="0"/>
                <a:ea typeface="Calibri" pitchFamily="34" charset="-122"/>
                <a:cs typeface="Calibri" pitchFamily="34" charset="-120"/>
              </a:rPr>
              <a:t>Accuracy</a:t>
            </a:r>
            <a:endParaRPr lang="en-US" sz="1000" dirty="0"/>
          </a:p>
        </p:txBody>
      </p:sp>
      <p:sp>
        <p:nvSpPr>
          <p:cNvPr id="14" name="Text 12"/>
          <p:cNvSpPr/>
          <p:nvPr/>
        </p:nvSpPr>
        <p:spPr>
          <a:xfrm>
            <a:off x="4846320" y="2560320"/>
            <a:ext cx="3886200" cy="749808"/>
          </a:xfrm>
          <a:prstGeom prst="rect">
            <a:avLst/>
          </a:prstGeom>
          <a:noFill/>
          <a:ln/>
        </p:spPr>
        <p:txBody>
          <a:bodyPr wrap="square" rtlCol="0" anchor="t"/>
          <a:lstStyle/>
          <a:p>
            <a:pPr indent="0" marL="0">
              <a:buNone/>
            </a:pPr>
            <a:r>
              <a:rPr lang="en-US" sz="1100" dirty="0">
                <a:solidFill>
                  <a:srgbClr val="3A3A4A"/>
                </a:solidFill>
                <a:latin typeface="Calibri" pitchFamily="34" charset="0"/>
                <a:ea typeface="Calibri" pitchFamily="34" charset="-122"/>
                <a:cs typeface="Calibri" pitchFamily="34" charset="-120"/>
              </a:rPr>
              <a:t>Accurate history requires looking at what a civilization did everywhere, not just its most impressive landmark.</a:t>
            </a:r>
            <a:endParaRPr lang="en-US" sz="1100" dirty="0"/>
          </a:p>
        </p:txBody>
      </p:sp>
      <p:sp>
        <p:nvSpPr>
          <p:cNvPr id="15" name="Shape 13"/>
          <p:cNvSpPr/>
          <p:nvPr/>
        </p:nvSpPr>
        <p:spPr>
          <a:xfrm>
            <a:off x="320040" y="3511296"/>
            <a:ext cx="4160520" cy="1170432"/>
          </a:xfrm>
          <a:prstGeom prst="roundRect">
            <a:avLst>
              <a:gd name="adj" fmla="val 9375"/>
            </a:avLst>
          </a:prstGeom>
          <a:solidFill>
            <a:srgbClr val="FFFFFF"/>
          </a:solidFill>
          <a:ln w="19050">
            <a:solidFill>
              <a:srgbClr val="55C8E8"/>
            </a:solidFill>
            <a:prstDash val="solid"/>
          </a:ln>
        </p:spPr>
      </p:sp>
      <p:sp>
        <p:nvSpPr>
          <p:cNvPr id="16" name="Text 14"/>
          <p:cNvSpPr/>
          <p:nvPr/>
        </p:nvSpPr>
        <p:spPr>
          <a:xfrm>
            <a:off x="457200" y="3602736"/>
            <a:ext cx="3886200" cy="228600"/>
          </a:xfrm>
          <a:prstGeom prst="rect">
            <a:avLst/>
          </a:prstGeom>
          <a:noFill/>
          <a:ln/>
        </p:spPr>
        <p:txBody>
          <a:bodyPr wrap="square"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Self-Governance</a:t>
            </a:r>
            <a:endParaRPr lang="en-US" sz="1000" dirty="0"/>
          </a:p>
        </p:txBody>
      </p:sp>
      <p:sp>
        <p:nvSpPr>
          <p:cNvPr id="17" name="Text 15"/>
          <p:cNvSpPr/>
          <p:nvPr/>
        </p:nvSpPr>
        <p:spPr>
          <a:xfrm>
            <a:off x="457200" y="3858768"/>
            <a:ext cx="3886200" cy="749808"/>
          </a:xfrm>
          <a:prstGeom prst="rect">
            <a:avLst/>
          </a:prstGeom>
          <a:noFill/>
          <a:ln/>
        </p:spPr>
        <p:txBody>
          <a:bodyPr wrap="square" rtlCol="0" anchor="t"/>
          <a:lstStyle/>
          <a:p>
            <a:pPr indent="0" marL="0">
              <a:buNone/>
            </a:pPr>
            <a:r>
              <a:rPr lang="en-US" sz="1100" dirty="0">
                <a:solidFill>
                  <a:srgbClr val="3A3A4A"/>
                </a:solidFill>
                <a:latin typeface="Calibri" pitchFamily="34" charset="0"/>
                <a:ea typeface="Calibri" pitchFamily="34" charset="-122"/>
                <a:cs typeface="Calibri" pitchFamily="34" charset="-120"/>
              </a:rPr>
              <a:t>A self-governing editor controls their conclusions — they don't let the most dramatic evidence become the only evidence.</a:t>
            </a:r>
            <a:endParaRPr lang="en-US" sz="1100" dirty="0"/>
          </a:p>
        </p:txBody>
      </p:sp>
      <p:sp>
        <p:nvSpPr>
          <p:cNvPr id="18" name="Shape 16"/>
          <p:cNvSpPr/>
          <p:nvPr/>
        </p:nvSpPr>
        <p:spPr>
          <a:xfrm>
            <a:off x="4709160" y="3511296"/>
            <a:ext cx="4160520" cy="1170432"/>
          </a:xfrm>
          <a:prstGeom prst="roundRect">
            <a:avLst>
              <a:gd name="adj" fmla="val 9375"/>
            </a:avLst>
          </a:prstGeom>
          <a:solidFill>
            <a:srgbClr val="FFFFFF"/>
          </a:solidFill>
          <a:ln w="19050">
            <a:solidFill>
              <a:srgbClr val="E8636B"/>
            </a:solidFill>
            <a:prstDash val="solid"/>
          </a:ln>
        </p:spPr>
      </p:sp>
      <p:sp>
        <p:nvSpPr>
          <p:cNvPr id="19" name="Text 17"/>
          <p:cNvSpPr/>
          <p:nvPr/>
        </p:nvSpPr>
        <p:spPr>
          <a:xfrm>
            <a:off x="4846320" y="3602736"/>
            <a:ext cx="3886200" cy="228600"/>
          </a:xfrm>
          <a:prstGeom prst="rect">
            <a:avLst/>
          </a:prstGeom>
          <a:noFill/>
          <a:ln/>
        </p:spPr>
        <p:txBody>
          <a:bodyPr wrap="square"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The Herald Problem</a:t>
            </a:r>
            <a:endParaRPr lang="en-US" sz="1000" dirty="0"/>
          </a:p>
        </p:txBody>
      </p:sp>
      <p:sp>
        <p:nvSpPr>
          <p:cNvPr id="20" name="Text 18"/>
          <p:cNvSpPr/>
          <p:nvPr/>
        </p:nvSpPr>
        <p:spPr>
          <a:xfrm>
            <a:off x="4846320" y="3858768"/>
            <a:ext cx="3886200" cy="749808"/>
          </a:xfrm>
          <a:prstGeom prst="rect">
            <a:avLst/>
          </a:prstGeom>
          <a:noFill/>
          <a:ln/>
        </p:spPr>
        <p:txBody>
          <a:bodyPr wrap="square" rtlCol="0" anchor="t"/>
          <a:lstStyle/>
          <a:p>
            <a:pPr indent="0" marL="0">
              <a:buNone/>
            </a:pPr>
            <a:r>
              <a:rPr lang="en-US" sz="1100" dirty="0">
                <a:solidFill>
                  <a:srgbClr val="3A3A4A"/>
                </a:solidFill>
                <a:latin typeface="Calibri" pitchFamily="34" charset="0"/>
                <a:ea typeface="Calibri" pitchFamily="34" charset="-122"/>
                <a:cs typeface="Calibri" pitchFamily="34" charset="-120"/>
              </a:rPr>
              <a:t>When writers oversimplify, real people and real achievements disappear. The Gazette exists to fix that.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alpha val="85000"/>
            </a:srgbClr>
          </a:solidFill>
          <a:ln/>
        </p:spPr>
      </p:sp>
      <p:sp>
        <p:nvSpPr>
          <p:cNvPr id="6" name="Text 3"/>
          <p:cNvSpPr/>
          <p:nvPr/>
        </p:nvSpPr>
        <p:spPr>
          <a:xfrm>
            <a:off x="0" y="0"/>
            <a:ext cx="9144000" cy="502920"/>
          </a:xfrm>
          <a:prstGeom prst="rect">
            <a:avLst/>
          </a:prstGeom>
          <a:noFill/>
          <a:ln/>
        </p:spPr>
        <p:txBody>
          <a:bodyPr wrap="square" rtlCol="0" anchor="ctr"/>
          <a:lstStyle/>
          <a:p>
            <a:pPr algn="ctr" indent="0" marL="0">
              <a:buNone/>
            </a:pPr>
            <a:r>
              <a:rPr lang="en-US" sz="1300" b="1" spc="150" kern="0" dirty="0">
                <a:solidFill>
                  <a:srgbClr val="0E1C42"/>
                </a:solidFill>
                <a:latin typeface="Cambria" pitchFamily="34" charset="0"/>
                <a:ea typeface="Cambria" pitchFamily="34" charset="-122"/>
                <a:cs typeface="Cambria" pitchFamily="34" charset="-120"/>
              </a:rPr>
              <a:t>VIRTUE SPOTLIGHT  ·  Self-Governance</a:t>
            </a:r>
            <a:endParaRPr lang="en-US" sz="1300" dirty="0"/>
          </a:p>
        </p:txBody>
      </p:sp>
      <p:sp>
        <p:nvSpPr>
          <p:cNvPr id="7" name="Text 4"/>
          <p:cNvSpPr/>
          <p:nvPr/>
        </p:nvSpPr>
        <p:spPr>
          <a:xfrm>
            <a:off x="457200" y="640080"/>
            <a:ext cx="8229600" cy="594360"/>
          </a:xfrm>
          <a:prstGeom prst="rect">
            <a:avLst/>
          </a:prstGeom>
          <a:noFill/>
          <a:ln/>
          <a:effectLst>
            <a:outerShdw sx="100000" sy="100000" kx="0" ky="0" algn="bl" rotWithShape="0" blurRad="127000" dist="50800" dir="2700000">
              <a:srgbClr val="000000">
                <a:alpha val="75000"/>
              </a:srgbClr>
            </a:outerShdw>
          </a:effectLst>
        </p:spPr>
        <p:txBody>
          <a:bodyPr wrap="square" rtlCol="0" anchor="ctr"/>
          <a:lstStyle/>
          <a:p>
            <a:pPr algn="ctr" indent="0" marL="0">
              <a:buNone/>
            </a:pPr>
            <a:r>
              <a:rPr lang="en-US" sz="4000" b="1" dirty="0">
                <a:solidFill>
                  <a:srgbClr val="D4943A"/>
                </a:solidFill>
                <a:latin typeface="Cambria" pitchFamily="34" charset="0"/>
                <a:ea typeface="Cambria" pitchFamily="34" charset="-122"/>
                <a:cs typeface="Cambria" pitchFamily="34" charset="-120"/>
              </a:rPr>
              <a:t>SELF-GOVERNANCE</a:t>
            </a:r>
            <a:endParaRPr lang="en-US" sz="4000" dirty="0"/>
          </a:p>
        </p:txBody>
      </p:sp>
      <p:sp>
        <p:nvSpPr>
          <p:cNvPr id="8" name="Shape 5"/>
          <p:cNvSpPr/>
          <p:nvPr/>
        </p:nvSpPr>
        <p:spPr>
          <a:xfrm>
            <a:off x="457200" y="1371600"/>
            <a:ext cx="8229600" cy="1005840"/>
          </a:xfrm>
          <a:prstGeom prst="roundRect">
            <a:avLst>
              <a:gd name="adj" fmla="val 10909"/>
            </a:avLst>
          </a:prstGeom>
          <a:solidFill>
            <a:srgbClr val="1A2D5A"/>
          </a:solidFill>
          <a:ln w="19050">
            <a:solidFill>
              <a:srgbClr val="55C8E8"/>
            </a:solidFill>
            <a:prstDash val="solid"/>
          </a:ln>
        </p:spPr>
      </p:sp>
      <p:sp>
        <p:nvSpPr>
          <p:cNvPr id="9" name="Text 6"/>
          <p:cNvSpPr/>
          <p:nvPr/>
        </p:nvSpPr>
        <p:spPr>
          <a:xfrm>
            <a:off x="640080" y="1444752"/>
            <a:ext cx="7863840" cy="8686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An editor who practices self-governance controls their conclusions — they don't leap to easy answers. Today, as you study the Aztecs, notice how evidence from beyond the capital city changes the picture. Self-governance means basing your claims on the full evidence, not just the most impressive part.</a:t>
            </a:r>
            <a:endParaRPr lang="en-US" sz="1300" dirty="0"/>
          </a:p>
        </p:txBody>
      </p:sp>
      <p:sp>
        <p:nvSpPr>
          <p:cNvPr id="10" name="Shape 7"/>
          <p:cNvSpPr/>
          <p:nvPr/>
        </p:nvSpPr>
        <p:spPr>
          <a:xfrm>
            <a:off x="320040" y="2542032"/>
            <a:ext cx="4160520" cy="960120"/>
          </a:xfrm>
          <a:prstGeom prst="roundRect">
            <a:avLst>
              <a:gd name="adj" fmla="val 9524"/>
            </a:avLst>
          </a:prstGeom>
          <a:solidFill>
            <a:srgbClr val="0B1835"/>
          </a:solidFill>
          <a:ln w="12700">
            <a:solidFill>
              <a:srgbClr val="D4943A"/>
            </a:solidFill>
            <a:prstDash val="solid"/>
          </a:ln>
        </p:spPr>
      </p:sp>
      <p:sp>
        <p:nvSpPr>
          <p:cNvPr id="11" name="Text 8"/>
          <p:cNvSpPr/>
          <p:nvPr/>
        </p:nvSpPr>
        <p:spPr>
          <a:xfrm>
            <a:off x="457200" y="2615184"/>
            <a:ext cx="3886200" cy="228600"/>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The Aztec Empire</a:t>
            </a:r>
            <a:endParaRPr lang="en-US" sz="1000" dirty="0"/>
          </a:p>
        </p:txBody>
      </p:sp>
      <p:sp>
        <p:nvSpPr>
          <p:cNvPr id="12" name="Text 9"/>
          <p:cNvSpPr/>
          <p:nvPr/>
        </p:nvSpPr>
        <p:spPr>
          <a:xfrm>
            <a:off x="457200" y="2871216"/>
            <a:ext cx="3886200" cy="566928"/>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Governed a complex empire through law, tribute, and education — not just military power</a:t>
            </a:r>
            <a:endParaRPr lang="en-US" sz="1100" dirty="0"/>
          </a:p>
        </p:txBody>
      </p:sp>
      <p:sp>
        <p:nvSpPr>
          <p:cNvPr id="13" name="Shape 10"/>
          <p:cNvSpPr/>
          <p:nvPr/>
        </p:nvSpPr>
        <p:spPr>
          <a:xfrm>
            <a:off x="4709160" y="2542032"/>
            <a:ext cx="4160520" cy="960120"/>
          </a:xfrm>
          <a:prstGeom prst="roundRect">
            <a:avLst>
              <a:gd name="adj" fmla="val 9524"/>
            </a:avLst>
          </a:prstGeom>
          <a:solidFill>
            <a:srgbClr val="0B1835"/>
          </a:solidFill>
          <a:ln w="12700">
            <a:solidFill>
              <a:srgbClr val="D4943A"/>
            </a:solidFill>
            <a:prstDash val="solid"/>
          </a:ln>
        </p:spPr>
      </p:sp>
      <p:sp>
        <p:nvSpPr>
          <p:cNvPr id="14" name="Text 11"/>
          <p:cNvSpPr/>
          <p:nvPr/>
        </p:nvSpPr>
        <p:spPr>
          <a:xfrm>
            <a:off x="4846320" y="2615184"/>
            <a:ext cx="3886200" cy="228600"/>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The Source Desk Editor</a:t>
            </a:r>
            <a:endParaRPr lang="en-US" sz="1000" dirty="0"/>
          </a:p>
        </p:txBody>
      </p:sp>
      <p:sp>
        <p:nvSpPr>
          <p:cNvPr id="15" name="Text 12"/>
          <p:cNvSpPr/>
          <p:nvPr/>
        </p:nvSpPr>
        <p:spPr>
          <a:xfrm>
            <a:off x="4846320" y="2871216"/>
            <a:ext cx="3886200" cy="566928"/>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Holds back the first reaction, reads carefully, checks evidence before publishing</a:t>
            </a:r>
            <a:endParaRPr lang="en-US" sz="1100" dirty="0"/>
          </a:p>
        </p:txBody>
      </p:sp>
      <p:sp>
        <p:nvSpPr>
          <p:cNvPr id="16" name="Shape 13"/>
          <p:cNvSpPr/>
          <p:nvPr/>
        </p:nvSpPr>
        <p:spPr>
          <a:xfrm>
            <a:off x="320040" y="3639312"/>
            <a:ext cx="4160520" cy="960120"/>
          </a:xfrm>
          <a:prstGeom prst="roundRect">
            <a:avLst>
              <a:gd name="adj" fmla="val 9524"/>
            </a:avLst>
          </a:prstGeom>
          <a:solidFill>
            <a:srgbClr val="0B1835"/>
          </a:solidFill>
          <a:ln w="12700">
            <a:solidFill>
              <a:srgbClr val="D4943A"/>
            </a:solidFill>
            <a:prstDash val="solid"/>
          </a:ln>
        </p:spPr>
      </p:sp>
      <p:sp>
        <p:nvSpPr>
          <p:cNvPr id="17" name="Text 14"/>
          <p:cNvSpPr/>
          <p:nvPr/>
        </p:nvSpPr>
        <p:spPr>
          <a:xfrm>
            <a:off x="457200" y="3712464"/>
            <a:ext cx="3886200" cy="228600"/>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The Herald (Counter-example)</a:t>
            </a:r>
            <a:endParaRPr lang="en-US" sz="1000" dirty="0"/>
          </a:p>
        </p:txBody>
      </p:sp>
      <p:sp>
        <p:nvSpPr>
          <p:cNvPr id="18" name="Text 15"/>
          <p:cNvSpPr/>
          <p:nvPr/>
        </p:nvSpPr>
        <p:spPr>
          <a:xfrm>
            <a:off x="457200" y="3968496"/>
            <a:ext cx="3886200" cy="566928"/>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Rushes to the most impressive fact — the capital — without checking what's missing</a:t>
            </a:r>
            <a:endParaRPr lang="en-US" sz="1100" dirty="0"/>
          </a:p>
        </p:txBody>
      </p:sp>
      <p:sp>
        <p:nvSpPr>
          <p:cNvPr id="19" name="Shape 16"/>
          <p:cNvSpPr/>
          <p:nvPr/>
        </p:nvSpPr>
        <p:spPr>
          <a:xfrm>
            <a:off x="4709160" y="3639312"/>
            <a:ext cx="4160520" cy="960120"/>
          </a:xfrm>
          <a:prstGeom prst="roundRect">
            <a:avLst>
              <a:gd name="adj" fmla="val 9524"/>
            </a:avLst>
          </a:prstGeom>
          <a:solidFill>
            <a:srgbClr val="0B1835"/>
          </a:solidFill>
          <a:ln w="12700">
            <a:solidFill>
              <a:srgbClr val="D4943A"/>
            </a:solidFill>
            <a:prstDash val="solid"/>
          </a:ln>
        </p:spPr>
      </p:sp>
      <p:sp>
        <p:nvSpPr>
          <p:cNvPr id="20" name="Text 17"/>
          <p:cNvSpPr/>
          <p:nvPr/>
        </p:nvSpPr>
        <p:spPr>
          <a:xfrm>
            <a:off x="4846320" y="3712464"/>
            <a:ext cx="3886200" cy="228600"/>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You, Today</a:t>
            </a:r>
            <a:endParaRPr lang="en-US" sz="1000" dirty="0"/>
          </a:p>
        </p:txBody>
      </p:sp>
      <p:sp>
        <p:nvSpPr>
          <p:cNvPr id="21" name="Text 18"/>
          <p:cNvSpPr/>
          <p:nvPr/>
        </p:nvSpPr>
        <p:spPr>
          <a:xfrm>
            <a:off x="4846320" y="3968496"/>
            <a:ext cx="3886200" cy="566928"/>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Examine the source, separate observation from inference, govern your own conclusions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9FC"/>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D4943A"/>
                </a:solidFill>
                <a:latin typeface="Cambria" pitchFamily="34" charset="0"/>
                <a:ea typeface="Cambria" pitchFamily="34" charset="-122"/>
                <a:cs typeface="Cambria" pitchFamily="34" charset="-120"/>
              </a:rPr>
              <a:t>GUIDED PRACTICE  ·  I Do  ·  Ms. Avery Models</a:t>
            </a:r>
            <a:endParaRPr lang="en-US" sz="1300" dirty="0"/>
          </a:p>
        </p:txBody>
      </p:sp>
      <p:sp>
        <p:nvSpPr>
          <p:cNvPr id="5" name="Text 3"/>
          <p:cNvSpPr/>
          <p:nvPr/>
        </p:nvSpPr>
        <p:spPr>
          <a:xfrm>
            <a:off x="365760" y="594360"/>
            <a:ext cx="841248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Watch how Ms. Avery builds a Gazette Correction</a:t>
            </a:r>
            <a:endParaRPr lang="en-US" sz="2000" dirty="0"/>
          </a:p>
        </p:txBody>
      </p:sp>
      <p:sp>
        <p:nvSpPr>
          <p:cNvPr id="6" name="Shape 4"/>
          <p:cNvSpPr/>
          <p:nvPr/>
        </p:nvSpPr>
        <p:spPr>
          <a:xfrm>
            <a:off x="320040" y="1097280"/>
            <a:ext cx="548640" cy="1078992"/>
          </a:xfrm>
          <a:prstGeom prst="roundRect">
            <a:avLst>
              <a:gd name="adj" fmla="val 16667"/>
            </a:avLst>
          </a:prstGeom>
          <a:solidFill>
            <a:srgbClr val="E8636B"/>
          </a:solidFill>
          <a:ln/>
        </p:spPr>
      </p:sp>
      <p:sp>
        <p:nvSpPr>
          <p:cNvPr id="7" name="Text 5"/>
          <p:cNvSpPr/>
          <p:nvPr/>
        </p:nvSpPr>
        <p:spPr>
          <a:xfrm>
            <a:off x="320040" y="1097280"/>
            <a:ext cx="548640" cy="1078992"/>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Shape 6"/>
          <p:cNvSpPr/>
          <p:nvPr/>
        </p:nvSpPr>
        <p:spPr>
          <a:xfrm>
            <a:off x="1005840" y="1097280"/>
            <a:ext cx="7772400" cy="1078992"/>
          </a:xfrm>
          <a:prstGeom prst="roundRect">
            <a:avLst>
              <a:gd name="adj" fmla="val 8475"/>
            </a:avLst>
          </a:prstGeom>
          <a:solidFill>
            <a:srgbClr val="FFFFFF"/>
          </a:solidFill>
          <a:ln w="19050">
            <a:solidFill>
              <a:srgbClr val="E8636B"/>
            </a:solidFill>
            <a:prstDash val="solid"/>
          </a:ln>
        </p:spPr>
      </p:sp>
      <p:sp>
        <p:nvSpPr>
          <p:cNvPr id="9" name="Text 7"/>
          <p:cNvSpPr/>
          <p:nvPr/>
        </p:nvSpPr>
        <p:spPr>
          <a:xfrm>
            <a:off x="1143000" y="1161288"/>
            <a:ext cx="7498080" cy="228600"/>
          </a:xfrm>
          <a:prstGeom prst="rect">
            <a:avLst/>
          </a:prstGeom>
          <a:noFill/>
          <a:ln/>
        </p:spPr>
        <p:txBody>
          <a:bodyPr wrap="square"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Quote the Herald's Claim</a:t>
            </a:r>
            <a:endParaRPr lang="en-US" sz="1000" dirty="0"/>
          </a:p>
        </p:txBody>
      </p:sp>
      <p:sp>
        <p:nvSpPr>
          <p:cNvPr id="10" name="Text 8"/>
          <p:cNvSpPr/>
          <p:nvPr/>
        </p:nvSpPr>
        <p:spPr>
          <a:xfrm>
            <a:off x="1143000" y="1426464"/>
            <a:ext cx="7498080" cy="685800"/>
          </a:xfrm>
          <a:prstGeom prst="rect">
            <a:avLst/>
          </a:prstGeom>
          <a:noFill/>
          <a:ln/>
        </p:spPr>
        <p:txBody>
          <a:bodyPr wrap="square" rtlCol="0" anchor="t"/>
          <a:lstStyle/>
          <a:p>
            <a:pPr indent="0" marL="0">
              <a:buNone/>
            </a:pPr>
            <a:r>
              <a:rPr lang="en-US" sz="1150" i="1" dirty="0">
                <a:solidFill>
                  <a:srgbClr val="3A3A4A"/>
                </a:solidFill>
                <a:latin typeface="Calibri" pitchFamily="34" charset="0"/>
                <a:ea typeface="Calibri" pitchFamily="34" charset="-122"/>
                <a:cs typeface="Calibri" pitchFamily="34" charset="-120"/>
              </a:rPr>
              <a:t>"The Aztec capital tells us everything we need to know about the whole civilization." — The Hasty Herald</a:t>
            </a:r>
            <a:endParaRPr lang="en-US" sz="1150" dirty="0"/>
          </a:p>
        </p:txBody>
      </p:sp>
      <p:sp>
        <p:nvSpPr>
          <p:cNvPr id="11" name="Shape 9"/>
          <p:cNvSpPr/>
          <p:nvPr/>
        </p:nvSpPr>
        <p:spPr>
          <a:xfrm>
            <a:off x="320040" y="2331720"/>
            <a:ext cx="548640" cy="1078992"/>
          </a:xfrm>
          <a:prstGeom prst="roundRect">
            <a:avLst>
              <a:gd name="adj" fmla="val 16667"/>
            </a:avLst>
          </a:prstGeom>
          <a:solidFill>
            <a:srgbClr val="34B76F"/>
          </a:solidFill>
          <a:ln/>
        </p:spPr>
      </p:sp>
      <p:sp>
        <p:nvSpPr>
          <p:cNvPr id="12" name="Text 10"/>
          <p:cNvSpPr/>
          <p:nvPr/>
        </p:nvSpPr>
        <p:spPr>
          <a:xfrm>
            <a:off x="320040" y="2331720"/>
            <a:ext cx="548640" cy="1078992"/>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Shape 11"/>
          <p:cNvSpPr/>
          <p:nvPr/>
        </p:nvSpPr>
        <p:spPr>
          <a:xfrm>
            <a:off x="1005840" y="2331720"/>
            <a:ext cx="7772400" cy="1078992"/>
          </a:xfrm>
          <a:prstGeom prst="roundRect">
            <a:avLst>
              <a:gd name="adj" fmla="val 8475"/>
            </a:avLst>
          </a:prstGeom>
          <a:solidFill>
            <a:srgbClr val="FFFFFF"/>
          </a:solidFill>
          <a:ln w="19050">
            <a:solidFill>
              <a:srgbClr val="34B76F"/>
            </a:solidFill>
            <a:prstDash val="solid"/>
          </a:ln>
        </p:spPr>
      </p:sp>
      <p:sp>
        <p:nvSpPr>
          <p:cNvPr id="14" name="Text 12"/>
          <p:cNvSpPr/>
          <p:nvPr/>
        </p:nvSpPr>
        <p:spPr>
          <a:xfrm>
            <a:off x="1143000" y="2395728"/>
            <a:ext cx="7498080" cy="228600"/>
          </a:xfrm>
          <a:prstGeom prst="rect">
            <a:avLst/>
          </a:prstGeom>
          <a:noFill/>
          <a:ln/>
        </p:spPr>
        <p:txBody>
          <a:bodyPr wrap="square" rtlCol="0" anchor="ctr"/>
          <a:lstStyle/>
          <a:p>
            <a:pPr indent="0" marL="0">
              <a:buNone/>
            </a:pPr>
            <a:r>
              <a:rPr lang="en-US" sz="1000" b="1" spc="100" kern="0" dirty="0">
                <a:solidFill>
                  <a:srgbClr val="34B76F"/>
                </a:solidFill>
                <a:latin typeface="Calibri" pitchFamily="34" charset="0"/>
                <a:ea typeface="Calibri" pitchFamily="34" charset="-122"/>
                <a:cs typeface="Calibri" pitchFamily="34" charset="-120"/>
              </a:rPr>
              <a:t>Describe Evidence That Corrects It</a:t>
            </a:r>
            <a:endParaRPr lang="en-US" sz="1000" dirty="0"/>
          </a:p>
        </p:txBody>
      </p:sp>
      <p:sp>
        <p:nvSpPr>
          <p:cNvPr id="15" name="Text 13"/>
          <p:cNvSpPr/>
          <p:nvPr/>
        </p:nvSpPr>
        <p:spPr>
          <a:xfrm>
            <a:off x="1143000" y="2660904"/>
            <a:ext cx="7498080" cy="685800"/>
          </a:xfrm>
          <a:prstGeom prst="rect">
            <a:avLst/>
          </a:prstGeom>
          <a:noFill/>
          <a:ln/>
        </p:spPr>
        <p:txBody>
          <a:bodyPr wrap="square" rtlCol="0" anchor="t"/>
          <a:lstStyle/>
          <a:p>
            <a:pPr indent="0" marL="0">
              <a:buNone/>
            </a:pPr>
            <a:r>
              <a:rPr lang="en-US" sz="1150" dirty="0">
                <a:solidFill>
                  <a:srgbClr val="3A3A4A"/>
                </a:solidFill>
                <a:latin typeface="Calibri" pitchFamily="34" charset="0"/>
                <a:ea typeface="Calibri" pitchFamily="34" charset="-122"/>
                <a:cs typeface="Calibri" pitchFamily="34" charset="-120"/>
              </a:rPr>
              <a:t>The source states that the Aztec civilization included mandatory education for all children, a rich tradition of poetry and painted codices, tribute from hundreds of conquered communities, and long-distance trade networks — none of which are visible from Tenochtitlan alone.</a:t>
            </a:r>
            <a:endParaRPr lang="en-US" sz="1150" dirty="0"/>
          </a:p>
        </p:txBody>
      </p:sp>
      <p:sp>
        <p:nvSpPr>
          <p:cNvPr id="16" name="Shape 14"/>
          <p:cNvSpPr/>
          <p:nvPr/>
        </p:nvSpPr>
        <p:spPr>
          <a:xfrm>
            <a:off x="320040" y="3566160"/>
            <a:ext cx="548640" cy="1078992"/>
          </a:xfrm>
          <a:prstGeom prst="roundRect">
            <a:avLst>
              <a:gd name="adj" fmla="val 16667"/>
            </a:avLst>
          </a:prstGeom>
          <a:solidFill>
            <a:srgbClr val="55C8E8"/>
          </a:solidFill>
          <a:ln/>
        </p:spPr>
      </p:sp>
      <p:sp>
        <p:nvSpPr>
          <p:cNvPr id="17" name="Text 15"/>
          <p:cNvSpPr/>
          <p:nvPr/>
        </p:nvSpPr>
        <p:spPr>
          <a:xfrm>
            <a:off x="320040" y="3566160"/>
            <a:ext cx="548640" cy="1078992"/>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8" name="Shape 16"/>
          <p:cNvSpPr/>
          <p:nvPr/>
        </p:nvSpPr>
        <p:spPr>
          <a:xfrm>
            <a:off x="1005840" y="3566160"/>
            <a:ext cx="7772400" cy="1078992"/>
          </a:xfrm>
          <a:prstGeom prst="roundRect">
            <a:avLst>
              <a:gd name="adj" fmla="val 8475"/>
            </a:avLst>
          </a:prstGeom>
          <a:solidFill>
            <a:srgbClr val="FFFFFF"/>
          </a:solidFill>
          <a:ln w="19050">
            <a:solidFill>
              <a:srgbClr val="55C8E8"/>
            </a:solidFill>
            <a:prstDash val="solid"/>
          </a:ln>
        </p:spPr>
      </p:sp>
      <p:sp>
        <p:nvSpPr>
          <p:cNvPr id="19" name="Text 17"/>
          <p:cNvSpPr/>
          <p:nvPr/>
        </p:nvSpPr>
        <p:spPr>
          <a:xfrm>
            <a:off x="1143000" y="3630168"/>
            <a:ext cx="7498080" cy="228600"/>
          </a:xfrm>
          <a:prstGeom prst="rect">
            <a:avLst/>
          </a:prstGeom>
          <a:noFill/>
          <a:ln/>
        </p:spPr>
        <p:txBody>
          <a:bodyPr wrap="square"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Rewrite the Claim — Accurate and Fair</a:t>
            </a:r>
            <a:endParaRPr lang="en-US" sz="1000" dirty="0"/>
          </a:p>
        </p:txBody>
      </p:sp>
      <p:sp>
        <p:nvSpPr>
          <p:cNvPr id="20" name="Text 18"/>
          <p:cNvSpPr/>
          <p:nvPr/>
        </p:nvSpPr>
        <p:spPr>
          <a:xfrm>
            <a:off x="1143000" y="3895344"/>
            <a:ext cx="7498080" cy="685800"/>
          </a:xfrm>
          <a:prstGeom prst="rect">
            <a:avLst/>
          </a:prstGeom>
          <a:noFill/>
          <a:ln/>
        </p:spPr>
        <p:txBody>
          <a:bodyPr wrap="square" rtlCol="0" anchor="t"/>
          <a:lstStyle/>
          <a:p>
            <a:pPr indent="0" marL="0">
              <a:buNone/>
            </a:pPr>
            <a:r>
              <a:rPr lang="en-US" sz="1150" dirty="0">
                <a:solidFill>
                  <a:srgbClr val="3A3A4A"/>
                </a:solidFill>
                <a:latin typeface="Calibri" pitchFamily="34" charset="0"/>
                <a:ea typeface="Calibri" pitchFamily="34" charset="-122"/>
                <a:cs typeface="Calibri" pitchFamily="34" charset="-120"/>
              </a:rPr>
              <a:t>The Aztec capital, Tenochtitlan, was an extraordinary engineering achievement — but it was only one part of a complex civilization that also included education, poetry, law, trade, and a tribute empire stretching across central Mexico.</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A"/>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55C8E8"/>
                </a:solidFill>
                <a:latin typeface="Cambria" pitchFamily="34" charset="0"/>
                <a:ea typeface="Cambria" pitchFamily="34" charset="-122"/>
                <a:cs typeface="Cambria" pitchFamily="34" charset="-120"/>
              </a:rPr>
              <a:t>GUIDED PRACTICE  ·  We Do  ·  Together</a:t>
            </a:r>
            <a:endParaRPr lang="en-US" sz="1300" dirty="0"/>
          </a:p>
        </p:txBody>
      </p:sp>
      <p:sp>
        <p:nvSpPr>
          <p:cNvPr id="5" name="Text 3"/>
          <p:cNvSpPr/>
          <p:nvPr/>
        </p:nvSpPr>
        <p:spPr>
          <a:xfrm>
            <a:off x="365760" y="594360"/>
            <a:ext cx="841248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Build it together — what evidence should we use?</a:t>
            </a:r>
            <a:endParaRPr lang="en-US" sz="2000" dirty="0"/>
          </a:p>
        </p:txBody>
      </p:sp>
      <p:sp>
        <p:nvSpPr>
          <p:cNvPr id="6" name="Shape 4"/>
          <p:cNvSpPr/>
          <p:nvPr/>
        </p:nvSpPr>
        <p:spPr>
          <a:xfrm>
            <a:off x="365760" y="1078992"/>
            <a:ext cx="8412480" cy="713232"/>
          </a:xfrm>
          <a:prstGeom prst="roundRect">
            <a:avLst>
              <a:gd name="adj" fmla="val 12821"/>
            </a:avLst>
          </a:prstGeom>
          <a:solidFill>
            <a:srgbClr val="FFF0F0"/>
          </a:solidFill>
          <a:ln w="25400">
            <a:solidFill>
              <a:srgbClr val="E8636B"/>
            </a:solidFill>
            <a:prstDash val="solid"/>
          </a:ln>
        </p:spPr>
      </p:sp>
      <p:sp>
        <p:nvSpPr>
          <p:cNvPr id="7" name="Text 5"/>
          <p:cNvSpPr/>
          <p:nvPr/>
        </p:nvSpPr>
        <p:spPr>
          <a:xfrm>
            <a:off x="548640" y="1143000"/>
            <a:ext cx="2743200" cy="228600"/>
          </a:xfrm>
          <a:prstGeom prst="rect">
            <a:avLst/>
          </a:prstGeom>
          <a:noFill/>
          <a:ln/>
        </p:spPr>
        <p:txBody>
          <a:bodyPr wrap="square" rtlCol="0" anchor="ctr"/>
          <a:lstStyle/>
          <a:p>
            <a:pPr indent="0" marL="0">
              <a:buNone/>
            </a:pPr>
            <a:r>
              <a:rPr lang="en-US" sz="1000" b="1" dirty="0">
                <a:solidFill>
                  <a:srgbClr val="E8636B"/>
                </a:solidFill>
                <a:latin typeface="Calibri" pitchFamily="34" charset="0"/>
                <a:ea typeface="Calibri" pitchFamily="34" charset="-122"/>
                <a:cs typeface="Calibri" pitchFamily="34" charset="-120"/>
              </a:rPr>
              <a:t>Herald's Claim to Correct:</a:t>
            </a:r>
            <a:endParaRPr lang="en-US" sz="1000" dirty="0"/>
          </a:p>
        </p:txBody>
      </p:sp>
      <p:sp>
        <p:nvSpPr>
          <p:cNvPr id="8" name="Text 6"/>
          <p:cNvSpPr/>
          <p:nvPr/>
        </p:nvSpPr>
        <p:spPr>
          <a:xfrm>
            <a:off x="548640" y="1371600"/>
            <a:ext cx="8046720" cy="365760"/>
          </a:xfrm>
          <a:prstGeom prst="rect">
            <a:avLst/>
          </a:prstGeom>
          <a:noFill/>
          <a:ln/>
        </p:spPr>
        <p:txBody>
          <a:bodyPr wrap="square" rtlCol="0" anchor="ctr"/>
          <a:lstStyle/>
          <a:p>
            <a:pPr indent="0" marL="0">
              <a:buNone/>
            </a:pPr>
            <a:r>
              <a:rPr lang="en-US" sz="1200" i="1" dirty="0">
                <a:solidFill>
                  <a:srgbClr val="C02030"/>
                </a:solidFill>
                <a:latin typeface="Cambria" pitchFamily="34" charset="0"/>
                <a:ea typeface="Cambria" pitchFamily="34" charset="-122"/>
                <a:cs typeface="Cambria" pitchFamily="34" charset="-120"/>
              </a:rPr>
              <a:t>"The Aztec capital tells us everything we need to know about the whole civilization."</a:t>
            </a:r>
            <a:endParaRPr lang="en-US" sz="1200" dirty="0"/>
          </a:p>
        </p:txBody>
      </p:sp>
      <p:sp>
        <p:nvSpPr>
          <p:cNvPr id="9" name="Shape 7"/>
          <p:cNvSpPr/>
          <p:nvPr/>
        </p:nvSpPr>
        <p:spPr>
          <a:xfrm>
            <a:off x="365760" y="1901952"/>
            <a:ext cx="4663440" cy="1664208"/>
          </a:xfrm>
          <a:prstGeom prst="roundRect">
            <a:avLst>
              <a:gd name="adj" fmla="val 6593"/>
            </a:avLst>
          </a:prstGeom>
          <a:solidFill>
            <a:srgbClr val="1A2D5A"/>
          </a:solidFill>
          <a:ln w="12700">
            <a:solidFill>
              <a:srgbClr val="2A4070"/>
            </a:solidFill>
            <a:prstDash val="solid"/>
          </a:ln>
        </p:spPr>
      </p:sp>
      <p:sp>
        <p:nvSpPr>
          <p:cNvPr id="10" name="Text 8"/>
          <p:cNvSpPr/>
          <p:nvPr/>
        </p:nvSpPr>
        <p:spPr>
          <a:xfrm>
            <a:off x="502920" y="1956816"/>
            <a:ext cx="43891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48640" y="2221992"/>
            <a:ext cx="4297680" cy="1252728"/>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piece of evidence from the source most directly proves the Herald wrong?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would you explain to a younger student why the capital can't tell the whole story?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exact words from the source would you quote in a correction?</a:t>
            </a:r>
            <a:endParaRPr lang="en-US" sz="1100" dirty="0"/>
          </a:p>
        </p:txBody>
      </p:sp>
      <p:sp>
        <p:nvSpPr>
          <p:cNvPr id="12" name="Shape 10"/>
          <p:cNvSpPr/>
          <p:nvPr/>
        </p:nvSpPr>
        <p:spPr>
          <a:xfrm>
            <a:off x="5166360" y="1901952"/>
            <a:ext cx="3474720" cy="1664208"/>
          </a:xfrm>
          <a:prstGeom prst="roundRect">
            <a:avLst>
              <a:gd name="adj" fmla="val 6593"/>
            </a:avLst>
          </a:prstGeom>
          <a:solidFill>
            <a:srgbClr val="FFF3DC"/>
          </a:solidFill>
          <a:ln w="19050">
            <a:solidFill>
              <a:srgbClr val="F5E6C8"/>
            </a:solidFill>
            <a:prstDash val="solid"/>
          </a:ln>
        </p:spPr>
      </p:sp>
      <p:sp>
        <p:nvSpPr>
          <p:cNvPr id="13" name="Text 11"/>
          <p:cNvSpPr/>
          <p:nvPr/>
        </p:nvSpPr>
        <p:spPr>
          <a:xfrm>
            <a:off x="5303520" y="1956816"/>
            <a:ext cx="32004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303520" y="2157984"/>
            <a:ext cx="3200400" cy="13441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best evidence to use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start my correction by saying..."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detail the Herald missed that I want to include is..."</a:t>
            </a:r>
            <a:endParaRPr lang="en-US" sz="1200" dirty="0"/>
          </a:p>
        </p:txBody>
      </p:sp>
      <p:sp>
        <p:nvSpPr>
          <p:cNvPr id="15" name="Shape 13"/>
          <p:cNvSpPr/>
          <p:nvPr/>
        </p:nvSpPr>
        <p:spPr>
          <a:xfrm>
            <a:off x="365760" y="3675888"/>
            <a:ext cx="8412480" cy="868680"/>
          </a:xfrm>
          <a:prstGeom prst="roundRect">
            <a:avLst>
              <a:gd name="adj" fmla="val 10526"/>
            </a:avLst>
          </a:prstGeom>
          <a:solidFill>
            <a:srgbClr val="FFFFFF"/>
          </a:solidFill>
          <a:ln w="19050">
            <a:solidFill>
              <a:srgbClr val="34B76F"/>
            </a:solidFill>
            <a:prstDash val="solid"/>
          </a:ln>
        </p:spPr>
      </p:sp>
      <p:sp>
        <p:nvSpPr>
          <p:cNvPr id="16" name="Text 14"/>
          <p:cNvSpPr/>
          <p:nvPr/>
        </p:nvSpPr>
        <p:spPr>
          <a:xfrm>
            <a:off x="548640" y="3739896"/>
            <a:ext cx="2286000" cy="228600"/>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A strong Gazette Correction:</a:t>
            </a:r>
            <a:endParaRPr lang="en-US" sz="1000" dirty="0"/>
          </a:p>
        </p:txBody>
      </p:sp>
      <p:sp>
        <p:nvSpPr>
          <p:cNvPr id="17" name="Text 15"/>
          <p:cNvSpPr/>
          <p:nvPr/>
        </p:nvSpPr>
        <p:spPr>
          <a:xfrm>
            <a:off x="548640" y="3986784"/>
            <a:ext cx="8046720" cy="502920"/>
          </a:xfrm>
          <a:prstGeom prst="rect">
            <a:avLst/>
          </a:prstGeom>
          <a:noFill/>
          <a:ln/>
        </p:spPr>
        <p:txBody>
          <a:bodyPr wrap="square" rtlCol="0" anchor="ctr"/>
          <a:lstStyle/>
          <a:p>
            <a:pPr indent="0" marL="0">
              <a:buNone/>
            </a:pPr>
            <a:r>
              <a:rPr lang="en-US" sz="1150" dirty="0">
                <a:solidFill>
                  <a:srgbClr val="3A3A4A"/>
                </a:solidFill>
                <a:latin typeface="Calibri" pitchFamily="34" charset="0"/>
                <a:ea typeface="Calibri" pitchFamily="34" charset="-122"/>
                <a:cs typeface="Calibri" pitchFamily="34" charset="-120"/>
              </a:rPr>
              <a:t>(1) Names the Herald's exact claim  ·  (2) Quotes specific evidence from the source  ·  (3) Rewrites the claim so it is accurate and fair</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9FC"/>
          </a:solidFill>
          <a:ln/>
        </p:spPr>
      </p:sp>
      <p:sp>
        <p:nvSpPr>
          <p:cNvPr id="3" name="Shape 1"/>
          <p:cNvSpPr/>
          <p:nvPr/>
        </p:nvSpPr>
        <p:spPr>
          <a:xfrm>
            <a:off x="0" y="0"/>
            <a:ext cx="9144000" cy="502920"/>
          </a:xfrm>
          <a:prstGeom prst="rect">
            <a:avLst/>
          </a:prstGeom>
          <a:solidFill>
            <a:srgbClr val="34B76F"/>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FFFFFF"/>
                </a:solidFill>
                <a:latin typeface="Cambria" pitchFamily="34" charset="0"/>
                <a:ea typeface="Cambria" pitchFamily="34" charset="-122"/>
                <a:cs typeface="Cambria" pitchFamily="34" charset="-120"/>
              </a:rPr>
              <a:t>GUIDED PRACTICE  ·  You Do  ·  Independent Work</a:t>
            </a:r>
            <a:endParaRPr lang="en-US" sz="1300" dirty="0"/>
          </a:p>
        </p:txBody>
      </p:sp>
      <p:sp>
        <p:nvSpPr>
          <p:cNvPr id="5" name="Text 3"/>
          <p:cNvSpPr/>
          <p:nvPr/>
        </p:nvSpPr>
        <p:spPr>
          <a:xfrm>
            <a:off x="365760" y="594360"/>
            <a:ext cx="841248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Your turn — write your Gazette Correction</a:t>
            </a:r>
            <a:endParaRPr lang="en-US" sz="2000" dirty="0"/>
          </a:p>
        </p:txBody>
      </p:sp>
      <p:sp>
        <p:nvSpPr>
          <p:cNvPr id="6" name="Shape 4"/>
          <p:cNvSpPr/>
          <p:nvPr/>
        </p:nvSpPr>
        <p:spPr>
          <a:xfrm>
            <a:off x="365760" y="1078992"/>
            <a:ext cx="8412480" cy="1115568"/>
          </a:xfrm>
          <a:prstGeom prst="roundRect">
            <a:avLst>
              <a:gd name="adj" fmla="val 8197"/>
            </a:avLst>
          </a:prstGeom>
          <a:solidFill>
            <a:srgbClr val="FFFFFF"/>
          </a:solidFill>
          <a:ln w="19050">
            <a:solidFill>
              <a:srgbClr val="E8636B"/>
            </a:solidFill>
            <a:prstDash val="solid"/>
          </a:ln>
        </p:spPr>
      </p:sp>
      <p:sp>
        <p:nvSpPr>
          <p:cNvPr id="7" name="Text 5"/>
          <p:cNvSpPr/>
          <p:nvPr/>
        </p:nvSpPr>
        <p:spPr>
          <a:xfrm>
            <a:off x="548640" y="1143000"/>
            <a:ext cx="8046720" cy="228600"/>
          </a:xfrm>
          <a:prstGeom prst="rect">
            <a:avLst/>
          </a:prstGeom>
          <a:noFill/>
          <a:ln/>
        </p:spPr>
        <p:txBody>
          <a:bodyPr wrap="square"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Step 1 — Quote or describe the Herald's claim</a:t>
            </a:r>
            <a:endParaRPr lang="en-US" sz="1000" dirty="0"/>
          </a:p>
        </p:txBody>
      </p:sp>
      <p:sp>
        <p:nvSpPr>
          <p:cNvPr id="8" name="Shape 6"/>
          <p:cNvSpPr/>
          <p:nvPr/>
        </p:nvSpPr>
        <p:spPr>
          <a:xfrm>
            <a:off x="548640" y="1426464"/>
            <a:ext cx="8046720" cy="685800"/>
          </a:xfrm>
          <a:prstGeom prst="roundRect">
            <a:avLst>
              <a:gd name="adj" fmla="val 10667"/>
            </a:avLst>
          </a:prstGeom>
          <a:solidFill>
            <a:srgbClr val="F8F9FC"/>
          </a:solidFill>
          <a:ln w="12700">
            <a:solidFill>
              <a:srgbClr val="D0D8E8"/>
            </a:solidFill>
            <a:prstDash val="solid"/>
          </a:ln>
        </p:spPr>
      </p:sp>
      <p:sp>
        <p:nvSpPr>
          <p:cNvPr id="9" name="Text 7"/>
          <p:cNvSpPr/>
          <p:nvPr/>
        </p:nvSpPr>
        <p:spPr>
          <a:xfrm>
            <a:off x="685800" y="1463040"/>
            <a:ext cx="7772400" cy="594360"/>
          </a:xfrm>
          <a:prstGeom prst="rect">
            <a:avLst/>
          </a:prstGeom>
          <a:noFill/>
          <a:ln/>
        </p:spPr>
        <p:txBody>
          <a:bodyPr wrap="square" rtlCol="0" anchor="t"/>
          <a:lstStyle/>
          <a:p>
            <a:pPr indent="0" marL="0">
              <a:buNone/>
            </a:pPr>
            <a:r>
              <a:rPr lang="en-US" sz="1100" i="1" dirty="0">
                <a:solidFill>
                  <a:srgbClr val="B0B8CC"/>
                </a:solidFill>
                <a:latin typeface="Calibri" pitchFamily="34" charset="0"/>
                <a:ea typeface="Calibri" pitchFamily="34" charset="-122"/>
                <a:cs typeface="Calibri" pitchFamily="34" charset="-120"/>
              </a:rPr>
              <a:t>The Hasty Herald claimed that...</a:t>
            </a:r>
            <a:endParaRPr lang="en-US" sz="1100" dirty="0"/>
          </a:p>
        </p:txBody>
      </p:sp>
      <p:sp>
        <p:nvSpPr>
          <p:cNvPr id="10" name="Shape 8"/>
          <p:cNvSpPr/>
          <p:nvPr/>
        </p:nvSpPr>
        <p:spPr>
          <a:xfrm>
            <a:off x="365760" y="2313432"/>
            <a:ext cx="8412480" cy="1115568"/>
          </a:xfrm>
          <a:prstGeom prst="roundRect">
            <a:avLst>
              <a:gd name="adj" fmla="val 8197"/>
            </a:avLst>
          </a:prstGeom>
          <a:solidFill>
            <a:srgbClr val="FFFFFF"/>
          </a:solidFill>
          <a:ln w="19050">
            <a:solidFill>
              <a:srgbClr val="55C8E8"/>
            </a:solidFill>
            <a:prstDash val="solid"/>
          </a:ln>
        </p:spPr>
      </p:sp>
      <p:sp>
        <p:nvSpPr>
          <p:cNvPr id="11" name="Text 9"/>
          <p:cNvSpPr/>
          <p:nvPr/>
        </p:nvSpPr>
        <p:spPr>
          <a:xfrm>
            <a:off x="548640" y="2377440"/>
            <a:ext cx="8046720" cy="228600"/>
          </a:xfrm>
          <a:prstGeom prst="rect">
            <a:avLst/>
          </a:prstGeom>
          <a:noFill/>
          <a:ln/>
        </p:spPr>
        <p:txBody>
          <a:bodyPr wrap="square"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Step 2 — Evidence from the source that corrects it</a:t>
            </a:r>
            <a:endParaRPr lang="en-US" sz="1000" dirty="0"/>
          </a:p>
        </p:txBody>
      </p:sp>
      <p:sp>
        <p:nvSpPr>
          <p:cNvPr id="12" name="Shape 10"/>
          <p:cNvSpPr/>
          <p:nvPr/>
        </p:nvSpPr>
        <p:spPr>
          <a:xfrm>
            <a:off x="548640" y="2660904"/>
            <a:ext cx="8046720" cy="685800"/>
          </a:xfrm>
          <a:prstGeom prst="roundRect">
            <a:avLst>
              <a:gd name="adj" fmla="val 10667"/>
            </a:avLst>
          </a:prstGeom>
          <a:solidFill>
            <a:srgbClr val="F8F9FC"/>
          </a:solidFill>
          <a:ln w="12700">
            <a:solidFill>
              <a:srgbClr val="D0D8E8"/>
            </a:solidFill>
            <a:prstDash val="solid"/>
          </a:ln>
        </p:spPr>
      </p:sp>
      <p:sp>
        <p:nvSpPr>
          <p:cNvPr id="13" name="Text 11"/>
          <p:cNvSpPr/>
          <p:nvPr/>
        </p:nvSpPr>
        <p:spPr>
          <a:xfrm>
            <a:off x="685800" y="2697480"/>
            <a:ext cx="7772400" cy="594360"/>
          </a:xfrm>
          <a:prstGeom prst="rect">
            <a:avLst/>
          </a:prstGeom>
          <a:noFill/>
          <a:ln/>
        </p:spPr>
        <p:txBody>
          <a:bodyPr wrap="square" rtlCol="0" anchor="t"/>
          <a:lstStyle/>
          <a:p>
            <a:pPr indent="0" marL="0">
              <a:buNone/>
            </a:pPr>
            <a:r>
              <a:rPr lang="en-US" sz="1100" i="1" dirty="0">
                <a:solidFill>
                  <a:srgbClr val="B0B8CC"/>
                </a:solidFill>
                <a:latin typeface="Calibri" pitchFamily="34" charset="0"/>
                <a:ea typeface="Calibri" pitchFamily="34" charset="-122"/>
                <a:cs typeface="Calibri" pitchFamily="34" charset="-120"/>
              </a:rPr>
              <a:t>The source shows that the Aztec civilization also included...</a:t>
            </a:r>
            <a:endParaRPr lang="en-US" sz="1100" dirty="0"/>
          </a:p>
        </p:txBody>
      </p:sp>
      <p:sp>
        <p:nvSpPr>
          <p:cNvPr id="14" name="Shape 12"/>
          <p:cNvSpPr/>
          <p:nvPr/>
        </p:nvSpPr>
        <p:spPr>
          <a:xfrm>
            <a:off x="365760" y="3547872"/>
            <a:ext cx="8412480" cy="1115568"/>
          </a:xfrm>
          <a:prstGeom prst="roundRect">
            <a:avLst>
              <a:gd name="adj" fmla="val 8197"/>
            </a:avLst>
          </a:prstGeom>
          <a:solidFill>
            <a:srgbClr val="FFFFFF"/>
          </a:solidFill>
          <a:ln w="19050">
            <a:solidFill>
              <a:srgbClr val="34B76F"/>
            </a:solidFill>
            <a:prstDash val="solid"/>
          </a:ln>
        </p:spPr>
      </p:sp>
      <p:sp>
        <p:nvSpPr>
          <p:cNvPr id="15" name="Text 13"/>
          <p:cNvSpPr/>
          <p:nvPr/>
        </p:nvSpPr>
        <p:spPr>
          <a:xfrm>
            <a:off x="548640" y="3611880"/>
            <a:ext cx="8046720" cy="228600"/>
          </a:xfrm>
          <a:prstGeom prst="rect">
            <a:avLst/>
          </a:prstGeom>
          <a:noFill/>
          <a:ln/>
        </p:spPr>
        <p:txBody>
          <a:bodyPr wrap="square" rtlCol="0" anchor="ctr"/>
          <a:lstStyle/>
          <a:p>
            <a:pPr indent="0" marL="0">
              <a:buNone/>
            </a:pPr>
            <a:r>
              <a:rPr lang="en-US" sz="1000" b="1" spc="100" kern="0" dirty="0">
                <a:solidFill>
                  <a:srgbClr val="34B76F"/>
                </a:solidFill>
                <a:latin typeface="Calibri" pitchFamily="34" charset="0"/>
                <a:ea typeface="Calibri" pitchFamily="34" charset="-122"/>
                <a:cs typeface="Calibri" pitchFamily="34" charset="-120"/>
              </a:rPr>
              <a:t>Step 3 — Your corrected, accurate claim</a:t>
            </a:r>
            <a:endParaRPr lang="en-US" sz="1000" dirty="0"/>
          </a:p>
        </p:txBody>
      </p:sp>
      <p:sp>
        <p:nvSpPr>
          <p:cNvPr id="16" name="Shape 14"/>
          <p:cNvSpPr/>
          <p:nvPr/>
        </p:nvSpPr>
        <p:spPr>
          <a:xfrm>
            <a:off x="548640" y="3895344"/>
            <a:ext cx="8046720" cy="685800"/>
          </a:xfrm>
          <a:prstGeom prst="roundRect">
            <a:avLst>
              <a:gd name="adj" fmla="val 10667"/>
            </a:avLst>
          </a:prstGeom>
          <a:solidFill>
            <a:srgbClr val="F8F9FC"/>
          </a:solidFill>
          <a:ln w="12700">
            <a:solidFill>
              <a:srgbClr val="D0D8E8"/>
            </a:solidFill>
            <a:prstDash val="solid"/>
          </a:ln>
        </p:spPr>
      </p:sp>
      <p:sp>
        <p:nvSpPr>
          <p:cNvPr id="17" name="Text 15"/>
          <p:cNvSpPr/>
          <p:nvPr/>
        </p:nvSpPr>
        <p:spPr>
          <a:xfrm>
            <a:off x="685800" y="3931920"/>
            <a:ext cx="7772400" cy="594360"/>
          </a:xfrm>
          <a:prstGeom prst="rect">
            <a:avLst/>
          </a:prstGeom>
          <a:noFill/>
          <a:ln/>
        </p:spPr>
        <p:txBody>
          <a:bodyPr wrap="square" rtlCol="0" anchor="t"/>
          <a:lstStyle/>
          <a:p>
            <a:pPr indent="0" marL="0">
              <a:buNone/>
            </a:pPr>
            <a:r>
              <a:rPr lang="en-US" sz="1100" i="1" dirty="0">
                <a:solidFill>
                  <a:srgbClr val="B0B8CC"/>
                </a:solidFill>
                <a:latin typeface="Calibri" pitchFamily="34" charset="0"/>
                <a:ea typeface="Calibri" pitchFamily="34" charset="-122"/>
                <a:cs typeface="Calibri" pitchFamily="34" charset="-120"/>
              </a:rPr>
              <a:t>A more accurate statement would be...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9FC"/>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D4943A"/>
                </a:solidFill>
                <a:latin typeface="Cambria" pitchFamily="34" charset="0"/>
                <a:ea typeface="Cambria" pitchFamily="34" charset="-122"/>
                <a:cs typeface="Cambria" pitchFamily="34" charset="-120"/>
              </a:rPr>
              <a:t>GUIDED PRACTICE  ·  Error Analysis  ·  What Went Wrong?</a:t>
            </a:r>
            <a:endParaRPr lang="en-US" sz="1300" dirty="0"/>
          </a:p>
        </p:txBody>
      </p:sp>
      <p:sp>
        <p:nvSpPr>
          <p:cNvPr id="5" name="Text 3"/>
          <p:cNvSpPr/>
          <p:nvPr/>
        </p:nvSpPr>
        <p:spPr>
          <a:xfrm>
            <a:off x="365760" y="594360"/>
            <a:ext cx="841248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Spot the error — can you fix it?</a:t>
            </a:r>
            <a:endParaRPr lang="en-US" sz="2200" dirty="0"/>
          </a:p>
        </p:txBody>
      </p:sp>
      <p:sp>
        <p:nvSpPr>
          <p:cNvPr id="6" name="Shape 4"/>
          <p:cNvSpPr/>
          <p:nvPr/>
        </p:nvSpPr>
        <p:spPr>
          <a:xfrm>
            <a:off x="365760" y="1078992"/>
            <a:ext cx="8412480" cy="1261872"/>
          </a:xfrm>
          <a:prstGeom prst="roundRect">
            <a:avLst>
              <a:gd name="adj" fmla="val 7246"/>
            </a:avLst>
          </a:prstGeom>
          <a:solidFill>
            <a:srgbClr val="FFF0F0"/>
          </a:solidFill>
          <a:ln w="25400">
            <a:solidFill>
              <a:srgbClr val="E8636B"/>
            </a:solidFill>
            <a:prstDash val="solid"/>
          </a:ln>
        </p:spPr>
      </p:sp>
      <p:sp>
        <p:nvSpPr>
          <p:cNvPr id="7" name="Text 5"/>
          <p:cNvSpPr/>
          <p:nvPr/>
        </p:nvSpPr>
        <p:spPr>
          <a:xfrm>
            <a:off x="548640" y="1143000"/>
            <a:ext cx="8046720" cy="228600"/>
          </a:xfrm>
          <a:prstGeom prst="rect">
            <a:avLst/>
          </a:prstGeom>
          <a:noFill/>
          <a:ln/>
        </p:spPr>
        <p:txBody>
          <a:bodyPr wrap="square"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A Student's Weak Correction — What's missing?</a:t>
            </a:r>
            <a:endParaRPr lang="en-US" sz="1000" dirty="0"/>
          </a:p>
        </p:txBody>
      </p:sp>
      <p:sp>
        <p:nvSpPr>
          <p:cNvPr id="8" name="Text 6"/>
          <p:cNvSpPr/>
          <p:nvPr/>
        </p:nvSpPr>
        <p:spPr>
          <a:xfrm>
            <a:off x="548640" y="1389888"/>
            <a:ext cx="8046720" cy="411480"/>
          </a:xfrm>
          <a:prstGeom prst="rect">
            <a:avLst/>
          </a:prstGeom>
          <a:noFill/>
          <a:ln/>
        </p:spPr>
        <p:txBody>
          <a:bodyPr wrap="square" rtlCol="0" anchor="ctr"/>
          <a:lstStyle/>
          <a:p>
            <a:pPr indent="0" marL="0">
              <a:buNone/>
            </a:pPr>
            <a:r>
              <a:rPr lang="en-US" sz="1300" i="1" dirty="0">
                <a:solidFill>
                  <a:srgbClr val="C02030"/>
                </a:solidFill>
                <a:latin typeface="Cambria" pitchFamily="34" charset="0"/>
                <a:ea typeface="Cambria" pitchFamily="34" charset="-122"/>
                <a:cs typeface="Cambria" pitchFamily="34" charset="-120"/>
              </a:rPr>
              <a:t>"The Herald is wrong. The Aztecs had more than just the capital. There were other things too."</a:t>
            </a:r>
            <a:endParaRPr lang="en-US" sz="1300" dirty="0"/>
          </a:p>
        </p:txBody>
      </p:sp>
      <p:sp>
        <p:nvSpPr>
          <p:cNvPr id="9" name="Text 7"/>
          <p:cNvSpPr/>
          <p:nvPr/>
        </p:nvSpPr>
        <p:spPr>
          <a:xfrm>
            <a:off x="548640" y="1828800"/>
            <a:ext cx="8046720" cy="228600"/>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 Anonymous Student Editor</a:t>
            </a:r>
            <a:endParaRPr lang="en-US" sz="1000" dirty="0"/>
          </a:p>
        </p:txBody>
      </p:sp>
      <p:sp>
        <p:nvSpPr>
          <p:cNvPr id="10" name="Shape 8"/>
          <p:cNvSpPr/>
          <p:nvPr/>
        </p:nvSpPr>
        <p:spPr>
          <a:xfrm>
            <a:off x="365760" y="2450592"/>
            <a:ext cx="4663440" cy="1664208"/>
          </a:xfrm>
          <a:prstGeom prst="roundRect">
            <a:avLst>
              <a:gd name="adj" fmla="val 6593"/>
            </a:avLst>
          </a:prstGeom>
          <a:solidFill>
            <a:srgbClr val="1A2D5A"/>
          </a:solidFill>
          <a:ln w="12700">
            <a:solidFill>
              <a:srgbClr val="2A4070"/>
            </a:solidFill>
            <a:prstDash val="solid"/>
          </a:ln>
        </p:spPr>
      </p:sp>
      <p:sp>
        <p:nvSpPr>
          <p:cNvPr id="11" name="Text 9"/>
          <p:cNvSpPr/>
          <p:nvPr/>
        </p:nvSpPr>
        <p:spPr>
          <a:xfrm>
            <a:off x="502920" y="2505456"/>
            <a:ext cx="43891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548640" y="2770632"/>
            <a:ext cx="4297680" cy="1252728"/>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this correction quote any specific evidence from the source? What's missing?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The phrase 'other things too' — what's wrong with it as historical writing?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would you rewrite this correction to meet Gazette standards?</a:t>
            </a:r>
            <a:endParaRPr lang="en-US" sz="1100" dirty="0"/>
          </a:p>
        </p:txBody>
      </p:sp>
      <p:sp>
        <p:nvSpPr>
          <p:cNvPr id="13" name="Shape 11"/>
          <p:cNvSpPr/>
          <p:nvPr/>
        </p:nvSpPr>
        <p:spPr>
          <a:xfrm>
            <a:off x="5166360" y="2450592"/>
            <a:ext cx="3474720" cy="1664208"/>
          </a:xfrm>
          <a:prstGeom prst="roundRect">
            <a:avLst>
              <a:gd name="adj" fmla="val 6593"/>
            </a:avLst>
          </a:prstGeom>
          <a:solidFill>
            <a:srgbClr val="FFF3DC"/>
          </a:solidFill>
          <a:ln w="19050">
            <a:solidFill>
              <a:srgbClr val="F5E6C8"/>
            </a:solidFill>
            <a:prstDash val="solid"/>
          </a:ln>
        </p:spPr>
      </p:sp>
      <p:sp>
        <p:nvSpPr>
          <p:cNvPr id="14" name="Text 12"/>
          <p:cNvSpPr/>
          <p:nvPr/>
        </p:nvSpPr>
        <p:spPr>
          <a:xfrm>
            <a:off x="5303520" y="2505456"/>
            <a:ext cx="32004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5303520" y="2706624"/>
            <a:ext cx="3200400" cy="13441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correction is weak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 fix it, I would add..."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Gazette-quality correction would say..."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A"/>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55C8E8"/>
                </a:solidFill>
                <a:latin typeface="Cambria" pitchFamily="34" charset="0"/>
                <a:ea typeface="Cambria" pitchFamily="34" charset="-122"/>
                <a:cs typeface="Cambria" pitchFamily="34" charset="-120"/>
              </a:rPr>
              <a:t>GUIDED PRACTICE  ·  The Tricky One  ·  Think Carefully</a:t>
            </a:r>
            <a:endParaRPr lang="en-US" sz="1300" dirty="0"/>
          </a:p>
        </p:txBody>
      </p:sp>
      <p:sp>
        <p:nvSpPr>
          <p:cNvPr id="5" name="Text 3"/>
          <p:cNvSpPr/>
          <p:nvPr/>
        </p:nvSpPr>
        <p:spPr>
          <a:xfrm>
            <a:off x="365760" y="594360"/>
            <a:ext cx="841248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What if the Herald said something partly right?</a:t>
            </a:r>
            <a:endParaRPr lang="en-US" sz="2000" dirty="0"/>
          </a:p>
        </p:txBody>
      </p:sp>
      <p:sp>
        <p:nvSpPr>
          <p:cNvPr id="6" name="Shape 4"/>
          <p:cNvSpPr/>
          <p:nvPr/>
        </p:nvSpPr>
        <p:spPr>
          <a:xfrm>
            <a:off x="365760" y="1078992"/>
            <a:ext cx="8412480" cy="841248"/>
          </a:xfrm>
          <a:prstGeom prst="roundRect">
            <a:avLst>
              <a:gd name="adj" fmla="val 10870"/>
            </a:avLst>
          </a:prstGeom>
          <a:solidFill>
            <a:srgbClr val="FFF3DC"/>
          </a:solidFill>
          <a:ln w="25400">
            <a:solidFill>
              <a:srgbClr val="D4943A"/>
            </a:solidFill>
            <a:prstDash val="solid"/>
          </a:ln>
        </p:spPr>
      </p:sp>
      <p:sp>
        <p:nvSpPr>
          <p:cNvPr id="7" name="Text 5"/>
          <p:cNvSpPr/>
          <p:nvPr/>
        </p:nvSpPr>
        <p:spPr>
          <a:xfrm>
            <a:off x="548640" y="1143000"/>
            <a:ext cx="2286000" cy="228600"/>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The Tricky Claim:</a:t>
            </a:r>
            <a:endParaRPr lang="en-US" sz="1000" dirty="0"/>
          </a:p>
        </p:txBody>
      </p:sp>
      <p:sp>
        <p:nvSpPr>
          <p:cNvPr id="8" name="Text 6"/>
          <p:cNvSpPr/>
          <p:nvPr/>
        </p:nvSpPr>
        <p:spPr>
          <a:xfrm>
            <a:off x="548640" y="1371600"/>
            <a:ext cx="8046720" cy="502920"/>
          </a:xfrm>
          <a:prstGeom prst="rect">
            <a:avLst/>
          </a:prstGeom>
          <a:noFill/>
          <a:ln/>
        </p:spPr>
        <p:txBody>
          <a:bodyPr wrap="square" rtlCol="0" anchor="ctr"/>
          <a:lstStyle/>
          <a:p>
            <a:pPr indent="0" marL="0">
              <a:buNone/>
            </a:pPr>
            <a:r>
              <a:rPr lang="en-US" sz="1200" i="1" dirty="0">
                <a:solidFill>
                  <a:srgbClr val="5A4A3A"/>
                </a:solidFill>
                <a:latin typeface="Cambria" pitchFamily="34" charset="0"/>
                <a:ea typeface="Cambria" pitchFamily="34" charset="-122"/>
                <a:cs typeface="Cambria" pitchFamily="34" charset="-120"/>
              </a:rPr>
              <a:t>"Tenochtitlan was the most impressive city in the ancient Americas — so it tells you most of what you need to know about the Aztecs."</a:t>
            </a:r>
            <a:endParaRPr lang="en-US" sz="1200" dirty="0"/>
          </a:p>
        </p:txBody>
      </p:sp>
      <p:sp>
        <p:nvSpPr>
          <p:cNvPr id="9" name="Shape 7"/>
          <p:cNvSpPr/>
          <p:nvPr/>
        </p:nvSpPr>
        <p:spPr>
          <a:xfrm>
            <a:off x="365760" y="2029968"/>
            <a:ext cx="4160520" cy="2514600"/>
          </a:xfrm>
          <a:prstGeom prst="roundRect">
            <a:avLst>
              <a:gd name="adj" fmla="val 4364"/>
            </a:avLst>
          </a:prstGeom>
          <a:solidFill>
            <a:srgbClr val="FFFFFF"/>
          </a:solidFill>
          <a:ln w="19050">
            <a:solidFill>
              <a:srgbClr val="34B76F"/>
            </a:solidFill>
            <a:prstDash val="solid"/>
          </a:ln>
        </p:spPr>
      </p:sp>
      <p:sp>
        <p:nvSpPr>
          <p:cNvPr id="10" name="Text 8"/>
          <p:cNvSpPr/>
          <p:nvPr/>
        </p:nvSpPr>
        <p:spPr>
          <a:xfrm>
            <a:off x="502920" y="2103120"/>
            <a:ext cx="3886200" cy="228600"/>
          </a:xfrm>
          <a:prstGeom prst="rect">
            <a:avLst/>
          </a:prstGeom>
          <a:noFill/>
          <a:ln/>
        </p:spPr>
        <p:txBody>
          <a:bodyPr wrap="square"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What's TRUE in this claim?</a:t>
            </a:r>
            <a:endParaRPr lang="en-US" sz="1100" dirty="0"/>
          </a:p>
        </p:txBody>
      </p:sp>
      <p:sp>
        <p:nvSpPr>
          <p:cNvPr id="11" name="Text 9"/>
          <p:cNvSpPr/>
          <p:nvPr/>
        </p:nvSpPr>
        <p:spPr>
          <a:xfrm>
            <a:off x="502920" y="2377440"/>
            <a:ext cx="3886200" cy="1371600"/>
          </a:xfrm>
          <a:prstGeom prst="rect">
            <a:avLst/>
          </a:prstGeom>
          <a:noFill/>
          <a:ln/>
        </p:spPr>
        <p:txBody>
          <a:bodyPr wrap="square" rtlCol="0" anchor="t"/>
          <a:lstStyle/>
          <a:p>
            <a:pPr indent="0" marL="0">
              <a:buNone/>
            </a:pPr>
            <a:r>
              <a:rPr lang="en-US" sz="1150" dirty="0">
                <a:solidFill>
                  <a:srgbClr val="3A3A4A"/>
                </a:solidFill>
                <a:latin typeface="Calibri" pitchFamily="34" charset="0"/>
                <a:ea typeface="Calibri" pitchFamily="34" charset="-122"/>
                <a:cs typeface="Calibri" pitchFamily="34" charset="-120"/>
              </a:rPr>
              <a:t>Tenochtitlan was extraordinary. With 200,000+ residents, causeways, chinampas, and a great marketplace — it WAS the most impressive city. This is genuinely true and worth acknowledging.</a:t>
            </a:r>
            <a:endParaRPr lang="en-US" sz="1150" dirty="0"/>
          </a:p>
        </p:txBody>
      </p:sp>
      <p:sp>
        <p:nvSpPr>
          <p:cNvPr id="12" name="Shape 10"/>
          <p:cNvSpPr/>
          <p:nvPr/>
        </p:nvSpPr>
        <p:spPr>
          <a:xfrm>
            <a:off x="4663440" y="2029968"/>
            <a:ext cx="4160520" cy="2514600"/>
          </a:xfrm>
          <a:prstGeom prst="roundRect">
            <a:avLst>
              <a:gd name="adj" fmla="val 4364"/>
            </a:avLst>
          </a:prstGeom>
          <a:solidFill>
            <a:srgbClr val="FFFFFF"/>
          </a:solidFill>
          <a:ln w="19050">
            <a:solidFill>
              <a:srgbClr val="E8636B"/>
            </a:solidFill>
            <a:prstDash val="solid"/>
          </a:ln>
        </p:spPr>
      </p:sp>
      <p:sp>
        <p:nvSpPr>
          <p:cNvPr id="13" name="Text 11"/>
          <p:cNvSpPr/>
          <p:nvPr/>
        </p:nvSpPr>
        <p:spPr>
          <a:xfrm>
            <a:off x="4800600" y="2103120"/>
            <a:ext cx="3886200" cy="228600"/>
          </a:xfrm>
          <a:prstGeom prst="rect">
            <a:avLst/>
          </a:prstGeom>
          <a:noFill/>
          <a:ln/>
        </p:spPr>
        <p:txBody>
          <a:bodyPr wrap="square" rtlCol="0" anchor="ctr"/>
          <a:lstStyle/>
          <a:p>
            <a:pPr indent="0" marL="0">
              <a:buNone/>
            </a:pPr>
            <a:r>
              <a:rPr lang="en-US" sz="1100" b="1" dirty="0">
                <a:solidFill>
                  <a:srgbClr val="E8636B"/>
                </a:solidFill>
                <a:latin typeface="Calibri" pitchFamily="34" charset="0"/>
                <a:ea typeface="Calibri" pitchFamily="34" charset="-122"/>
                <a:cs typeface="Calibri" pitchFamily="34" charset="-120"/>
              </a:rPr>
              <a:t>What's STILL wrong?</a:t>
            </a:r>
            <a:endParaRPr lang="en-US" sz="1100" dirty="0"/>
          </a:p>
        </p:txBody>
      </p:sp>
      <p:sp>
        <p:nvSpPr>
          <p:cNvPr id="14" name="Text 12"/>
          <p:cNvSpPr/>
          <p:nvPr/>
        </p:nvSpPr>
        <p:spPr>
          <a:xfrm>
            <a:off x="4800600" y="2377440"/>
            <a:ext cx="3886200" cy="1371600"/>
          </a:xfrm>
          <a:prstGeom prst="rect">
            <a:avLst/>
          </a:prstGeom>
          <a:noFill/>
          <a:ln/>
        </p:spPr>
        <p:txBody>
          <a:bodyPr wrap="square" rtlCol="0" anchor="t"/>
          <a:lstStyle/>
          <a:p>
            <a:pPr indent="0" marL="0">
              <a:buNone/>
            </a:pPr>
            <a:r>
              <a:rPr lang="en-US" sz="1150" dirty="0">
                <a:solidFill>
                  <a:srgbClr val="3A3A4A"/>
                </a:solidFill>
                <a:latin typeface="Calibri" pitchFamily="34" charset="0"/>
                <a:ea typeface="Calibri" pitchFamily="34" charset="-122"/>
                <a:cs typeface="Calibri" pitchFamily="34" charset="-120"/>
              </a:rPr>
              <a:t>"Most impressive" does not mean "most complete." Education, poetry, trade, law, and tribute stretched far beyond the city. A careful editor acknowledges the impressive fact AND adds what it cannot show.</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9FC"/>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55C8E8"/>
                </a:solidFill>
                <a:latin typeface="Cambria" pitchFamily="34" charset="0"/>
                <a:ea typeface="Cambria" pitchFamily="34" charset="-122"/>
                <a:cs typeface="Cambria" pitchFamily="34" charset="-120"/>
              </a:rPr>
              <a:t>FACT-CHECK ROOM  ·  Before the Gazette Goes to Print</a:t>
            </a:r>
            <a:endParaRPr lang="en-US" sz="1300" dirty="0"/>
          </a:p>
        </p:txBody>
      </p:sp>
      <p:sp>
        <p:nvSpPr>
          <p:cNvPr id="5" name="Text 3"/>
          <p:cNvSpPr/>
          <p:nvPr/>
        </p:nvSpPr>
        <p:spPr>
          <a:xfrm>
            <a:off x="365760" y="594360"/>
            <a:ext cx="8412480" cy="384048"/>
          </a:xfrm>
          <a:prstGeom prst="rect">
            <a:avLst/>
          </a:prstGeom>
          <a:noFill/>
          <a:ln/>
        </p:spPr>
        <p:txBody>
          <a:bodyPr wrap="square" rtlCol="0" anchor="ctr"/>
          <a:lstStyle/>
          <a:p>
            <a:pPr indent="0" marL="0">
              <a:buNone/>
            </a:pPr>
            <a:r>
              <a:rPr lang="en-US" sz="1400" i="1" dirty="0">
                <a:solidFill>
                  <a:srgbClr val="3A3A4A"/>
                </a:solidFill>
                <a:latin typeface="Calibri" pitchFamily="34" charset="0"/>
                <a:ea typeface="Calibri" pitchFamily="34" charset="-122"/>
                <a:cs typeface="Calibri" pitchFamily="34" charset="-120"/>
              </a:rPr>
              <a:t>Check each claim carefully. An honest paper publishes only what holds up.</a:t>
            </a:r>
            <a:endParaRPr lang="en-US" sz="1400" dirty="0"/>
          </a:p>
        </p:txBody>
      </p:sp>
      <p:sp>
        <p:nvSpPr>
          <p:cNvPr id="6" name="Shape 4"/>
          <p:cNvSpPr/>
          <p:nvPr/>
        </p:nvSpPr>
        <p:spPr>
          <a:xfrm>
            <a:off x="365760" y="1078992"/>
            <a:ext cx="8412480" cy="1170432"/>
          </a:xfrm>
          <a:prstGeom prst="roundRect">
            <a:avLst>
              <a:gd name="adj" fmla="val 7813"/>
            </a:avLst>
          </a:prstGeom>
          <a:solidFill>
            <a:srgbClr val="FFFFFF"/>
          </a:solidFill>
          <a:ln w="12700">
            <a:solidFill>
              <a:srgbClr val="0E1C42"/>
            </a:solidFill>
            <a:prstDash val="solid"/>
          </a:ln>
        </p:spPr>
      </p:sp>
      <p:sp>
        <p:nvSpPr>
          <p:cNvPr id="7" name="Text 5"/>
          <p:cNvSpPr/>
          <p:nvPr/>
        </p:nvSpPr>
        <p:spPr>
          <a:xfrm>
            <a:off x="548640" y="1143000"/>
            <a:ext cx="8046720" cy="228600"/>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Q1: What were chinampas?</a:t>
            </a:r>
            <a:endParaRPr lang="en-US" sz="1100" dirty="0"/>
          </a:p>
        </p:txBody>
      </p:sp>
      <p:sp>
        <p:nvSpPr>
          <p:cNvPr id="8" name="Shape 6"/>
          <p:cNvSpPr/>
          <p:nvPr/>
        </p:nvSpPr>
        <p:spPr>
          <a:xfrm>
            <a:off x="548640" y="1426464"/>
            <a:ext cx="8046720" cy="320040"/>
          </a:xfrm>
          <a:prstGeom prst="roundRect">
            <a:avLst>
              <a:gd name="adj" fmla="val 22857"/>
            </a:avLst>
          </a:prstGeom>
          <a:solidFill>
            <a:srgbClr val="34B76F">
              <a:alpha val="80000"/>
            </a:srgbClr>
          </a:solidFill>
          <a:ln w="12700">
            <a:solidFill>
              <a:srgbClr val="34B76F"/>
            </a:solidFill>
            <a:prstDash val="solid"/>
          </a:ln>
        </p:spPr>
      </p:sp>
      <p:sp>
        <p:nvSpPr>
          <p:cNvPr id="9" name="Text 7"/>
          <p:cNvSpPr/>
          <p:nvPr/>
        </p:nvSpPr>
        <p:spPr>
          <a:xfrm>
            <a:off x="685800" y="1426464"/>
            <a:ext cx="7772400" cy="320040"/>
          </a:xfrm>
          <a:prstGeom prst="rect">
            <a:avLst/>
          </a:prstGeom>
          <a:noFill/>
          <a:ln/>
        </p:spPr>
        <p:txBody>
          <a:bodyPr wrap="square" rtlCol="0" anchor="ctr"/>
          <a:lstStyle/>
          <a:p>
            <a:pPr indent="0" marL="0">
              <a:buNone/>
            </a:pPr>
            <a:r>
              <a:rPr lang="en-US" sz="1050" dirty="0">
                <a:solidFill>
                  <a:srgbClr val="1A5030"/>
                </a:solidFill>
                <a:latin typeface="Calibri" pitchFamily="34" charset="0"/>
                <a:ea typeface="Calibri" pitchFamily="34" charset="-122"/>
                <a:cs typeface="Calibri" pitchFamily="34" charset="-120"/>
              </a:rPr>
              <a:t>CORRECT: Floating gardens used to grow food on the lake</a:t>
            </a:r>
            <a:endParaRPr lang="en-US" sz="1050" dirty="0"/>
          </a:p>
        </p:txBody>
      </p:sp>
      <p:sp>
        <p:nvSpPr>
          <p:cNvPr id="10" name="Text 8"/>
          <p:cNvSpPr/>
          <p:nvPr/>
        </p:nvSpPr>
        <p:spPr>
          <a:xfrm>
            <a:off x="685800" y="1810512"/>
            <a:ext cx="7772400" cy="347472"/>
          </a:xfrm>
          <a:prstGeom prst="rect">
            <a:avLst/>
          </a:prstGeom>
          <a:noFill/>
          <a:ln/>
        </p:spPr>
        <p:txBody>
          <a:bodyPr wrap="square" rtlCol="0" anchor="t"/>
          <a:lstStyle/>
          <a:p>
            <a:pPr indent="0" marL="0">
              <a:buNone/>
            </a:pPr>
            <a:r>
              <a:rPr lang="en-US" sz="1000" i="1" dirty="0">
                <a:solidFill>
                  <a:srgbClr val="7A88A8"/>
                </a:solidFill>
                <a:latin typeface="Calibri" pitchFamily="34" charset="0"/>
                <a:ea typeface="Calibri" pitchFamily="34" charset="-122"/>
                <a:cs typeface="Calibri" pitchFamily="34" charset="-120"/>
              </a:rPr>
              <a:t>Key idea: Chinampas = floating agriculture — a key engineering achievement beyond the city's famous architecture.</a:t>
            </a:r>
            <a:endParaRPr lang="en-US" sz="1000" dirty="0"/>
          </a:p>
        </p:txBody>
      </p:sp>
      <p:sp>
        <p:nvSpPr>
          <p:cNvPr id="11" name="Shape 9"/>
          <p:cNvSpPr/>
          <p:nvPr/>
        </p:nvSpPr>
        <p:spPr>
          <a:xfrm>
            <a:off x="365760" y="2340864"/>
            <a:ext cx="8412480" cy="1170432"/>
          </a:xfrm>
          <a:prstGeom prst="roundRect">
            <a:avLst>
              <a:gd name="adj" fmla="val 7813"/>
            </a:avLst>
          </a:prstGeom>
          <a:solidFill>
            <a:srgbClr val="FFFFFF"/>
          </a:solidFill>
          <a:ln w="12700">
            <a:solidFill>
              <a:srgbClr val="0E1C42"/>
            </a:solidFill>
            <a:prstDash val="solid"/>
          </a:ln>
        </p:spPr>
      </p:sp>
      <p:sp>
        <p:nvSpPr>
          <p:cNvPr id="12" name="Text 10"/>
          <p:cNvSpPr/>
          <p:nvPr/>
        </p:nvSpPr>
        <p:spPr>
          <a:xfrm>
            <a:off x="548640" y="2404872"/>
            <a:ext cx="8046720" cy="228600"/>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Q2: Which shows Aztec civilization extended beyond its capital?</a:t>
            </a:r>
            <a:endParaRPr lang="en-US" sz="1100" dirty="0"/>
          </a:p>
        </p:txBody>
      </p:sp>
      <p:sp>
        <p:nvSpPr>
          <p:cNvPr id="13" name="Shape 11"/>
          <p:cNvSpPr/>
          <p:nvPr/>
        </p:nvSpPr>
        <p:spPr>
          <a:xfrm>
            <a:off x="548640" y="2688336"/>
            <a:ext cx="8046720" cy="320040"/>
          </a:xfrm>
          <a:prstGeom prst="roundRect">
            <a:avLst>
              <a:gd name="adj" fmla="val 22857"/>
            </a:avLst>
          </a:prstGeom>
          <a:solidFill>
            <a:srgbClr val="34B76F">
              <a:alpha val="80000"/>
            </a:srgbClr>
          </a:solidFill>
          <a:ln w="12700">
            <a:solidFill>
              <a:srgbClr val="34B76F"/>
            </a:solidFill>
            <a:prstDash val="solid"/>
          </a:ln>
        </p:spPr>
      </p:sp>
      <p:sp>
        <p:nvSpPr>
          <p:cNvPr id="14" name="Text 12"/>
          <p:cNvSpPr/>
          <p:nvPr/>
        </p:nvSpPr>
        <p:spPr>
          <a:xfrm>
            <a:off x="685800" y="2688336"/>
            <a:ext cx="7772400" cy="320040"/>
          </a:xfrm>
          <a:prstGeom prst="rect">
            <a:avLst/>
          </a:prstGeom>
          <a:noFill/>
          <a:ln/>
        </p:spPr>
        <p:txBody>
          <a:bodyPr wrap="square" rtlCol="0" anchor="ctr"/>
          <a:lstStyle/>
          <a:p>
            <a:pPr indent="0" marL="0">
              <a:buNone/>
            </a:pPr>
            <a:r>
              <a:rPr lang="en-US" sz="1050" dirty="0">
                <a:solidFill>
                  <a:srgbClr val="1A5030"/>
                </a:solidFill>
                <a:latin typeface="Calibri" pitchFamily="34" charset="0"/>
                <a:ea typeface="Calibri" pitchFamily="34" charset="-122"/>
                <a:cs typeface="Calibri" pitchFamily="34" charset="-120"/>
              </a:rPr>
              <a:t>CORRECT: Mandatory education, poetry traditions, and tribute from hundreds of communities</a:t>
            </a:r>
            <a:endParaRPr lang="en-US" sz="1050" dirty="0"/>
          </a:p>
        </p:txBody>
      </p:sp>
      <p:sp>
        <p:nvSpPr>
          <p:cNvPr id="15" name="Text 13"/>
          <p:cNvSpPr/>
          <p:nvPr/>
        </p:nvSpPr>
        <p:spPr>
          <a:xfrm>
            <a:off x="685800" y="3072384"/>
            <a:ext cx="7772400" cy="347472"/>
          </a:xfrm>
          <a:prstGeom prst="rect">
            <a:avLst/>
          </a:prstGeom>
          <a:noFill/>
          <a:ln/>
        </p:spPr>
        <p:txBody>
          <a:bodyPr wrap="square" rtlCol="0" anchor="t"/>
          <a:lstStyle/>
          <a:p>
            <a:pPr indent="0" marL="0">
              <a:buNone/>
            </a:pPr>
            <a:r>
              <a:rPr lang="en-US" sz="1000" i="1" dirty="0">
                <a:solidFill>
                  <a:srgbClr val="7A88A8"/>
                </a:solidFill>
                <a:latin typeface="Calibri" pitchFamily="34" charset="0"/>
                <a:ea typeface="Calibri" pitchFamily="34" charset="-122"/>
                <a:cs typeface="Calibri" pitchFamily="34" charset="-120"/>
              </a:rPr>
              <a:t>Key idea: Population size tells you about the city — education and tribute tell you about the whole civilization.</a:t>
            </a:r>
            <a:endParaRPr lang="en-US" sz="1000" dirty="0"/>
          </a:p>
        </p:txBody>
      </p:sp>
      <p:sp>
        <p:nvSpPr>
          <p:cNvPr id="16" name="Shape 14"/>
          <p:cNvSpPr/>
          <p:nvPr/>
        </p:nvSpPr>
        <p:spPr>
          <a:xfrm>
            <a:off x="365760" y="3602736"/>
            <a:ext cx="8412480" cy="1170432"/>
          </a:xfrm>
          <a:prstGeom prst="roundRect">
            <a:avLst>
              <a:gd name="adj" fmla="val 7813"/>
            </a:avLst>
          </a:prstGeom>
          <a:solidFill>
            <a:srgbClr val="FFFFFF"/>
          </a:solidFill>
          <a:ln w="12700">
            <a:solidFill>
              <a:srgbClr val="0E1C42"/>
            </a:solidFill>
            <a:prstDash val="solid"/>
          </a:ln>
        </p:spPr>
      </p:sp>
      <p:sp>
        <p:nvSpPr>
          <p:cNvPr id="17" name="Text 15"/>
          <p:cNvSpPr/>
          <p:nvPr/>
        </p:nvSpPr>
        <p:spPr>
          <a:xfrm>
            <a:off x="548640" y="3666744"/>
            <a:ext cx="8046720" cy="228600"/>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Q3: What should an editor do with the Herald's claim that the capital 'tells us everything'?</a:t>
            </a:r>
            <a:endParaRPr lang="en-US" sz="1100" dirty="0"/>
          </a:p>
        </p:txBody>
      </p:sp>
      <p:sp>
        <p:nvSpPr>
          <p:cNvPr id="18" name="Shape 16"/>
          <p:cNvSpPr/>
          <p:nvPr/>
        </p:nvSpPr>
        <p:spPr>
          <a:xfrm>
            <a:off x="548640" y="3950208"/>
            <a:ext cx="8046720" cy="320040"/>
          </a:xfrm>
          <a:prstGeom prst="roundRect">
            <a:avLst>
              <a:gd name="adj" fmla="val 22857"/>
            </a:avLst>
          </a:prstGeom>
          <a:solidFill>
            <a:srgbClr val="34B76F">
              <a:alpha val="80000"/>
            </a:srgbClr>
          </a:solidFill>
          <a:ln w="12700">
            <a:solidFill>
              <a:srgbClr val="34B76F"/>
            </a:solidFill>
            <a:prstDash val="solid"/>
          </a:ln>
        </p:spPr>
      </p:sp>
      <p:sp>
        <p:nvSpPr>
          <p:cNvPr id="19" name="Text 17"/>
          <p:cNvSpPr/>
          <p:nvPr/>
        </p:nvSpPr>
        <p:spPr>
          <a:xfrm>
            <a:off x="685800" y="3950208"/>
            <a:ext cx="7772400" cy="320040"/>
          </a:xfrm>
          <a:prstGeom prst="rect">
            <a:avLst/>
          </a:prstGeom>
          <a:noFill/>
          <a:ln/>
        </p:spPr>
        <p:txBody>
          <a:bodyPr wrap="square" rtlCol="0" anchor="ctr"/>
          <a:lstStyle/>
          <a:p>
            <a:pPr indent="0" marL="0">
              <a:buNone/>
            </a:pPr>
            <a:r>
              <a:rPr lang="en-US" sz="1050" dirty="0">
                <a:solidFill>
                  <a:srgbClr val="1A5030"/>
                </a:solidFill>
                <a:latin typeface="Calibri" pitchFamily="34" charset="0"/>
                <a:ea typeface="Calibri" pitchFamily="34" charset="-122"/>
                <a:cs typeface="Calibri" pitchFamily="34" charset="-120"/>
              </a:rPr>
              <a:t>CORRECT: Rewrite the claim using evidence that the civilization included education, poetry, trade, and tribute far beyond the capital</a:t>
            </a:r>
            <a:endParaRPr lang="en-US" sz="1050" dirty="0"/>
          </a:p>
        </p:txBody>
      </p:sp>
      <p:sp>
        <p:nvSpPr>
          <p:cNvPr id="20" name="Text 18"/>
          <p:cNvSpPr/>
          <p:nvPr/>
        </p:nvSpPr>
        <p:spPr>
          <a:xfrm>
            <a:off x="685800" y="4334256"/>
            <a:ext cx="7772400" cy="347472"/>
          </a:xfrm>
          <a:prstGeom prst="rect">
            <a:avLst/>
          </a:prstGeom>
          <a:noFill/>
          <a:ln/>
        </p:spPr>
        <p:txBody>
          <a:bodyPr wrap="square" rtlCol="0" anchor="t"/>
          <a:lstStyle/>
          <a:p>
            <a:pPr indent="0" marL="0">
              <a:buNone/>
            </a:pPr>
            <a:r>
              <a:rPr lang="en-US" sz="1000" i="1" dirty="0">
                <a:solidFill>
                  <a:srgbClr val="7A88A8"/>
                </a:solidFill>
                <a:latin typeface="Calibri" pitchFamily="34" charset="0"/>
                <a:ea typeface="Calibri" pitchFamily="34" charset="-122"/>
                <a:cs typeface="Calibri" pitchFamily="34" charset="-120"/>
              </a:rPr>
              <a:t>Key idea: Agree = lazy. Remove = censorship. Correct with evidence = Gazette standards.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9FC"/>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D4943A"/>
                </a:solidFill>
                <a:latin typeface="Cambria" pitchFamily="34" charset="0"/>
                <a:ea typeface="Cambria" pitchFamily="34" charset="-122"/>
                <a:cs typeface="Cambria" pitchFamily="34" charset="-120"/>
              </a:rPr>
              <a:t>ASSIGNMENT PREVIEW  ·  Go to Press  ·  Vol. 1 · Issue 12</a:t>
            </a:r>
            <a:endParaRPr lang="en-US" sz="1300" dirty="0"/>
          </a:p>
        </p:txBody>
      </p:sp>
      <p:sp>
        <p:nvSpPr>
          <p:cNvPr id="5" name="Shape 3"/>
          <p:cNvSpPr/>
          <p:nvPr/>
        </p:nvSpPr>
        <p:spPr>
          <a:xfrm>
            <a:off x="365760" y="594360"/>
            <a:ext cx="8412480" cy="438912"/>
          </a:xfrm>
          <a:prstGeom prst="roundRect">
            <a:avLst>
              <a:gd name="adj" fmla="val 16667"/>
            </a:avLst>
          </a:prstGeom>
          <a:solidFill>
            <a:srgbClr val="0E1C42"/>
          </a:solidFill>
          <a:ln/>
        </p:spPr>
      </p:sp>
      <p:sp>
        <p:nvSpPr>
          <p:cNvPr id="6" name="Text 4"/>
          <p:cNvSpPr/>
          <p:nvPr/>
        </p:nvSpPr>
        <p:spPr>
          <a:xfrm>
            <a:off x="548640" y="594360"/>
            <a:ext cx="8046720" cy="438912"/>
          </a:xfrm>
          <a:prstGeom prst="rect">
            <a:avLst/>
          </a:prstGeom>
          <a:noFill/>
          <a:ln/>
        </p:spPr>
        <p:txBody>
          <a:bodyPr wrap="square" rtlCol="0" anchor="ctr"/>
          <a:lstStyle/>
          <a:p>
            <a:pPr algn="ctr" indent="0" marL="0">
              <a:buNone/>
            </a:pPr>
            <a:r>
              <a:rPr lang="en-US" sz="1100" b="1" dirty="0">
                <a:solidFill>
                  <a:srgbClr val="D4943A"/>
                </a:solidFill>
                <a:latin typeface="Cambria" pitchFamily="34" charset="0"/>
                <a:ea typeface="Cambria" pitchFamily="34" charset="-122"/>
                <a:cs typeface="Cambria" pitchFamily="34" charset="-120"/>
              </a:rPr>
              <a:t>Gazette Correction  ·  The Republic Gazette  ·  Honest Reporting · Evidence First</a:t>
            </a:r>
            <a:endParaRPr lang="en-US" sz="1100" dirty="0"/>
          </a:p>
        </p:txBody>
      </p:sp>
      <p:sp>
        <p:nvSpPr>
          <p:cNvPr id="7" name="Shape 5"/>
          <p:cNvSpPr/>
          <p:nvPr/>
        </p:nvSpPr>
        <p:spPr>
          <a:xfrm>
            <a:off x="365760" y="1115568"/>
            <a:ext cx="5074920" cy="2633472"/>
          </a:xfrm>
          <a:prstGeom prst="roundRect">
            <a:avLst>
              <a:gd name="adj" fmla="val 4167"/>
            </a:avLst>
          </a:prstGeom>
          <a:solidFill>
            <a:srgbClr val="FFFFFF"/>
          </a:solidFill>
          <a:ln w="19050">
            <a:solidFill>
              <a:srgbClr val="0E1C42"/>
            </a:solidFill>
            <a:prstDash val="solid"/>
          </a:ln>
        </p:spPr>
      </p:sp>
      <p:sp>
        <p:nvSpPr>
          <p:cNvPr id="8" name="Text 6"/>
          <p:cNvSpPr/>
          <p:nvPr/>
        </p:nvSpPr>
        <p:spPr>
          <a:xfrm>
            <a:off x="502920" y="1179576"/>
            <a:ext cx="4800600" cy="228600"/>
          </a:xfrm>
          <a:prstGeom prst="rect">
            <a:avLst/>
          </a:prstGeom>
          <a:noFill/>
          <a:ln/>
        </p:spPr>
        <p:txBody>
          <a:bodyPr wrap="square"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Editor's Notebook — 3 Questions</a:t>
            </a:r>
            <a:endParaRPr lang="en-US" sz="1100" dirty="0"/>
          </a:p>
        </p:txBody>
      </p:sp>
      <p:sp>
        <p:nvSpPr>
          <p:cNvPr id="9" name="Shape 7"/>
          <p:cNvSpPr/>
          <p:nvPr/>
        </p:nvSpPr>
        <p:spPr>
          <a:xfrm>
            <a:off x="502920" y="1463040"/>
            <a:ext cx="4800600" cy="658368"/>
          </a:xfrm>
          <a:prstGeom prst="roundRect">
            <a:avLst>
              <a:gd name="adj" fmla="val 11111"/>
            </a:avLst>
          </a:prstGeom>
          <a:solidFill>
            <a:srgbClr val="F0F4FA"/>
          </a:solidFill>
          <a:ln w="9525">
            <a:solidFill>
              <a:srgbClr val="7A88A8"/>
            </a:solidFill>
            <a:prstDash val="solid"/>
          </a:ln>
        </p:spPr>
      </p:sp>
      <p:sp>
        <p:nvSpPr>
          <p:cNvPr id="10" name="Text 8"/>
          <p:cNvSpPr/>
          <p:nvPr/>
        </p:nvSpPr>
        <p:spPr>
          <a:xfrm>
            <a:off x="640080" y="1490472"/>
            <a:ext cx="4526280" cy="603504"/>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1.  Name one thing the capital city (Tenochtitlan) tells us about the Aztecs, and one thing it does not tell us.</a:t>
            </a:r>
            <a:endParaRPr lang="en-US" sz="1050" dirty="0"/>
          </a:p>
        </p:txBody>
      </p:sp>
      <p:sp>
        <p:nvSpPr>
          <p:cNvPr id="11" name="Shape 9"/>
          <p:cNvSpPr/>
          <p:nvPr/>
        </p:nvSpPr>
        <p:spPr>
          <a:xfrm>
            <a:off x="502920" y="2194560"/>
            <a:ext cx="4800600" cy="658368"/>
          </a:xfrm>
          <a:prstGeom prst="roundRect">
            <a:avLst>
              <a:gd name="adj" fmla="val 11111"/>
            </a:avLst>
          </a:prstGeom>
          <a:solidFill>
            <a:srgbClr val="F0F4FA"/>
          </a:solidFill>
          <a:ln w="9525">
            <a:solidFill>
              <a:srgbClr val="7A88A8"/>
            </a:solidFill>
            <a:prstDash val="solid"/>
          </a:ln>
        </p:spPr>
      </p:sp>
      <p:sp>
        <p:nvSpPr>
          <p:cNvPr id="12" name="Text 10"/>
          <p:cNvSpPr/>
          <p:nvPr/>
        </p:nvSpPr>
        <p:spPr>
          <a:xfrm>
            <a:off x="640080" y="2221992"/>
            <a:ext cx="4526280" cy="603504"/>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2.  Why is it a problem for an editor to write about a whole civilization based only on its most famous city?</a:t>
            </a:r>
            <a:endParaRPr lang="en-US" sz="1050" dirty="0"/>
          </a:p>
        </p:txBody>
      </p:sp>
      <p:sp>
        <p:nvSpPr>
          <p:cNvPr id="13" name="Shape 11"/>
          <p:cNvSpPr/>
          <p:nvPr/>
        </p:nvSpPr>
        <p:spPr>
          <a:xfrm>
            <a:off x="502920" y="2926080"/>
            <a:ext cx="4800600" cy="658368"/>
          </a:xfrm>
          <a:prstGeom prst="roundRect">
            <a:avLst>
              <a:gd name="adj" fmla="val 11111"/>
            </a:avLst>
          </a:prstGeom>
          <a:solidFill>
            <a:srgbClr val="F0F4FA"/>
          </a:solidFill>
          <a:ln w="9525">
            <a:solidFill>
              <a:srgbClr val="7A88A8"/>
            </a:solidFill>
            <a:prstDash val="solid"/>
          </a:ln>
        </p:spPr>
      </p:sp>
      <p:sp>
        <p:nvSpPr>
          <p:cNvPr id="14" name="Text 12"/>
          <p:cNvSpPr/>
          <p:nvPr/>
        </p:nvSpPr>
        <p:spPr>
          <a:xfrm>
            <a:off x="640080" y="2953512"/>
            <a:ext cx="4526280" cy="603504"/>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3.  The Hasty Herald said "The Aztec capital tells us everything we need to know about the whole civilization." What's partly right about that? What's missing?</a:t>
            </a:r>
            <a:endParaRPr lang="en-US" sz="1050" dirty="0"/>
          </a:p>
        </p:txBody>
      </p:sp>
      <p:sp>
        <p:nvSpPr>
          <p:cNvPr id="15" name="Shape 13"/>
          <p:cNvSpPr/>
          <p:nvPr/>
        </p:nvSpPr>
        <p:spPr>
          <a:xfrm>
            <a:off x="5623560" y="1115568"/>
            <a:ext cx="3154680" cy="2633472"/>
          </a:xfrm>
          <a:prstGeom prst="roundRect">
            <a:avLst>
              <a:gd name="adj" fmla="val 4167"/>
            </a:avLst>
          </a:prstGeom>
          <a:solidFill>
            <a:srgbClr val="FFFFFF"/>
          </a:solidFill>
          <a:ln w="19050">
            <a:solidFill>
              <a:srgbClr val="D4943A"/>
            </a:solidFill>
            <a:prstDash val="solid"/>
          </a:ln>
        </p:spPr>
      </p:sp>
      <p:sp>
        <p:nvSpPr>
          <p:cNvPr id="16" name="Text 14"/>
          <p:cNvSpPr/>
          <p:nvPr/>
        </p:nvSpPr>
        <p:spPr>
          <a:xfrm>
            <a:off x="5760720" y="1179576"/>
            <a:ext cx="2880360" cy="228600"/>
          </a:xfrm>
          <a:prstGeom prst="rect">
            <a:avLst/>
          </a:prstGeom>
          <a:noFill/>
          <a:ln/>
        </p:spPr>
        <p:txBody>
          <a:bodyPr wrap="square" rtlCol="0" anchor="ctr"/>
          <a:lstStyle/>
          <a:p>
            <a:pPr indent="0" marL="0">
              <a:buNone/>
            </a:pPr>
            <a:r>
              <a:rPr lang="en-US" sz="1100" b="1" spc="100" kern="0" dirty="0">
                <a:solidFill>
                  <a:srgbClr val="D4943A"/>
                </a:solidFill>
                <a:latin typeface="Calibri" pitchFamily="34" charset="0"/>
                <a:ea typeface="Calibri" pitchFamily="34" charset="-122"/>
                <a:cs typeface="Calibri" pitchFamily="34" charset="-120"/>
              </a:rPr>
              <a:t>Gazette Correction Structure</a:t>
            </a:r>
            <a:endParaRPr lang="en-US" sz="1100" dirty="0"/>
          </a:p>
        </p:txBody>
      </p:sp>
      <p:sp>
        <p:nvSpPr>
          <p:cNvPr id="17" name="Shape 15"/>
          <p:cNvSpPr/>
          <p:nvPr/>
        </p:nvSpPr>
        <p:spPr>
          <a:xfrm>
            <a:off x="5760720" y="1463040"/>
            <a:ext cx="2880360" cy="448056"/>
          </a:xfrm>
          <a:prstGeom prst="roundRect">
            <a:avLst>
              <a:gd name="adj" fmla="val 16327"/>
            </a:avLst>
          </a:prstGeom>
          <a:solidFill>
            <a:srgbClr val="E8636B">
              <a:alpha val="20000"/>
            </a:srgbClr>
          </a:solidFill>
          <a:ln w="12700">
            <a:solidFill>
              <a:srgbClr val="E8636B"/>
            </a:solidFill>
            <a:prstDash val="solid"/>
          </a:ln>
        </p:spPr>
      </p:sp>
      <p:sp>
        <p:nvSpPr>
          <p:cNvPr id="18" name="Text 16"/>
          <p:cNvSpPr/>
          <p:nvPr/>
        </p:nvSpPr>
        <p:spPr>
          <a:xfrm>
            <a:off x="5897880" y="1490472"/>
            <a:ext cx="2606040" cy="38404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(1) Quote the Herald's claim</a:t>
            </a:r>
            <a:endParaRPr lang="en-US" sz="1050" dirty="0"/>
          </a:p>
        </p:txBody>
      </p:sp>
      <p:sp>
        <p:nvSpPr>
          <p:cNvPr id="19" name="Shape 17"/>
          <p:cNvSpPr/>
          <p:nvPr/>
        </p:nvSpPr>
        <p:spPr>
          <a:xfrm>
            <a:off x="5760720" y="1975104"/>
            <a:ext cx="2880360" cy="448056"/>
          </a:xfrm>
          <a:prstGeom prst="roundRect">
            <a:avLst>
              <a:gd name="adj" fmla="val 16327"/>
            </a:avLst>
          </a:prstGeom>
          <a:solidFill>
            <a:srgbClr val="55C8E8">
              <a:alpha val="20000"/>
            </a:srgbClr>
          </a:solidFill>
          <a:ln w="12700">
            <a:solidFill>
              <a:srgbClr val="55C8E8"/>
            </a:solidFill>
            <a:prstDash val="solid"/>
          </a:ln>
        </p:spPr>
      </p:sp>
      <p:sp>
        <p:nvSpPr>
          <p:cNvPr id="20" name="Text 18"/>
          <p:cNvSpPr/>
          <p:nvPr/>
        </p:nvSpPr>
        <p:spPr>
          <a:xfrm>
            <a:off x="5897880" y="2002536"/>
            <a:ext cx="2606040" cy="38404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(2) Evidence that corrects it</a:t>
            </a:r>
            <a:endParaRPr lang="en-US" sz="1050" dirty="0"/>
          </a:p>
        </p:txBody>
      </p:sp>
      <p:sp>
        <p:nvSpPr>
          <p:cNvPr id="21" name="Shape 19"/>
          <p:cNvSpPr/>
          <p:nvPr/>
        </p:nvSpPr>
        <p:spPr>
          <a:xfrm>
            <a:off x="5760720" y="2487168"/>
            <a:ext cx="2880360" cy="448056"/>
          </a:xfrm>
          <a:prstGeom prst="roundRect">
            <a:avLst>
              <a:gd name="adj" fmla="val 16327"/>
            </a:avLst>
          </a:prstGeom>
          <a:solidFill>
            <a:srgbClr val="34B76F">
              <a:alpha val="20000"/>
            </a:srgbClr>
          </a:solidFill>
          <a:ln w="12700">
            <a:solidFill>
              <a:srgbClr val="34B76F"/>
            </a:solidFill>
            <a:prstDash val="solid"/>
          </a:ln>
        </p:spPr>
      </p:sp>
      <p:sp>
        <p:nvSpPr>
          <p:cNvPr id="22" name="Text 20"/>
          <p:cNvSpPr/>
          <p:nvPr/>
        </p:nvSpPr>
        <p:spPr>
          <a:xfrm>
            <a:off x="5897880" y="2514600"/>
            <a:ext cx="2606040" cy="38404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(3) Rewrite — accurate and fair</a:t>
            </a:r>
            <a:endParaRPr lang="en-US" sz="1050" dirty="0"/>
          </a:p>
        </p:txBody>
      </p:sp>
      <p:sp>
        <p:nvSpPr>
          <p:cNvPr id="23" name="Shape 21"/>
          <p:cNvSpPr/>
          <p:nvPr/>
        </p:nvSpPr>
        <p:spPr>
          <a:xfrm>
            <a:off x="5760720" y="2999232"/>
            <a:ext cx="2880360" cy="448056"/>
          </a:xfrm>
          <a:prstGeom prst="roundRect">
            <a:avLst>
              <a:gd name="adj" fmla="val 16327"/>
            </a:avLst>
          </a:prstGeom>
          <a:solidFill>
            <a:srgbClr val="7A88A8">
              <a:alpha val="20000"/>
            </a:srgbClr>
          </a:solidFill>
          <a:ln w="12700">
            <a:solidFill>
              <a:srgbClr val="7A88A8"/>
            </a:solidFill>
            <a:prstDash val="solid"/>
          </a:ln>
        </p:spPr>
      </p:sp>
      <p:sp>
        <p:nvSpPr>
          <p:cNvPr id="24" name="Text 22"/>
          <p:cNvSpPr/>
          <p:nvPr/>
        </p:nvSpPr>
        <p:spPr>
          <a:xfrm>
            <a:off x="5897880" y="3026664"/>
            <a:ext cx="2606040" cy="384048"/>
          </a:xfrm>
          <a:prstGeom prst="rect">
            <a:avLst/>
          </a:prstGeom>
          <a:noFill/>
          <a:ln/>
        </p:spPr>
        <p:txBody>
          <a:bodyPr wrap="square" rtlCol="0" anchor="ctr"/>
          <a:lstStyle/>
          <a:p>
            <a:pPr indent="0" marL="0">
              <a:buNone/>
            </a:pPr>
            <a:r>
              <a:rPr lang="en-US" sz="1050" dirty="0">
                <a:solidFill>
                  <a:srgbClr val="3A3A4A"/>
                </a:solidFill>
                <a:latin typeface="Calibri" pitchFamily="34" charset="0"/>
                <a:ea typeface="Calibri" pitchFamily="34" charset="-122"/>
                <a:cs typeface="Calibri" pitchFamily="34" charset="-120"/>
              </a:rPr>
              <a:t>Byline — Junior Editor's name</a:t>
            </a:r>
            <a:endParaRPr lang="en-US" sz="1050" dirty="0"/>
          </a:p>
        </p:txBody>
      </p:sp>
      <p:sp>
        <p:nvSpPr>
          <p:cNvPr id="25" name="Shape 23"/>
          <p:cNvSpPr/>
          <p:nvPr/>
        </p:nvSpPr>
        <p:spPr>
          <a:xfrm>
            <a:off x="365760" y="3822192"/>
            <a:ext cx="8412480" cy="868680"/>
          </a:xfrm>
          <a:prstGeom prst="roundRect">
            <a:avLst>
              <a:gd name="adj" fmla="val 10526"/>
            </a:avLst>
          </a:prstGeom>
          <a:solidFill>
            <a:srgbClr val="FFF3DC"/>
          </a:solidFill>
          <a:ln w="25400">
            <a:solidFill>
              <a:srgbClr val="D4943A"/>
            </a:solidFill>
            <a:prstDash val="solid"/>
          </a:ln>
        </p:spPr>
      </p:sp>
      <p:sp>
        <p:nvSpPr>
          <p:cNvPr id="26" name="Text 24"/>
          <p:cNvSpPr/>
          <p:nvPr/>
        </p:nvSpPr>
        <p:spPr>
          <a:xfrm>
            <a:off x="548640" y="3886200"/>
            <a:ext cx="3657600" cy="228600"/>
          </a:xfrm>
          <a:prstGeom prst="rect">
            <a:avLst/>
          </a:prstGeom>
          <a:noFill/>
          <a:ln/>
        </p:spPr>
        <p:txBody>
          <a:bodyPr wrap="square"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For the Archive — Archive Line</a:t>
            </a:r>
            <a:endParaRPr lang="en-US" sz="1000" dirty="0"/>
          </a:p>
        </p:txBody>
      </p:sp>
      <p:sp>
        <p:nvSpPr>
          <p:cNvPr id="27" name="Text 25"/>
          <p:cNvSpPr/>
          <p:nvPr/>
        </p:nvSpPr>
        <p:spPr>
          <a:xfrm>
            <a:off x="548640" y="4114800"/>
            <a:ext cx="8046720" cy="502920"/>
          </a:xfrm>
          <a:prstGeom prst="rect">
            <a:avLst/>
          </a:prstGeom>
          <a:noFill/>
          <a:ln/>
        </p:spPr>
        <p:txBody>
          <a:bodyPr wrap="square" rtlCol="0" anchor="ctr"/>
          <a:lstStyle/>
          <a:p>
            <a:pPr indent="0" marL="0">
              <a:buNone/>
            </a:pPr>
            <a:r>
              <a:rPr lang="en-US" sz="1200" dirty="0">
                <a:solidFill>
                  <a:srgbClr val="5A4A3A"/>
                </a:solidFill>
                <a:latin typeface="Calibri" pitchFamily="34" charset="0"/>
                <a:ea typeface="Calibri" pitchFamily="34" charset="-122"/>
                <a:cs typeface="Calibri" pitchFamily="34" charset="-120"/>
              </a:rPr>
              <a:t>In one careful sentence, write what future citizens should remember about the Aztec civilization.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0" y="0"/>
            <a:ext cx="9144000" cy="502920"/>
          </a:xfrm>
          <a:prstGeom prst="rect">
            <a:avLst/>
          </a:prstGeom>
          <a:noFill/>
          <a:ln/>
        </p:spPr>
        <p:txBody>
          <a:bodyPr wrap="square" rtlCol="0" anchor="ctr"/>
          <a:lstStyle/>
          <a:p>
            <a:pPr algn="ctr" indent="0" marL="0">
              <a:buNone/>
            </a:pPr>
            <a:r>
              <a:rPr lang="en-US" sz="1300" b="1" spc="100" kern="0" dirty="0">
                <a:solidFill>
                  <a:srgbClr val="0E1C42"/>
                </a:solidFill>
                <a:latin typeface="Cambria" pitchFamily="34" charset="0"/>
                <a:ea typeface="Cambria" pitchFamily="34" charset="-122"/>
                <a:cs typeface="Cambria" pitchFamily="34" charset="-120"/>
              </a:rPr>
              <a:t>THE REPUBLIC GAZETTE  ·  Vol. 1 · Issue 12  ·  PRESS CERTIFIED</a:t>
            </a:r>
            <a:endParaRPr lang="en-US" sz="1300" dirty="0"/>
          </a:p>
        </p:txBody>
      </p:sp>
      <p:sp>
        <p:nvSpPr>
          <p:cNvPr id="7" name="Text 4"/>
          <p:cNvSpPr/>
          <p:nvPr/>
        </p:nvSpPr>
        <p:spPr>
          <a:xfrm>
            <a:off x="457200" y="658368"/>
            <a:ext cx="8229600" cy="749808"/>
          </a:xfrm>
          <a:prstGeom prst="rect">
            <a:avLst/>
          </a:prstGeom>
          <a:noFill/>
          <a:ln/>
          <a:effectLst>
            <a:outerShdw sx="100000" sy="100000" kx="0" ky="0" algn="bl" rotWithShape="0" blurRad="152400" dist="50800" dir="2700000">
              <a:srgbClr val="000000">
                <a:alpha val="75000"/>
              </a:srgbClr>
            </a:outerShdw>
          </a:effectLst>
        </p:spPr>
        <p:txBody>
          <a:bodyPr wrap="square" rtlCol="0" anchor="ctr"/>
          <a:lstStyle/>
          <a:p>
            <a:pPr algn="ctr" indent="0" marL="0">
              <a:buNone/>
            </a:pPr>
            <a:r>
              <a:rPr lang="en-US" sz="4400" b="1" dirty="0">
                <a:solidFill>
                  <a:srgbClr val="D4943A"/>
                </a:solidFill>
                <a:latin typeface="Cambria" pitchFamily="34" charset="0"/>
                <a:ea typeface="Cambria" pitchFamily="34" charset="-122"/>
                <a:cs typeface="Cambria" pitchFamily="34" charset="-120"/>
              </a:rPr>
              <a:t>Issue 12 Published.</a:t>
            </a:r>
            <a:endParaRPr lang="en-US" sz="4400" dirty="0"/>
          </a:p>
        </p:txBody>
      </p:sp>
      <p:sp>
        <p:nvSpPr>
          <p:cNvPr id="8" name="Shape 5"/>
          <p:cNvSpPr/>
          <p:nvPr/>
        </p:nvSpPr>
        <p:spPr>
          <a:xfrm>
            <a:off x="731520" y="1536192"/>
            <a:ext cx="7680960" cy="1097280"/>
          </a:xfrm>
          <a:prstGeom prst="roundRect">
            <a:avLst>
              <a:gd name="adj" fmla="val 10000"/>
            </a:avLst>
          </a:prstGeom>
          <a:solidFill>
            <a:srgbClr val="1A2D5A"/>
          </a:solidFill>
          <a:ln w="19050">
            <a:solidFill>
              <a:srgbClr val="55C8E8"/>
            </a:solidFill>
            <a:prstDash val="solid"/>
          </a:ln>
        </p:spPr>
      </p:sp>
      <p:sp>
        <p:nvSpPr>
          <p:cNvPr id="9" name="Text 6"/>
          <p:cNvSpPr/>
          <p:nvPr/>
        </p:nvSpPr>
        <p:spPr>
          <a:xfrm>
            <a:off x="914400" y="1600200"/>
            <a:ext cx="7315200" cy="274320"/>
          </a:xfrm>
          <a:prstGeom prst="rect">
            <a:avLst/>
          </a:prstGeom>
          <a:noFill/>
          <a:ln/>
        </p:spPr>
        <p:txBody>
          <a:bodyPr wrap="square" rtlCol="0" anchor="ctr"/>
          <a:lstStyle/>
          <a:p>
            <a:pPr algn="ctr" indent="0" marL="0">
              <a:buNone/>
            </a:pPr>
            <a:r>
              <a:rPr lang="en-US" sz="1500" b="1" dirty="0">
                <a:solidFill>
                  <a:srgbClr val="55C8E8"/>
                </a:solidFill>
                <a:latin typeface="Cambria" pitchFamily="34" charset="0"/>
                <a:ea typeface="Cambria" pitchFamily="34" charset="-122"/>
                <a:cs typeface="Cambria" pitchFamily="34" charset="-120"/>
              </a:rPr>
              <a:t>Well done, Junior Editor.</a:t>
            </a:r>
            <a:endParaRPr lang="en-US" sz="1500" dirty="0"/>
          </a:p>
        </p:txBody>
      </p:sp>
      <p:sp>
        <p:nvSpPr>
          <p:cNvPr id="10" name="Text 7"/>
          <p:cNvSpPr/>
          <p:nvPr/>
        </p:nvSpPr>
        <p:spPr>
          <a:xfrm>
            <a:off x="914400" y="1920240"/>
            <a:ext cx="7315200" cy="640080"/>
          </a:xfrm>
          <a:prstGeom prst="rect">
            <a:avLst/>
          </a:prstGeom>
          <a:noFill/>
          <a:ln/>
        </p:spPr>
        <p:txBody>
          <a:bodyPr wrap="square"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You examined a source, separated observation from inference, and corrected the Herald's claim that the Aztec capital tells the whole story. The Gazette is stronger because you governed your conclusions with evidence.</a:t>
            </a:r>
            <a:endParaRPr lang="en-US" sz="1200" dirty="0"/>
          </a:p>
        </p:txBody>
      </p:sp>
      <p:sp>
        <p:nvSpPr>
          <p:cNvPr id="11" name="Shape 8"/>
          <p:cNvSpPr/>
          <p:nvPr/>
        </p:nvSpPr>
        <p:spPr>
          <a:xfrm>
            <a:off x="3200400" y="2743200"/>
            <a:ext cx="2743200" cy="685800"/>
          </a:xfrm>
          <a:prstGeom prst="roundRect">
            <a:avLst>
              <a:gd name="adj" fmla="val 20000"/>
            </a:avLst>
          </a:prstGeom>
          <a:solidFill>
            <a:srgbClr val="34B76F"/>
          </a:solidFill>
          <a:ln w="25400">
            <a:solidFill>
              <a:srgbClr val="FFFFFF"/>
            </a:solidFill>
            <a:prstDash val="solid"/>
          </a:ln>
        </p:spPr>
      </p:sp>
      <p:sp>
        <p:nvSpPr>
          <p:cNvPr id="12" name="Text 9"/>
          <p:cNvSpPr/>
          <p:nvPr/>
        </p:nvSpPr>
        <p:spPr>
          <a:xfrm>
            <a:off x="3246120" y="2743200"/>
            <a:ext cx="2651760" cy="685800"/>
          </a:xfrm>
          <a:prstGeom prst="rect">
            <a:avLst/>
          </a:prstGeom>
          <a:noFill/>
          <a:ln/>
        </p:spPr>
        <p:txBody>
          <a:bodyPr wrap="square" rtlCol="0" anchor="ctr"/>
          <a:lstStyle/>
          <a:p>
            <a:pPr algn="ctr" indent="0" marL="0">
              <a:buNone/>
            </a:pPr>
            <a:r>
              <a:rPr lang="en-US" sz="1300" b="1" spc="100" kern="0" dirty="0">
                <a:solidFill>
                  <a:srgbClr val="FFFFFF"/>
                </a:solidFill>
                <a:latin typeface="Cambria" pitchFamily="34" charset="0"/>
                <a:ea typeface="Cambria" pitchFamily="34" charset="-122"/>
                <a:cs typeface="Cambria" pitchFamily="34" charset="-120"/>
              </a:rPr>
              <a:t>THE GAZETTE CERTIFIES</a:t>
            </a:r>
            <a:endParaRPr lang="en-US" sz="1300" dirty="0"/>
          </a:p>
        </p:txBody>
      </p:sp>
      <p:sp>
        <p:nvSpPr>
          <p:cNvPr id="13" name="Shape 10"/>
          <p:cNvSpPr/>
          <p:nvPr/>
        </p:nvSpPr>
        <p:spPr>
          <a:xfrm>
            <a:off x="457200" y="3566160"/>
            <a:ext cx="8229600" cy="987552"/>
          </a:xfrm>
          <a:prstGeom prst="roundRect">
            <a:avLst>
              <a:gd name="adj" fmla="val 11111"/>
            </a:avLst>
          </a:prstGeom>
          <a:solidFill>
            <a:srgbClr val="0B1835"/>
          </a:solidFill>
          <a:ln w="19050">
            <a:solidFill>
              <a:srgbClr val="D4943A"/>
            </a:solidFill>
            <a:prstDash val="solid"/>
          </a:ln>
        </p:spPr>
      </p:sp>
      <p:sp>
        <p:nvSpPr>
          <p:cNvPr id="14" name="Text 11"/>
          <p:cNvSpPr/>
          <p:nvPr/>
        </p:nvSpPr>
        <p:spPr>
          <a:xfrm>
            <a:off x="640080" y="3630168"/>
            <a:ext cx="7863840" cy="22860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IN THE NEXT ISSUE  ·  5.03.05</a:t>
            </a:r>
            <a:endParaRPr lang="en-US" sz="1000" dirty="0"/>
          </a:p>
        </p:txBody>
      </p:sp>
      <p:sp>
        <p:nvSpPr>
          <p:cNvPr id="15" name="Text 12"/>
          <p:cNvSpPr/>
          <p:nvPr/>
        </p:nvSpPr>
        <p:spPr>
          <a:xfrm>
            <a:off x="640080" y="3886200"/>
            <a:ext cx="7863840" cy="594360"/>
          </a:xfrm>
          <a:prstGeom prst="rect">
            <a:avLst/>
          </a:prstGeom>
          <a:noFill/>
          <a:ln/>
        </p:spPr>
        <p:txBody>
          <a:bodyPr wrap="square" rtlCol="0" anchor="t"/>
          <a:lstStyle/>
          <a:p>
            <a:pPr algn="ctr" indent="0" marL="0">
              <a:buNone/>
            </a:pPr>
            <a:r>
              <a:rPr lang="en-US" sz="1200" i="1" dirty="0">
                <a:solidFill>
                  <a:srgbClr val="FFF3DC"/>
                </a:solidFill>
                <a:latin typeface="Calibri" pitchFamily="34" charset="0"/>
                <a:ea typeface="Calibri" pitchFamily="34" charset="-122"/>
                <a:cs typeface="Calibri" pitchFamily="34" charset="-120"/>
              </a:rPr>
              <a:t>Inca Civilization  ·  A new dispatch arrives at the Front Page Desk — and The Hasty Herald has already rushed to print a claim about the Inca road system. Editors, sharpen your pencils.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2026-07-16T18:31:17Z</dcterms:created>
  <dcterms:modified xsi:type="dcterms:W3CDTF">2026-07-16T18:31:17Z</dcterms:modified>
</cp:coreProperties>
</file>