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Open with the masthead. Read the guiding question aloud. Let it hang for a moment before introducing yourself as Ms. Avery.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the Herald claim aloud with theatrical doubt. Give 30 seconds for partner talk using the Chat Frame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the Dispatch in Ms. Avery's voice. Emphasize the stakes: Issue 1 is the very first edition. The Gazette's reputation starts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Cover the Key Clue box first. Let students discuss, then reveal. The answer: each was created AT THE TIME, BY SOMEONE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Note the oral history example — primary sources aren’t always written documents. Point to where the image will appear. At the Source Desk students will examine a real flat-lay of all three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Stress 'BOTH are useful.' Students sometimes think secondary sources are unreliable or 'less good.' They aren't — they provide context, analysis, and broader perspective that primary sources 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column. Key message: saying what the Herald got PARTLY right is more honest than just saying 'the Herald is wrong.' That distinction is what the Front Page Brief is asking students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source study image students will analyze in the lesson. Use 'Question Like a Historian': What do I see? What does it mean? Why does it matter? Walk through one item together before releasing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bridges content to the assignment. Students need to know WHY this matters for their role as Junior Editors. The third point directly leads into the assignment preview slides coming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Pause here for the Virtue Spotlight. Ask: 'Name one time today you’ll need to be honest about what the evidence shows — or what it doesn’t show.'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Narrate your thinking aloud at each step. Students should hear HOW you arrive at 'secondary source' — not just the answer, but the reasoning process. This is the scaffold they'll use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Call on different students for each step. Answer: PRIMARY source — written during the event, by someone living through it. Keep the emphasis on HOW they know, not just what they concluded.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Give 2–3 minutes. Circulate. Sources 3 and 4 are the tricky ones. #4 may be primary depending on context — honor thoughtful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Error analysis builds the correction language students need for the Front Page Brief. Emphasize: we say what's PARTLY right before we say what’s missing. That’s the honest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each question WITHOUT giving the answers. Ask students to name the thinking strategy they'd use for each. This primes them for the Fact-Check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each question aloud. Give students 1–2 minutes to start writing in their notebooks before moving to the Front Page Brief slide. These exact questions appear on the Desk tab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Show what a strong claim looks like vs. the Herald’s claim. The Archive Line is like a thesis — one sentence that could stand on its own in a history book. Model one example before releasing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End with energy. Read the checklist items aloud. Use 'Going to press' as a genuine celebration. Then tease Issue 2 with the Herald's new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4" name="Shape 1"/>
          <p:cNvSpPr/>
          <p:nvPr/>
        </p:nvSpPr>
        <p:spPr>
          <a:xfrm>
            <a:off x="0" y="256032"/>
            <a:ext cx="9144000" cy="41148"/>
          </a:xfrm>
          <a:prstGeom prst="rect">
            <a:avLst/>
          </a:prstGeom>
          <a:solidFill>
            <a:srgbClr val="D4943A"/>
          </a:solidFill>
          <a:ln/>
        </p:spPr>
      </p:sp>
      <p:sp>
        <p:nvSpPr>
          <p:cNvPr id="5" name="Text 2"/>
          <p:cNvSpPr/>
          <p:nvPr/>
        </p:nvSpPr>
        <p:spPr>
          <a:xfrm>
            <a:off x="457200" y="329184"/>
            <a:ext cx="8229600" cy="530352"/>
          </a:xfrm>
          <a:prstGeom prst="rect">
            <a:avLst/>
          </a:prstGeom>
          <a:noFill/>
          <a:ln/>
        </p:spPr>
        <p:txBody>
          <a:bodyPr wrap="square" rtlCol="0" anchor="ctr"/>
          <a:lstStyle/>
          <a:p>
            <a:pPr algn="ctr" indent="0" marL="0">
              <a:buNone/>
            </a:pPr>
            <a:r>
              <a:rPr lang="en-US" sz="2800" b="1" spc="400" kern="0" dirty="0">
                <a:solidFill>
                  <a:srgbClr val="D4943A"/>
                </a:solidFill>
                <a:latin typeface="Cambria" pitchFamily="34" charset="0"/>
                <a:ea typeface="Cambria" pitchFamily="34" charset="-122"/>
                <a:cs typeface="Cambria" pitchFamily="34" charset="-120"/>
              </a:rPr>
              <a:t>THE REPUBLIC GAZETTE</a:t>
            </a:r>
            <a:endParaRPr lang="en-US" sz="2800" dirty="0"/>
          </a:p>
        </p:txBody>
      </p:sp>
      <p:sp>
        <p:nvSpPr>
          <p:cNvPr id="6" name="Text 3"/>
          <p:cNvSpPr/>
          <p:nvPr/>
        </p:nvSpPr>
        <p:spPr>
          <a:xfrm>
            <a:off x="457200" y="877824"/>
            <a:ext cx="8229600" cy="256032"/>
          </a:xfrm>
          <a:prstGeom prst="rect">
            <a:avLst/>
          </a:prstGeom>
          <a:noFill/>
          <a:ln/>
        </p:spPr>
        <p:txBody>
          <a:bodyPr wrap="square" rtlCol="0" anchor="ctr"/>
          <a:lstStyle/>
          <a:p>
            <a:pPr algn="ctr" indent="0" marL="0">
              <a:buNone/>
            </a:pPr>
            <a:r>
              <a:rPr lang="en-US" sz="1150" i="1" dirty="0">
                <a:solidFill>
                  <a:srgbClr val="7A88A8"/>
                </a:solidFill>
                <a:latin typeface="Calibri" pitchFamily="34" charset="0"/>
                <a:ea typeface="Calibri" pitchFamily="34" charset="-122"/>
                <a:cs typeface="Calibri" pitchFamily="34" charset="-120"/>
              </a:rPr>
              <a:t>Honest Reporting  ·  Evidence First  ·  For Every Citizen</a:t>
            </a:r>
            <a:endParaRPr lang="en-US" sz="1150" dirty="0"/>
          </a:p>
        </p:txBody>
      </p:sp>
      <p:sp>
        <p:nvSpPr>
          <p:cNvPr id="7" name="Shape 4"/>
          <p:cNvSpPr/>
          <p:nvPr/>
        </p:nvSpPr>
        <p:spPr>
          <a:xfrm>
            <a:off x="1645920" y="1170432"/>
            <a:ext cx="5852160" cy="18288"/>
          </a:xfrm>
          <a:prstGeom prst="rect">
            <a:avLst/>
          </a:prstGeom>
          <a:solidFill>
            <a:srgbClr val="2A4070"/>
          </a:solidFill>
          <a:ln/>
        </p:spPr>
      </p:sp>
      <p:sp>
        <p:nvSpPr>
          <p:cNvPr id="8" name="Text 5"/>
          <p:cNvSpPr/>
          <p:nvPr/>
        </p:nvSpPr>
        <p:spPr>
          <a:xfrm>
            <a:off x="457200" y="1261872"/>
            <a:ext cx="8229600" cy="100584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Primary and Secondary</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Sources in American History</a:t>
            </a:r>
            <a:endParaRPr lang="en-US" sz="3000" dirty="0"/>
          </a:p>
        </p:txBody>
      </p:sp>
      <p:sp>
        <p:nvSpPr>
          <p:cNvPr id="9" name="Text 6"/>
          <p:cNvSpPr/>
          <p:nvPr/>
        </p:nvSpPr>
        <p:spPr>
          <a:xfrm>
            <a:off x="457200" y="2304288"/>
            <a:ext cx="8229600" cy="274320"/>
          </a:xfrm>
          <a:prstGeom prst="rect">
            <a:avLst/>
          </a:prstGeom>
          <a:noFill/>
          <a:ln/>
        </p:spPr>
        <p:txBody>
          <a:bodyPr wrap="square"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Vol. 1  ·  Issue 1  ·  Week 1  ·  Q1  ·  Unit 1: Tools of the Historian</a:t>
            </a:r>
            <a:endParaRPr lang="en-US" sz="1100" dirty="0"/>
          </a:p>
        </p:txBody>
      </p:sp>
      <p:sp>
        <p:nvSpPr>
          <p:cNvPr id="10" name="Shape 7"/>
          <p:cNvSpPr/>
          <p:nvPr/>
        </p:nvSpPr>
        <p:spPr>
          <a:xfrm>
            <a:off x="1920240" y="2651760"/>
            <a:ext cx="5303520" cy="822960"/>
          </a:xfrm>
          <a:prstGeom prst="roundRect">
            <a:avLst>
              <a:gd name="adj" fmla="val 8889"/>
            </a:avLst>
          </a:prstGeom>
          <a:solidFill>
            <a:srgbClr val="1A2D5A"/>
          </a:solidFill>
          <a:ln w="19050">
            <a:solidFill>
              <a:srgbClr val="8B2D26"/>
            </a:solidFill>
            <a:prstDash val="solid"/>
          </a:ln>
        </p:spPr>
      </p:sp>
      <p:sp>
        <p:nvSpPr>
          <p:cNvPr id="11" name="Text 8"/>
          <p:cNvSpPr/>
          <p:nvPr/>
        </p:nvSpPr>
        <p:spPr>
          <a:xfrm>
            <a:off x="2103120" y="2706624"/>
            <a:ext cx="4937760" cy="201168"/>
          </a:xfrm>
          <a:prstGeom prst="rect">
            <a:avLst/>
          </a:prstGeom>
          <a:noFill/>
          <a:ln/>
        </p:spPr>
        <p:txBody>
          <a:bodyPr wrap="square" rtlCol="0" anchor="ctr"/>
          <a:lstStyle/>
          <a:p>
            <a:pPr algn="ctr" indent="0" marL="0">
              <a:buNone/>
            </a:pPr>
            <a:r>
              <a:rPr lang="en-US" sz="900" b="1" spc="150" kern="0" dirty="0">
                <a:solidFill>
                  <a:srgbClr val="E8636B"/>
                </a:solidFill>
                <a:latin typeface="Calibri" pitchFamily="34" charset="0"/>
                <a:ea typeface="Calibri" pitchFamily="34" charset="-122"/>
                <a:cs typeface="Calibri" pitchFamily="34" charset="-120"/>
              </a:rPr>
              <a:t>THE HASTY HERALD CLAIMS:</a:t>
            </a:r>
            <a:endParaRPr lang="en-US" sz="900" dirty="0"/>
          </a:p>
        </p:txBody>
      </p:sp>
      <p:sp>
        <p:nvSpPr>
          <p:cNvPr id="12" name="Text 9"/>
          <p:cNvSpPr/>
          <p:nvPr/>
        </p:nvSpPr>
        <p:spPr>
          <a:xfrm>
            <a:off x="2103120" y="2907792"/>
            <a:ext cx="4937760" cy="475488"/>
          </a:xfrm>
          <a:prstGeom prst="rect">
            <a:avLst/>
          </a:prstGeom>
          <a:noFill/>
          <a:ln/>
        </p:spPr>
        <p:txBody>
          <a:bodyPr wrap="square" rtlCol="0" anchor="ctr"/>
          <a:lstStyle/>
          <a:p>
            <a:pPr algn="ctr" indent="0" marL="0">
              <a:buNone/>
            </a:pPr>
            <a:r>
              <a:rPr lang="en-US" sz="1300" i="1" dirty="0">
                <a:solidFill>
                  <a:srgbClr val="FAF3E0"/>
                </a:solidFill>
                <a:latin typeface="Cambria" pitchFamily="34" charset="0"/>
                <a:ea typeface="Cambria" pitchFamily="34" charset="-122"/>
                <a:cs typeface="Cambria" pitchFamily="34" charset="-120"/>
              </a:rPr>
              <a:t>"Old documents always tell the whole truth by themselves!"</a:t>
            </a:r>
            <a:endParaRPr lang="en-US" sz="1300" dirty="0"/>
          </a:p>
        </p:txBody>
      </p:sp>
      <p:sp>
        <p:nvSpPr>
          <p:cNvPr id="13" name="Shape 10"/>
          <p:cNvSpPr/>
          <p:nvPr/>
        </p:nvSpPr>
        <p:spPr>
          <a:xfrm>
            <a:off x="0" y="3611880"/>
            <a:ext cx="9144000" cy="36576"/>
          </a:xfrm>
          <a:prstGeom prst="rect">
            <a:avLst/>
          </a:prstGeom>
          <a:solidFill>
            <a:srgbClr val="2A4070"/>
          </a:solidFill>
          <a:ln/>
        </p:spPr>
      </p:sp>
      <p:sp>
        <p:nvSpPr>
          <p:cNvPr id="14" name="Text 11"/>
          <p:cNvSpPr/>
          <p:nvPr/>
        </p:nvSpPr>
        <p:spPr>
          <a:xfrm>
            <a:off x="457200" y="3694176"/>
            <a:ext cx="2377440" cy="256032"/>
          </a:xfrm>
          <a:prstGeom prst="rect">
            <a:avLst/>
          </a:prstGeom>
          <a:noFill/>
          <a:ln/>
        </p:spPr>
        <p:txBody>
          <a:bodyPr wrap="square"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Guiding Question:</a:t>
            </a:r>
            <a:endParaRPr lang="en-US" sz="1100" dirty="0"/>
          </a:p>
        </p:txBody>
      </p:sp>
      <p:sp>
        <p:nvSpPr>
          <p:cNvPr id="15" name="Text 12"/>
          <p:cNvSpPr/>
          <p:nvPr/>
        </p:nvSpPr>
        <p:spPr>
          <a:xfrm>
            <a:off x="2880360" y="3694176"/>
            <a:ext cx="5806440" cy="256032"/>
          </a:xfrm>
          <a:prstGeom prst="rect">
            <a:avLst/>
          </a:prstGeom>
          <a:noFill/>
          <a:ln/>
        </p:spPr>
        <p:txBody>
          <a:bodyPr wrap="square" rtlCol="0" anchor="ctr"/>
          <a:lstStyle/>
          <a:p>
            <a:pPr indent="0" marL="0">
              <a:buNone/>
            </a:pPr>
            <a:r>
              <a:rPr lang="en-US" sz="1100" i="1" dirty="0">
                <a:solidFill>
                  <a:srgbClr val="D6F2FB"/>
                </a:solidFill>
                <a:latin typeface="Calibri" pitchFamily="34" charset="0"/>
                <a:ea typeface="Calibri" pitchFamily="34" charset="-122"/>
                <a:cs typeface="Calibri" pitchFamily="34" charset="-120"/>
              </a:rPr>
              <a:t>How do historians know which sources to trust — and what do primary and secondary sources really mean?</a:t>
            </a:r>
            <a:endParaRPr lang="en-US" sz="1100" dirty="0"/>
          </a:p>
        </p:txBody>
      </p:sp>
      <p:sp>
        <p:nvSpPr>
          <p:cNvPr id="16" name="Text 13"/>
          <p:cNvSpPr/>
          <p:nvPr/>
        </p:nvSpPr>
        <p:spPr>
          <a:xfrm>
            <a:off x="457200" y="4059936"/>
            <a:ext cx="8229600" cy="228600"/>
          </a:xfrm>
          <a:prstGeom prst="rect">
            <a:avLst/>
          </a:prstGeom>
          <a:noFill/>
          <a:ln/>
        </p:spPr>
        <p:txBody>
          <a:bodyPr wrap="square" rtlCol="0" anchor="ctr"/>
          <a:lstStyle/>
          <a:p>
            <a:pPr algn="ctr" indent="0" marL="0">
              <a:buNone/>
            </a:pPr>
            <a:r>
              <a:rPr lang="en-US" sz="1000" dirty="0">
                <a:solidFill>
                  <a:srgbClr val="2A4070"/>
                </a:solidFill>
                <a:latin typeface="Calibri" pitchFamily="34" charset="0"/>
                <a:ea typeface="Calibri" pitchFamily="34" charset="-122"/>
                <a:cs typeface="Calibri" pitchFamily="34" charset="-120"/>
              </a:rPr>
              <a:t>SS.5.A.1.1  ·  SS.5.A.1.2  ·  SS.5.G.1.1  |  Virtue Lens: Honesty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AF3E0"/>
          </a:solidFill>
          <a:ln/>
        </p:spPr>
      </p:sp>
      <p:sp>
        <p:nvSpPr>
          <p:cNvPr id="3" name="Shape 1"/>
          <p:cNvSpPr/>
          <p:nvPr/>
        </p:nvSpPr>
        <p:spPr>
          <a:xfrm>
            <a:off x="0" y="0"/>
            <a:ext cx="9144000" cy="128016"/>
          </a:xfrm>
          <a:prstGeom prst="rect">
            <a:avLst/>
          </a:prstGeom>
          <a:solidFill>
            <a:srgbClr val="8B2D26"/>
          </a:solidFill>
          <a:ln/>
        </p:spPr>
      </p:sp>
      <p:sp>
        <p:nvSpPr>
          <p:cNvPr id="4" name="Text 2"/>
          <p:cNvSpPr/>
          <p:nvPr/>
        </p:nvSpPr>
        <p:spPr>
          <a:xfrm>
            <a:off x="365760" y="164592"/>
            <a:ext cx="8412480" cy="512064"/>
          </a:xfrm>
          <a:prstGeom prst="rect">
            <a:avLst/>
          </a:prstGeom>
          <a:noFill/>
          <a:ln/>
        </p:spPr>
        <p:txBody>
          <a:bodyPr wrap="square" rtlCol="0" anchor="ctr"/>
          <a:lstStyle/>
          <a:p>
            <a:pPr algn="ctr" indent="0" marL="0">
              <a:buNone/>
            </a:pPr>
            <a:r>
              <a:rPr lang="en-US" sz="3000" b="1" dirty="0">
                <a:solidFill>
                  <a:srgbClr val="8B2D26"/>
                </a:solidFill>
                <a:latin typeface="Cambria" pitchFamily="34" charset="0"/>
                <a:ea typeface="Cambria" pitchFamily="34" charset="-122"/>
                <a:cs typeface="Cambria" pitchFamily="34" charset="-120"/>
              </a:rPr>
              <a:t>THE HASTY HERALD</a:t>
            </a:r>
            <a:endParaRPr lang="en-US" sz="3000" dirty="0"/>
          </a:p>
        </p:txBody>
      </p:sp>
      <p:sp>
        <p:nvSpPr>
          <p:cNvPr id="5" name="Text 3"/>
          <p:cNvSpPr/>
          <p:nvPr/>
        </p:nvSpPr>
        <p:spPr>
          <a:xfrm>
            <a:off x="365760" y="676656"/>
            <a:ext cx="8412480" cy="219456"/>
          </a:xfrm>
          <a:prstGeom prst="rect">
            <a:avLst/>
          </a:prstGeom>
          <a:noFill/>
          <a:ln/>
        </p:spPr>
        <p:txBody>
          <a:bodyPr wrap="square" rtlCol="0" anchor="ctr"/>
          <a:lstStyle/>
          <a:p>
            <a:pPr algn="ctr" indent="0" marL="0">
              <a:buNone/>
            </a:pPr>
            <a:r>
              <a:rPr lang="en-US" sz="1100" i="1" dirty="0">
                <a:solidFill>
                  <a:srgbClr val="B83D2C"/>
                </a:solidFill>
                <a:latin typeface="Calibri" pitchFamily="34" charset="0"/>
                <a:ea typeface="Calibri" pitchFamily="34" charset="-122"/>
                <a:cs typeface="Calibri" pitchFamily="34" charset="-120"/>
              </a:rPr>
              <a:t>Today's News  ·  Yesterday  ·  Maybe</a:t>
            </a:r>
            <a:endParaRPr lang="en-US" sz="1100" dirty="0"/>
          </a:p>
        </p:txBody>
      </p:sp>
      <p:sp>
        <p:nvSpPr>
          <p:cNvPr id="6" name="Shape 4"/>
          <p:cNvSpPr/>
          <p:nvPr/>
        </p:nvSpPr>
        <p:spPr>
          <a:xfrm>
            <a:off x="457200" y="932688"/>
            <a:ext cx="8229600" cy="22860"/>
          </a:xfrm>
          <a:prstGeom prst="rect">
            <a:avLst/>
          </a:prstGeom>
          <a:solidFill>
            <a:srgbClr val="8B2D26"/>
          </a:solidFill>
          <a:ln/>
        </p:spPr>
      </p:sp>
      <p:sp>
        <p:nvSpPr>
          <p:cNvPr id="7" name="Text 5"/>
          <p:cNvSpPr/>
          <p:nvPr/>
        </p:nvSpPr>
        <p:spPr>
          <a:xfrm>
            <a:off x="457200" y="978408"/>
            <a:ext cx="8229600" cy="548640"/>
          </a:xfrm>
          <a:prstGeom prst="rect">
            <a:avLst/>
          </a:prstGeom>
          <a:noFill/>
          <a:ln/>
        </p:spPr>
        <p:txBody>
          <a:bodyPr wrap="square" rtlCol="0" anchor="ctr"/>
          <a:lstStyle/>
          <a:p>
            <a:pPr algn="ctr" indent="0" marL="0">
              <a:buNone/>
            </a:pPr>
            <a:r>
              <a:rPr lang="en-US" sz="2600" b="1" dirty="0">
                <a:solidFill>
                  <a:srgbClr val="8B2D26"/>
                </a:solidFill>
                <a:latin typeface="Cambria" pitchFamily="34" charset="0"/>
                <a:ea typeface="Cambria" pitchFamily="34" charset="-122"/>
                <a:cs typeface="Cambria" pitchFamily="34" charset="-120"/>
              </a:rPr>
              <a:t>Old Papers Tell the Whole Story!</a:t>
            </a:r>
            <a:endParaRPr lang="en-US" sz="2600" dirty="0"/>
          </a:p>
        </p:txBody>
      </p:sp>
      <p:sp>
        <p:nvSpPr>
          <p:cNvPr id="8" name="Shape 6"/>
          <p:cNvSpPr/>
          <p:nvPr/>
        </p:nvSpPr>
        <p:spPr>
          <a:xfrm>
            <a:off x="1371600" y="1609344"/>
            <a:ext cx="6400800" cy="822960"/>
          </a:xfrm>
          <a:prstGeom prst="roundRect">
            <a:avLst>
              <a:gd name="adj" fmla="val 6667"/>
            </a:avLst>
          </a:prstGeom>
          <a:solidFill>
            <a:srgbClr val="F5EDDA"/>
          </a:solidFill>
          <a:ln w="19050">
            <a:solidFill>
              <a:srgbClr val="C4A87A"/>
            </a:solidFill>
            <a:prstDash val="solid"/>
          </a:ln>
        </p:spPr>
      </p:sp>
      <p:sp>
        <p:nvSpPr>
          <p:cNvPr id="9" name="Text 7"/>
          <p:cNvSpPr/>
          <p:nvPr/>
        </p:nvSpPr>
        <p:spPr>
          <a:xfrm>
            <a:off x="1554480" y="1645920"/>
            <a:ext cx="6035040" cy="749808"/>
          </a:xfrm>
          <a:prstGeom prst="rect">
            <a:avLst/>
          </a:prstGeom>
          <a:noFill/>
          <a:ln/>
        </p:spPr>
        <p:txBody>
          <a:bodyPr wrap="square" rtlCol="0" anchor="ctr"/>
          <a:lstStyle/>
          <a:p>
            <a:pPr algn="ctr" indent="0" marL="0">
              <a:buNone/>
            </a:pPr>
            <a:r>
              <a:rPr lang="en-US" sz="1600" i="1" dirty="0">
                <a:solidFill>
                  <a:srgbClr val="3A2A1A"/>
                </a:solidFill>
                <a:latin typeface="Cambria" pitchFamily="34" charset="0"/>
                <a:ea typeface="Cambria" pitchFamily="34" charset="-122"/>
                <a:cs typeface="Cambria" pitchFamily="34" charset="-120"/>
              </a:rPr>
              <a:t>"Old documents always tell the whole truth by themselves!"</a:t>
            </a:r>
            <a:endParaRPr lang="en-US" sz="1600" dirty="0"/>
          </a:p>
        </p:txBody>
      </p:sp>
      <p:sp>
        <p:nvSpPr>
          <p:cNvPr id="10" name="Shape 8"/>
          <p:cNvSpPr/>
          <p:nvPr/>
        </p:nvSpPr>
        <p:spPr>
          <a:xfrm>
            <a:off x="6400800" y="1463040"/>
            <a:ext cx="2286000" cy="457200"/>
          </a:xfrm>
          <a:prstGeom prst="roundRect">
            <a:avLst>
              <a:gd name="adj" fmla="val 12000"/>
            </a:avLst>
          </a:prstGeom>
          <a:solidFill>
            <a:srgbClr val="B83D2C"/>
          </a:solidFill>
          <a:ln/>
        </p:spPr>
      </p:sp>
      <p:sp>
        <p:nvSpPr>
          <p:cNvPr id="11" name="Text 9"/>
          <p:cNvSpPr/>
          <p:nvPr/>
        </p:nvSpPr>
        <p:spPr>
          <a:xfrm>
            <a:off x="6400800" y="1463040"/>
            <a:ext cx="2286000" cy="457200"/>
          </a:xfrm>
          <a:prstGeom prst="rect">
            <a:avLst/>
          </a:prstGeom>
          <a:noFill/>
          <a:ln/>
        </p:spPr>
        <p:txBody>
          <a:bodyPr wrap="square" rtlCol="0" anchor="ctr"/>
          <a:lstStyle/>
          <a:p>
            <a:pPr algn="ctr" indent="0" marL="0">
              <a:buNone/>
            </a:pPr>
            <a:r>
              <a:rPr lang="en-US" sz="1100" b="1" spc="50" kern="0" dirty="0">
                <a:solidFill>
                  <a:srgbClr val="FFFFFF"/>
                </a:solidFill>
                <a:latin typeface="Calibri" pitchFamily="34" charset="0"/>
                <a:ea typeface="Calibri" pitchFamily="34" charset="-122"/>
                <a:cs typeface="Calibri" pitchFamily="34" charset="-120"/>
              </a:rPr>
              <a:t>RUSHED TO PRINT!</a:t>
            </a:r>
            <a:endParaRPr lang="en-US" sz="1100" dirty="0"/>
          </a:p>
        </p:txBody>
      </p:sp>
      <p:sp>
        <p:nvSpPr>
          <p:cNvPr id="12" name="Text 10"/>
          <p:cNvSpPr/>
          <p:nvPr/>
        </p:nvSpPr>
        <p:spPr>
          <a:xfrm>
            <a:off x="457200" y="2542032"/>
            <a:ext cx="8229600" cy="457200"/>
          </a:xfrm>
          <a:prstGeom prst="rect">
            <a:avLst/>
          </a:prstGeom>
          <a:noFill/>
          <a:ln/>
        </p:spPr>
        <p:txBody>
          <a:bodyPr wrap="square" rtlCol="0" anchor="ctr"/>
          <a:lstStyle/>
          <a:p>
            <a:pPr algn="ctr" indent="0" marL="0">
              <a:buNone/>
            </a:pPr>
            <a:r>
              <a:rPr lang="en-US" sz="1200" dirty="0">
                <a:solidFill>
                  <a:srgbClr val="3A2A1A"/>
                </a:solidFill>
                <a:latin typeface="Calibri" pitchFamily="34" charset="0"/>
                <a:ea typeface="Calibri" pitchFamily="34" charset="-122"/>
                <a:cs typeface="Calibri" pitchFamily="34" charset="-120"/>
              </a:rPr>
              <a:t>Your job, Junior Editor: figure out what part of the Herald's claim is partly true, what is missing, and what evidence would set the record straight.</a:t>
            </a:r>
            <a:endParaRPr lang="en-US" sz="1200" dirty="0"/>
          </a:p>
        </p:txBody>
      </p:sp>
      <p:sp>
        <p:nvSpPr>
          <p:cNvPr id="13" name="Shape 11"/>
          <p:cNvSpPr/>
          <p:nvPr/>
        </p:nvSpPr>
        <p:spPr>
          <a:xfrm>
            <a:off x="365760" y="3090672"/>
            <a:ext cx="4572000" cy="1417320"/>
          </a:xfrm>
          <a:prstGeom prst="roundRect">
            <a:avLst>
              <a:gd name="adj" fmla="val 7742"/>
            </a:avLst>
          </a:prstGeom>
          <a:solidFill>
            <a:srgbClr val="1A2D5A"/>
          </a:solidFill>
          <a:ln w="12700">
            <a:solidFill>
              <a:srgbClr val="2A4070"/>
            </a:solidFill>
            <a:prstDash val="solid"/>
          </a:ln>
        </p:spPr>
      </p:sp>
      <p:sp>
        <p:nvSpPr>
          <p:cNvPr id="14" name="Text 12"/>
          <p:cNvSpPr/>
          <p:nvPr/>
        </p:nvSpPr>
        <p:spPr>
          <a:xfrm>
            <a:off x="502920" y="3145536"/>
            <a:ext cx="4297680" cy="201168"/>
          </a:xfrm>
          <a:prstGeom prst="rect">
            <a:avLst/>
          </a:prstGeom>
          <a:noFill/>
          <a:ln/>
        </p:spPr>
        <p:txBody>
          <a:bodyPr wrap="square"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548640" y="3410712"/>
            <a:ext cx="4206240" cy="1005840"/>
          </a:xfrm>
          <a:prstGeom prst="rect">
            <a:avLst/>
          </a:prstGeom>
          <a:noFill/>
          <a:ln/>
        </p:spPr>
        <p:txBody>
          <a:bodyPr wrap="square" rtlCol="0" anchor="t"/>
          <a:lstStyle/>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part of the Herald's claim might be true?</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is the Herald leaving out about how sources work?</a:t>
            </a:r>
            <a:endParaRPr lang="en-US" sz="1100" dirty="0"/>
          </a:p>
          <a:p>
            <a:pPr indent="0" marL="0">
              <a:spcAft>
                <a:spcPts val="400"/>
              </a:spcAft>
              <a:buNone/>
            </a:pPr>
            <a:r>
              <a:rPr lang="en-US" sz="1100" i="1" dirty="0">
                <a:solidFill>
                  <a:srgbClr val="D6F2FB"/>
                </a:solidFill>
                <a:latin typeface="Calibri" pitchFamily="34" charset="0"/>
                <a:ea typeface="Calibri" pitchFamily="34" charset="-122"/>
                <a:cs typeface="Calibri" pitchFamily="34" charset="-120"/>
              </a:rPr>
              <a:t>What would you need to know before trusting a document?</a:t>
            </a:r>
            <a:endParaRPr lang="en-US" sz="1100" dirty="0"/>
          </a:p>
        </p:txBody>
      </p:sp>
      <p:sp>
        <p:nvSpPr>
          <p:cNvPr id="16" name="Shape 14"/>
          <p:cNvSpPr/>
          <p:nvPr/>
        </p:nvSpPr>
        <p:spPr>
          <a:xfrm>
            <a:off x="5120640" y="3090672"/>
            <a:ext cx="3611880" cy="1417320"/>
          </a:xfrm>
          <a:prstGeom prst="roundRect">
            <a:avLst>
              <a:gd name="adj" fmla="val 7742"/>
            </a:avLst>
          </a:prstGeom>
          <a:solidFill>
            <a:srgbClr val="FFF3DC"/>
          </a:solidFill>
          <a:ln w="19050">
            <a:solidFill>
              <a:srgbClr val="F5E6C8"/>
            </a:solidFill>
            <a:prstDash val="solid"/>
          </a:ln>
        </p:spPr>
      </p:sp>
      <p:sp>
        <p:nvSpPr>
          <p:cNvPr id="17" name="Text 15"/>
          <p:cNvSpPr/>
          <p:nvPr/>
        </p:nvSpPr>
        <p:spPr>
          <a:xfrm>
            <a:off x="5257800" y="3145536"/>
            <a:ext cx="3337560" cy="201168"/>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6"/>
          <p:cNvSpPr/>
          <p:nvPr/>
        </p:nvSpPr>
        <p:spPr>
          <a:xfrm>
            <a:off x="5257800" y="3346704"/>
            <a:ext cx="3337560" cy="1097280"/>
          </a:xfrm>
          <a:prstGeom prst="rect">
            <a:avLst/>
          </a:prstGeom>
          <a:noFill/>
          <a:ln/>
        </p:spPr>
        <p:txBody>
          <a:bodyPr wrap="square"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Herald is wrong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the Herald left out 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D4943A"/>
          </a:solidFill>
          <a:ln/>
        </p:spPr>
      </p:sp>
      <p:sp>
        <p:nvSpPr>
          <p:cNvPr id="4" name="Text 2"/>
          <p:cNvSpPr/>
          <p:nvPr/>
        </p:nvSpPr>
        <p:spPr>
          <a:xfrm>
            <a:off x="365760" y="128016"/>
            <a:ext cx="8412480" cy="274320"/>
          </a:xfrm>
          <a:prstGeom prst="rect">
            <a:avLst/>
          </a:prstGeom>
          <a:noFill/>
          <a:ln/>
        </p:spPr>
        <p:txBody>
          <a:bodyPr wrap="square" rtlCol="0" anchor="ctr"/>
          <a:lstStyle/>
          <a:p>
            <a:pPr algn="ctr" indent="0" marL="0">
              <a:buNone/>
            </a:pPr>
            <a:r>
              <a:rPr lang="en-US" sz="1100" b="1" spc="200" kern="0" dirty="0">
                <a:solidFill>
                  <a:srgbClr val="D4943A"/>
                </a:solidFill>
                <a:latin typeface="Calibri" pitchFamily="34" charset="0"/>
                <a:ea typeface="Calibri" pitchFamily="34" charset="-122"/>
                <a:cs typeface="Calibri" pitchFamily="34" charset="-120"/>
              </a:rPr>
              <a:t>DISPATCH  |  Vol. 1  ·  Issue 1</a:t>
            </a:r>
            <a:endParaRPr lang="en-US" sz="1100" dirty="0"/>
          </a:p>
        </p:txBody>
      </p:sp>
      <p:sp>
        <p:nvSpPr>
          <p:cNvPr id="5" name="Shape 3"/>
          <p:cNvSpPr/>
          <p:nvPr/>
        </p:nvSpPr>
        <p:spPr>
          <a:xfrm>
            <a:off x="365760" y="457200"/>
            <a:ext cx="8412480" cy="438912"/>
          </a:xfrm>
          <a:prstGeom prst="roundRect">
            <a:avLst>
              <a:gd name="adj" fmla="val 16667"/>
            </a:avLst>
          </a:prstGeom>
          <a:solidFill>
            <a:srgbClr val="1A2D5A"/>
          </a:solidFill>
          <a:ln/>
        </p:spPr>
      </p:sp>
      <p:sp>
        <p:nvSpPr>
          <p:cNvPr id="6" name="Text 4"/>
          <p:cNvSpPr/>
          <p:nvPr/>
        </p:nvSpPr>
        <p:spPr>
          <a:xfrm>
            <a:off x="548640" y="457200"/>
            <a:ext cx="8229600" cy="438912"/>
          </a:xfrm>
          <a:prstGeom prst="rect">
            <a:avLst/>
          </a:prstGeom>
          <a:noFill/>
          <a:ln/>
        </p:spPr>
        <p:txBody>
          <a:bodyPr wrap="square" rtlCol="0" anchor="ctr"/>
          <a:lstStyle/>
          <a:p>
            <a:pPr indent="0" marL="0">
              <a:buNone/>
            </a:pPr>
            <a:r>
              <a:rPr lang="en-US" sz="1200" b="1" dirty="0">
                <a:solidFill>
                  <a:srgbClr val="D4943A"/>
                </a:solidFill>
                <a:latin typeface="Cambria" pitchFamily="34" charset="0"/>
                <a:ea typeface="Cambria" pitchFamily="34" charset="-122"/>
                <a:cs typeface="Cambria" pitchFamily="34" charset="-120"/>
              </a:rPr>
              <a:t>FROM THE EDITOR'S DESK  —  Ms. Avery, Editor-in-Chief</a:t>
            </a:r>
            <a:endParaRPr lang="en-US" sz="1200" dirty="0"/>
          </a:p>
        </p:txBody>
      </p:sp>
      <p:sp>
        <p:nvSpPr>
          <p:cNvPr id="7" name="Text 5"/>
          <p:cNvSpPr/>
          <p:nvPr/>
        </p:nvSpPr>
        <p:spPr>
          <a:xfrm>
            <a:off x="457200" y="978408"/>
            <a:ext cx="8229600" cy="438912"/>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Welcome to The Republic Gazette. Before this paper can earn the trust of its readers, every junior editor must learn the same lesson:</a:t>
            </a:r>
            <a:endParaRPr lang="en-US" sz="1300" dirty="0"/>
          </a:p>
        </p:txBody>
      </p:sp>
      <p:sp>
        <p:nvSpPr>
          <p:cNvPr id="8" name="Shape 6"/>
          <p:cNvSpPr/>
          <p:nvPr/>
        </p:nvSpPr>
        <p:spPr>
          <a:xfrm>
            <a:off x="914400" y="1481328"/>
            <a:ext cx="7315200" cy="475488"/>
          </a:xfrm>
          <a:prstGeom prst="roundRect">
            <a:avLst>
              <a:gd name="adj" fmla="val 15385"/>
            </a:avLst>
          </a:prstGeom>
          <a:solidFill>
            <a:srgbClr val="1A8A7D">
              <a:alpha val="85000"/>
            </a:srgbClr>
          </a:solidFill>
          <a:ln/>
        </p:spPr>
      </p:sp>
      <p:sp>
        <p:nvSpPr>
          <p:cNvPr id="9" name="Text 7"/>
          <p:cNvSpPr/>
          <p:nvPr/>
        </p:nvSpPr>
        <p:spPr>
          <a:xfrm>
            <a:off x="1051560" y="1481328"/>
            <a:ext cx="7040880" cy="475488"/>
          </a:xfrm>
          <a:prstGeom prst="rect">
            <a:avLst/>
          </a:prstGeom>
          <a:noFill/>
          <a:ln/>
        </p:spPr>
        <p:txBody>
          <a:bodyPr wrap="square" rtlCol="0" anchor="ctr"/>
          <a:lstStyle/>
          <a:p>
            <a:pPr algn="ctr" indent="0" marL="0">
              <a:buNone/>
            </a:pPr>
            <a:r>
              <a:rPr lang="en-US" sz="1500" b="1" i="1" dirty="0">
                <a:solidFill>
                  <a:srgbClr val="FFFFFF"/>
                </a:solidFill>
                <a:latin typeface="Cambria" pitchFamily="34" charset="0"/>
                <a:ea typeface="Cambria" pitchFamily="34" charset="-122"/>
                <a:cs typeface="Cambria" pitchFamily="34" charset="-120"/>
              </a:rPr>
              <a:t>Test every claim with evidence before it goes to print.</a:t>
            </a:r>
            <a:endParaRPr lang="en-US" sz="1500" dirty="0"/>
          </a:p>
        </p:txBody>
      </p:sp>
      <p:sp>
        <p:nvSpPr>
          <p:cNvPr id="10" name="Shape 8"/>
          <p:cNvSpPr/>
          <p:nvPr/>
        </p:nvSpPr>
        <p:spPr>
          <a:xfrm>
            <a:off x="365760" y="2066544"/>
            <a:ext cx="8412480" cy="512064"/>
          </a:xfrm>
          <a:prstGeom prst="roundRect">
            <a:avLst>
              <a:gd name="adj" fmla="val 14286"/>
            </a:avLst>
          </a:prstGeom>
          <a:solidFill>
            <a:srgbClr val="1A2D5A"/>
          </a:solidFill>
          <a:ln w="12700">
            <a:solidFill>
              <a:srgbClr val="2A4070"/>
            </a:solidFill>
            <a:prstDash val="solid"/>
          </a:ln>
        </p:spPr>
      </p:sp>
      <p:sp>
        <p:nvSpPr>
          <p:cNvPr id="11" name="Text 9"/>
          <p:cNvSpPr/>
          <p:nvPr/>
        </p:nvSpPr>
        <p:spPr>
          <a:xfrm>
            <a:off x="594360" y="2121408"/>
            <a:ext cx="8046720" cy="402336"/>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  A rival paper (The Hasty Herald) already rushed a flawed claim to print.</a:t>
            </a:r>
            <a:endParaRPr lang="en-US" sz="1300" dirty="0"/>
          </a:p>
        </p:txBody>
      </p:sp>
      <p:sp>
        <p:nvSpPr>
          <p:cNvPr id="12" name="Shape 10"/>
          <p:cNvSpPr/>
          <p:nvPr/>
        </p:nvSpPr>
        <p:spPr>
          <a:xfrm>
            <a:off x="365760" y="2688336"/>
            <a:ext cx="8412480" cy="512064"/>
          </a:xfrm>
          <a:prstGeom prst="roundRect">
            <a:avLst>
              <a:gd name="adj" fmla="val 14286"/>
            </a:avLst>
          </a:prstGeom>
          <a:solidFill>
            <a:srgbClr val="1A2D5A"/>
          </a:solidFill>
          <a:ln w="12700">
            <a:solidFill>
              <a:srgbClr val="2A4070"/>
            </a:solidFill>
            <a:prstDash val="solid"/>
          </a:ln>
        </p:spPr>
      </p:sp>
      <p:sp>
        <p:nvSpPr>
          <p:cNvPr id="13" name="Text 11"/>
          <p:cNvSpPr/>
          <p:nvPr/>
        </p:nvSpPr>
        <p:spPr>
          <a:xfrm>
            <a:off x="594360" y="2743200"/>
            <a:ext cx="8046720" cy="402336"/>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  Today you'll learn to tell primary and secondary sources apart.</a:t>
            </a:r>
            <a:endParaRPr lang="en-US" sz="1300" dirty="0"/>
          </a:p>
        </p:txBody>
      </p:sp>
      <p:sp>
        <p:nvSpPr>
          <p:cNvPr id="14" name="Shape 12"/>
          <p:cNvSpPr/>
          <p:nvPr/>
        </p:nvSpPr>
        <p:spPr>
          <a:xfrm>
            <a:off x="365760" y="3310128"/>
            <a:ext cx="8412480" cy="512064"/>
          </a:xfrm>
          <a:prstGeom prst="roundRect">
            <a:avLst>
              <a:gd name="adj" fmla="val 14286"/>
            </a:avLst>
          </a:prstGeom>
          <a:solidFill>
            <a:srgbClr val="1A2D5A"/>
          </a:solidFill>
          <a:ln w="12700">
            <a:solidFill>
              <a:srgbClr val="2A4070"/>
            </a:solidFill>
            <a:prstDash val="solid"/>
          </a:ln>
        </p:spPr>
      </p:sp>
      <p:sp>
        <p:nvSpPr>
          <p:cNvPr id="15" name="Text 13"/>
          <p:cNvSpPr/>
          <p:nvPr/>
        </p:nvSpPr>
        <p:spPr>
          <a:xfrm>
            <a:off x="594360" y="3364992"/>
            <a:ext cx="8046720" cy="402336"/>
          </a:xfrm>
          <a:prstGeom prst="rect">
            <a:avLst/>
          </a:prstGeom>
          <a:noFill/>
          <a:ln/>
        </p:spPr>
        <p:txBody>
          <a:bodyPr wrap="square" rtlCol="0" anchor="ctr"/>
          <a:lstStyle/>
          <a:p>
            <a:pPr indent="0" marL="0">
              <a:buNone/>
            </a:pPr>
            <a:r>
              <a:rPr lang="en-US" sz="1300" dirty="0">
                <a:solidFill>
                  <a:srgbClr val="D6F2FB"/>
                </a:solidFill>
                <a:latin typeface="Calibri" pitchFamily="34" charset="0"/>
                <a:ea typeface="Calibri" pitchFamily="34" charset="-122"/>
                <a:cs typeface="Calibri" pitchFamily="34" charset="-120"/>
              </a:rPr>
              <a:t>✏️  Your job: set the record straight in the first Front Page Brief of the year.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1A8A7D"/>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Discovery: What Is a Primary Source?</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Clue Box — observe before you interpret</a:t>
            </a:r>
            <a:endParaRPr lang="en-US" sz="1050" dirty="0"/>
          </a:p>
        </p:txBody>
      </p:sp>
      <p:sp>
        <p:nvSpPr>
          <p:cNvPr id="7" name="Shape 5"/>
          <p:cNvSpPr/>
          <p:nvPr/>
        </p:nvSpPr>
        <p:spPr>
          <a:xfrm>
            <a:off x="365760" y="1024128"/>
            <a:ext cx="5029200" cy="2971800"/>
          </a:xfrm>
          <a:prstGeom prst="roundRect">
            <a:avLst>
              <a:gd name="adj" fmla="val 3692"/>
            </a:avLst>
          </a:prstGeom>
          <a:solidFill>
            <a:srgbClr val="1A2D5A"/>
          </a:solidFill>
          <a:ln w="19050">
            <a:solidFill>
              <a:srgbClr val="55C8E8"/>
            </a:solidFill>
            <a:prstDash val="solid"/>
          </a:ln>
        </p:spPr>
      </p:sp>
      <p:sp>
        <p:nvSpPr>
          <p:cNvPr id="8" name="Text 6"/>
          <p:cNvSpPr/>
          <p:nvPr/>
        </p:nvSpPr>
        <p:spPr>
          <a:xfrm>
            <a:off x="548640" y="1097280"/>
            <a:ext cx="4663440" cy="246888"/>
          </a:xfrm>
          <a:prstGeom prst="rect">
            <a:avLst/>
          </a:prstGeom>
          <a:noFill/>
          <a:ln/>
        </p:spPr>
        <p:txBody>
          <a:bodyPr wrap="square" rtlCol="0" anchor="ctr"/>
          <a:lstStyle/>
          <a:p>
            <a:pPr indent="0" marL="0">
              <a:buNone/>
            </a:pPr>
            <a:r>
              <a:rPr lang="en-US" sz="1000" b="1" spc="200" kern="0" dirty="0">
                <a:solidFill>
                  <a:srgbClr val="55C8E8"/>
                </a:solidFill>
                <a:latin typeface="Calibri" pitchFamily="34" charset="0"/>
                <a:ea typeface="Calibri" pitchFamily="34" charset="-122"/>
                <a:cs typeface="Calibri" pitchFamily="34" charset="-120"/>
              </a:rPr>
              <a:t>CLUE BOX</a:t>
            </a:r>
            <a:endParaRPr lang="en-US" sz="1000" dirty="0"/>
          </a:p>
        </p:txBody>
      </p:sp>
      <p:sp>
        <p:nvSpPr>
          <p:cNvPr id="9" name="Text 7"/>
          <p:cNvSpPr/>
          <p:nvPr/>
        </p:nvSpPr>
        <p:spPr>
          <a:xfrm>
            <a:off x="548640" y="1371600"/>
            <a:ext cx="4572000" cy="292608"/>
          </a:xfrm>
          <a:prstGeom prst="rect">
            <a:avLst/>
          </a:prstGeom>
          <a:noFill/>
          <a:ln/>
        </p:spPr>
        <p:txBody>
          <a:bodyPr wrap="square" rtlCol="0" anchor="ctr"/>
          <a:lstStyle/>
          <a:p>
            <a:pPr indent="0" marL="0">
              <a:buNone/>
            </a:pPr>
            <a:r>
              <a:rPr lang="en-US" sz="1200" i="1" dirty="0">
                <a:solidFill>
                  <a:srgbClr val="D6F2FB"/>
                </a:solidFill>
                <a:latin typeface="Calibri" pitchFamily="34" charset="0"/>
                <a:ea typeface="Calibri" pitchFamily="34" charset="-122"/>
                <a:cs typeface="Calibri" pitchFamily="34" charset="-120"/>
              </a:rPr>
              <a:t>What do all four of these have in common?</a:t>
            </a:r>
            <a:endParaRPr lang="en-US" sz="1200" dirty="0"/>
          </a:p>
        </p:txBody>
      </p:sp>
      <p:sp>
        <p:nvSpPr>
          <p:cNvPr id="10" name="Shape 8"/>
          <p:cNvSpPr/>
          <p:nvPr/>
        </p:nvSpPr>
        <p:spPr>
          <a:xfrm>
            <a:off x="548640" y="1737360"/>
            <a:ext cx="4663440" cy="402336"/>
          </a:xfrm>
          <a:prstGeom prst="roundRect">
            <a:avLst>
              <a:gd name="adj" fmla="val 13636"/>
            </a:avLst>
          </a:prstGeom>
          <a:solidFill>
            <a:srgbClr val="0E1C42"/>
          </a:solidFill>
          <a:ln/>
        </p:spPr>
      </p:sp>
      <p:sp>
        <p:nvSpPr>
          <p:cNvPr id="11" name="Text 9"/>
          <p:cNvSpPr/>
          <p:nvPr/>
        </p:nvSpPr>
        <p:spPr>
          <a:xfrm>
            <a:off x="685800" y="1773936"/>
            <a:ext cx="4389120" cy="32918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A soldier's letter home from the Civil War, written in 1863.</a:t>
            </a:r>
            <a:endParaRPr lang="en-US" sz="1200" dirty="0"/>
          </a:p>
        </p:txBody>
      </p:sp>
      <p:sp>
        <p:nvSpPr>
          <p:cNvPr id="12" name="Shape 10"/>
          <p:cNvSpPr/>
          <p:nvPr/>
        </p:nvSpPr>
        <p:spPr>
          <a:xfrm>
            <a:off x="548640" y="2212848"/>
            <a:ext cx="4663440" cy="402336"/>
          </a:xfrm>
          <a:prstGeom prst="roundRect">
            <a:avLst>
              <a:gd name="adj" fmla="val 13636"/>
            </a:avLst>
          </a:prstGeom>
          <a:solidFill>
            <a:srgbClr val="0E1C42"/>
          </a:solidFill>
          <a:ln/>
        </p:spPr>
      </p:sp>
      <p:sp>
        <p:nvSpPr>
          <p:cNvPr id="13" name="Text 11"/>
          <p:cNvSpPr/>
          <p:nvPr/>
        </p:nvSpPr>
        <p:spPr>
          <a:xfrm>
            <a:off x="685800" y="2249424"/>
            <a:ext cx="4389120" cy="32918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A diary kept by a colonist in Virginia in 1611.</a:t>
            </a:r>
            <a:endParaRPr lang="en-US" sz="1200" dirty="0"/>
          </a:p>
        </p:txBody>
      </p:sp>
      <p:sp>
        <p:nvSpPr>
          <p:cNvPr id="14" name="Shape 12"/>
          <p:cNvSpPr/>
          <p:nvPr/>
        </p:nvSpPr>
        <p:spPr>
          <a:xfrm>
            <a:off x="548640" y="2688336"/>
            <a:ext cx="4663440" cy="402336"/>
          </a:xfrm>
          <a:prstGeom prst="roundRect">
            <a:avLst>
              <a:gd name="adj" fmla="val 13636"/>
            </a:avLst>
          </a:prstGeom>
          <a:solidFill>
            <a:srgbClr val="0E1C42"/>
          </a:solidFill>
          <a:ln/>
        </p:spPr>
      </p:sp>
      <p:sp>
        <p:nvSpPr>
          <p:cNvPr id="15" name="Text 13"/>
          <p:cNvSpPr/>
          <p:nvPr/>
        </p:nvSpPr>
        <p:spPr>
          <a:xfrm>
            <a:off x="685800" y="2724912"/>
            <a:ext cx="4389120" cy="32918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A photograph taken at Ellis Island in 1905.</a:t>
            </a:r>
            <a:endParaRPr lang="en-US" sz="1200" dirty="0"/>
          </a:p>
        </p:txBody>
      </p:sp>
      <p:sp>
        <p:nvSpPr>
          <p:cNvPr id="16" name="Shape 14"/>
          <p:cNvSpPr/>
          <p:nvPr/>
        </p:nvSpPr>
        <p:spPr>
          <a:xfrm>
            <a:off x="548640" y="3163824"/>
            <a:ext cx="4663440" cy="402336"/>
          </a:xfrm>
          <a:prstGeom prst="roundRect">
            <a:avLst>
              <a:gd name="adj" fmla="val 13636"/>
            </a:avLst>
          </a:prstGeom>
          <a:solidFill>
            <a:srgbClr val="0E1C42"/>
          </a:solidFill>
          <a:ln/>
        </p:spPr>
      </p:sp>
      <p:sp>
        <p:nvSpPr>
          <p:cNvPr id="17" name="Text 15"/>
          <p:cNvSpPr/>
          <p:nvPr/>
        </p:nvSpPr>
        <p:spPr>
          <a:xfrm>
            <a:off x="685800" y="3200400"/>
            <a:ext cx="4389120" cy="329184"/>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The original, signed Declaration of Independence.</a:t>
            </a:r>
            <a:endParaRPr lang="en-US" sz="1200" dirty="0"/>
          </a:p>
        </p:txBody>
      </p:sp>
      <p:sp>
        <p:nvSpPr>
          <p:cNvPr id="18" name="Shape 16"/>
          <p:cNvSpPr/>
          <p:nvPr/>
        </p:nvSpPr>
        <p:spPr>
          <a:xfrm>
            <a:off x="5577840" y="1024128"/>
            <a:ext cx="3200400" cy="1417320"/>
          </a:xfrm>
          <a:prstGeom prst="roundRect">
            <a:avLst>
              <a:gd name="adj" fmla="val 7742"/>
            </a:avLst>
          </a:prstGeom>
          <a:solidFill>
            <a:srgbClr val="FFF3DC"/>
          </a:solidFill>
          <a:ln w="19050">
            <a:solidFill>
              <a:srgbClr val="F5E6C8"/>
            </a:solidFill>
            <a:prstDash val="solid"/>
          </a:ln>
        </p:spPr>
      </p:sp>
      <p:sp>
        <p:nvSpPr>
          <p:cNvPr id="19" name="Text 17"/>
          <p:cNvSpPr/>
          <p:nvPr/>
        </p:nvSpPr>
        <p:spPr>
          <a:xfrm>
            <a:off x="5715000" y="1078992"/>
            <a:ext cx="2926080" cy="219456"/>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THINK &amp; DISCUSS</a:t>
            </a:r>
            <a:endParaRPr lang="en-US" sz="900" dirty="0"/>
          </a:p>
        </p:txBody>
      </p:sp>
      <p:sp>
        <p:nvSpPr>
          <p:cNvPr id="20" name="Text 18"/>
          <p:cNvSpPr/>
          <p:nvPr/>
        </p:nvSpPr>
        <p:spPr>
          <a:xfrm>
            <a:off x="5715000" y="1316736"/>
            <a:ext cx="2926080" cy="685800"/>
          </a:xfrm>
          <a:prstGeom prst="rect">
            <a:avLst/>
          </a:prstGeom>
          <a:noFill/>
          <a:ln/>
        </p:spPr>
        <p:txBody>
          <a:bodyPr wrap="square" rtlCol="0" anchor="t"/>
          <a:lstStyle/>
          <a:p>
            <a:pPr indent="0" marL="0">
              <a:buNone/>
            </a:pPr>
            <a:r>
              <a:rPr lang="en-US" sz="1200" i="1" dirty="0">
                <a:solidFill>
                  <a:srgbClr val="5A4A3A"/>
                </a:solidFill>
                <a:latin typeface="Cambria" pitchFamily="34" charset="0"/>
                <a:ea typeface="Cambria" pitchFamily="34" charset="-122"/>
                <a:cs typeface="Cambria" pitchFamily="34" charset="-120"/>
              </a:rPr>
              <a:t>What do all four of these sources have in common? Think 30 seconds, then share.</a:t>
            </a:r>
            <a:endParaRPr lang="en-US" sz="1200" dirty="0"/>
          </a:p>
        </p:txBody>
      </p:sp>
      <p:sp>
        <p:nvSpPr>
          <p:cNvPr id="21" name="Shape 19"/>
          <p:cNvSpPr/>
          <p:nvPr/>
        </p:nvSpPr>
        <p:spPr>
          <a:xfrm>
            <a:off x="5577840" y="2514600"/>
            <a:ext cx="3200400" cy="1417320"/>
          </a:xfrm>
          <a:prstGeom prst="roundRect">
            <a:avLst>
              <a:gd name="adj" fmla="val 7742"/>
            </a:avLst>
          </a:prstGeom>
          <a:solidFill>
            <a:srgbClr val="1A8A7D">
              <a:alpha val="88000"/>
            </a:srgbClr>
          </a:solidFill>
          <a:ln/>
        </p:spPr>
      </p:sp>
      <p:sp>
        <p:nvSpPr>
          <p:cNvPr id="22" name="Text 20"/>
          <p:cNvSpPr/>
          <p:nvPr/>
        </p:nvSpPr>
        <p:spPr>
          <a:xfrm>
            <a:off x="5715000" y="2578608"/>
            <a:ext cx="2926080" cy="237744"/>
          </a:xfrm>
          <a:prstGeom prst="rect">
            <a:avLst/>
          </a:prstGeom>
          <a:noFill/>
          <a:ln/>
        </p:spPr>
        <p:txBody>
          <a:bodyPr wrap="square" rtlCol="0" anchor="ctr"/>
          <a:lstStyle/>
          <a:p>
            <a:pPr indent="0" marL="0">
              <a:buNone/>
            </a:pPr>
            <a:r>
              <a:rPr lang="en-US" sz="900" b="1" spc="150" kern="0" dirty="0">
                <a:solidFill>
                  <a:srgbClr val="FFFFFF"/>
                </a:solidFill>
                <a:latin typeface="Calibri" pitchFamily="34" charset="0"/>
                <a:ea typeface="Calibri" pitchFamily="34" charset="-122"/>
                <a:cs typeface="Calibri" pitchFamily="34" charset="-120"/>
              </a:rPr>
              <a:t>KEY CLUE:</a:t>
            </a:r>
            <a:endParaRPr lang="en-US" sz="900" dirty="0"/>
          </a:p>
        </p:txBody>
      </p:sp>
      <p:sp>
        <p:nvSpPr>
          <p:cNvPr id="23" name="Text 21"/>
          <p:cNvSpPr/>
          <p:nvPr/>
        </p:nvSpPr>
        <p:spPr>
          <a:xfrm>
            <a:off x="5715000" y="2834640"/>
            <a:ext cx="2926080" cy="1005840"/>
          </a:xfrm>
          <a:prstGeom prst="rect">
            <a:avLst/>
          </a:prstGeom>
          <a:noFill/>
          <a:ln/>
        </p:spPr>
        <p:txBody>
          <a:bodyPr wrap="square"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They were all made during or at the time of the event, by someone who was actually there.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1A8A7D"/>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Primary Sources: The Original Record</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Created at the time of the event, by someone who was there</a:t>
            </a:r>
            <a:endParaRPr lang="en-US" sz="1050" dirty="0"/>
          </a:p>
        </p:txBody>
      </p:sp>
      <p:sp>
        <p:nvSpPr>
          <p:cNvPr id="7" name="Shape 5"/>
          <p:cNvSpPr/>
          <p:nvPr/>
        </p:nvSpPr>
        <p:spPr>
          <a:xfrm>
            <a:off x="365760" y="804672"/>
            <a:ext cx="8412480" cy="777240"/>
          </a:xfrm>
          <a:prstGeom prst="roundRect">
            <a:avLst>
              <a:gd name="adj" fmla="val 11765"/>
            </a:avLst>
          </a:prstGeom>
          <a:solidFill>
            <a:srgbClr val="1A8A7D"/>
          </a:solidFill>
          <a:ln/>
        </p:spPr>
      </p:sp>
      <p:sp>
        <p:nvSpPr>
          <p:cNvPr id="8" name="Text 6"/>
          <p:cNvSpPr/>
          <p:nvPr/>
        </p:nvSpPr>
        <p:spPr>
          <a:xfrm>
            <a:off x="548640" y="841248"/>
            <a:ext cx="3200400" cy="237744"/>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PRIMARY SOURCE</a:t>
            </a:r>
            <a:endParaRPr lang="en-US" sz="1000" dirty="0"/>
          </a:p>
        </p:txBody>
      </p:sp>
      <p:sp>
        <p:nvSpPr>
          <p:cNvPr id="9" name="Text 7"/>
          <p:cNvSpPr/>
          <p:nvPr/>
        </p:nvSpPr>
        <p:spPr>
          <a:xfrm>
            <a:off x="548640" y="1097280"/>
            <a:ext cx="8046720" cy="429768"/>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A source created at the time of the event, by someone who was actually there. It is a piece of the original record.</a:t>
            </a:r>
            <a:endParaRPr lang="en-US" sz="1350" dirty="0"/>
          </a:p>
        </p:txBody>
      </p:sp>
      <p:sp>
        <p:nvSpPr>
          <p:cNvPr id="10" name="Shape 8"/>
          <p:cNvSpPr/>
          <p:nvPr/>
        </p:nvSpPr>
        <p:spPr>
          <a:xfrm>
            <a:off x="256032" y="1719072"/>
            <a:ext cx="1984248" cy="1554480"/>
          </a:xfrm>
          <a:prstGeom prst="roundRect">
            <a:avLst>
              <a:gd name="adj" fmla="val 5882"/>
            </a:avLst>
          </a:prstGeom>
          <a:solidFill>
            <a:srgbClr val="FFFFFF"/>
          </a:solidFill>
          <a:ln w="12700">
            <a:solidFill>
              <a:srgbClr val="B0CCBB"/>
            </a:solidFill>
            <a:prstDash val="solid"/>
          </a:ln>
        </p:spPr>
      </p:sp>
      <p:sp>
        <p:nvSpPr>
          <p:cNvPr id="11" name="Text 9"/>
          <p:cNvSpPr/>
          <p:nvPr/>
        </p:nvSpPr>
        <p:spPr>
          <a:xfrm>
            <a:off x="256032"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47472"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Soldier's Letter</a:t>
            </a:r>
            <a:endParaRPr lang="en-US" sz="1200" dirty="0"/>
          </a:p>
        </p:txBody>
      </p:sp>
      <p:sp>
        <p:nvSpPr>
          <p:cNvPr id="13" name="Text 11"/>
          <p:cNvSpPr/>
          <p:nvPr/>
        </p:nvSpPr>
        <p:spPr>
          <a:xfrm>
            <a:off x="347472"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Civil War, 1863</a:t>
            </a:r>
            <a:endParaRPr lang="en-US" sz="1000" dirty="0"/>
          </a:p>
        </p:txBody>
      </p:sp>
      <p:sp>
        <p:nvSpPr>
          <p:cNvPr id="14" name="Shape 12"/>
          <p:cNvSpPr/>
          <p:nvPr/>
        </p:nvSpPr>
        <p:spPr>
          <a:xfrm>
            <a:off x="2423160" y="1719072"/>
            <a:ext cx="1984248" cy="1554480"/>
          </a:xfrm>
          <a:prstGeom prst="roundRect">
            <a:avLst>
              <a:gd name="adj" fmla="val 5882"/>
            </a:avLst>
          </a:prstGeom>
          <a:solidFill>
            <a:srgbClr val="FFFFFF"/>
          </a:solidFill>
          <a:ln w="12700">
            <a:solidFill>
              <a:srgbClr val="B0CCBB"/>
            </a:solidFill>
            <a:prstDash val="solid"/>
          </a:ln>
        </p:spPr>
      </p:sp>
      <p:sp>
        <p:nvSpPr>
          <p:cNvPr id="15" name="Text 13"/>
          <p:cNvSpPr/>
          <p:nvPr/>
        </p:nvSpPr>
        <p:spPr>
          <a:xfrm>
            <a:off x="2423160"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2514600"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Colonist's Diary</a:t>
            </a:r>
            <a:endParaRPr lang="en-US" sz="1200" dirty="0"/>
          </a:p>
        </p:txBody>
      </p:sp>
      <p:sp>
        <p:nvSpPr>
          <p:cNvPr id="17" name="Text 15"/>
          <p:cNvSpPr/>
          <p:nvPr/>
        </p:nvSpPr>
        <p:spPr>
          <a:xfrm>
            <a:off x="2514600"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Virginia, 1611</a:t>
            </a:r>
            <a:endParaRPr lang="en-US" sz="1000" dirty="0"/>
          </a:p>
        </p:txBody>
      </p:sp>
      <p:sp>
        <p:nvSpPr>
          <p:cNvPr id="18" name="Shape 16"/>
          <p:cNvSpPr/>
          <p:nvPr/>
        </p:nvSpPr>
        <p:spPr>
          <a:xfrm>
            <a:off x="4590288" y="1719072"/>
            <a:ext cx="1984248" cy="1554480"/>
          </a:xfrm>
          <a:prstGeom prst="roundRect">
            <a:avLst>
              <a:gd name="adj" fmla="val 5882"/>
            </a:avLst>
          </a:prstGeom>
          <a:solidFill>
            <a:srgbClr val="FFFFFF"/>
          </a:solidFill>
          <a:ln w="12700">
            <a:solidFill>
              <a:srgbClr val="B0CCBB"/>
            </a:solidFill>
            <a:prstDash val="solid"/>
          </a:ln>
        </p:spPr>
      </p:sp>
      <p:sp>
        <p:nvSpPr>
          <p:cNvPr id="19" name="Text 17"/>
          <p:cNvSpPr/>
          <p:nvPr/>
        </p:nvSpPr>
        <p:spPr>
          <a:xfrm>
            <a:off x="4590288"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4681728"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Ellis Island Photo</a:t>
            </a:r>
            <a:endParaRPr lang="en-US" sz="1200" dirty="0"/>
          </a:p>
        </p:txBody>
      </p:sp>
      <p:sp>
        <p:nvSpPr>
          <p:cNvPr id="21" name="Text 19"/>
          <p:cNvSpPr/>
          <p:nvPr/>
        </p:nvSpPr>
        <p:spPr>
          <a:xfrm>
            <a:off x="4681728"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Taken there, 1905</a:t>
            </a:r>
            <a:endParaRPr lang="en-US" sz="1000" dirty="0"/>
          </a:p>
        </p:txBody>
      </p:sp>
      <p:sp>
        <p:nvSpPr>
          <p:cNvPr id="22" name="Shape 20"/>
          <p:cNvSpPr/>
          <p:nvPr/>
        </p:nvSpPr>
        <p:spPr>
          <a:xfrm>
            <a:off x="6757416" y="1719072"/>
            <a:ext cx="1984248" cy="1554480"/>
          </a:xfrm>
          <a:prstGeom prst="roundRect">
            <a:avLst>
              <a:gd name="adj" fmla="val 5882"/>
            </a:avLst>
          </a:prstGeom>
          <a:solidFill>
            <a:srgbClr val="FFFFFF"/>
          </a:solidFill>
          <a:ln w="12700">
            <a:solidFill>
              <a:srgbClr val="B0CCBB"/>
            </a:solidFill>
            <a:prstDash val="solid"/>
          </a:ln>
        </p:spPr>
      </p:sp>
      <p:sp>
        <p:nvSpPr>
          <p:cNvPr id="23" name="Text 21"/>
          <p:cNvSpPr/>
          <p:nvPr/>
        </p:nvSpPr>
        <p:spPr>
          <a:xfrm>
            <a:off x="6757416"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6848856"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Declaration of Independence</a:t>
            </a:r>
            <a:endParaRPr lang="en-US" sz="1200" dirty="0"/>
          </a:p>
        </p:txBody>
      </p:sp>
      <p:sp>
        <p:nvSpPr>
          <p:cNvPr id="25" name="Text 23"/>
          <p:cNvSpPr/>
          <p:nvPr/>
        </p:nvSpPr>
        <p:spPr>
          <a:xfrm>
            <a:off x="6848856"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Original, signed, 1776</a:t>
            </a:r>
            <a:endParaRPr lang="en-US" sz="1000" dirty="0"/>
          </a:p>
        </p:txBody>
      </p:sp>
      <p:sp>
        <p:nvSpPr>
          <p:cNvPr id="26" name="Shape 24"/>
          <p:cNvSpPr/>
          <p:nvPr/>
        </p:nvSpPr>
        <p:spPr>
          <a:xfrm>
            <a:off x="365760" y="3383280"/>
            <a:ext cx="3840480" cy="1371600"/>
          </a:xfrm>
          <a:prstGeom prst="roundRect">
            <a:avLst>
              <a:gd name="adj" fmla="val 8000"/>
            </a:avLst>
          </a:prstGeom>
          <a:solidFill>
            <a:srgbClr val="E2E8F4"/>
          </a:solidFill>
          <a:ln w="19050">
            <a:solidFill>
              <a:srgbClr val="B0B8CC"/>
            </a:solidFill>
            <a:prstDash val="dash"/>
          </a:ln>
        </p:spPr>
      </p:sp>
      <p:sp>
        <p:nvSpPr>
          <p:cNvPr id="27" name="Text 25"/>
          <p:cNvSpPr/>
          <p:nvPr/>
        </p:nvSpPr>
        <p:spPr>
          <a:xfrm>
            <a:off x="365760" y="3438144"/>
            <a:ext cx="3840480" cy="256032"/>
          </a:xfrm>
          <a:prstGeom prst="rect">
            <a:avLst/>
          </a:prstGeom>
          <a:noFill/>
          <a:ln/>
        </p:spPr>
        <p:txBody>
          <a:bodyPr wrap="square"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28" name="Text 26"/>
          <p:cNvSpPr/>
          <p:nvPr/>
        </p:nvSpPr>
        <p:spPr>
          <a:xfrm>
            <a:off x="502920" y="3712464"/>
            <a:ext cx="3566160" cy="914400"/>
          </a:xfrm>
          <a:prstGeom prst="rect">
            <a:avLst/>
          </a:prstGeom>
          <a:noFill/>
          <a:ln/>
        </p:spPr>
        <p:txBody>
          <a:bodyPr wrap="square" rtlCol="0" anchor="ctr"/>
          <a:lstStyle/>
          <a:p>
            <a:pPr algn="ctr" indent="0" marL="0">
              <a:buNone/>
            </a:pPr>
            <a:r>
              <a:rPr lang="en-US" sz="1050" i="1" dirty="0">
                <a:solidFill>
                  <a:srgbClr val="7A88A8"/>
                </a:solidFill>
                <a:latin typeface="Calibri" pitchFamily="34" charset="0"/>
                <a:ea typeface="Calibri" pitchFamily="34" charset="-122"/>
                <a:cs typeface="Calibri" pitchFamily="34" charset="-120"/>
              </a:rPr>
              <a:t>Flat-lay: handwritten 1862 letter, open history textbook, sepia ~1900 city photo</a:t>
            </a:r>
            <a:endParaRPr lang="en-US" sz="1050" dirty="0"/>
          </a:p>
          <a:p>
            <a:pPr algn="ctr" indent="0" marL="0">
              <a:buNone/>
            </a:pPr>
            <a:r>
              <a:rPr lang="en-US" sz="1050" i="1" dirty="0">
                <a:solidFill>
                  <a:srgbClr val="7A88A8"/>
                </a:solidFill>
                <a:latin typeface="Calibri" pitchFamily="34" charset="0"/>
                <a:ea typeface="Calibri" pitchFamily="34" charset="-122"/>
                <a:cs typeface="Calibri" pitchFamily="34" charset="-120"/>
              </a:rPr>
              <a:t>(source-5-01-01-primary-secondary-sources.jpg)</a:t>
            </a:r>
            <a:endParaRPr lang="en-US" sz="1050" dirty="0"/>
          </a:p>
        </p:txBody>
      </p:sp>
      <p:sp>
        <p:nvSpPr>
          <p:cNvPr id="29" name="Shape 27"/>
          <p:cNvSpPr/>
          <p:nvPr/>
        </p:nvSpPr>
        <p:spPr>
          <a:xfrm>
            <a:off x="4389120" y="3383280"/>
            <a:ext cx="4389120" cy="1371600"/>
          </a:xfrm>
          <a:prstGeom prst="roundRect">
            <a:avLst>
              <a:gd name="adj" fmla="val 6667"/>
            </a:avLst>
          </a:prstGeom>
          <a:solidFill>
            <a:srgbClr val="1A2D5A"/>
          </a:solidFill>
          <a:ln/>
        </p:spPr>
      </p:sp>
      <p:sp>
        <p:nvSpPr>
          <p:cNvPr id="30" name="Text 28"/>
          <p:cNvSpPr/>
          <p:nvPr/>
        </p:nvSpPr>
        <p:spPr>
          <a:xfrm>
            <a:off x="4572000" y="3447288"/>
            <a:ext cx="4023360" cy="228600"/>
          </a:xfrm>
          <a:prstGeom prst="rect">
            <a:avLst/>
          </a:prstGeom>
          <a:noFill/>
          <a:ln/>
        </p:spPr>
        <p:txBody>
          <a:bodyPr wrap="square"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ALSO A PRIMARY SOURCE:</a:t>
            </a:r>
            <a:endParaRPr lang="en-US" sz="900" dirty="0"/>
          </a:p>
        </p:txBody>
      </p:sp>
      <p:sp>
        <p:nvSpPr>
          <p:cNvPr id="31" name="Text 29"/>
          <p:cNvSpPr/>
          <p:nvPr/>
        </p:nvSpPr>
        <p:spPr>
          <a:xfrm>
            <a:off x="4572000" y="3694176"/>
            <a:ext cx="4023360" cy="1005840"/>
          </a:xfrm>
          <a:prstGeom prst="rect">
            <a:avLst/>
          </a:prstGeom>
          <a:noFill/>
          <a:ln/>
        </p:spPr>
        <p:txBody>
          <a:bodyPr wrap="square" rtlCol="0" anchor="t"/>
          <a:lstStyle/>
          <a:p>
            <a:pPr indent="0" marL="0">
              <a:buNone/>
            </a:pPr>
            <a:r>
              <a:rPr lang="en-US" sz="1200" dirty="0">
                <a:solidFill>
                  <a:srgbClr val="D6F2FB"/>
                </a:solidFill>
                <a:latin typeface="Calibri" pitchFamily="34" charset="0"/>
                <a:ea typeface="Calibri" pitchFamily="34" charset="-122"/>
                <a:cs typeface="Calibri" pitchFamily="34" charset="-120"/>
              </a:rPr>
              <a:t>An oral history recorded by a member of the Lakota Nation — even if recorded recently, IF it preserves a first-person account passed down directly from those who lived through the events.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8B6FC0"/>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Secondary Sources: The Retelling</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Created later, by someone who studied the event</a:t>
            </a:r>
            <a:endParaRPr lang="en-US" sz="1050" dirty="0"/>
          </a:p>
        </p:txBody>
      </p:sp>
      <p:sp>
        <p:nvSpPr>
          <p:cNvPr id="7" name="Shape 5"/>
          <p:cNvSpPr/>
          <p:nvPr/>
        </p:nvSpPr>
        <p:spPr>
          <a:xfrm>
            <a:off x="365760" y="804672"/>
            <a:ext cx="8412480" cy="777240"/>
          </a:xfrm>
          <a:prstGeom prst="roundRect">
            <a:avLst>
              <a:gd name="adj" fmla="val 11765"/>
            </a:avLst>
          </a:prstGeom>
          <a:solidFill>
            <a:srgbClr val="8B6FC0"/>
          </a:solidFill>
          <a:ln/>
        </p:spPr>
      </p:sp>
      <p:sp>
        <p:nvSpPr>
          <p:cNvPr id="8" name="Text 6"/>
          <p:cNvSpPr/>
          <p:nvPr/>
        </p:nvSpPr>
        <p:spPr>
          <a:xfrm>
            <a:off x="548640" y="841248"/>
            <a:ext cx="3657600" cy="237744"/>
          </a:xfrm>
          <a:prstGeom prst="rect">
            <a:avLst/>
          </a:prstGeom>
          <a:noFill/>
          <a:ln/>
        </p:spPr>
        <p:txBody>
          <a:bodyPr wrap="square" rtlCol="0" anchor="ctr"/>
          <a:lstStyle/>
          <a:p>
            <a:pPr indent="0" marL="0">
              <a:buNone/>
            </a:pPr>
            <a:r>
              <a:rPr lang="en-US" sz="1000" b="1" spc="200" kern="0" dirty="0">
                <a:solidFill>
                  <a:srgbClr val="FFFFFF"/>
                </a:solidFill>
                <a:latin typeface="Calibri" pitchFamily="34" charset="0"/>
                <a:ea typeface="Calibri" pitchFamily="34" charset="-122"/>
                <a:cs typeface="Calibri" pitchFamily="34" charset="-120"/>
              </a:rPr>
              <a:t>SECONDARY SOURCE</a:t>
            </a:r>
            <a:endParaRPr lang="en-US" sz="1000" dirty="0"/>
          </a:p>
        </p:txBody>
      </p:sp>
      <p:sp>
        <p:nvSpPr>
          <p:cNvPr id="9" name="Text 7"/>
          <p:cNvSpPr/>
          <p:nvPr/>
        </p:nvSpPr>
        <p:spPr>
          <a:xfrm>
            <a:off x="548640" y="1097280"/>
            <a:ext cx="8046720" cy="429768"/>
          </a:xfrm>
          <a:prstGeom prst="rect">
            <a:avLst/>
          </a:prstGeom>
          <a:noFill/>
          <a:ln/>
        </p:spPr>
        <p:txBody>
          <a:bodyPr wrap="square" rtlCol="0" anchor="t"/>
          <a:lstStyle/>
          <a:p>
            <a:pPr indent="0" marL="0">
              <a:buNone/>
            </a:pPr>
            <a:r>
              <a:rPr lang="en-US" sz="1350" i="1" dirty="0">
                <a:solidFill>
                  <a:srgbClr val="FFFFFF"/>
                </a:solidFill>
                <a:latin typeface="Cambria" pitchFamily="34" charset="0"/>
                <a:ea typeface="Cambria" pitchFamily="34" charset="-122"/>
                <a:cs typeface="Cambria" pitchFamily="34" charset="-120"/>
              </a:rPr>
              <a:t>A source created later, by someone who studied the event using primary sources. It tells you about the event.</a:t>
            </a:r>
            <a:endParaRPr lang="en-US" sz="1350" dirty="0"/>
          </a:p>
        </p:txBody>
      </p:sp>
      <p:sp>
        <p:nvSpPr>
          <p:cNvPr id="10" name="Shape 8"/>
          <p:cNvSpPr/>
          <p:nvPr/>
        </p:nvSpPr>
        <p:spPr>
          <a:xfrm>
            <a:off x="256032" y="1719072"/>
            <a:ext cx="1984248" cy="1554480"/>
          </a:xfrm>
          <a:prstGeom prst="roundRect">
            <a:avLst>
              <a:gd name="adj" fmla="val 5882"/>
            </a:avLst>
          </a:prstGeom>
          <a:solidFill>
            <a:srgbClr val="FFFFFF"/>
          </a:solidFill>
          <a:ln w="12700">
            <a:solidFill>
              <a:srgbClr val="C0B0D8"/>
            </a:solidFill>
            <a:prstDash val="solid"/>
          </a:ln>
        </p:spPr>
      </p:sp>
      <p:sp>
        <p:nvSpPr>
          <p:cNvPr id="11" name="Text 9"/>
          <p:cNvSpPr/>
          <p:nvPr/>
        </p:nvSpPr>
        <p:spPr>
          <a:xfrm>
            <a:off x="256032"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47472"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Textbook Chapter</a:t>
            </a:r>
            <a:endParaRPr lang="en-US" sz="1200" dirty="0"/>
          </a:p>
        </p:txBody>
      </p:sp>
      <p:sp>
        <p:nvSpPr>
          <p:cNvPr id="13" name="Text 11"/>
          <p:cNvSpPr/>
          <p:nvPr/>
        </p:nvSpPr>
        <p:spPr>
          <a:xfrm>
            <a:off x="347472"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About the Civil War</a:t>
            </a:r>
            <a:endParaRPr lang="en-US" sz="1000" dirty="0"/>
          </a:p>
        </p:txBody>
      </p:sp>
      <p:sp>
        <p:nvSpPr>
          <p:cNvPr id="14" name="Shape 12"/>
          <p:cNvSpPr/>
          <p:nvPr/>
        </p:nvSpPr>
        <p:spPr>
          <a:xfrm>
            <a:off x="2423160" y="1719072"/>
            <a:ext cx="1984248" cy="1554480"/>
          </a:xfrm>
          <a:prstGeom prst="roundRect">
            <a:avLst>
              <a:gd name="adj" fmla="val 5882"/>
            </a:avLst>
          </a:prstGeom>
          <a:solidFill>
            <a:srgbClr val="FFFFFF"/>
          </a:solidFill>
          <a:ln w="12700">
            <a:solidFill>
              <a:srgbClr val="C0B0D8"/>
            </a:solidFill>
            <a:prstDash val="solid"/>
          </a:ln>
        </p:spPr>
      </p:sp>
      <p:sp>
        <p:nvSpPr>
          <p:cNvPr id="15" name="Text 13"/>
          <p:cNvSpPr/>
          <p:nvPr/>
        </p:nvSpPr>
        <p:spPr>
          <a:xfrm>
            <a:off x="2423160"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2514600"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Biography</a:t>
            </a:r>
            <a:endParaRPr lang="en-US" sz="1200" dirty="0"/>
          </a:p>
        </p:txBody>
      </p:sp>
      <p:sp>
        <p:nvSpPr>
          <p:cNvPr id="17" name="Text 15"/>
          <p:cNvSpPr/>
          <p:nvPr/>
        </p:nvSpPr>
        <p:spPr>
          <a:xfrm>
            <a:off x="2514600"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Douglass, written 2010</a:t>
            </a:r>
            <a:endParaRPr lang="en-US" sz="1000" dirty="0"/>
          </a:p>
        </p:txBody>
      </p:sp>
      <p:sp>
        <p:nvSpPr>
          <p:cNvPr id="18" name="Shape 16"/>
          <p:cNvSpPr/>
          <p:nvPr/>
        </p:nvSpPr>
        <p:spPr>
          <a:xfrm>
            <a:off x="4590288" y="1719072"/>
            <a:ext cx="1984248" cy="1554480"/>
          </a:xfrm>
          <a:prstGeom prst="roundRect">
            <a:avLst>
              <a:gd name="adj" fmla="val 5882"/>
            </a:avLst>
          </a:prstGeom>
          <a:solidFill>
            <a:srgbClr val="FFFFFF"/>
          </a:solidFill>
          <a:ln w="12700">
            <a:solidFill>
              <a:srgbClr val="C0B0D8"/>
            </a:solidFill>
            <a:prstDash val="solid"/>
          </a:ln>
        </p:spPr>
      </p:sp>
      <p:sp>
        <p:nvSpPr>
          <p:cNvPr id="19" name="Text 17"/>
          <p:cNvSpPr/>
          <p:nvPr/>
        </p:nvSpPr>
        <p:spPr>
          <a:xfrm>
            <a:off x="4590288"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4681728"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Wikipedia Article</a:t>
            </a:r>
            <a:endParaRPr lang="en-US" sz="1200" dirty="0"/>
          </a:p>
        </p:txBody>
      </p:sp>
      <p:sp>
        <p:nvSpPr>
          <p:cNvPr id="21" name="Text 19"/>
          <p:cNvSpPr/>
          <p:nvPr/>
        </p:nvSpPr>
        <p:spPr>
          <a:xfrm>
            <a:off x="4681728"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About Ellis Island</a:t>
            </a:r>
            <a:endParaRPr lang="en-US" sz="1000" dirty="0"/>
          </a:p>
        </p:txBody>
      </p:sp>
      <p:sp>
        <p:nvSpPr>
          <p:cNvPr id="22" name="Shape 20"/>
          <p:cNvSpPr/>
          <p:nvPr/>
        </p:nvSpPr>
        <p:spPr>
          <a:xfrm>
            <a:off x="6757416" y="1719072"/>
            <a:ext cx="1984248" cy="1554480"/>
          </a:xfrm>
          <a:prstGeom prst="roundRect">
            <a:avLst>
              <a:gd name="adj" fmla="val 5882"/>
            </a:avLst>
          </a:prstGeom>
          <a:solidFill>
            <a:srgbClr val="FFFFFF"/>
          </a:solidFill>
          <a:ln w="12700">
            <a:solidFill>
              <a:srgbClr val="C0B0D8"/>
            </a:solidFill>
            <a:prstDash val="solid"/>
          </a:ln>
        </p:spPr>
      </p:sp>
      <p:sp>
        <p:nvSpPr>
          <p:cNvPr id="23" name="Text 21"/>
          <p:cNvSpPr/>
          <p:nvPr/>
        </p:nvSpPr>
        <p:spPr>
          <a:xfrm>
            <a:off x="6757416" y="1773936"/>
            <a:ext cx="198424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6848856" y="2231136"/>
            <a:ext cx="1801368" cy="274320"/>
          </a:xfrm>
          <a:prstGeom prst="rect">
            <a:avLst/>
          </a:prstGeom>
          <a:noFill/>
          <a:ln/>
        </p:spPr>
        <p:txBody>
          <a:bodyPr wrap="square" rtlCol="0" anchor="ctr"/>
          <a:lstStyle/>
          <a:p>
            <a:pPr algn="ctr" indent="0" marL="0">
              <a:buNone/>
            </a:pPr>
            <a:r>
              <a:rPr lang="en-US" sz="1200" b="1" dirty="0">
                <a:solidFill>
                  <a:srgbClr val="0E1C42"/>
                </a:solidFill>
                <a:latin typeface="Calibri" pitchFamily="34" charset="0"/>
                <a:ea typeface="Calibri" pitchFamily="34" charset="-122"/>
                <a:cs typeface="Calibri" pitchFamily="34" charset="-120"/>
              </a:rPr>
              <a:t>Documentary Film</a:t>
            </a:r>
            <a:endParaRPr lang="en-US" sz="1200" dirty="0"/>
          </a:p>
        </p:txBody>
      </p:sp>
      <p:sp>
        <p:nvSpPr>
          <p:cNvPr id="25" name="Text 23"/>
          <p:cNvSpPr/>
          <p:nvPr/>
        </p:nvSpPr>
        <p:spPr>
          <a:xfrm>
            <a:off x="6848856" y="2523744"/>
            <a:ext cx="1801368" cy="621792"/>
          </a:xfrm>
          <a:prstGeom prst="rect">
            <a:avLst/>
          </a:prstGeom>
          <a:noFill/>
          <a:ln/>
        </p:spPr>
        <p:txBody>
          <a:bodyPr wrap="square" rtlCol="0" anchor="t"/>
          <a:lstStyle/>
          <a:p>
            <a:pPr algn="ctr" indent="0" marL="0">
              <a:buNone/>
            </a:pPr>
            <a:r>
              <a:rPr lang="en-US" sz="1000" i="1" dirty="0">
                <a:solidFill>
                  <a:srgbClr val="7A88A8"/>
                </a:solidFill>
                <a:latin typeface="Calibri" pitchFamily="34" charset="0"/>
                <a:ea typeface="Calibri" pitchFamily="34" charset="-122"/>
                <a:cs typeface="Calibri" pitchFamily="34" charset="-120"/>
              </a:rPr>
              <a:t>About the Declaration</a:t>
            </a:r>
            <a:endParaRPr lang="en-US" sz="1000" dirty="0"/>
          </a:p>
        </p:txBody>
      </p:sp>
      <p:sp>
        <p:nvSpPr>
          <p:cNvPr id="26" name="Shape 24"/>
          <p:cNvSpPr/>
          <p:nvPr/>
        </p:nvSpPr>
        <p:spPr>
          <a:xfrm>
            <a:off x="365760" y="3383280"/>
            <a:ext cx="8412480" cy="1325880"/>
          </a:xfrm>
          <a:prstGeom prst="roundRect">
            <a:avLst>
              <a:gd name="adj" fmla="val 6897"/>
            </a:avLst>
          </a:prstGeom>
          <a:solidFill>
            <a:srgbClr val="FFF3DC"/>
          </a:solidFill>
          <a:ln w="19050">
            <a:solidFill>
              <a:srgbClr val="F5E6C8"/>
            </a:solidFill>
            <a:prstDash val="solid"/>
          </a:ln>
        </p:spPr>
      </p:sp>
      <p:sp>
        <p:nvSpPr>
          <p:cNvPr id="27" name="Text 25"/>
          <p:cNvSpPr/>
          <p:nvPr/>
        </p:nvSpPr>
        <p:spPr>
          <a:xfrm>
            <a:off x="548640" y="3493008"/>
            <a:ext cx="8046720" cy="347472"/>
          </a:xfrm>
          <a:prstGeom prst="rect">
            <a:avLst/>
          </a:prstGeom>
          <a:noFill/>
          <a:ln/>
        </p:spPr>
        <p:txBody>
          <a:bodyPr wrap="square" rtlCol="0" anchor="ctr"/>
          <a:lstStyle/>
          <a:p>
            <a:pPr indent="0" marL="0">
              <a:buNone/>
            </a:pPr>
            <a:r>
              <a:rPr lang="en-US" sz="1600" b="1" dirty="0">
                <a:solidFill>
                  <a:srgbClr val="D4943A"/>
                </a:solidFill>
                <a:latin typeface="Cambria" pitchFamily="34" charset="0"/>
                <a:ea typeface="Cambria" pitchFamily="34" charset="-122"/>
                <a:cs typeface="Cambria" pitchFamily="34" charset="-120"/>
              </a:rPr>
              <a:t>BOTH kinds of sources are useful.</a:t>
            </a:r>
            <a:endParaRPr lang="en-US" sz="1600" dirty="0"/>
          </a:p>
        </p:txBody>
      </p:sp>
      <p:sp>
        <p:nvSpPr>
          <p:cNvPr id="28" name="Text 26"/>
          <p:cNvSpPr/>
          <p:nvPr/>
        </p:nvSpPr>
        <p:spPr>
          <a:xfrm>
            <a:off x="548640" y="3858768"/>
            <a:ext cx="8046720" cy="713232"/>
          </a:xfrm>
          <a:prstGeom prst="rect">
            <a:avLst/>
          </a:prstGeom>
          <a:noFill/>
          <a:ln/>
        </p:spPr>
        <p:txBody>
          <a:bodyPr wrap="square" rtlCol="0" anchor="t"/>
          <a:lstStyle/>
          <a:p>
            <a:pPr indent="0" marL="0">
              <a:buNone/>
            </a:pPr>
            <a:r>
              <a:rPr lang="en-US" sz="1300" dirty="0">
                <a:solidFill>
                  <a:srgbClr val="5A4A3A"/>
                </a:solidFill>
                <a:latin typeface="Calibri" pitchFamily="34" charset="0"/>
                <a:ea typeface="Calibri" pitchFamily="34" charset="-122"/>
                <a:cs typeface="Calibri" pitchFamily="34" charset="-120"/>
              </a:rPr>
              <a:t>Primary sources give you the raw record. Secondary sources help you understand it. Honest historians and editors use both — and always say which they’re using.</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D4943A"/>
          </a:solidFill>
          <a:ln/>
        </p:spPr>
      </p:sp>
      <p:sp>
        <p:nvSpPr>
          <p:cNvPr id="4" name="Text 2"/>
          <p:cNvSpPr/>
          <p:nvPr/>
        </p:nvSpPr>
        <p:spPr>
          <a:xfrm>
            <a:off x="365760" y="109728"/>
            <a:ext cx="8412480" cy="530352"/>
          </a:xfrm>
          <a:prstGeom prst="rect">
            <a:avLst/>
          </a:prstGeom>
          <a:noFill/>
          <a:ln/>
        </p:spPr>
        <p:txBody>
          <a:bodyPr wrap="square"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What the Hasty Herald Got Wrong</a:t>
            </a:r>
            <a:endParaRPr lang="en-US" sz="2400" dirty="0"/>
          </a:p>
        </p:txBody>
      </p:sp>
      <p:sp>
        <p:nvSpPr>
          <p:cNvPr id="5" name="Shape 3"/>
          <p:cNvSpPr/>
          <p:nvPr/>
        </p:nvSpPr>
        <p:spPr>
          <a:xfrm>
            <a:off x="731520" y="749808"/>
            <a:ext cx="7680960" cy="594360"/>
          </a:xfrm>
          <a:prstGeom prst="roundRect">
            <a:avLst>
              <a:gd name="adj" fmla="val 12308"/>
            </a:avLst>
          </a:prstGeom>
          <a:solidFill>
            <a:srgbClr val="1A2D5A"/>
          </a:solidFill>
          <a:ln w="19050">
            <a:solidFill>
              <a:srgbClr val="8B2D26"/>
            </a:solidFill>
            <a:prstDash val="solid"/>
          </a:ln>
        </p:spPr>
      </p:sp>
      <p:sp>
        <p:nvSpPr>
          <p:cNvPr id="6" name="Text 4"/>
          <p:cNvSpPr/>
          <p:nvPr/>
        </p:nvSpPr>
        <p:spPr>
          <a:xfrm>
            <a:off x="914400" y="749808"/>
            <a:ext cx="7315200" cy="594360"/>
          </a:xfrm>
          <a:prstGeom prst="rect">
            <a:avLst/>
          </a:prstGeom>
          <a:noFill/>
          <a:ln/>
        </p:spPr>
        <p:txBody>
          <a:bodyPr wrap="square" rtlCol="0" anchor="ctr"/>
          <a:lstStyle/>
          <a:p>
            <a:pPr algn="ctr" indent="0" marL="0">
              <a:buNone/>
            </a:pPr>
            <a:r>
              <a:rPr lang="en-US" sz="1300" i="1" dirty="0">
                <a:solidFill>
                  <a:srgbClr val="FAF3E0"/>
                </a:solidFill>
                <a:latin typeface="Cambria" pitchFamily="34" charset="0"/>
                <a:ea typeface="Cambria" pitchFamily="34" charset="-122"/>
                <a:cs typeface="Cambria" pitchFamily="34" charset="-120"/>
              </a:rPr>
              <a:t>"Old documents always tell the whole truth by themselves!"  — The Hasty Herald</a:t>
            </a:r>
            <a:endParaRPr lang="en-US" sz="1300" dirty="0"/>
          </a:p>
        </p:txBody>
      </p:sp>
      <p:sp>
        <p:nvSpPr>
          <p:cNvPr id="7" name="Shape 5"/>
          <p:cNvSpPr/>
          <p:nvPr/>
        </p:nvSpPr>
        <p:spPr>
          <a:xfrm>
            <a:off x="301752" y="1481328"/>
            <a:ext cx="2697480" cy="3154680"/>
          </a:xfrm>
          <a:prstGeom prst="roundRect">
            <a:avLst>
              <a:gd name="adj" fmla="val 3390"/>
            </a:avLst>
          </a:prstGeom>
          <a:solidFill>
            <a:srgbClr val="1A2D5A"/>
          </a:solidFill>
          <a:ln w="25400">
            <a:solidFill>
              <a:srgbClr val="34B76F"/>
            </a:solidFill>
            <a:prstDash val="solid"/>
          </a:ln>
        </p:spPr>
      </p:sp>
      <p:sp>
        <p:nvSpPr>
          <p:cNvPr id="8" name="Shape 6"/>
          <p:cNvSpPr/>
          <p:nvPr/>
        </p:nvSpPr>
        <p:spPr>
          <a:xfrm>
            <a:off x="393192" y="1536192"/>
            <a:ext cx="2514600" cy="347472"/>
          </a:xfrm>
          <a:prstGeom prst="roundRect">
            <a:avLst>
              <a:gd name="adj" fmla="val 15789"/>
            </a:avLst>
          </a:prstGeom>
          <a:solidFill>
            <a:srgbClr val="34B76F"/>
          </a:solidFill>
          <a:ln/>
        </p:spPr>
      </p:sp>
      <p:sp>
        <p:nvSpPr>
          <p:cNvPr id="9" name="Text 7"/>
          <p:cNvSpPr/>
          <p:nvPr/>
        </p:nvSpPr>
        <p:spPr>
          <a:xfrm>
            <a:off x="393192" y="1536192"/>
            <a:ext cx="2514600" cy="347472"/>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PARTLY RIGHT</a:t>
            </a:r>
            <a:endParaRPr lang="en-US" sz="950" dirty="0"/>
          </a:p>
        </p:txBody>
      </p:sp>
      <p:sp>
        <p:nvSpPr>
          <p:cNvPr id="10" name="Text 8"/>
          <p:cNvSpPr/>
          <p:nvPr/>
        </p:nvSpPr>
        <p:spPr>
          <a:xfrm>
            <a:off x="466344" y="1938528"/>
            <a:ext cx="2368296" cy="260604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Primary sources ARE valuable. They come directly from the event. That is powerful evidence. The Herald is not entirely wrong about this.</a:t>
            </a:r>
            <a:endParaRPr lang="en-US" sz="1300" dirty="0"/>
          </a:p>
        </p:txBody>
      </p:sp>
      <p:sp>
        <p:nvSpPr>
          <p:cNvPr id="11" name="Shape 9"/>
          <p:cNvSpPr/>
          <p:nvPr/>
        </p:nvSpPr>
        <p:spPr>
          <a:xfrm>
            <a:off x="3163824" y="1481328"/>
            <a:ext cx="2697480" cy="3154680"/>
          </a:xfrm>
          <a:prstGeom prst="roundRect">
            <a:avLst>
              <a:gd name="adj" fmla="val 3390"/>
            </a:avLst>
          </a:prstGeom>
          <a:solidFill>
            <a:srgbClr val="1A2D5A"/>
          </a:solidFill>
          <a:ln w="25400">
            <a:solidFill>
              <a:srgbClr val="E8636B"/>
            </a:solidFill>
            <a:prstDash val="solid"/>
          </a:ln>
        </p:spPr>
      </p:sp>
      <p:sp>
        <p:nvSpPr>
          <p:cNvPr id="12" name="Shape 10"/>
          <p:cNvSpPr/>
          <p:nvPr/>
        </p:nvSpPr>
        <p:spPr>
          <a:xfrm>
            <a:off x="3255264" y="1536192"/>
            <a:ext cx="2514600" cy="347472"/>
          </a:xfrm>
          <a:prstGeom prst="roundRect">
            <a:avLst>
              <a:gd name="adj" fmla="val 15789"/>
            </a:avLst>
          </a:prstGeom>
          <a:solidFill>
            <a:srgbClr val="E8636B"/>
          </a:solidFill>
          <a:ln/>
        </p:spPr>
      </p:sp>
      <p:sp>
        <p:nvSpPr>
          <p:cNvPr id="13" name="Text 11"/>
          <p:cNvSpPr/>
          <p:nvPr/>
        </p:nvSpPr>
        <p:spPr>
          <a:xfrm>
            <a:off x="3255264" y="1536192"/>
            <a:ext cx="2514600" cy="347472"/>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THE ERROR</a:t>
            </a:r>
            <a:endParaRPr lang="en-US" sz="950" dirty="0"/>
          </a:p>
        </p:txBody>
      </p:sp>
      <p:sp>
        <p:nvSpPr>
          <p:cNvPr id="14" name="Text 12"/>
          <p:cNvSpPr/>
          <p:nvPr/>
        </p:nvSpPr>
        <p:spPr>
          <a:xfrm>
            <a:off x="3328416" y="1938528"/>
            <a:ext cx="2368296" cy="260604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"Always" and "by themselves" are the mistakes. A soldier's letter only shows what ONE soldier saw. A diary shows ONE person's thoughts.</a:t>
            </a:r>
            <a:endParaRPr lang="en-US" sz="1300" dirty="0"/>
          </a:p>
        </p:txBody>
      </p:sp>
      <p:sp>
        <p:nvSpPr>
          <p:cNvPr id="15" name="Shape 13"/>
          <p:cNvSpPr/>
          <p:nvPr/>
        </p:nvSpPr>
        <p:spPr>
          <a:xfrm>
            <a:off x="6025896" y="1481328"/>
            <a:ext cx="2697480" cy="3154680"/>
          </a:xfrm>
          <a:prstGeom prst="roundRect">
            <a:avLst>
              <a:gd name="adj" fmla="val 3390"/>
            </a:avLst>
          </a:prstGeom>
          <a:solidFill>
            <a:srgbClr val="1A2D5A"/>
          </a:solidFill>
          <a:ln w="25400">
            <a:solidFill>
              <a:srgbClr val="55C8E8"/>
            </a:solidFill>
            <a:prstDash val="solid"/>
          </a:ln>
        </p:spPr>
      </p:sp>
      <p:sp>
        <p:nvSpPr>
          <p:cNvPr id="16" name="Shape 14"/>
          <p:cNvSpPr/>
          <p:nvPr/>
        </p:nvSpPr>
        <p:spPr>
          <a:xfrm>
            <a:off x="6117336" y="1536192"/>
            <a:ext cx="2514600" cy="347472"/>
          </a:xfrm>
          <a:prstGeom prst="roundRect">
            <a:avLst>
              <a:gd name="adj" fmla="val 15789"/>
            </a:avLst>
          </a:prstGeom>
          <a:solidFill>
            <a:srgbClr val="55C8E8"/>
          </a:solidFill>
          <a:ln/>
        </p:spPr>
      </p:sp>
      <p:sp>
        <p:nvSpPr>
          <p:cNvPr id="17" name="Text 15"/>
          <p:cNvSpPr/>
          <p:nvPr/>
        </p:nvSpPr>
        <p:spPr>
          <a:xfrm>
            <a:off x="6117336" y="1536192"/>
            <a:ext cx="2514600" cy="347472"/>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THE TRUTH</a:t>
            </a:r>
            <a:endParaRPr lang="en-US" sz="950" dirty="0"/>
          </a:p>
        </p:txBody>
      </p:sp>
      <p:sp>
        <p:nvSpPr>
          <p:cNvPr id="18" name="Text 16"/>
          <p:cNvSpPr/>
          <p:nvPr/>
        </p:nvSpPr>
        <p:spPr>
          <a:xfrm>
            <a:off x="6190488" y="1938528"/>
            <a:ext cx="2368296" cy="2606040"/>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Honest editors gather MANY sources — primary AND secondary — and ask: who wrote this, when, and what are they leaving out?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D4943A"/>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Source Study: Three Sources from the Gazette Archive</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Front Page Desk — examine the evidence carefully</a:t>
            </a:r>
            <a:endParaRPr lang="en-US" sz="1050" dirty="0"/>
          </a:p>
        </p:txBody>
      </p:sp>
      <p:sp>
        <p:nvSpPr>
          <p:cNvPr id="7" name="Shape 5"/>
          <p:cNvSpPr/>
          <p:nvPr/>
        </p:nvSpPr>
        <p:spPr>
          <a:xfrm>
            <a:off x="365760" y="841248"/>
            <a:ext cx="8412480" cy="457200"/>
          </a:xfrm>
          <a:prstGeom prst="roundRect">
            <a:avLst>
              <a:gd name="adj" fmla="val 16000"/>
            </a:avLst>
          </a:prstGeom>
          <a:solidFill>
            <a:srgbClr val="D4943A">
              <a:alpha val="75000"/>
            </a:srgbClr>
          </a:solidFill>
          <a:ln/>
        </p:spPr>
      </p:sp>
      <p:sp>
        <p:nvSpPr>
          <p:cNvPr id="8" name="Text 6"/>
          <p:cNvSpPr/>
          <p:nvPr/>
        </p:nvSpPr>
        <p:spPr>
          <a:xfrm>
            <a:off x="548640" y="841248"/>
            <a:ext cx="8046720" cy="457200"/>
          </a:xfrm>
          <a:prstGeom prst="rect">
            <a:avLst/>
          </a:prstGeom>
          <a:noFill/>
          <a:ln/>
        </p:spPr>
        <p:txBody>
          <a:bodyPr wrap="square" rtlCol="0" anchor="ctr"/>
          <a:lstStyle/>
          <a:p>
            <a:pPr indent="0" marL="0">
              <a:buNone/>
            </a:pPr>
            <a:r>
              <a:rPr lang="en-US" sz="1300" i="1" dirty="0">
                <a:solidFill>
                  <a:srgbClr val="0E1C42"/>
                </a:solidFill>
                <a:latin typeface="Calibri" pitchFamily="34" charset="0"/>
                <a:ea typeface="Calibri" pitchFamily="34" charset="-122"/>
                <a:cs typeface="Calibri" pitchFamily="34" charset="-120"/>
              </a:rPr>
              <a:t>The Editor-in-Chief has pulled three real sources from the archive. Look carefully.</a:t>
            </a:r>
            <a:endParaRPr lang="en-US" sz="1300" dirty="0"/>
          </a:p>
        </p:txBody>
      </p:sp>
      <p:sp>
        <p:nvSpPr>
          <p:cNvPr id="9" name="Shape 7"/>
          <p:cNvSpPr/>
          <p:nvPr/>
        </p:nvSpPr>
        <p:spPr>
          <a:xfrm>
            <a:off x="365760" y="1389888"/>
            <a:ext cx="5029200" cy="3200400"/>
          </a:xfrm>
          <a:prstGeom prst="roundRect">
            <a:avLst>
              <a:gd name="adj" fmla="val 3429"/>
            </a:avLst>
          </a:prstGeom>
          <a:solidFill>
            <a:srgbClr val="E2E8F4"/>
          </a:solidFill>
          <a:ln w="19050">
            <a:solidFill>
              <a:srgbClr val="B0B8CC"/>
            </a:solidFill>
            <a:prstDash val="dash"/>
          </a:ln>
        </p:spPr>
      </p:sp>
      <p:sp>
        <p:nvSpPr>
          <p:cNvPr id="10" name="Text 8"/>
          <p:cNvSpPr/>
          <p:nvPr/>
        </p:nvSpPr>
        <p:spPr>
          <a:xfrm>
            <a:off x="365760" y="1444752"/>
            <a:ext cx="5029200" cy="256032"/>
          </a:xfrm>
          <a:prstGeom prst="rect">
            <a:avLst/>
          </a:prstGeom>
          <a:noFill/>
          <a:ln/>
        </p:spPr>
        <p:txBody>
          <a:bodyPr wrap="square"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502920" y="1719072"/>
            <a:ext cx="4754880" cy="2743200"/>
          </a:xfrm>
          <a:prstGeom prst="rect">
            <a:avLst/>
          </a:prstGeom>
          <a:noFill/>
          <a:ln/>
        </p:spPr>
        <p:txBody>
          <a:bodyPr wrap="square" rtlCol="0" anchor="ctr"/>
          <a:lstStyle/>
          <a:p>
            <a:pPr algn="ctr" indent="0" marL="0">
              <a:buNone/>
            </a:pPr>
            <a:r>
              <a:rPr lang="en-US" sz="1050" i="1" dirty="0">
                <a:solidFill>
                  <a:srgbClr val="7A88A8"/>
                </a:solidFill>
                <a:latin typeface="Calibri" pitchFamily="34" charset="0"/>
                <a:ea typeface="Calibri" pitchFamily="34" charset="-122"/>
                <a:cs typeface="Calibri" pitchFamily="34" charset="-120"/>
              </a:rPr>
              <a:t>Flat-lay: (1) yellowed handwritten letter dated 1862, (2) hardcover history textbook open to 'Causes of the Civil War', (3) sepia city street photo ~1900.</a:t>
            </a:r>
            <a:endParaRPr lang="en-US" sz="1050" dirty="0"/>
          </a:p>
          <a:p>
            <a:pPr algn="ctr" indent="0" marL="0">
              <a:buNone/>
            </a:pPr>
            <a:r>
              <a:rPr lang="en-US" sz="1050" i="1" dirty="0">
                <a:solidFill>
                  <a:srgbClr val="7A88A8"/>
                </a:solidFill>
                <a:latin typeface="Calibri" pitchFamily="34" charset="0"/>
                <a:ea typeface="Calibri" pitchFamily="34" charset="-122"/>
                <a:cs typeface="Calibri" pitchFamily="34" charset="-120"/>
              </a:rPr>
              <a:t>source-5-01-01-primary-secondary-sources.jpg</a:t>
            </a:r>
            <a:endParaRPr lang="en-US" sz="1050" dirty="0"/>
          </a:p>
        </p:txBody>
      </p:sp>
      <p:sp>
        <p:nvSpPr>
          <p:cNvPr id="12" name="Shape 10"/>
          <p:cNvSpPr/>
          <p:nvPr/>
        </p:nvSpPr>
        <p:spPr>
          <a:xfrm>
            <a:off x="5577840" y="1389888"/>
            <a:ext cx="3200400" cy="3200400"/>
          </a:xfrm>
          <a:prstGeom prst="roundRect">
            <a:avLst>
              <a:gd name="adj" fmla="val 3429"/>
            </a:avLst>
          </a:prstGeom>
          <a:solidFill>
            <a:srgbClr val="1A2D5A"/>
          </a:solidFill>
          <a:ln/>
        </p:spPr>
      </p:sp>
      <p:sp>
        <p:nvSpPr>
          <p:cNvPr id="13" name="Text 11"/>
          <p:cNvSpPr/>
          <p:nvPr/>
        </p:nvSpPr>
        <p:spPr>
          <a:xfrm>
            <a:off x="5715000" y="1463040"/>
            <a:ext cx="2926080" cy="237744"/>
          </a:xfrm>
          <a:prstGeom prst="rect">
            <a:avLst/>
          </a:prstGeom>
          <a:noFill/>
          <a:ln/>
        </p:spPr>
        <p:txBody>
          <a:bodyPr wrap="square"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EXAMINE EACH SOURCE</a:t>
            </a:r>
            <a:endParaRPr lang="en-US" sz="900" dirty="0"/>
          </a:p>
        </p:txBody>
      </p:sp>
      <p:sp>
        <p:nvSpPr>
          <p:cNvPr id="14" name="Shape 12"/>
          <p:cNvSpPr/>
          <p:nvPr/>
        </p:nvSpPr>
        <p:spPr>
          <a:xfrm>
            <a:off x="5715000" y="1810512"/>
            <a:ext cx="2926080" cy="749808"/>
          </a:xfrm>
          <a:prstGeom prst="roundRect">
            <a:avLst>
              <a:gd name="adj" fmla="val 7317"/>
            </a:avLst>
          </a:prstGeom>
          <a:solidFill>
            <a:srgbClr val="0E1C42"/>
          </a:solidFill>
          <a:ln/>
        </p:spPr>
      </p:sp>
      <p:sp>
        <p:nvSpPr>
          <p:cNvPr id="15" name="Text 13"/>
          <p:cNvSpPr/>
          <p:nvPr/>
        </p:nvSpPr>
        <p:spPr>
          <a:xfrm>
            <a:off x="5806440" y="1865376"/>
            <a:ext cx="2743200" cy="640080"/>
          </a:xfrm>
          <a:prstGeom prst="rect">
            <a:avLst/>
          </a:prstGeom>
          <a:noFill/>
          <a:ln/>
        </p:spPr>
        <p:txBody>
          <a:bodyPr wrap="square" rtlCol="0" anchor="t"/>
          <a:lstStyle/>
          <a:p>
            <a:pPr indent="0" marL="0">
              <a:buNone/>
            </a:pPr>
            <a:r>
              <a:rPr lang="en-US" sz="1150" dirty="0">
                <a:solidFill>
                  <a:srgbClr val="D6F2FB"/>
                </a:solidFill>
                <a:latin typeface="Calibri" pitchFamily="34" charset="0"/>
                <a:ea typeface="Calibri" pitchFamily="34" charset="-122"/>
                <a:cs typeface="Calibri" pitchFamily="34" charset="-120"/>
              </a:rPr>
              <a:t>1. Which look PRIMARY?</a:t>
            </a:r>
            <a:endParaRPr lang="en-US" sz="1150" dirty="0"/>
          </a:p>
          <a:p>
            <a:pPr indent="0" marL="0">
              <a:buNone/>
            </a:pPr>
            <a:r>
              <a:rPr lang="en-US" sz="1150" dirty="0">
                <a:solidFill>
                  <a:srgbClr val="D6F2FB"/>
                </a:solidFill>
                <a:latin typeface="Calibri" pitchFamily="34" charset="0"/>
                <a:ea typeface="Calibri" pitchFamily="34" charset="-122"/>
                <a:cs typeface="Calibri" pitchFamily="34" charset="-120"/>
              </a:rPr>
              <a:t>Which look SECONDARY?</a:t>
            </a:r>
            <a:endParaRPr lang="en-US" sz="1150" dirty="0"/>
          </a:p>
        </p:txBody>
      </p:sp>
      <p:sp>
        <p:nvSpPr>
          <p:cNvPr id="16" name="Shape 14"/>
          <p:cNvSpPr/>
          <p:nvPr/>
        </p:nvSpPr>
        <p:spPr>
          <a:xfrm>
            <a:off x="5715000" y="2679192"/>
            <a:ext cx="2926080" cy="749808"/>
          </a:xfrm>
          <a:prstGeom prst="roundRect">
            <a:avLst>
              <a:gd name="adj" fmla="val 7317"/>
            </a:avLst>
          </a:prstGeom>
          <a:solidFill>
            <a:srgbClr val="0E1C42"/>
          </a:solidFill>
          <a:ln/>
        </p:spPr>
      </p:sp>
      <p:sp>
        <p:nvSpPr>
          <p:cNvPr id="17" name="Text 15"/>
          <p:cNvSpPr/>
          <p:nvPr/>
        </p:nvSpPr>
        <p:spPr>
          <a:xfrm>
            <a:off x="5806440" y="2734056"/>
            <a:ext cx="2743200" cy="640080"/>
          </a:xfrm>
          <a:prstGeom prst="rect">
            <a:avLst/>
          </a:prstGeom>
          <a:noFill/>
          <a:ln/>
        </p:spPr>
        <p:txBody>
          <a:bodyPr wrap="square" rtlCol="0" anchor="t"/>
          <a:lstStyle/>
          <a:p>
            <a:pPr indent="0" marL="0">
              <a:buNone/>
            </a:pPr>
            <a:r>
              <a:rPr lang="en-US" sz="1150" dirty="0">
                <a:solidFill>
                  <a:srgbClr val="D6F2FB"/>
                </a:solidFill>
                <a:latin typeface="Calibri" pitchFamily="34" charset="0"/>
                <a:ea typeface="Calibri" pitchFamily="34" charset="-122"/>
                <a:cs typeface="Calibri" pitchFamily="34" charset="-120"/>
              </a:rPr>
              <a:t>2. What CLUES helped you decide?</a:t>
            </a:r>
            <a:endParaRPr lang="en-US" sz="1150" dirty="0"/>
          </a:p>
        </p:txBody>
      </p:sp>
      <p:sp>
        <p:nvSpPr>
          <p:cNvPr id="18" name="Shape 16"/>
          <p:cNvSpPr/>
          <p:nvPr/>
        </p:nvSpPr>
        <p:spPr>
          <a:xfrm>
            <a:off x="5715000" y="3547872"/>
            <a:ext cx="2926080" cy="749808"/>
          </a:xfrm>
          <a:prstGeom prst="roundRect">
            <a:avLst>
              <a:gd name="adj" fmla="val 7317"/>
            </a:avLst>
          </a:prstGeom>
          <a:solidFill>
            <a:srgbClr val="0E1C42"/>
          </a:solidFill>
          <a:ln/>
        </p:spPr>
      </p:sp>
      <p:sp>
        <p:nvSpPr>
          <p:cNvPr id="19" name="Text 17"/>
          <p:cNvSpPr/>
          <p:nvPr/>
        </p:nvSpPr>
        <p:spPr>
          <a:xfrm>
            <a:off x="5806440" y="3602736"/>
            <a:ext cx="2743200" cy="640080"/>
          </a:xfrm>
          <a:prstGeom prst="rect">
            <a:avLst/>
          </a:prstGeom>
          <a:noFill/>
          <a:ln/>
        </p:spPr>
        <p:txBody>
          <a:bodyPr wrap="square" rtlCol="0" anchor="t"/>
          <a:lstStyle/>
          <a:p>
            <a:pPr indent="0" marL="0">
              <a:buNone/>
            </a:pPr>
            <a:r>
              <a:rPr lang="en-US" sz="1150" dirty="0">
                <a:solidFill>
                  <a:srgbClr val="D6F2FB"/>
                </a:solidFill>
                <a:latin typeface="Calibri" pitchFamily="34" charset="0"/>
                <a:ea typeface="Calibri" pitchFamily="34" charset="-122"/>
                <a:cs typeface="Calibri" pitchFamily="34" charset="-120"/>
              </a:rPr>
              <a:t>3. Which might be harder to classify? Explain.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34B76F"/>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Why This Matters for the Gazette — and for History</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Connecting evidence to editorial judgment</a:t>
            </a:r>
            <a:endParaRPr lang="en-US" sz="1050" dirty="0"/>
          </a:p>
        </p:txBody>
      </p:sp>
      <p:sp>
        <p:nvSpPr>
          <p:cNvPr id="7" name="Shape 5"/>
          <p:cNvSpPr/>
          <p:nvPr/>
        </p:nvSpPr>
        <p:spPr>
          <a:xfrm>
            <a:off x="365760" y="822960"/>
            <a:ext cx="8412480" cy="822960"/>
          </a:xfrm>
          <a:prstGeom prst="roundRect">
            <a:avLst>
              <a:gd name="adj" fmla="val 11111"/>
            </a:avLst>
          </a:prstGeom>
          <a:solidFill>
            <a:srgbClr val="0E1C42"/>
          </a:solidFill>
          <a:ln/>
        </p:spPr>
      </p:sp>
      <p:sp>
        <p:nvSpPr>
          <p:cNvPr id="8" name="Text 6"/>
          <p:cNvSpPr/>
          <p:nvPr/>
        </p:nvSpPr>
        <p:spPr>
          <a:xfrm>
            <a:off x="548640" y="850392"/>
            <a:ext cx="8046720" cy="292608"/>
          </a:xfrm>
          <a:prstGeom prst="rect">
            <a:avLst/>
          </a:prstGeom>
          <a:noFill/>
          <a:ln/>
        </p:spPr>
        <p:txBody>
          <a:bodyPr wrap="square"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A careful historian — like a careful editor — always asks:</a:t>
            </a:r>
            <a:endParaRPr lang="en-US" sz="1300" dirty="0"/>
          </a:p>
        </p:txBody>
      </p:sp>
      <p:sp>
        <p:nvSpPr>
          <p:cNvPr id="9" name="Text 7"/>
          <p:cNvSpPr/>
          <p:nvPr/>
        </p:nvSpPr>
        <p:spPr>
          <a:xfrm>
            <a:off x="548640" y="1152144"/>
            <a:ext cx="8046720" cy="438912"/>
          </a:xfrm>
          <a:prstGeom prst="rect">
            <a:avLst/>
          </a:prstGeom>
          <a:noFill/>
          <a:ln/>
        </p:spPr>
        <p:txBody>
          <a:bodyPr wrap="square" rtlCol="0" anchor="ctr"/>
          <a:lstStyle/>
          <a:p>
            <a:pPr indent="0" marL="0">
              <a:buNone/>
            </a:pPr>
            <a:r>
              <a:rPr lang="en-US" sz="1500" b="1" i="1" dirty="0">
                <a:solidFill>
                  <a:srgbClr val="D4943A"/>
                </a:solidFill>
                <a:latin typeface="Cambria" pitchFamily="34" charset="0"/>
                <a:ea typeface="Cambria" pitchFamily="34" charset="-122"/>
                <a:cs typeface="Cambria" pitchFamily="34" charset="-120"/>
              </a:rPr>
              <a:t>"Where did this come from? Who said it, and when? Can I trust it?"</a:t>
            </a:r>
            <a:endParaRPr lang="en-US" sz="1500" dirty="0"/>
          </a:p>
        </p:txBody>
      </p:sp>
      <p:sp>
        <p:nvSpPr>
          <p:cNvPr id="10" name="Shape 8"/>
          <p:cNvSpPr/>
          <p:nvPr/>
        </p:nvSpPr>
        <p:spPr>
          <a:xfrm>
            <a:off x="256032" y="1874520"/>
            <a:ext cx="2715768" cy="2834640"/>
          </a:xfrm>
          <a:prstGeom prst="roundRect">
            <a:avLst>
              <a:gd name="adj" fmla="val 3367"/>
            </a:avLst>
          </a:prstGeom>
          <a:solidFill>
            <a:srgbClr val="FFFFFF"/>
          </a:solidFill>
          <a:ln w="12700">
            <a:solidFill>
              <a:srgbClr val="D8DCE8"/>
            </a:solidFill>
            <a:prstDash val="solid"/>
          </a:ln>
        </p:spPr>
      </p:sp>
      <p:sp>
        <p:nvSpPr>
          <p:cNvPr id="11" name="Text 9"/>
          <p:cNvSpPr/>
          <p:nvPr/>
        </p:nvSpPr>
        <p:spPr>
          <a:xfrm>
            <a:off x="256032" y="1938528"/>
            <a:ext cx="271576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65760" y="2395728"/>
            <a:ext cx="2496312" cy="310896"/>
          </a:xfrm>
          <a:prstGeom prst="rect">
            <a:avLst/>
          </a:prstGeom>
          <a:noFill/>
          <a:ln/>
        </p:spPr>
        <p:txBody>
          <a:bodyPr wrap="square"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For the Gazette</a:t>
            </a:r>
            <a:endParaRPr lang="en-US" sz="1300" dirty="0"/>
          </a:p>
        </p:txBody>
      </p:sp>
      <p:sp>
        <p:nvSpPr>
          <p:cNvPr id="13" name="Text 11"/>
          <p:cNvSpPr/>
          <p:nvPr/>
        </p:nvSpPr>
        <p:spPr>
          <a:xfrm>
            <a:off x="365760" y="2743200"/>
            <a:ext cx="2496312" cy="1828800"/>
          </a:xfrm>
          <a:prstGeom prst="rect">
            <a:avLst/>
          </a:prstGeom>
          <a:noFill/>
          <a:ln/>
        </p:spPr>
        <p:txBody>
          <a:bodyPr wrap="square" rtlCol="0" anchor="t"/>
          <a:lstStyle/>
          <a:p>
            <a:pPr indent="0" marL="0">
              <a:buNone/>
            </a:pPr>
            <a:r>
              <a:rPr lang="en-US" sz="1200" dirty="0">
                <a:solidFill>
                  <a:srgbClr val="3A4A5A"/>
                </a:solidFill>
                <a:latin typeface="Calibri" pitchFamily="34" charset="0"/>
                <a:ea typeface="Calibri" pitchFamily="34" charset="-122"/>
                <a:cs typeface="Calibri" pitchFamily="34" charset="-120"/>
              </a:rPr>
              <a:t>We name the SOURCE TYPE in every byline. Readers deserve to know if we're citing a first-hand account or a historian's analysis.</a:t>
            </a:r>
            <a:endParaRPr lang="en-US" sz="1200" dirty="0"/>
          </a:p>
        </p:txBody>
      </p:sp>
      <p:sp>
        <p:nvSpPr>
          <p:cNvPr id="14" name="Shape 12"/>
          <p:cNvSpPr/>
          <p:nvPr/>
        </p:nvSpPr>
        <p:spPr>
          <a:xfrm>
            <a:off x="3154680" y="1874520"/>
            <a:ext cx="2715768" cy="2834640"/>
          </a:xfrm>
          <a:prstGeom prst="roundRect">
            <a:avLst>
              <a:gd name="adj" fmla="val 3367"/>
            </a:avLst>
          </a:prstGeom>
          <a:solidFill>
            <a:srgbClr val="FFFFFF"/>
          </a:solidFill>
          <a:ln w="12700">
            <a:solidFill>
              <a:srgbClr val="D8DCE8"/>
            </a:solidFill>
            <a:prstDash val="solid"/>
          </a:ln>
        </p:spPr>
      </p:sp>
      <p:sp>
        <p:nvSpPr>
          <p:cNvPr id="15" name="Text 13"/>
          <p:cNvSpPr/>
          <p:nvPr/>
        </p:nvSpPr>
        <p:spPr>
          <a:xfrm>
            <a:off x="3154680" y="1938528"/>
            <a:ext cx="271576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3264408" y="2395728"/>
            <a:ext cx="2496312" cy="310896"/>
          </a:xfrm>
          <a:prstGeom prst="rect">
            <a:avLst/>
          </a:prstGeom>
          <a:noFill/>
          <a:ln/>
        </p:spPr>
        <p:txBody>
          <a:bodyPr wrap="square"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For American History</a:t>
            </a:r>
            <a:endParaRPr lang="en-US" sz="1300" dirty="0"/>
          </a:p>
        </p:txBody>
      </p:sp>
      <p:sp>
        <p:nvSpPr>
          <p:cNvPr id="17" name="Text 15"/>
          <p:cNvSpPr/>
          <p:nvPr/>
        </p:nvSpPr>
        <p:spPr>
          <a:xfrm>
            <a:off x="3264408" y="2743200"/>
            <a:ext cx="2496312" cy="1828800"/>
          </a:xfrm>
          <a:prstGeom prst="rect">
            <a:avLst/>
          </a:prstGeom>
          <a:noFill/>
          <a:ln/>
        </p:spPr>
        <p:txBody>
          <a:bodyPr wrap="square" rtlCol="0" anchor="t"/>
          <a:lstStyle/>
          <a:p>
            <a:pPr indent="0" marL="0">
              <a:buNone/>
            </a:pPr>
            <a:r>
              <a:rPr lang="en-US" sz="1200" dirty="0">
                <a:solidFill>
                  <a:srgbClr val="3A4A5A"/>
                </a:solidFill>
                <a:latin typeface="Calibri" pitchFamily="34" charset="0"/>
                <a:ea typeface="Calibri" pitchFamily="34" charset="-122"/>
                <a:cs typeface="Calibri" pitchFamily="34" charset="-120"/>
              </a:rPr>
              <a:t>The story of America was shaped by what got recorded, by whom, and from whose perspective. Missing sources = missing voices.</a:t>
            </a:r>
            <a:endParaRPr lang="en-US" sz="1200" dirty="0"/>
          </a:p>
        </p:txBody>
      </p:sp>
      <p:sp>
        <p:nvSpPr>
          <p:cNvPr id="18" name="Shape 16"/>
          <p:cNvSpPr/>
          <p:nvPr/>
        </p:nvSpPr>
        <p:spPr>
          <a:xfrm>
            <a:off x="6053328" y="1874520"/>
            <a:ext cx="2715768" cy="2834640"/>
          </a:xfrm>
          <a:prstGeom prst="roundRect">
            <a:avLst>
              <a:gd name="adj" fmla="val 3367"/>
            </a:avLst>
          </a:prstGeom>
          <a:solidFill>
            <a:srgbClr val="FFFFFF"/>
          </a:solidFill>
          <a:ln w="12700">
            <a:solidFill>
              <a:srgbClr val="D8DCE8"/>
            </a:solidFill>
            <a:prstDash val="solid"/>
          </a:ln>
        </p:spPr>
      </p:sp>
      <p:sp>
        <p:nvSpPr>
          <p:cNvPr id="19" name="Text 17"/>
          <p:cNvSpPr/>
          <p:nvPr/>
        </p:nvSpPr>
        <p:spPr>
          <a:xfrm>
            <a:off x="6053328" y="1938528"/>
            <a:ext cx="2715768" cy="43891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0" name="Text 18"/>
          <p:cNvSpPr/>
          <p:nvPr/>
        </p:nvSpPr>
        <p:spPr>
          <a:xfrm>
            <a:off x="6163056" y="2395728"/>
            <a:ext cx="2496312" cy="310896"/>
          </a:xfrm>
          <a:prstGeom prst="rect">
            <a:avLst/>
          </a:prstGeom>
          <a:noFill/>
          <a:ln/>
        </p:spPr>
        <p:txBody>
          <a:bodyPr wrap="square"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For Your Assignment</a:t>
            </a:r>
            <a:endParaRPr lang="en-US" sz="1300" dirty="0"/>
          </a:p>
        </p:txBody>
      </p:sp>
      <p:sp>
        <p:nvSpPr>
          <p:cNvPr id="21" name="Text 19"/>
          <p:cNvSpPr/>
          <p:nvPr/>
        </p:nvSpPr>
        <p:spPr>
          <a:xfrm>
            <a:off x="6163056" y="2743200"/>
            <a:ext cx="2496312" cy="1828800"/>
          </a:xfrm>
          <a:prstGeom prst="rect">
            <a:avLst/>
          </a:prstGeom>
          <a:noFill/>
          <a:ln/>
        </p:spPr>
        <p:txBody>
          <a:bodyPr wrap="square" rtlCol="0" anchor="t"/>
          <a:lstStyle/>
          <a:p>
            <a:pPr indent="0" marL="0">
              <a:buNone/>
            </a:pPr>
            <a:r>
              <a:rPr lang="en-US" sz="1200" dirty="0">
                <a:solidFill>
                  <a:srgbClr val="3A4A5A"/>
                </a:solidFill>
                <a:latin typeface="Calibri" pitchFamily="34" charset="0"/>
                <a:ea typeface="Calibri" pitchFamily="34" charset="-122"/>
                <a:cs typeface="Calibri" pitchFamily="34" charset="-120"/>
              </a:rPr>
              <a:t>Your Front Page Brief must identify what kind of source you're using as evidence. That's what separates the Gazette from the Hasty Herald.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4" name="Shape 1"/>
          <p:cNvSpPr/>
          <p:nvPr/>
        </p:nvSpPr>
        <p:spPr>
          <a:xfrm>
            <a:off x="0" y="0"/>
            <a:ext cx="9144000" cy="54864"/>
          </a:xfrm>
          <a:prstGeom prst="rect">
            <a:avLst/>
          </a:prstGeom>
          <a:solidFill>
            <a:srgbClr val="D4943A"/>
          </a:solidFill>
          <a:ln/>
        </p:spPr>
      </p:sp>
      <p:sp>
        <p:nvSpPr>
          <p:cNvPr id="5" name="Text 2"/>
          <p:cNvSpPr/>
          <p:nvPr/>
        </p:nvSpPr>
        <p:spPr>
          <a:xfrm>
            <a:off x="365760" y="128016"/>
            <a:ext cx="8412480" cy="292608"/>
          </a:xfrm>
          <a:prstGeom prst="rect">
            <a:avLst/>
          </a:prstGeom>
          <a:noFill/>
          <a:ln/>
        </p:spPr>
        <p:txBody>
          <a:bodyPr wrap="square" rtlCol="0" anchor="ctr"/>
          <a:lstStyle/>
          <a:p>
            <a:pPr algn="ctr" indent="0" marL="0">
              <a:buNone/>
            </a:pPr>
            <a:r>
              <a:rPr lang="en-US" sz="1100" b="1" spc="300" kern="0" dirty="0">
                <a:solidFill>
                  <a:srgbClr val="D4943A"/>
                </a:solidFill>
                <a:latin typeface="Calibri" pitchFamily="34" charset="0"/>
                <a:ea typeface="Calibri" pitchFamily="34" charset="-122"/>
                <a:cs typeface="Calibri" pitchFamily="34" charset="-120"/>
              </a:rPr>
              <a:t>VIRTUE SPOTLIGHT</a:t>
            </a:r>
            <a:endParaRPr lang="en-US" sz="1100" dirty="0"/>
          </a:p>
        </p:txBody>
      </p:sp>
      <p:sp>
        <p:nvSpPr>
          <p:cNvPr id="6" name="Shape 3"/>
          <p:cNvSpPr/>
          <p:nvPr/>
        </p:nvSpPr>
        <p:spPr>
          <a:xfrm>
            <a:off x="2286000" y="512064"/>
            <a:ext cx="4572000" cy="868680"/>
          </a:xfrm>
          <a:prstGeom prst="roundRect">
            <a:avLst>
              <a:gd name="adj" fmla="val 12632"/>
            </a:avLst>
          </a:prstGeom>
          <a:solidFill>
            <a:srgbClr val="D4943A"/>
          </a:solidFill>
          <a:ln/>
        </p:spPr>
      </p:sp>
      <p:sp>
        <p:nvSpPr>
          <p:cNvPr id="7" name="Text 4"/>
          <p:cNvSpPr/>
          <p:nvPr/>
        </p:nvSpPr>
        <p:spPr>
          <a:xfrm>
            <a:off x="2286000" y="512064"/>
            <a:ext cx="4572000" cy="868680"/>
          </a:xfrm>
          <a:prstGeom prst="rect">
            <a:avLst/>
          </a:prstGeom>
          <a:noFill/>
          <a:ln/>
        </p:spPr>
        <p:txBody>
          <a:bodyPr wrap="square" rtlCol="0" anchor="ctr"/>
          <a:lstStyle/>
          <a:p>
            <a:pPr algn="ctr" indent="0" marL="0">
              <a:buNone/>
            </a:pPr>
            <a:r>
              <a:rPr lang="en-US" sz="3800" b="1" spc="400" kern="0" dirty="0">
                <a:solidFill>
                  <a:srgbClr val="FFFFFF"/>
                </a:solidFill>
                <a:latin typeface="Cambria" pitchFamily="34" charset="0"/>
                <a:ea typeface="Cambria" pitchFamily="34" charset="-122"/>
                <a:cs typeface="Cambria" pitchFamily="34" charset="-120"/>
              </a:rPr>
              <a:t>HONESTY</a:t>
            </a:r>
            <a:endParaRPr lang="en-US" sz="3800" dirty="0"/>
          </a:p>
        </p:txBody>
      </p:sp>
      <p:sp>
        <p:nvSpPr>
          <p:cNvPr id="8" name="Shape 5"/>
          <p:cNvSpPr/>
          <p:nvPr/>
        </p:nvSpPr>
        <p:spPr>
          <a:xfrm>
            <a:off x="731520" y="1481328"/>
            <a:ext cx="7680960" cy="658368"/>
          </a:xfrm>
          <a:prstGeom prst="roundRect">
            <a:avLst>
              <a:gd name="adj" fmla="val 11111"/>
            </a:avLst>
          </a:prstGeom>
          <a:solidFill>
            <a:srgbClr val="1A2D5A"/>
          </a:solidFill>
          <a:ln/>
        </p:spPr>
      </p:sp>
      <p:sp>
        <p:nvSpPr>
          <p:cNvPr id="9" name="Text 6"/>
          <p:cNvSpPr/>
          <p:nvPr/>
        </p:nvSpPr>
        <p:spPr>
          <a:xfrm>
            <a:off x="914400" y="1517904"/>
            <a:ext cx="7315200" cy="566928"/>
          </a:xfrm>
          <a:prstGeom prst="rect">
            <a:avLst/>
          </a:prstGeom>
          <a:noFill/>
          <a:ln/>
        </p:spPr>
        <p:txBody>
          <a:bodyPr wrap="square" rtlCol="0" anchor="ctr"/>
          <a:lstStyle/>
          <a:p>
            <a:pPr algn="ctr" indent="0" marL="0">
              <a:buNone/>
            </a:pPr>
            <a:r>
              <a:rPr lang="en-US" sz="1300" i="1" dirty="0">
                <a:solidFill>
                  <a:srgbClr val="D6F2FB"/>
                </a:solidFill>
                <a:latin typeface="Calibri" pitchFamily="34" charset="0"/>
                <a:ea typeface="Calibri" pitchFamily="34" charset="-122"/>
                <a:cs typeface="Calibri" pitchFamily="34" charset="-120"/>
              </a:rPr>
              <a:t>Telling the truth, even when it’s hard. Historians are honest about what the evidence shows — even when the evidence is incomplete, uncertain, or uncomfortable.</a:t>
            </a:r>
            <a:endParaRPr lang="en-US" sz="1300" dirty="0"/>
          </a:p>
        </p:txBody>
      </p:sp>
      <p:sp>
        <p:nvSpPr>
          <p:cNvPr id="10" name="Shape 7"/>
          <p:cNvSpPr/>
          <p:nvPr/>
        </p:nvSpPr>
        <p:spPr>
          <a:xfrm>
            <a:off x="365760" y="2267712"/>
            <a:ext cx="8412480" cy="1645920"/>
          </a:xfrm>
          <a:prstGeom prst="roundRect">
            <a:avLst>
              <a:gd name="adj" fmla="val 5556"/>
            </a:avLst>
          </a:prstGeom>
          <a:solidFill>
            <a:srgbClr val="1A2D5A"/>
          </a:solidFill>
          <a:ln w="12700">
            <a:solidFill>
              <a:srgbClr val="D4943A"/>
            </a:solidFill>
            <a:prstDash val="solid"/>
          </a:ln>
        </p:spPr>
      </p:sp>
      <p:sp>
        <p:nvSpPr>
          <p:cNvPr id="11" name="Text 8"/>
          <p:cNvSpPr/>
          <p:nvPr/>
        </p:nvSpPr>
        <p:spPr>
          <a:xfrm>
            <a:off x="548640" y="2340864"/>
            <a:ext cx="8046720" cy="274320"/>
          </a:xfrm>
          <a:prstGeom prst="rect">
            <a:avLst/>
          </a:prstGeom>
          <a:noFill/>
          <a:ln/>
        </p:spPr>
        <p:txBody>
          <a:bodyPr wrap="square" rtlCol="0" anchor="ctr"/>
          <a:lstStyle/>
          <a:p>
            <a:pPr indent="0" marL="0">
              <a:buNone/>
            </a:pPr>
            <a:r>
              <a:rPr lang="en-US" sz="1200" b="1" dirty="0">
                <a:solidFill>
                  <a:srgbClr val="D4943A"/>
                </a:solidFill>
                <a:latin typeface="Calibri" pitchFamily="34" charset="0"/>
                <a:ea typeface="Calibri" pitchFamily="34" charset="-122"/>
                <a:cs typeface="Calibri" pitchFamily="34" charset="-120"/>
              </a:rPr>
              <a:t>Honesty in Action — Today’s Lesson</a:t>
            </a:r>
            <a:endParaRPr lang="en-US" sz="1200" dirty="0"/>
          </a:p>
        </p:txBody>
      </p:sp>
      <p:sp>
        <p:nvSpPr>
          <p:cNvPr id="12" name="Text 9"/>
          <p:cNvSpPr/>
          <p:nvPr/>
        </p:nvSpPr>
        <p:spPr>
          <a:xfrm>
            <a:off x="548640" y="2651760"/>
            <a:ext cx="8046720" cy="1170432"/>
          </a:xfrm>
          <a:prstGeom prst="rect">
            <a:avLst/>
          </a:prstGeom>
          <a:noFill/>
          <a:ln/>
        </p:spPr>
        <p:txBody>
          <a:bodyPr wrap="square" rtlCol="0" anchor="t"/>
          <a:lstStyle/>
          <a:p>
            <a:pPr indent="0" marL="0">
              <a:buNone/>
            </a:pPr>
            <a:r>
              <a:rPr lang="en-US" sz="1300" dirty="0">
                <a:solidFill>
                  <a:srgbClr val="D6F2FB"/>
                </a:solidFill>
                <a:latin typeface="Calibri" pitchFamily="34" charset="0"/>
                <a:ea typeface="Calibri" pitchFamily="34" charset="-122"/>
                <a:cs typeface="Calibri" pitchFamily="34" charset="-120"/>
              </a:rPr>
              <a:t>The Hasty Herald chose to print a confident claim without checking. An honest editor slows down to ask: Where did this come from? What’s missing?</a:t>
            </a:r>
            <a:endParaRPr lang="en-US" sz="1300" dirty="0"/>
          </a:p>
          <a:p>
            <a:pPr indent="0" marL="0">
              <a:buNone/>
            </a:pPr>
            <a:endParaRPr lang="en-US" sz="1300" dirty="0"/>
          </a:p>
          <a:p>
            <a:pPr indent="0" marL="0">
              <a:buNone/>
            </a:pPr>
            <a:r>
              <a:rPr lang="en-US" sz="1300" dirty="0">
                <a:solidFill>
                  <a:srgbClr val="D6F2FB"/>
                </a:solidFill>
                <a:latin typeface="Calibri" pitchFamily="34" charset="0"/>
                <a:ea typeface="Calibri" pitchFamily="34" charset="-122"/>
                <a:cs typeface="Calibri" pitchFamily="34" charset="-120"/>
              </a:rPr>
              <a:t>An honest historian names the source — and admits what the source cannot tell us.</a:t>
            </a:r>
            <a:endParaRPr lang="en-US" sz="1300" dirty="0"/>
          </a:p>
        </p:txBody>
      </p:sp>
      <p:sp>
        <p:nvSpPr>
          <p:cNvPr id="13" name="Text 10"/>
          <p:cNvSpPr/>
          <p:nvPr/>
        </p:nvSpPr>
        <p:spPr>
          <a:xfrm>
            <a:off x="731520" y="4041648"/>
            <a:ext cx="7680960" cy="365760"/>
          </a:xfrm>
          <a:prstGeom prst="rect">
            <a:avLst/>
          </a:prstGeom>
          <a:noFill/>
          <a:ln/>
        </p:spPr>
        <p:txBody>
          <a:bodyPr wrap="square" rtlCol="0" anchor="ctr"/>
          <a:lstStyle/>
          <a:p>
            <a:pPr algn="ctr" indent="0" marL="0">
              <a:buNone/>
            </a:pPr>
            <a:r>
              <a:rPr lang="en-US" sz="1200" i="1" dirty="0">
                <a:solidFill>
                  <a:srgbClr val="7A88A8"/>
                </a:solidFill>
                <a:latin typeface="Cambria" pitchFamily="34" charset="0"/>
                <a:ea typeface="Cambria" pitchFamily="34" charset="-122"/>
                <a:cs typeface="Cambria" pitchFamily="34" charset="-120"/>
              </a:rPr>
              <a:t>"An honest editor checks the source before printing the claim."  — Ms. Avery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55C8E8"/>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Guided Practice — Teacher Models It</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Watch how a careful editor thinks out loud</a:t>
            </a:r>
            <a:endParaRPr lang="en-US" sz="1050" dirty="0"/>
          </a:p>
        </p:txBody>
      </p:sp>
      <p:sp>
        <p:nvSpPr>
          <p:cNvPr id="7" name="Shape 5"/>
          <p:cNvSpPr/>
          <p:nvPr/>
        </p:nvSpPr>
        <p:spPr>
          <a:xfrm>
            <a:off x="365760" y="804672"/>
            <a:ext cx="1371600" cy="329184"/>
          </a:xfrm>
          <a:prstGeom prst="roundRect">
            <a:avLst>
              <a:gd name="adj" fmla="val 27778"/>
            </a:avLst>
          </a:prstGeom>
          <a:solidFill>
            <a:srgbClr val="55C8E8"/>
          </a:solidFill>
          <a:ln/>
        </p:spPr>
      </p:sp>
      <p:sp>
        <p:nvSpPr>
          <p:cNvPr id="8" name="Text 6"/>
          <p:cNvSpPr/>
          <p:nvPr/>
        </p:nvSpPr>
        <p:spPr>
          <a:xfrm>
            <a:off x="365760" y="804672"/>
            <a:ext cx="1371600" cy="329184"/>
          </a:xfrm>
          <a:prstGeom prst="rect">
            <a:avLst/>
          </a:prstGeom>
          <a:noFill/>
          <a:ln/>
        </p:spPr>
        <p:txBody>
          <a:bodyPr wrap="square" rtlCol="0" anchor="ctr"/>
          <a:lstStyle/>
          <a:p>
            <a:pPr algn="ctr" indent="0" marL="0">
              <a:buNone/>
            </a:pPr>
            <a:r>
              <a:rPr lang="en-US" sz="1400" b="1" dirty="0">
                <a:solidFill>
                  <a:srgbClr val="0E1C42"/>
                </a:solidFill>
                <a:latin typeface="Calibri" pitchFamily="34" charset="0"/>
                <a:ea typeface="Calibri" pitchFamily="34" charset="-122"/>
                <a:cs typeface="Calibri" pitchFamily="34" charset="-120"/>
              </a:rPr>
              <a:t>I DO</a:t>
            </a:r>
            <a:endParaRPr lang="en-US" sz="1400" dirty="0"/>
          </a:p>
        </p:txBody>
      </p:sp>
      <p:sp>
        <p:nvSpPr>
          <p:cNvPr id="9" name="Shape 7"/>
          <p:cNvSpPr/>
          <p:nvPr/>
        </p:nvSpPr>
        <p:spPr>
          <a:xfrm>
            <a:off x="365760" y="1216152"/>
            <a:ext cx="8412480" cy="512064"/>
          </a:xfrm>
          <a:prstGeom prst="roundRect">
            <a:avLst>
              <a:gd name="adj" fmla="val 14286"/>
            </a:avLst>
          </a:prstGeom>
          <a:solidFill>
            <a:srgbClr val="1A2D5A"/>
          </a:solidFill>
          <a:ln/>
        </p:spPr>
      </p:sp>
      <p:sp>
        <p:nvSpPr>
          <p:cNvPr id="10" name="Text 8"/>
          <p:cNvSpPr/>
          <p:nvPr/>
        </p:nvSpPr>
        <p:spPr>
          <a:xfrm>
            <a:off x="548640" y="1216152"/>
            <a:ext cx="8046720" cy="512064"/>
          </a:xfrm>
          <a:prstGeom prst="rect">
            <a:avLst/>
          </a:prstGeom>
          <a:noFill/>
          <a:ln/>
        </p:spPr>
        <p:txBody>
          <a:bodyPr wrap="square" rtlCol="0" anchor="ctr"/>
          <a:lstStyle/>
          <a:p>
            <a:pPr indent="0" marL="0">
              <a:buNone/>
            </a:pPr>
            <a:r>
              <a:rPr lang="en-US" sz="1400" i="1" dirty="0">
                <a:solidFill>
                  <a:srgbClr val="D4943A"/>
                </a:solidFill>
                <a:latin typeface="Cambria" pitchFamily="34" charset="0"/>
                <a:ea typeface="Cambria" pitchFamily="34" charset="-122"/>
                <a:cs typeface="Cambria" pitchFamily="34" charset="-120"/>
              </a:rPr>
              <a:t>Source: A biography of Frederick Douglass, published in 2010.</a:t>
            </a:r>
            <a:endParaRPr lang="en-US" sz="1400" dirty="0"/>
          </a:p>
        </p:txBody>
      </p:sp>
      <p:sp>
        <p:nvSpPr>
          <p:cNvPr id="11" name="Shape 9"/>
          <p:cNvSpPr/>
          <p:nvPr/>
        </p:nvSpPr>
        <p:spPr>
          <a:xfrm>
            <a:off x="365760" y="1865376"/>
            <a:ext cx="8412480" cy="749808"/>
          </a:xfrm>
          <a:prstGeom prst="roundRect">
            <a:avLst>
              <a:gd name="adj" fmla="val 9756"/>
            </a:avLst>
          </a:prstGeom>
          <a:solidFill>
            <a:srgbClr val="FFFFFF"/>
          </a:solidFill>
          <a:ln w="12700">
            <a:solidFill>
              <a:srgbClr val="D8DCE8"/>
            </a:solidFill>
            <a:prstDash val="solid"/>
          </a:ln>
        </p:spPr>
      </p:sp>
      <p:sp>
        <p:nvSpPr>
          <p:cNvPr id="12" name="Shape 10"/>
          <p:cNvSpPr/>
          <p:nvPr/>
        </p:nvSpPr>
        <p:spPr>
          <a:xfrm>
            <a:off x="365760" y="1865376"/>
            <a:ext cx="2103120" cy="749808"/>
          </a:xfrm>
          <a:prstGeom prst="roundRect">
            <a:avLst>
              <a:gd name="adj" fmla="val 9756"/>
            </a:avLst>
          </a:prstGeom>
          <a:solidFill>
            <a:srgbClr val="1A8A7D"/>
          </a:solidFill>
          <a:ln/>
        </p:spPr>
      </p:sp>
      <p:sp>
        <p:nvSpPr>
          <p:cNvPr id="13" name="Text 11"/>
          <p:cNvSpPr/>
          <p:nvPr/>
        </p:nvSpPr>
        <p:spPr>
          <a:xfrm>
            <a:off x="365760" y="1865376"/>
            <a:ext cx="2103120" cy="7498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do I SEE?</a:t>
            </a:r>
            <a:endParaRPr lang="en-US" sz="1300" dirty="0"/>
          </a:p>
        </p:txBody>
      </p:sp>
      <p:sp>
        <p:nvSpPr>
          <p:cNvPr id="14" name="Text 12"/>
          <p:cNvSpPr/>
          <p:nvPr/>
        </p:nvSpPr>
        <p:spPr>
          <a:xfrm>
            <a:off x="2560320" y="1956816"/>
            <a:ext cx="6126480" cy="585216"/>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A book about a real person. It says 'published 2010.' That means the author was NOT alive during Douglass's life.</a:t>
            </a:r>
            <a:endParaRPr lang="en-US" sz="1200" dirty="0"/>
          </a:p>
        </p:txBody>
      </p:sp>
      <p:sp>
        <p:nvSpPr>
          <p:cNvPr id="15" name="Shape 13"/>
          <p:cNvSpPr/>
          <p:nvPr/>
        </p:nvSpPr>
        <p:spPr>
          <a:xfrm>
            <a:off x="365760" y="2724912"/>
            <a:ext cx="8412480" cy="749808"/>
          </a:xfrm>
          <a:prstGeom prst="roundRect">
            <a:avLst>
              <a:gd name="adj" fmla="val 9756"/>
            </a:avLst>
          </a:prstGeom>
          <a:solidFill>
            <a:srgbClr val="FFFFFF"/>
          </a:solidFill>
          <a:ln w="12700">
            <a:solidFill>
              <a:srgbClr val="D8DCE8"/>
            </a:solidFill>
            <a:prstDash val="solid"/>
          </a:ln>
        </p:spPr>
      </p:sp>
      <p:sp>
        <p:nvSpPr>
          <p:cNvPr id="16" name="Shape 14"/>
          <p:cNvSpPr/>
          <p:nvPr/>
        </p:nvSpPr>
        <p:spPr>
          <a:xfrm>
            <a:off x="365760" y="2724912"/>
            <a:ext cx="2103120" cy="749808"/>
          </a:xfrm>
          <a:prstGeom prst="roundRect">
            <a:avLst>
              <a:gd name="adj" fmla="val 9756"/>
            </a:avLst>
          </a:prstGeom>
          <a:solidFill>
            <a:srgbClr val="8B6FC0"/>
          </a:solidFill>
          <a:ln/>
        </p:spPr>
      </p:sp>
      <p:sp>
        <p:nvSpPr>
          <p:cNvPr id="17" name="Text 15"/>
          <p:cNvSpPr/>
          <p:nvPr/>
        </p:nvSpPr>
        <p:spPr>
          <a:xfrm>
            <a:off x="365760" y="2724912"/>
            <a:ext cx="2103120" cy="7498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does it MEAN?</a:t>
            </a:r>
            <a:endParaRPr lang="en-US" sz="1300" dirty="0"/>
          </a:p>
        </p:txBody>
      </p:sp>
      <p:sp>
        <p:nvSpPr>
          <p:cNvPr id="18" name="Text 16"/>
          <p:cNvSpPr/>
          <p:nvPr/>
        </p:nvSpPr>
        <p:spPr>
          <a:xfrm>
            <a:off x="2560320" y="2816352"/>
            <a:ext cx="6126480" cy="585216"/>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The author researched and interpreted primary sources about Douglass. This is someone looking BACK at history.</a:t>
            </a:r>
            <a:endParaRPr lang="en-US" sz="1200" dirty="0"/>
          </a:p>
        </p:txBody>
      </p:sp>
      <p:sp>
        <p:nvSpPr>
          <p:cNvPr id="19" name="Shape 17"/>
          <p:cNvSpPr/>
          <p:nvPr/>
        </p:nvSpPr>
        <p:spPr>
          <a:xfrm>
            <a:off x="365760" y="3584448"/>
            <a:ext cx="8412480" cy="749808"/>
          </a:xfrm>
          <a:prstGeom prst="roundRect">
            <a:avLst>
              <a:gd name="adj" fmla="val 9756"/>
            </a:avLst>
          </a:prstGeom>
          <a:solidFill>
            <a:srgbClr val="FFFFFF"/>
          </a:solidFill>
          <a:ln w="12700">
            <a:solidFill>
              <a:srgbClr val="D8DCE8"/>
            </a:solidFill>
            <a:prstDash val="solid"/>
          </a:ln>
        </p:spPr>
      </p:sp>
      <p:sp>
        <p:nvSpPr>
          <p:cNvPr id="20" name="Shape 18"/>
          <p:cNvSpPr/>
          <p:nvPr/>
        </p:nvSpPr>
        <p:spPr>
          <a:xfrm>
            <a:off x="365760" y="3584448"/>
            <a:ext cx="2103120" cy="749808"/>
          </a:xfrm>
          <a:prstGeom prst="roundRect">
            <a:avLst>
              <a:gd name="adj" fmla="val 9756"/>
            </a:avLst>
          </a:prstGeom>
          <a:solidFill>
            <a:srgbClr val="D4943A"/>
          </a:solidFill>
          <a:ln/>
        </p:spPr>
      </p:sp>
      <p:sp>
        <p:nvSpPr>
          <p:cNvPr id="21" name="Text 19"/>
          <p:cNvSpPr/>
          <p:nvPr/>
        </p:nvSpPr>
        <p:spPr>
          <a:xfrm>
            <a:off x="365760" y="3584448"/>
            <a:ext cx="2103120" cy="749808"/>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Why does it MATTER?</a:t>
            </a:r>
            <a:endParaRPr lang="en-US" sz="1300" dirty="0"/>
          </a:p>
        </p:txBody>
      </p:sp>
      <p:sp>
        <p:nvSpPr>
          <p:cNvPr id="22" name="Text 20"/>
          <p:cNvSpPr/>
          <p:nvPr/>
        </p:nvSpPr>
        <p:spPr>
          <a:xfrm>
            <a:off x="2560320" y="3675888"/>
            <a:ext cx="6126480" cy="585216"/>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This is a SECONDARY source. Useful for context — but I shouldn't confuse it with Douglass's own words or documents.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34B76F"/>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We Try Together</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Apply the three-step method as a class</a:t>
            </a:r>
            <a:endParaRPr lang="en-US" sz="1050" dirty="0"/>
          </a:p>
        </p:txBody>
      </p:sp>
      <p:sp>
        <p:nvSpPr>
          <p:cNvPr id="7" name="Shape 5"/>
          <p:cNvSpPr/>
          <p:nvPr/>
        </p:nvSpPr>
        <p:spPr>
          <a:xfrm>
            <a:off x="365760" y="804672"/>
            <a:ext cx="2011680" cy="329184"/>
          </a:xfrm>
          <a:prstGeom prst="roundRect">
            <a:avLst>
              <a:gd name="adj" fmla="val 27778"/>
            </a:avLst>
          </a:prstGeom>
          <a:solidFill>
            <a:srgbClr val="34B76F"/>
          </a:solidFill>
          <a:ln/>
        </p:spPr>
      </p:sp>
      <p:sp>
        <p:nvSpPr>
          <p:cNvPr id="8" name="Text 6"/>
          <p:cNvSpPr/>
          <p:nvPr/>
        </p:nvSpPr>
        <p:spPr>
          <a:xfrm>
            <a:off x="365760" y="804672"/>
            <a:ext cx="2011680"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 DO</a:t>
            </a:r>
            <a:endParaRPr lang="en-US" sz="1400" dirty="0"/>
          </a:p>
        </p:txBody>
      </p:sp>
      <p:sp>
        <p:nvSpPr>
          <p:cNvPr id="9" name="Shape 7"/>
          <p:cNvSpPr/>
          <p:nvPr/>
        </p:nvSpPr>
        <p:spPr>
          <a:xfrm>
            <a:off x="365760" y="1216152"/>
            <a:ext cx="8412480" cy="512064"/>
          </a:xfrm>
          <a:prstGeom prst="roundRect">
            <a:avLst>
              <a:gd name="adj" fmla="val 14286"/>
            </a:avLst>
          </a:prstGeom>
          <a:solidFill>
            <a:srgbClr val="0E1C42"/>
          </a:solidFill>
          <a:ln/>
        </p:spPr>
      </p:sp>
      <p:sp>
        <p:nvSpPr>
          <p:cNvPr id="10" name="Text 8"/>
          <p:cNvSpPr/>
          <p:nvPr/>
        </p:nvSpPr>
        <p:spPr>
          <a:xfrm>
            <a:off x="548640" y="1216152"/>
            <a:ext cx="8046720" cy="512064"/>
          </a:xfrm>
          <a:prstGeom prst="rect">
            <a:avLst/>
          </a:prstGeom>
          <a:noFill/>
          <a:ln/>
        </p:spPr>
        <p:txBody>
          <a:bodyPr wrap="square" rtlCol="0" anchor="ctr"/>
          <a:lstStyle/>
          <a:p>
            <a:pPr indent="0" marL="0">
              <a:buNone/>
            </a:pPr>
            <a:r>
              <a:rPr lang="en-US" sz="1400" i="1" dirty="0">
                <a:solidFill>
                  <a:srgbClr val="55C8E8"/>
                </a:solidFill>
                <a:latin typeface="Cambria" pitchFamily="34" charset="0"/>
                <a:ea typeface="Cambria" pitchFamily="34" charset="-122"/>
                <a:cs typeface="Cambria" pitchFamily="34" charset="-120"/>
              </a:rPr>
              <a:t>Source: A diary kept by a colonist in Virginia, written in 1611.</a:t>
            </a:r>
            <a:endParaRPr lang="en-US" sz="1400" dirty="0"/>
          </a:p>
        </p:txBody>
      </p:sp>
      <p:sp>
        <p:nvSpPr>
          <p:cNvPr id="11" name="Text 9"/>
          <p:cNvSpPr/>
          <p:nvPr/>
        </p:nvSpPr>
        <p:spPr>
          <a:xfrm>
            <a:off x="457200" y="1819656"/>
            <a:ext cx="8229600" cy="274320"/>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Work through the three questions together. Take turns.</a:t>
            </a:r>
            <a:endParaRPr lang="en-US" sz="1200" dirty="0"/>
          </a:p>
        </p:txBody>
      </p:sp>
      <p:sp>
        <p:nvSpPr>
          <p:cNvPr id="12" name="Shape 10"/>
          <p:cNvSpPr/>
          <p:nvPr/>
        </p:nvSpPr>
        <p:spPr>
          <a:xfrm>
            <a:off x="256032" y="2176272"/>
            <a:ext cx="2715768" cy="2423160"/>
          </a:xfrm>
          <a:prstGeom prst="roundRect">
            <a:avLst>
              <a:gd name="adj" fmla="val 3774"/>
            </a:avLst>
          </a:prstGeom>
          <a:solidFill>
            <a:srgbClr val="E8F5F0"/>
          </a:solidFill>
          <a:ln w="19050">
            <a:solidFill>
              <a:srgbClr val="34B76F"/>
            </a:solidFill>
            <a:prstDash val="solid"/>
          </a:ln>
        </p:spPr>
      </p:sp>
      <p:sp>
        <p:nvSpPr>
          <p:cNvPr id="13" name="Shape 11"/>
          <p:cNvSpPr/>
          <p:nvPr/>
        </p:nvSpPr>
        <p:spPr>
          <a:xfrm>
            <a:off x="329184" y="2231136"/>
            <a:ext cx="2569464" cy="365760"/>
          </a:xfrm>
          <a:prstGeom prst="roundRect">
            <a:avLst>
              <a:gd name="adj" fmla="val 15000"/>
            </a:avLst>
          </a:prstGeom>
          <a:solidFill>
            <a:srgbClr val="34B76F"/>
          </a:solidFill>
          <a:ln/>
        </p:spPr>
      </p:sp>
      <p:sp>
        <p:nvSpPr>
          <p:cNvPr id="14" name="Text 12"/>
          <p:cNvSpPr/>
          <p:nvPr/>
        </p:nvSpPr>
        <p:spPr>
          <a:xfrm>
            <a:off x="329184" y="2231136"/>
            <a:ext cx="2569464"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do I SEE?</a:t>
            </a:r>
            <a:endParaRPr lang="en-US" sz="1300" dirty="0"/>
          </a:p>
        </p:txBody>
      </p:sp>
      <p:sp>
        <p:nvSpPr>
          <p:cNvPr id="15" name="Text 13"/>
          <p:cNvSpPr/>
          <p:nvPr/>
        </p:nvSpPr>
        <p:spPr>
          <a:xfrm>
            <a:off x="393192" y="2670048"/>
            <a:ext cx="2441448" cy="182880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Students respond here...</a:t>
            </a:r>
            <a:endParaRPr lang="en-US" sz="1100" dirty="0"/>
          </a:p>
        </p:txBody>
      </p:sp>
      <p:sp>
        <p:nvSpPr>
          <p:cNvPr id="16" name="Shape 14"/>
          <p:cNvSpPr/>
          <p:nvPr/>
        </p:nvSpPr>
        <p:spPr>
          <a:xfrm>
            <a:off x="3154680" y="2176272"/>
            <a:ext cx="2715768" cy="2423160"/>
          </a:xfrm>
          <a:prstGeom prst="roundRect">
            <a:avLst>
              <a:gd name="adj" fmla="val 3774"/>
            </a:avLst>
          </a:prstGeom>
          <a:solidFill>
            <a:srgbClr val="FFF3DC"/>
          </a:solidFill>
          <a:ln w="19050">
            <a:solidFill>
              <a:srgbClr val="D4943A"/>
            </a:solidFill>
            <a:prstDash val="solid"/>
          </a:ln>
        </p:spPr>
      </p:sp>
      <p:sp>
        <p:nvSpPr>
          <p:cNvPr id="17" name="Shape 15"/>
          <p:cNvSpPr/>
          <p:nvPr/>
        </p:nvSpPr>
        <p:spPr>
          <a:xfrm>
            <a:off x="3227832" y="2231136"/>
            <a:ext cx="2569464" cy="365760"/>
          </a:xfrm>
          <a:prstGeom prst="roundRect">
            <a:avLst>
              <a:gd name="adj" fmla="val 15000"/>
            </a:avLst>
          </a:prstGeom>
          <a:solidFill>
            <a:srgbClr val="D4943A"/>
          </a:solidFill>
          <a:ln/>
        </p:spPr>
      </p:sp>
      <p:sp>
        <p:nvSpPr>
          <p:cNvPr id="18" name="Text 16"/>
          <p:cNvSpPr/>
          <p:nvPr/>
        </p:nvSpPr>
        <p:spPr>
          <a:xfrm>
            <a:off x="3227832" y="2231136"/>
            <a:ext cx="2569464"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What does it MEAN?</a:t>
            </a:r>
            <a:endParaRPr lang="en-US" sz="1300" dirty="0"/>
          </a:p>
        </p:txBody>
      </p:sp>
      <p:sp>
        <p:nvSpPr>
          <p:cNvPr id="19" name="Text 17"/>
          <p:cNvSpPr/>
          <p:nvPr/>
        </p:nvSpPr>
        <p:spPr>
          <a:xfrm>
            <a:off x="3291840" y="2670048"/>
            <a:ext cx="2441448" cy="182880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Students respond here...</a:t>
            </a:r>
            <a:endParaRPr lang="en-US" sz="1100" dirty="0"/>
          </a:p>
        </p:txBody>
      </p:sp>
      <p:sp>
        <p:nvSpPr>
          <p:cNvPr id="20" name="Shape 18"/>
          <p:cNvSpPr/>
          <p:nvPr/>
        </p:nvSpPr>
        <p:spPr>
          <a:xfrm>
            <a:off x="6053328" y="2176272"/>
            <a:ext cx="2715768" cy="2423160"/>
          </a:xfrm>
          <a:prstGeom prst="roundRect">
            <a:avLst>
              <a:gd name="adj" fmla="val 3774"/>
            </a:avLst>
          </a:prstGeom>
          <a:solidFill>
            <a:srgbClr val="E8EEF8"/>
          </a:solidFill>
          <a:ln w="19050">
            <a:solidFill>
              <a:srgbClr val="1A8A7D"/>
            </a:solidFill>
            <a:prstDash val="solid"/>
          </a:ln>
        </p:spPr>
      </p:sp>
      <p:sp>
        <p:nvSpPr>
          <p:cNvPr id="21" name="Shape 19"/>
          <p:cNvSpPr/>
          <p:nvPr/>
        </p:nvSpPr>
        <p:spPr>
          <a:xfrm>
            <a:off x="6126480" y="2231136"/>
            <a:ext cx="2569464" cy="365760"/>
          </a:xfrm>
          <a:prstGeom prst="roundRect">
            <a:avLst>
              <a:gd name="adj" fmla="val 15000"/>
            </a:avLst>
          </a:prstGeom>
          <a:solidFill>
            <a:srgbClr val="1A8A7D"/>
          </a:solidFill>
          <a:ln/>
        </p:spPr>
      </p:sp>
      <p:sp>
        <p:nvSpPr>
          <p:cNvPr id="22" name="Text 20"/>
          <p:cNvSpPr/>
          <p:nvPr/>
        </p:nvSpPr>
        <p:spPr>
          <a:xfrm>
            <a:off x="6126480" y="2231136"/>
            <a:ext cx="2569464" cy="36576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Why does it MATTER?</a:t>
            </a:r>
            <a:endParaRPr lang="en-US" sz="1300" dirty="0"/>
          </a:p>
        </p:txBody>
      </p:sp>
      <p:sp>
        <p:nvSpPr>
          <p:cNvPr id="23" name="Text 21"/>
          <p:cNvSpPr/>
          <p:nvPr/>
        </p:nvSpPr>
        <p:spPr>
          <a:xfrm>
            <a:off x="6190488" y="2670048"/>
            <a:ext cx="2441448" cy="1828800"/>
          </a:xfrm>
          <a:prstGeom prst="rect">
            <a:avLst/>
          </a:prstGeom>
          <a:noFill/>
          <a:ln/>
        </p:spPr>
        <p:txBody>
          <a:bodyPr wrap="square" rtlCol="0" anchor="t"/>
          <a:lstStyle/>
          <a:p>
            <a:pPr indent="0" marL="0">
              <a:buNone/>
            </a:pPr>
            <a:r>
              <a:rPr lang="en-US" sz="1100" i="1" dirty="0">
                <a:solidFill>
                  <a:srgbClr val="B0B8CC"/>
                </a:solidFill>
                <a:latin typeface="Calibri" pitchFamily="34" charset="0"/>
                <a:ea typeface="Calibri" pitchFamily="34" charset="-122"/>
                <a:cs typeface="Calibri" pitchFamily="34" charset="-120"/>
              </a:rPr>
              <a:t>Students respond here...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D4943A"/>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Your Turn — You Decide</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Apply it independently in your Editor's Notebook</a:t>
            </a:r>
            <a:endParaRPr lang="en-US" sz="1050" dirty="0"/>
          </a:p>
        </p:txBody>
      </p:sp>
      <p:sp>
        <p:nvSpPr>
          <p:cNvPr id="7" name="Shape 5"/>
          <p:cNvSpPr/>
          <p:nvPr/>
        </p:nvSpPr>
        <p:spPr>
          <a:xfrm>
            <a:off x="365760" y="804672"/>
            <a:ext cx="2011680" cy="329184"/>
          </a:xfrm>
          <a:prstGeom prst="roundRect">
            <a:avLst>
              <a:gd name="adj" fmla="val 27778"/>
            </a:avLst>
          </a:prstGeom>
          <a:solidFill>
            <a:srgbClr val="D4943A"/>
          </a:solidFill>
          <a:ln/>
        </p:spPr>
      </p:sp>
      <p:sp>
        <p:nvSpPr>
          <p:cNvPr id="8" name="Text 6"/>
          <p:cNvSpPr/>
          <p:nvPr/>
        </p:nvSpPr>
        <p:spPr>
          <a:xfrm>
            <a:off x="365760" y="804672"/>
            <a:ext cx="2011680" cy="329184"/>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 DO</a:t>
            </a:r>
            <a:endParaRPr lang="en-US" sz="1400" dirty="0"/>
          </a:p>
        </p:txBody>
      </p:sp>
      <p:sp>
        <p:nvSpPr>
          <p:cNvPr id="9" name="Text 7"/>
          <p:cNvSpPr/>
          <p:nvPr/>
        </p:nvSpPr>
        <p:spPr>
          <a:xfrm>
            <a:off x="457200" y="1225296"/>
            <a:ext cx="8229600" cy="310896"/>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For each source, decide: PRIMARY or SECONDARY? Write your answer and one reason in your Editor’s Notebook.</a:t>
            </a:r>
            <a:endParaRPr lang="en-US" sz="1200" dirty="0"/>
          </a:p>
        </p:txBody>
      </p:sp>
      <p:sp>
        <p:nvSpPr>
          <p:cNvPr id="10" name="Shape 8"/>
          <p:cNvSpPr/>
          <p:nvPr/>
        </p:nvSpPr>
        <p:spPr>
          <a:xfrm>
            <a:off x="320040" y="1664208"/>
            <a:ext cx="4114800" cy="1234440"/>
          </a:xfrm>
          <a:prstGeom prst="roundRect">
            <a:avLst>
              <a:gd name="adj" fmla="val 7407"/>
            </a:avLst>
          </a:prstGeom>
          <a:solidFill>
            <a:srgbClr val="FFFFFF"/>
          </a:solidFill>
          <a:ln w="12700">
            <a:solidFill>
              <a:srgbClr val="D8DCE8"/>
            </a:solidFill>
            <a:prstDash val="solid"/>
          </a:ln>
        </p:spPr>
      </p:sp>
      <p:sp>
        <p:nvSpPr>
          <p:cNvPr id="11" name="Text 9"/>
          <p:cNvSpPr/>
          <p:nvPr/>
        </p:nvSpPr>
        <p:spPr>
          <a:xfrm>
            <a:off x="457200" y="1755648"/>
            <a:ext cx="384048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1. A Wikipedia article about the Declaration of Independence</a:t>
            </a:r>
            <a:endParaRPr lang="en-US" sz="1200" dirty="0"/>
          </a:p>
        </p:txBody>
      </p:sp>
      <p:sp>
        <p:nvSpPr>
          <p:cNvPr id="12" name="Shape 10"/>
          <p:cNvSpPr/>
          <p:nvPr/>
        </p:nvSpPr>
        <p:spPr>
          <a:xfrm>
            <a:off x="457200" y="2286000"/>
            <a:ext cx="3840480" cy="475488"/>
          </a:xfrm>
          <a:prstGeom prst="roundRect">
            <a:avLst>
              <a:gd name="adj" fmla="val 11538"/>
            </a:avLst>
          </a:prstGeom>
          <a:solidFill>
            <a:srgbClr val="F0F2F8"/>
          </a:solidFill>
          <a:ln w="12700">
            <a:solidFill>
              <a:srgbClr val="B0B8CC"/>
            </a:solidFill>
            <a:prstDash val="dash"/>
          </a:ln>
        </p:spPr>
      </p:sp>
      <p:sp>
        <p:nvSpPr>
          <p:cNvPr id="13" name="Text 11"/>
          <p:cNvSpPr/>
          <p:nvPr/>
        </p:nvSpPr>
        <p:spPr>
          <a:xfrm>
            <a:off x="548640" y="2322576"/>
            <a:ext cx="3657600" cy="384048"/>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___________________________</a:t>
            </a:r>
            <a:endParaRPr lang="en-US" sz="1100" dirty="0"/>
          </a:p>
        </p:txBody>
      </p:sp>
      <p:sp>
        <p:nvSpPr>
          <p:cNvPr id="14" name="Shape 12"/>
          <p:cNvSpPr/>
          <p:nvPr/>
        </p:nvSpPr>
        <p:spPr>
          <a:xfrm>
            <a:off x="320040" y="3035808"/>
            <a:ext cx="4114800" cy="1234440"/>
          </a:xfrm>
          <a:prstGeom prst="roundRect">
            <a:avLst>
              <a:gd name="adj" fmla="val 7407"/>
            </a:avLst>
          </a:prstGeom>
          <a:solidFill>
            <a:srgbClr val="FFFFFF"/>
          </a:solidFill>
          <a:ln w="12700">
            <a:solidFill>
              <a:srgbClr val="D8DCE8"/>
            </a:solidFill>
            <a:prstDash val="solid"/>
          </a:ln>
        </p:spPr>
      </p:sp>
      <p:sp>
        <p:nvSpPr>
          <p:cNvPr id="15" name="Text 13"/>
          <p:cNvSpPr/>
          <p:nvPr/>
        </p:nvSpPr>
        <p:spPr>
          <a:xfrm>
            <a:off x="457200" y="3127248"/>
            <a:ext cx="384048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2. A photograph taken at Ellis Island in 1905</a:t>
            </a:r>
            <a:endParaRPr lang="en-US" sz="1200" dirty="0"/>
          </a:p>
        </p:txBody>
      </p:sp>
      <p:sp>
        <p:nvSpPr>
          <p:cNvPr id="16" name="Shape 14"/>
          <p:cNvSpPr/>
          <p:nvPr/>
        </p:nvSpPr>
        <p:spPr>
          <a:xfrm>
            <a:off x="457200" y="3657600"/>
            <a:ext cx="3840480" cy="475488"/>
          </a:xfrm>
          <a:prstGeom prst="roundRect">
            <a:avLst>
              <a:gd name="adj" fmla="val 11538"/>
            </a:avLst>
          </a:prstGeom>
          <a:solidFill>
            <a:srgbClr val="F0F2F8"/>
          </a:solidFill>
          <a:ln w="12700">
            <a:solidFill>
              <a:srgbClr val="B0B8CC"/>
            </a:solidFill>
            <a:prstDash val="dash"/>
          </a:ln>
        </p:spPr>
      </p:sp>
      <p:sp>
        <p:nvSpPr>
          <p:cNvPr id="17" name="Text 15"/>
          <p:cNvSpPr/>
          <p:nvPr/>
        </p:nvSpPr>
        <p:spPr>
          <a:xfrm>
            <a:off x="548640" y="3694176"/>
            <a:ext cx="3657600" cy="384048"/>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___________________________</a:t>
            </a:r>
            <a:endParaRPr lang="en-US" sz="1100" dirty="0"/>
          </a:p>
        </p:txBody>
      </p:sp>
      <p:sp>
        <p:nvSpPr>
          <p:cNvPr id="18" name="Shape 16"/>
          <p:cNvSpPr/>
          <p:nvPr/>
        </p:nvSpPr>
        <p:spPr>
          <a:xfrm>
            <a:off x="4663440" y="1664208"/>
            <a:ext cx="4114800" cy="1234440"/>
          </a:xfrm>
          <a:prstGeom prst="roundRect">
            <a:avLst>
              <a:gd name="adj" fmla="val 7407"/>
            </a:avLst>
          </a:prstGeom>
          <a:solidFill>
            <a:srgbClr val="FFFFFF"/>
          </a:solidFill>
          <a:ln w="12700">
            <a:solidFill>
              <a:srgbClr val="D8DCE8"/>
            </a:solidFill>
            <a:prstDash val="solid"/>
          </a:ln>
        </p:spPr>
      </p:sp>
      <p:sp>
        <p:nvSpPr>
          <p:cNvPr id="19" name="Text 17"/>
          <p:cNvSpPr/>
          <p:nvPr/>
        </p:nvSpPr>
        <p:spPr>
          <a:xfrm>
            <a:off x="4800600" y="1755648"/>
            <a:ext cx="384048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3. A museum exhibit brochure about Native American cultures</a:t>
            </a:r>
            <a:endParaRPr lang="en-US" sz="1200" dirty="0"/>
          </a:p>
        </p:txBody>
      </p:sp>
      <p:sp>
        <p:nvSpPr>
          <p:cNvPr id="20" name="Shape 18"/>
          <p:cNvSpPr/>
          <p:nvPr/>
        </p:nvSpPr>
        <p:spPr>
          <a:xfrm>
            <a:off x="4800600" y="2286000"/>
            <a:ext cx="3840480" cy="475488"/>
          </a:xfrm>
          <a:prstGeom prst="roundRect">
            <a:avLst>
              <a:gd name="adj" fmla="val 11538"/>
            </a:avLst>
          </a:prstGeom>
          <a:solidFill>
            <a:srgbClr val="F0F2F8"/>
          </a:solidFill>
          <a:ln w="12700">
            <a:solidFill>
              <a:srgbClr val="B0B8CC"/>
            </a:solidFill>
            <a:prstDash val="dash"/>
          </a:ln>
        </p:spPr>
      </p:sp>
      <p:sp>
        <p:nvSpPr>
          <p:cNvPr id="21" name="Text 19"/>
          <p:cNvSpPr/>
          <p:nvPr/>
        </p:nvSpPr>
        <p:spPr>
          <a:xfrm>
            <a:off x="4892040" y="2322576"/>
            <a:ext cx="3657600" cy="384048"/>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___________________________</a:t>
            </a:r>
            <a:endParaRPr lang="en-US" sz="1100" dirty="0"/>
          </a:p>
        </p:txBody>
      </p:sp>
      <p:sp>
        <p:nvSpPr>
          <p:cNvPr id="22" name="Shape 20"/>
          <p:cNvSpPr/>
          <p:nvPr/>
        </p:nvSpPr>
        <p:spPr>
          <a:xfrm>
            <a:off x="4663440" y="3035808"/>
            <a:ext cx="4114800" cy="1234440"/>
          </a:xfrm>
          <a:prstGeom prst="roundRect">
            <a:avLst>
              <a:gd name="adj" fmla="val 7407"/>
            </a:avLst>
          </a:prstGeom>
          <a:solidFill>
            <a:srgbClr val="FFFFFF"/>
          </a:solidFill>
          <a:ln w="12700">
            <a:solidFill>
              <a:srgbClr val="D8DCE8"/>
            </a:solidFill>
            <a:prstDash val="solid"/>
          </a:ln>
        </p:spPr>
      </p:sp>
      <p:sp>
        <p:nvSpPr>
          <p:cNvPr id="23" name="Text 21"/>
          <p:cNvSpPr/>
          <p:nvPr/>
        </p:nvSpPr>
        <p:spPr>
          <a:xfrm>
            <a:off x="4800600" y="3127248"/>
            <a:ext cx="3840480" cy="47548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4. An oral history recorded by a Lakota Nation member in 1972</a:t>
            </a:r>
            <a:endParaRPr lang="en-US" sz="1200" dirty="0"/>
          </a:p>
        </p:txBody>
      </p:sp>
      <p:sp>
        <p:nvSpPr>
          <p:cNvPr id="24" name="Shape 22"/>
          <p:cNvSpPr/>
          <p:nvPr/>
        </p:nvSpPr>
        <p:spPr>
          <a:xfrm>
            <a:off x="4800600" y="3657600"/>
            <a:ext cx="3840480" cy="475488"/>
          </a:xfrm>
          <a:prstGeom prst="roundRect">
            <a:avLst>
              <a:gd name="adj" fmla="val 11538"/>
            </a:avLst>
          </a:prstGeom>
          <a:solidFill>
            <a:srgbClr val="F0F2F8"/>
          </a:solidFill>
          <a:ln w="12700">
            <a:solidFill>
              <a:srgbClr val="B0B8CC"/>
            </a:solidFill>
            <a:prstDash val="dash"/>
          </a:ln>
        </p:spPr>
      </p:sp>
      <p:sp>
        <p:nvSpPr>
          <p:cNvPr id="25" name="Text 23"/>
          <p:cNvSpPr/>
          <p:nvPr/>
        </p:nvSpPr>
        <p:spPr>
          <a:xfrm>
            <a:off x="4892040" y="3694176"/>
            <a:ext cx="3657600" cy="384048"/>
          </a:xfrm>
          <a:prstGeom prst="rect">
            <a:avLst/>
          </a:prstGeom>
          <a:noFill/>
          <a:ln/>
        </p:spPr>
        <p:txBody>
          <a:bodyPr wrap="square" rtlCol="0" anchor="ctr"/>
          <a:lstStyle/>
          <a:p>
            <a:pPr indent="0" marL="0">
              <a:buNone/>
            </a:pPr>
            <a:r>
              <a:rPr lang="en-US" sz="1100" i="1" dirty="0">
                <a:solidFill>
                  <a:srgbClr val="7A88A8"/>
                </a:solidFill>
                <a:latin typeface="Calibri" pitchFamily="34" charset="0"/>
                <a:ea typeface="Calibri" pitchFamily="34" charset="-122"/>
                <a:cs typeface="Calibri" pitchFamily="34" charset="-120"/>
              </a:rPr>
              <a:t>My answer: ___________________________</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E8636B"/>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Error Analysis — What Did the Herald Miss?</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Analyzing the mistake sharpens our own thinking</a:t>
            </a:r>
            <a:endParaRPr lang="en-US" sz="1050" dirty="0"/>
          </a:p>
        </p:txBody>
      </p:sp>
      <p:sp>
        <p:nvSpPr>
          <p:cNvPr id="7" name="Shape 5"/>
          <p:cNvSpPr/>
          <p:nvPr/>
        </p:nvSpPr>
        <p:spPr>
          <a:xfrm>
            <a:off x="365760" y="804672"/>
            <a:ext cx="8412480" cy="603504"/>
          </a:xfrm>
          <a:prstGeom prst="roundRect">
            <a:avLst>
              <a:gd name="adj" fmla="val 12121"/>
            </a:avLst>
          </a:prstGeom>
          <a:solidFill>
            <a:srgbClr val="FAF3E0"/>
          </a:solidFill>
          <a:ln w="19050">
            <a:solidFill>
              <a:srgbClr val="8B2D26"/>
            </a:solidFill>
            <a:prstDash val="solid"/>
          </a:ln>
        </p:spPr>
      </p:sp>
      <p:sp>
        <p:nvSpPr>
          <p:cNvPr id="8" name="Text 6"/>
          <p:cNvSpPr/>
          <p:nvPr/>
        </p:nvSpPr>
        <p:spPr>
          <a:xfrm>
            <a:off x="548640" y="804672"/>
            <a:ext cx="8046720" cy="603504"/>
          </a:xfrm>
          <a:prstGeom prst="rect">
            <a:avLst/>
          </a:prstGeom>
          <a:noFill/>
          <a:ln/>
        </p:spPr>
        <p:txBody>
          <a:bodyPr wrap="square" rtlCol="0" anchor="ctr"/>
          <a:lstStyle/>
          <a:p>
            <a:pPr indent="0" marL="0">
              <a:buNone/>
            </a:pPr>
            <a:r>
              <a:rPr lang="en-US" sz="1300" i="1" dirty="0">
                <a:solidFill>
                  <a:srgbClr val="8B2D26"/>
                </a:solidFill>
                <a:latin typeface="Cambria" pitchFamily="34" charset="0"/>
                <a:ea typeface="Cambria" pitchFamily="34" charset="-122"/>
                <a:cs typeface="Cambria" pitchFamily="34" charset="-120"/>
              </a:rPr>
              <a:t>HERALD CLAIM: "Old documents always tell the whole truth by themselves!"</a:t>
            </a:r>
            <a:endParaRPr lang="en-US" sz="1300" dirty="0"/>
          </a:p>
        </p:txBody>
      </p:sp>
      <p:sp>
        <p:nvSpPr>
          <p:cNvPr id="9" name="Shape 7"/>
          <p:cNvSpPr/>
          <p:nvPr/>
        </p:nvSpPr>
        <p:spPr>
          <a:xfrm>
            <a:off x="274320" y="1536192"/>
            <a:ext cx="2715768" cy="3063240"/>
          </a:xfrm>
          <a:prstGeom prst="roundRect">
            <a:avLst>
              <a:gd name="adj" fmla="val 3367"/>
            </a:avLst>
          </a:prstGeom>
          <a:solidFill>
            <a:srgbClr val="FFFFFF"/>
          </a:solidFill>
          <a:ln w="25400">
            <a:solidFill>
              <a:srgbClr val="34B76F"/>
            </a:solidFill>
            <a:prstDash val="solid"/>
          </a:ln>
        </p:spPr>
      </p:sp>
      <p:sp>
        <p:nvSpPr>
          <p:cNvPr id="10" name="Shape 8"/>
          <p:cNvSpPr/>
          <p:nvPr/>
        </p:nvSpPr>
        <p:spPr>
          <a:xfrm>
            <a:off x="365760" y="1591056"/>
            <a:ext cx="2532888" cy="329184"/>
          </a:xfrm>
          <a:prstGeom prst="roundRect">
            <a:avLst>
              <a:gd name="adj" fmla="val 16667"/>
            </a:avLst>
          </a:prstGeom>
          <a:solidFill>
            <a:srgbClr val="34B76F"/>
          </a:solidFill>
          <a:ln/>
        </p:spPr>
      </p:sp>
      <p:sp>
        <p:nvSpPr>
          <p:cNvPr id="11" name="Text 9"/>
          <p:cNvSpPr/>
          <p:nvPr/>
        </p:nvSpPr>
        <p:spPr>
          <a:xfrm>
            <a:off x="365760" y="1591056"/>
            <a:ext cx="2532888" cy="329184"/>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WHAT'S TRUE</a:t>
            </a:r>
            <a:endParaRPr lang="en-US" sz="950" dirty="0"/>
          </a:p>
        </p:txBody>
      </p:sp>
      <p:sp>
        <p:nvSpPr>
          <p:cNvPr id="12" name="Text 10"/>
          <p:cNvSpPr/>
          <p:nvPr/>
        </p:nvSpPr>
        <p:spPr>
          <a:xfrm>
            <a:off x="438912" y="1975104"/>
            <a:ext cx="2386584" cy="2532888"/>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Old documents (primary sources) ARE valuable historical evidence. They come directly from the time and place of the event. That part is accurate.</a:t>
            </a:r>
            <a:endParaRPr lang="en-US" sz="1300" dirty="0"/>
          </a:p>
        </p:txBody>
      </p:sp>
      <p:sp>
        <p:nvSpPr>
          <p:cNvPr id="13" name="Shape 11"/>
          <p:cNvSpPr/>
          <p:nvPr/>
        </p:nvSpPr>
        <p:spPr>
          <a:xfrm>
            <a:off x="3154680" y="1536192"/>
            <a:ext cx="2715768" cy="3063240"/>
          </a:xfrm>
          <a:prstGeom prst="roundRect">
            <a:avLst>
              <a:gd name="adj" fmla="val 3367"/>
            </a:avLst>
          </a:prstGeom>
          <a:solidFill>
            <a:srgbClr val="FFFFFF"/>
          </a:solidFill>
          <a:ln w="25400">
            <a:solidFill>
              <a:srgbClr val="E8636B"/>
            </a:solidFill>
            <a:prstDash val="solid"/>
          </a:ln>
        </p:spPr>
      </p:sp>
      <p:sp>
        <p:nvSpPr>
          <p:cNvPr id="14" name="Shape 12"/>
          <p:cNvSpPr/>
          <p:nvPr/>
        </p:nvSpPr>
        <p:spPr>
          <a:xfrm>
            <a:off x="3246120" y="1591056"/>
            <a:ext cx="2532888" cy="329184"/>
          </a:xfrm>
          <a:prstGeom prst="roundRect">
            <a:avLst>
              <a:gd name="adj" fmla="val 16667"/>
            </a:avLst>
          </a:prstGeom>
          <a:solidFill>
            <a:srgbClr val="E8636B"/>
          </a:solidFill>
          <a:ln/>
        </p:spPr>
      </p:sp>
      <p:sp>
        <p:nvSpPr>
          <p:cNvPr id="15" name="Text 13"/>
          <p:cNvSpPr/>
          <p:nvPr/>
        </p:nvSpPr>
        <p:spPr>
          <a:xfrm>
            <a:off x="3246120" y="1591056"/>
            <a:ext cx="2532888" cy="329184"/>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THE ERROR</a:t>
            </a:r>
            <a:endParaRPr lang="en-US" sz="950" dirty="0"/>
          </a:p>
        </p:txBody>
      </p:sp>
      <p:sp>
        <p:nvSpPr>
          <p:cNvPr id="16" name="Text 14"/>
          <p:cNvSpPr/>
          <p:nvPr/>
        </p:nvSpPr>
        <p:spPr>
          <a:xfrm>
            <a:off x="3319272" y="1975104"/>
            <a:ext cx="2386584" cy="2532888"/>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"Always" and "by themselves" are the mistakes. Every source has an author, a perspective, and things it cannot see.</a:t>
            </a:r>
            <a:endParaRPr lang="en-US" sz="1300" dirty="0"/>
          </a:p>
        </p:txBody>
      </p:sp>
      <p:sp>
        <p:nvSpPr>
          <p:cNvPr id="17" name="Shape 15"/>
          <p:cNvSpPr/>
          <p:nvPr/>
        </p:nvSpPr>
        <p:spPr>
          <a:xfrm>
            <a:off x="6035040" y="1536192"/>
            <a:ext cx="2715768" cy="3063240"/>
          </a:xfrm>
          <a:prstGeom prst="roundRect">
            <a:avLst>
              <a:gd name="adj" fmla="val 3367"/>
            </a:avLst>
          </a:prstGeom>
          <a:solidFill>
            <a:srgbClr val="FFFFFF"/>
          </a:solidFill>
          <a:ln w="25400">
            <a:solidFill>
              <a:srgbClr val="1A8A7D"/>
            </a:solidFill>
            <a:prstDash val="solid"/>
          </a:ln>
        </p:spPr>
      </p:sp>
      <p:sp>
        <p:nvSpPr>
          <p:cNvPr id="18" name="Shape 16"/>
          <p:cNvSpPr/>
          <p:nvPr/>
        </p:nvSpPr>
        <p:spPr>
          <a:xfrm>
            <a:off x="6126480" y="1591056"/>
            <a:ext cx="2532888" cy="329184"/>
          </a:xfrm>
          <a:prstGeom prst="roundRect">
            <a:avLst>
              <a:gd name="adj" fmla="val 16667"/>
            </a:avLst>
          </a:prstGeom>
          <a:solidFill>
            <a:srgbClr val="1A8A7D"/>
          </a:solidFill>
          <a:ln/>
        </p:spPr>
      </p:sp>
      <p:sp>
        <p:nvSpPr>
          <p:cNvPr id="19" name="Text 17"/>
          <p:cNvSpPr/>
          <p:nvPr/>
        </p:nvSpPr>
        <p:spPr>
          <a:xfrm>
            <a:off x="6126480" y="1591056"/>
            <a:ext cx="2532888" cy="329184"/>
          </a:xfrm>
          <a:prstGeom prst="rect">
            <a:avLst/>
          </a:prstGeom>
          <a:noFill/>
          <a:ln/>
        </p:spPr>
        <p:txBody>
          <a:bodyPr wrap="square"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THE CORRECTION</a:t>
            </a:r>
            <a:endParaRPr lang="en-US" sz="950" dirty="0"/>
          </a:p>
        </p:txBody>
      </p:sp>
      <p:sp>
        <p:nvSpPr>
          <p:cNvPr id="20" name="Text 18"/>
          <p:cNvSpPr/>
          <p:nvPr/>
        </p:nvSpPr>
        <p:spPr>
          <a:xfrm>
            <a:off x="6199632" y="1975104"/>
            <a:ext cx="2386584" cy="2532888"/>
          </a:xfrm>
          <a:prstGeom prst="rect">
            <a:avLst/>
          </a:prstGeom>
          <a:noFill/>
          <a:ln/>
        </p:spPr>
        <p:txBody>
          <a:bodyPr wrap="square" rtlCol="0" anchor="t"/>
          <a:lstStyle/>
          <a:p>
            <a:pPr indent="0" marL="0">
              <a:buNone/>
            </a:pPr>
            <a:r>
              <a:rPr lang="en-US" sz="1300" dirty="0">
                <a:solidFill>
                  <a:srgbClr val="0E1C42"/>
                </a:solidFill>
                <a:latin typeface="Calibri" pitchFamily="34" charset="0"/>
                <a:ea typeface="Calibri" pitchFamily="34" charset="-122"/>
                <a:cs typeface="Calibri" pitchFamily="34" charset="-120"/>
              </a:rPr>
              <a:t>Primary sources are important evidence — but honest editors read them alongside other sources and ask who wrote this, when, and what’s missing.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p:spPr>
      </p:sp>
      <p:sp>
        <p:nvSpPr>
          <p:cNvPr id="3" name="Shape 1"/>
          <p:cNvSpPr/>
          <p:nvPr/>
        </p:nvSpPr>
        <p:spPr>
          <a:xfrm>
            <a:off x="0" y="0"/>
            <a:ext cx="9144000" cy="54864"/>
          </a:xfrm>
          <a:prstGeom prst="rect">
            <a:avLst/>
          </a:prstGeom>
          <a:solidFill>
            <a:srgbClr val="55C8E8"/>
          </a:solidFill>
          <a:ln/>
        </p:spPr>
      </p:sp>
      <p:sp>
        <p:nvSpPr>
          <p:cNvPr id="4" name="Text 2"/>
          <p:cNvSpPr/>
          <p:nvPr/>
        </p:nvSpPr>
        <p:spPr>
          <a:xfrm>
            <a:off x="365760" y="109728"/>
            <a:ext cx="8412480" cy="347472"/>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FACT-CHECK PREVIEW</a:t>
            </a:r>
            <a:endParaRPr lang="en-US" sz="1300" dirty="0"/>
          </a:p>
        </p:txBody>
      </p:sp>
      <p:sp>
        <p:nvSpPr>
          <p:cNvPr id="5" name="Text 3"/>
          <p:cNvSpPr/>
          <p:nvPr/>
        </p:nvSpPr>
        <p:spPr>
          <a:xfrm>
            <a:off x="365760" y="512064"/>
            <a:ext cx="8412480" cy="256032"/>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Before the Gazette goes to press, fact-check the claims.</a:t>
            </a:r>
            <a:endParaRPr lang="en-US" sz="1200" dirty="0"/>
          </a:p>
        </p:txBody>
      </p:sp>
      <p:sp>
        <p:nvSpPr>
          <p:cNvPr id="6" name="Shape 4"/>
          <p:cNvSpPr/>
          <p:nvPr/>
        </p:nvSpPr>
        <p:spPr>
          <a:xfrm>
            <a:off x="365760" y="914400"/>
            <a:ext cx="8412480" cy="1097280"/>
          </a:xfrm>
          <a:prstGeom prst="roundRect">
            <a:avLst>
              <a:gd name="adj" fmla="val 8333"/>
            </a:avLst>
          </a:prstGeom>
          <a:solidFill>
            <a:srgbClr val="1A2D5A"/>
          </a:solidFill>
          <a:ln w="12700">
            <a:solidFill>
              <a:srgbClr val="2A4070"/>
            </a:solidFill>
            <a:prstDash val="solid"/>
          </a:ln>
        </p:spPr>
      </p:sp>
      <p:sp>
        <p:nvSpPr>
          <p:cNvPr id="7" name="Text 5"/>
          <p:cNvSpPr/>
          <p:nvPr/>
        </p:nvSpPr>
        <p:spPr>
          <a:xfrm>
            <a:off x="548640" y="1005840"/>
            <a:ext cx="8046720" cy="50292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1. A photograph taken at Ellis Island in 1905 would be classified as...</a:t>
            </a:r>
            <a:endParaRPr lang="en-US" sz="1350" dirty="0"/>
          </a:p>
        </p:txBody>
      </p:sp>
      <p:sp>
        <p:nvSpPr>
          <p:cNvPr id="8" name="Shape 6"/>
          <p:cNvSpPr/>
          <p:nvPr/>
        </p:nvSpPr>
        <p:spPr>
          <a:xfrm>
            <a:off x="548640" y="1591056"/>
            <a:ext cx="5120640" cy="310896"/>
          </a:xfrm>
          <a:prstGeom prst="roundRect">
            <a:avLst>
              <a:gd name="adj" fmla="val 17647"/>
            </a:avLst>
          </a:prstGeom>
          <a:solidFill>
            <a:srgbClr val="0E1C42"/>
          </a:solidFill>
          <a:ln/>
        </p:spPr>
      </p:sp>
      <p:sp>
        <p:nvSpPr>
          <p:cNvPr id="9" name="Text 7"/>
          <p:cNvSpPr/>
          <p:nvPr/>
        </p:nvSpPr>
        <p:spPr>
          <a:xfrm>
            <a:off x="640080" y="1591056"/>
            <a:ext cx="4937760" cy="310896"/>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Think: When was it made? Who made it? Were they there?</a:t>
            </a:r>
            <a:endParaRPr lang="en-US" sz="1100" dirty="0"/>
          </a:p>
        </p:txBody>
      </p:sp>
      <p:sp>
        <p:nvSpPr>
          <p:cNvPr id="10" name="Shape 8"/>
          <p:cNvSpPr/>
          <p:nvPr/>
        </p:nvSpPr>
        <p:spPr>
          <a:xfrm>
            <a:off x="365760" y="2176272"/>
            <a:ext cx="8412480" cy="1097280"/>
          </a:xfrm>
          <a:prstGeom prst="roundRect">
            <a:avLst>
              <a:gd name="adj" fmla="val 8333"/>
            </a:avLst>
          </a:prstGeom>
          <a:solidFill>
            <a:srgbClr val="1A2D5A"/>
          </a:solidFill>
          <a:ln w="12700">
            <a:solidFill>
              <a:srgbClr val="2A4070"/>
            </a:solidFill>
            <a:prstDash val="solid"/>
          </a:ln>
        </p:spPr>
      </p:sp>
      <p:sp>
        <p:nvSpPr>
          <p:cNvPr id="11" name="Text 9"/>
          <p:cNvSpPr/>
          <p:nvPr/>
        </p:nvSpPr>
        <p:spPr>
          <a:xfrm>
            <a:off x="548640" y="2267712"/>
            <a:ext cx="8046720" cy="50292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2. A 2018 textbook chapter describing how the Declaration of Independence was written is best described as...</a:t>
            </a:r>
            <a:endParaRPr lang="en-US" sz="1350" dirty="0"/>
          </a:p>
        </p:txBody>
      </p:sp>
      <p:sp>
        <p:nvSpPr>
          <p:cNvPr id="12" name="Shape 10"/>
          <p:cNvSpPr/>
          <p:nvPr/>
        </p:nvSpPr>
        <p:spPr>
          <a:xfrm>
            <a:off x="548640" y="2852928"/>
            <a:ext cx="5120640" cy="310896"/>
          </a:xfrm>
          <a:prstGeom prst="roundRect">
            <a:avLst>
              <a:gd name="adj" fmla="val 17647"/>
            </a:avLst>
          </a:prstGeom>
          <a:solidFill>
            <a:srgbClr val="0E1C42"/>
          </a:solidFill>
          <a:ln/>
        </p:spPr>
      </p:sp>
      <p:sp>
        <p:nvSpPr>
          <p:cNvPr id="13" name="Text 11"/>
          <p:cNvSpPr/>
          <p:nvPr/>
        </p:nvSpPr>
        <p:spPr>
          <a:xfrm>
            <a:off x="640080" y="2852928"/>
            <a:ext cx="4937760" cy="310896"/>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Think: Was the author alive in 1776?</a:t>
            </a:r>
            <a:endParaRPr lang="en-US" sz="1100" dirty="0"/>
          </a:p>
        </p:txBody>
      </p:sp>
      <p:sp>
        <p:nvSpPr>
          <p:cNvPr id="14" name="Shape 12"/>
          <p:cNvSpPr/>
          <p:nvPr/>
        </p:nvSpPr>
        <p:spPr>
          <a:xfrm>
            <a:off x="365760" y="3438144"/>
            <a:ext cx="8412480" cy="1097280"/>
          </a:xfrm>
          <a:prstGeom prst="roundRect">
            <a:avLst>
              <a:gd name="adj" fmla="val 8333"/>
            </a:avLst>
          </a:prstGeom>
          <a:solidFill>
            <a:srgbClr val="1A2D5A"/>
          </a:solidFill>
          <a:ln w="12700">
            <a:solidFill>
              <a:srgbClr val="2A4070"/>
            </a:solidFill>
            <a:prstDash val="solid"/>
          </a:ln>
        </p:spPr>
      </p:sp>
      <p:sp>
        <p:nvSpPr>
          <p:cNvPr id="15" name="Text 13"/>
          <p:cNvSpPr/>
          <p:nvPr/>
        </p:nvSpPr>
        <p:spPr>
          <a:xfrm>
            <a:off x="548640" y="3529584"/>
            <a:ext cx="8046720" cy="502920"/>
          </a:xfrm>
          <a:prstGeom prst="rect">
            <a:avLst/>
          </a:prstGeom>
          <a:noFill/>
          <a:ln/>
        </p:spPr>
        <p:txBody>
          <a:bodyPr wrap="square" rtlCol="0" anchor="t"/>
          <a:lstStyle/>
          <a:p>
            <a:pPr indent="0" marL="0">
              <a:buNone/>
            </a:pPr>
            <a:r>
              <a:rPr lang="en-US" sz="1350" dirty="0">
                <a:solidFill>
                  <a:srgbClr val="FFFFFF"/>
                </a:solidFill>
                <a:latin typeface="Calibri" pitchFamily="34" charset="0"/>
                <a:ea typeface="Calibri" pitchFamily="34" charset="-122"/>
                <a:cs typeface="Calibri" pitchFamily="34" charset="-120"/>
              </a:rPr>
              <a:t>3. An honest editor at The Republic Gazette would respond to a single primary source by...</a:t>
            </a:r>
            <a:endParaRPr lang="en-US" sz="1350" dirty="0"/>
          </a:p>
        </p:txBody>
      </p:sp>
      <p:sp>
        <p:nvSpPr>
          <p:cNvPr id="16" name="Shape 14"/>
          <p:cNvSpPr/>
          <p:nvPr/>
        </p:nvSpPr>
        <p:spPr>
          <a:xfrm>
            <a:off x="548640" y="4114800"/>
            <a:ext cx="5120640" cy="310896"/>
          </a:xfrm>
          <a:prstGeom prst="roundRect">
            <a:avLst>
              <a:gd name="adj" fmla="val 17647"/>
            </a:avLst>
          </a:prstGeom>
          <a:solidFill>
            <a:srgbClr val="0E1C42"/>
          </a:solidFill>
          <a:ln/>
        </p:spPr>
      </p:sp>
      <p:sp>
        <p:nvSpPr>
          <p:cNvPr id="17" name="Text 15"/>
          <p:cNvSpPr/>
          <p:nvPr/>
        </p:nvSpPr>
        <p:spPr>
          <a:xfrm>
            <a:off x="640080" y="4114800"/>
            <a:ext cx="4937760" cy="310896"/>
          </a:xfrm>
          <a:prstGeom prst="rect">
            <a:avLst/>
          </a:prstGeom>
          <a:noFill/>
          <a:ln/>
        </p:spPr>
        <p:txBody>
          <a:bodyPr wrap="square"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Think: What would Ms. Avery do before printing?</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D4943A"/>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Assignment Preview — Editor's Notebook Questions</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Three questions that prepare you for the Front Page Brief</a:t>
            </a:r>
            <a:endParaRPr lang="en-US" sz="1050" dirty="0"/>
          </a:p>
        </p:txBody>
      </p:sp>
      <p:sp>
        <p:nvSpPr>
          <p:cNvPr id="7" name="Text 5"/>
          <p:cNvSpPr/>
          <p:nvPr/>
        </p:nvSpPr>
        <p:spPr>
          <a:xfrm>
            <a:off x="365760" y="822960"/>
            <a:ext cx="8412480" cy="310896"/>
          </a:xfrm>
          <a:prstGeom prst="rect">
            <a:avLst/>
          </a:prstGeom>
          <a:noFill/>
          <a:ln/>
        </p:spPr>
        <p:txBody>
          <a:bodyPr wrap="square"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Write a few sentences for each in your Editor’s Notebook. These notes will help you write the Front Page Brief.</a:t>
            </a:r>
            <a:endParaRPr lang="en-US" sz="1200" dirty="0"/>
          </a:p>
        </p:txBody>
      </p:sp>
      <p:sp>
        <p:nvSpPr>
          <p:cNvPr id="8" name="Shape 6"/>
          <p:cNvSpPr/>
          <p:nvPr/>
        </p:nvSpPr>
        <p:spPr>
          <a:xfrm>
            <a:off x="365760" y="1243584"/>
            <a:ext cx="8412480" cy="1051560"/>
          </a:xfrm>
          <a:prstGeom prst="roundRect">
            <a:avLst>
              <a:gd name="adj" fmla="val 8696"/>
            </a:avLst>
          </a:prstGeom>
          <a:solidFill>
            <a:srgbClr val="FFFFFF"/>
          </a:solidFill>
          <a:ln w="12700">
            <a:solidFill>
              <a:srgbClr val="D8DCE8"/>
            </a:solidFill>
            <a:prstDash val="solid"/>
          </a:ln>
        </p:spPr>
      </p:sp>
      <p:sp>
        <p:nvSpPr>
          <p:cNvPr id="9" name="Shape 7"/>
          <p:cNvSpPr/>
          <p:nvPr/>
        </p:nvSpPr>
        <p:spPr>
          <a:xfrm>
            <a:off x="365760" y="1243584"/>
            <a:ext cx="502920" cy="1051560"/>
          </a:xfrm>
          <a:prstGeom prst="roundRect">
            <a:avLst>
              <a:gd name="adj" fmla="val 18182"/>
            </a:avLst>
          </a:prstGeom>
          <a:solidFill>
            <a:srgbClr val="D4943A"/>
          </a:solidFill>
          <a:ln/>
        </p:spPr>
      </p:sp>
      <p:sp>
        <p:nvSpPr>
          <p:cNvPr id="10" name="Text 8"/>
          <p:cNvSpPr/>
          <p:nvPr/>
        </p:nvSpPr>
        <p:spPr>
          <a:xfrm>
            <a:off x="365760" y="1243584"/>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1" name="Text 9"/>
          <p:cNvSpPr/>
          <p:nvPr/>
        </p:nvSpPr>
        <p:spPr>
          <a:xfrm>
            <a:off x="1005840" y="1335024"/>
            <a:ext cx="7662672" cy="475488"/>
          </a:xfrm>
          <a:prstGeom prst="rect">
            <a:avLst/>
          </a:prstGeom>
          <a:noFill/>
          <a:ln/>
        </p:spPr>
        <p:txBody>
          <a:bodyPr wrap="square"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Of the three sources in the image, which one is primary? How did you decide?</a:t>
            </a:r>
            <a:endParaRPr lang="en-US" sz="1300" dirty="0"/>
          </a:p>
        </p:txBody>
      </p:sp>
      <p:sp>
        <p:nvSpPr>
          <p:cNvPr id="12" name="Shape 10"/>
          <p:cNvSpPr/>
          <p:nvPr/>
        </p:nvSpPr>
        <p:spPr>
          <a:xfrm>
            <a:off x="1005840" y="1847088"/>
            <a:ext cx="7662672" cy="329184"/>
          </a:xfrm>
          <a:prstGeom prst="roundRect">
            <a:avLst>
              <a:gd name="adj" fmla="val 16667"/>
            </a:avLst>
          </a:prstGeom>
          <a:solidFill>
            <a:srgbClr val="FFF3DC"/>
          </a:solidFill>
          <a:ln/>
        </p:spPr>
      </p:sp>
      <p:sp>
        <p:nvSpPr>
          <p:cNvPr id="13" name="Text 11"/>
          <p:cNvSpPr/>
          <p:nvPr/>
        </p:nvSpPr>
        <p:spPr>
          <a:xfrm>
            <a:off x="1097280" y="1865376"/>
            <a:ext cx="7479792" cy="292608"/>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Scaffold: Name the source. Explain what clue told you it was made during the event.</a:t>
            </a:r>
            <a:endParaRPr lang="en-US" sz="1100" dirty="0"/>
          </a:p>
        </p:txBody>
      </p:sp>
      <p:sp>
        <p:nvSpPr>
          <p:cNvPr id="14" name="Shape 12"/>
          <p:cNvSpPr/>
          <p:nvPr/>
        </p:nvSpPr>
        <p:spPr>
          <a:xfrm>
            <a:off x="365760" y="2414016"/>
            <a:ext cx="8412480" cy="1051560"/>
          </a:xfrm>
          <a:prstGeom prst="roundRect">
            <a:avLst>
              <a:gd name="adj" fmla="val 8696"/>
            </a:avLst>
          </a:prstGeom>
          <a:solidFill>
            <a:srgbClr val="FFFFFF"/>
          </a:solidFill>
          <a:ln w="12700">
            <a:solidFill>
              <a:srgbClr val="D8DCE8"/>
            </a:solidFill>
            <a:prstDash val="solid"/>
          </a:ln>
        </p:spPr>
      </p:sp>
      <p:sp>
        <p:nvSpPr>
          <p:cNvPr id="15" name="Shape 13"/>
          <p:cNvSpPr/>
          <p:nvPr/>
        </p:nvSpPr>
        <p:spPr>
          <a:xfrm>
            <a:off x="365760" y="2414016"/>
            <a:ext cx="502920" cy="1051560"/>
          </a:xfrm>
          <a:prstGeom prst="roundRect">
            <a:avLst>
              <a:gd name="adj" fmla="val 18182"/>
            </a:avLst>
          </a:prstGeom>
          <a:solidFill>
            <a:srgbClr val="D4943A"/>
          </a:solidFill>
          <a:ln/>
        </p:spPr>
      </p:sp>
      <p:sp>
        <p:nvSpPr>
          <p:cNvPr id="16" name="Text 14"/>
          <p:cNvSpPr/>
          <p:nvPr/>
        </p:nvSpPr>
        <p:spPr>
          <a:xfrm>
            <a:off x="365760" y="2414016"/>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5"/>
          <p:cNvSpPr/>
          <p:nvPr/>
        </p:nvSpPr>
        <p:spPr>
          <a:xfrm>
            <a:off x="1005840" y="2505456"/>
            <a:ext cx="7662672" cy="475488"/>
          </a:xfrm>
          <a:prstGeom prst="rect">
            <a:avLst/>
          </a:prstGeom>
          <a:noFill/>
          <a:ln/>
        </p:spPr>
        <p:txBody>
          <a:bodyPr wrap="square"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Give one example of a primary source and one example of a secondary source about the same event in American history.</a:t>
            </a:r>
            <a:endParaRPr lang="en-US" sz="1300" dirty="0"/>
          </a:p>
        </p:txBody>
      </p:sp>
      <p:sp>
        <p:nvSpPr>
          <p:cNvPr id="18" name="Shape 16"/>
          <p:cNvSpPr/>
          <p:nvPr/>
        </p:nvSpPr>
        <p:spPr>
          <a:xfrm>
            <a:off x="1005840" y="3017520"/>
            <a:ext cx="7662672" cy="329184"/>
          </a:xfrm>
          <a:prstGeom prst="roundRect">
            <a:avLst>
              <a:gd name="adj" fmla="val 16667"/>
            </a:avLst>
          </a:prstGeom>
          <a:solidFill>
            <a:srgbClr val="FFF3DC"/>
          </a:solidFill>
          <a:ln/>
        </p:spPr>
      </p:sp>
      <p:sp>
        <p:nvSpPr>
          <p:cNvPr id="19" name="Text 17"/>
          <p:cNvSpPr/>
          <p:nvPr/>
        </p:nvSpPr>
        <p:spPr>
          <a:xfrm>
            <a:off x="1097280" y="3035808"/>
            <a:ext cx="7479792" cy="292608"/>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Scaffold: Choose an event. Name one real primary and one real secondary source about it.</a:t>
            </a:r>
            <a:endParaRPr lang="en-US" sz="1100" dirty="0"/>
          </a:p>
        </p:txBody>
      </p:sp>
      <p:sp>
        <p:nvSpPr>
          <p:cNvPr id="20" name="Shape 18"/>
          <p:cNvSpPr/>
          <p:nvPr/>
        </p:nvSpPr>
        <p:spPr>
          <a:xfrm>
            <a:off x="365760" y="3584448"/>
            <a:ext cx="8412480" cy="1051560"/>
          </a:xfrm>
          <a:prstGeom prst="roundRect">
            <a:avLst>
              <a:gd name="adj" fmla="val 8696"/>
            </a:avLst>
          </a:prstGeom>
          <a:solidFill>
            <a:srgbClr val="FFFFFF"/>
          </a:solidFill>
          <a:ln w="12700">
            <a:solidFill>
              <a:srgbClr val="D8DCE8"/>
            </a:solidFill>
            <a:prstDash val="solid"/>
          </a:ln>
        </p:spPr>
      </p:sp>
      <p:sp>
        <p:nvSpPr>
          <p:cNvPr id="21" name="Shape 19"/>
          <p:cNvSpPr/>
          <p:nvPr/>
        </p:nvSpPr>
        <p:spPr>
          <a:xfrm>
            <a:off x="365760" y="3584448"/>
            <a:ext cx="502920" cy="1051560"/>
          </a:xfrm>
          <a:prstGeom prst="roundRect">
            <a:avLst>
              <a:gd name="adj" fmla="val 18182"/>
            </a:avLst>
          </a:prstGeom>
          <a:solidFill>
            <a:srgbClr val="D4943A"/>
          </a:solidFill>
          <a:ln/>
        </p:spPr>
      </p:sp>
      <p:sp>
        <p:nvSpPr>
          <p:cNvPr id="22" name="Text 20"/>
          <p:cNvSpPr/>
          <p:nvPr/>
        </p:nvSpPr>
        <p:spPr>
          <a:xfrm>
            <a:off x="365760" y="3584448"/>
            <a:ext cx="502920" cy="105156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3" name="Text 21"/>
          <p:cNvSpPr/>
          <p:nvPr/>
        </p:nvSpPr>
        <p:spPr>
          <a:xfrm>
            <a:off x="1005840" y="3675888"/>
            <a:ext cx="7662672" cy="475488"/>
          </a:xfrm>
          <a:prstGeom prst="rect">
            <a:avLst/>
          </a:prstGeom>
          <a:noFill/>
          <a:ln/>
        </p:spPr>
        <p:txBody>
          <a:bodyPr wrap="square"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The Hasty Herald said old documents 'always tell the whole truth by themselves.' What's partly right about that? What's missing?</a:t>
            </a:r>
            <a:endParaRPr lang="en-US" sz="1300" dirty="0"/>
          </a:p>
        </p:txBody>
      </p:sp>
      <p:sp>
        <p:nvSpPr>
          <p:cNvPr id="24" name="Shape 22"/>
          <p:cNvSpPr/>
          <p:nvPr/>
        </p:nvSpPr>
        <p:spPr>
          <a:xfrm>
            <a:off x="1005840" y="4187952"/>
            <a:ext cx="7662672" cy="329184"/>
          </a:xfrm>
          <a:prstGeom prst="roundRect">
            <a:avLst>
              <a:gd name="adj" fmla="val 16667"/>
            </a:avLst>
          </a:prstGeom>
          <a:solidFill>
            <a:srgbClr val="FFF3DC"/>
          </a:solidFill>
          <a:ln/>
        </p:spPr>
      </p:sp>
      <p:sp>
        <p:nvSpPr>
          <p:cNvPr id="25" name="Text 23"/>
          <p:cNvSpPr/>
          <p:nvPr/>
        </p:nvSpPr>
        <p:spPr>
          <a:xfrm>
            <a:off x="1097280" y="4206240"/>
            <a:ext cx="7479792" cy="292608"/>
          </a:xfrm>
          <a:prstGeom prst="rect">
            <a:avLst/>
          </a:prstGeom>
          <a:noFill/>
          <a:ln/>
        </p:spPr>
        <p:txBody>
          <a:bodyPr wrap="square" rtlCol="0" anchor="ctr"/>
          <a:lstStyle/>
          <a:p>
            <a:pPr indent="0" marL="0">
              <a:buNone/>
            </a:pPr>
            <a:r>
              <a:rPr lang="en-US" sz="1100" i="1" dirty="0">
                <a:solidFill>
                  <a:srgbClr val="5A4A3A"/>
                </a:solidFill>
                <a:latin typeface="Calibri" pitchFamily="34" charset="0"/>
                <a:ea typeface="Calibri" pitchFamily="34" charset="-122"/>
                <a:cs typeface="Calibri" pitchFamily="34" charset="-120"/>
              </a:rPr>
              <a:t>Scaffold: Give the Herald credit first — then explain the gap. This is the heart of your Front Page Brief.</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73152"/>
          </a:xfrm>
          <a:prstGeom prst="rect">
            <a:avLst/>
          </a:prstGeom>
          <a:solidFill>
            <a:srgbClr val="0E1C42"/>
          </a:solidFill>
          <a:ln/>
        </p:spPr>
      </p:sp>
      <p:sp>
        <p:nvSpPr>
          <p:cNvPr id="4" name="Shape 2"/>
          <p:cNvSpPr/>
          <p:nvPr/>
        </p:nvSpPr>
        <p:spPr>
          <a:xfrm>
            <a:off x="0" y="0"/>
            <a:ext cx="9144000" cy="685800"/>
          </a:xfrm>
          <a:prstGeom prst="rect">
            <a:avLst/>
          </a:prstGeom>
          <a:solidFill>
            <a:srgbClr val="0E1C42"/>
          </a:solidFill>
          <a:ln/>
        </p:spPr>
      </p:sp>
      <p:sp>
        <p:nvSpPr>
          <p:cNvPr id="5" name="Text 3"/>
          <p:cNvSpPr/>
          <p:nvPr/>
        </p:nvSpPr>
        <p:spPr>
          <a:xfrm>
            <a:off x="320040" y="73152"/>
            <a:ext cx="8229600" cy="530352"/>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Front Page Brief — Vol. 1  ·  Issue 1</a:t>
            </a:r>
            <a:endParaRPr lang="en-US" sz="2100" dirty="0"/>
          </a:p>
        </p:txBody>
      </p:sp>
      <p:sp>
        <p:nvSpPr>
          <p:cNvPr id="6" name="Text 4"/>
          <p:cNvSpPr/>
          <p:nvPr/>
        </p:nvSpPr>
        <p:spPr>
          <a:xfrm>
            <a:off x="320040" y="694944"/>
            <a:ext cx="8229600" cy="256032"/>
          </a:xfrm>
          <a:prstGeom prst="rect">
            <a:avLst/>
          </a:prstGeom>
          <a:noFill/>
          <a:ln/>
        </p:spPr>
        <p:txBody>
          <a:bodyPr wrap="square" rtlCol="0" anchor="ctr"/>
          <a:lstStyle/>
          <a:p>
            <a:pPr indent="0" marL="0">
              <a:buNone/>
            </a:pPr>
            <a:r>
              <a:rPr lang="en-US" sz="1050" i="1" dirty="0">
                <a:solidFill>
                  <a:srgbClr val="7A88A8"/>
                </a:solidFill>
                <a:latin typeface="Calibri" pitchFamily="34" charset="0"/>
                <a:ea typeface="Calibri" pitchFamily="34" charset="-122"/>
                <a:cs typeface="Calibri" pitchFamily="34" charset="-120"/>
              </a:rPr>
              <a:t>Your first published piece for The Republic Gazette</a:t>
            </a:r>
            <a:endParaRPr lang="en-US" sz="1050" dirty="0"/>
          </a:p>
        </p:txBody>
      </p:sp>
      <p:sp>
        <p:nvSpPr>
          <p:cNvPr id="7" name="Shape 5"/>
          <p:cNvSpPr/>
          <p:nvPr/>
        </p:nvSpPr>
        <p:spPr>
          <a:xfrm>
            <a:off x="365760" y="804672"/>
            <a:ext cx="2560320" cy="329184"/>
          </a:xfrm>
          <a:prstGeom prst="roundRect">
            <a:avLst>
              <a:gd name="adj" fmla="val 22222"/>
            </a:avLst>
          </a:prstGeom>
          <a:solidFill>
            <a:srgbClr val="0E1C42"/>
          </a:solidFill>
          <a:ln/>
        </p:spPr>
      </p:sp>
      <p:sp>
        <p:nvSpPr>
          <p:cNvPr id="8" name="Text 6"/>
          <p:cNvSpPr/>
          <p:nvPr/>
        </p:nvSpPr>
        <p:spPr>
          <a:xfrm>
            <a:off x="365760" y="804672"/>
            <a:ext cx="2560320" cy="329184"/>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FRONT PAGE BRIEF</a:t>
            </a:r>
            <a:endParaRPr lang="en-US" sz="1000" dirty="0"/>
          </a:p>
        </p:txBody>
      </p:sp>
      <p:sp>
        <p:nvSpPr>
          <p:cNvPr id="9" name="Text 7"/>
          <p:cNvSpPr/>
          <p:nvPr/>
        </p:nvSpPr>
        <p:spPr>
          <a:xfrm>
            <a:off x="365760" y="1225296"/>
            <a:ext cx="8412480" cy="274320"/>
          </a:xfrm>
          <a:prstGeom prst="rect">
            <a:avLst/>
          </a:prstGeom>
          <a:noFill/>
          <a:ln/>
        </p:spPr>
        <p:txBody>
          <a:bodyPr wrap="square"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What goes in a Front Page Brief:</a:t>
            </a:r>
            <a:endParaRPr lang="en-US" sz="1200" dirty="0"/>
          </a:p>
        </p:txBody>
      </p:sp>
      <p:sp>
        <p:nvSpPr>
          <p:cNvPr id="10" name="Shape 8"/>
          <p:cNvSpPr/>
          <p:nvPr/>
        </p:nvSpPr>
        <p:spPr>
          <a:xfrm>
            <a:off x="365760" y="1591056"/>
            <a:ext cx="8412480" cy="822960"/>
          </a:xfrm>
          <a:prstGeom prst="roundRect">
            <a:avLst>
              <a:gd name="adj" fmla="val 8889"/>
            </a:avLst>
          </a:prstGeom>
          <a:solidFill>
            <a:srgbClr val="FFFFFF"/>
          </a:solidFill>
          <a:ln w="12700">
            <a:solidFill>
              <a:srgbClr val="D8DCE8"/>
            </a:solidFill>
            <a:prstDash val="solid"/>
          </a:ln>
        </p:spPr>
      </p:sp>
      <p:sp>
        <p:nvSpPr>
          <p:cNvPr id="11" name="Shape 9"/>
          <p:cNvSpPr/>
          <p:nvPr/>
        </p:nvSpPr>
        <p:spPr>
          <a:xfrm>
            <a:off x="365760" y="1591056"/>
            <a:ext cx="54864" cy="822960"/>
          </a:xfrm>
          <a:prstGeom prst="rect">
            <a:avLst/>
          </a:prstGeom>
          <a:solidFill>
            <a:srgbClr val="D4943A"/>
          </a:solidFill>
          <a:ln/>
        </p:spPr>
      </p:sp>
      <p:sp>
        <p:nvSpPr>
          <p:cNvPr id="12" name="Text 10"/>
          <p:cNvSpPr/>
          <p:nvPr/>
        </p:nvSpPr>
        <p:spPr>
          <a:xfrm>
            <a:off x="475488" y="1664208"/>
            <a:ext cx="438912" cy="329184"/>
          </a:xfrm>
          <a:prstGeom prst="rect">
            <a:avLst/>
          </a:prstGeom>
          <a:noFill/>
          <a:ln/>
        </p:spPr>
        <p:txBody>
          <a:bodyPr wrap="square" rtlCol="0" anchor="ctr"/>
          <a:lstStyle/>
          <a:p>
            <a:pPr algn="ctr" indent="0" marL="0">
              <a:buNone/>
            </a:pPr>
            <a:r>
              <a:rPr lang="en-US" sz="1800" b="1" dirty="0">
                <a:solidFill>
                  <a:srgbClr val="D4943A"/>
                </a:solidFill>
                <a:latin typeface="Cambria" pitchFamily="34" charset="0"/>
                <a:ea typeface="Cambria" pitchFamily="34" charset="-122"/>
                <a:cs typeface="Cambria" pitchFamily="34" charset="-120"/>
              </a:rPr>
              <a:t>1</a:t>
            </a:r>
            <a:endParaRPr lang="en-US" sz="1800" dirty="0"/>
          </a:p>
        </p:txBody>
      </p:sp>
      <p:sp>
        <p:nvSpPr>
          <p:cNvPr id="13" name="Text 11"/>
          <p:cNvSpPr/>
          <p:nvPr/>
        </p:nvSpPr>
        <p:spPr>
          <a:xfrm>
            <a:off x="1005840" y="1645920"/>
            <a:ext cx="7589520" cy="310896"/>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 clear claim about primary and secondary sources</a:t>
            </a:r>
            <a:endParaRPr lang="en-US" sz="1300" dirty="0"/>
          </a:p>
        </p:txBody>
      </p:sp>
      <p:sp>
        <p:nvSpPr>
          <p:cNvPr id="14" name="Text 12"/>
          <p:cNvSpPr/>
          <p:nvPr/>
        </p:nvSpPr>
        <p:spPr>
          <a:xfrm>
            <a:off x="1005840" y="1993392"/>
            <a:ext cx="7589520" cy="347472"/>
          </a:xfrm>
          <a:prstGeom prst="rect">
            <a:avLst/>
          </a:prstGeom>
          <a:noFill/>
          <a:ln/>
        </p:spPr>
        <p:txBody>
          <a:bodyPr wrap="square" rtlCol="0" anchor="ctr"/>
          <a:lstStyle/>
          <a:p>
            <a:pPr indent="0" marL="0">
              <a:buNone/>
            </a:pPr>
            <a:r>
              <a:rPr lang="en-US" sz="1100" dirty="0">
                <a:solidFill>
                  <a:srgbClr val="3A4A5A"/>
                </a:solidFill>
                <a:latin typeface="Calibri" pitchFamily="34" charset="0"/>
                <a:ea typeface="Calibri" pitchFamily="34" charset="-122"/>
                <a:cs typeface="Calibri" pitchFamily="34" charset="-120"/>
              </a:rPr>
              <a:t>Not the Herald’s exaggerated version — your honest, specific version. Avoid the word 'always.'</a:t>
            </a:r>
            <a:endParaRPr lang="en-US" sz="1100" dirty="0"/>
          </a:p>
        </p:txBody>
      </p:sp>
      <p:sp>
        <p:nvSpPr>
          <p:cNvPr id="15" name="Shape 13"/>
          <p:cNvSpPr/>
          <p:nvPr/>
        </p:nvSpPr>
        <p:spPr>
          <a:xfrm>
            <a:off x="365760" y="2523744"/>
            <a:ext cx="8412480" cy="822960"/>
          </a:xfrm>
          <a:prstGeom prst="roundRect">
            <a:avLst>
              <a:gd name="adj" fmla="val 8889"/>
            </a:avLst>
          </a:prstGeom>
          <a:solidFill>
            <a:srgbClr val="FFFFFF"/>
          </a:solidFill>
          <a:ln w="12700">
            <a:solidFill>
              <a:srgbClr val="D8DCE8"/>
            </a:solidFill>
            <a:prstDash val="solid"/>
          </a:ln>
        </p:spPr>
      </p:sp>
      <p:sp>
        <p:nvSpPr>
          <p:cNvPr id="16" name="Shape 14"/>
          <p:cNvSpPr/>
          <p:nvPr/>
        </p:nvSpPr>
        <p:spPr>
          <a:xfrm>
            <a:off x="365760" y="2523744"/>
            <a:ext cx="54864" cy="822960"/>
          </a:xfrm>
          <a:prstGeom prst="rect">
            <a:avLst/>
          </a:prstGeom>
          <a:solidFill>
            <a:srgbClr val="D4943A"/>
          </a:solidFill>
          <a:ln/>
        </p:spPr>
      </p:sp>
      <p:sp>
        <p:nvSpPr>
          <p:cNvPr id="17" name="Text 15"/>
          <p:cNvSpPr/>
          <p:nvPr/>
        </p:nvSpPr>
        <p:spPr>
          <a:xfrm>
            <a:off x="475488" y="2596896"/>
            <a:ext cx="438912" cy="329184"/>
          </a:xfrm>
          <a:prstGeom prst="rect">
            <a:avLst/>
          </a:prstGeom>
          <a:noFill/>
          <a:ln/>
        </p:spPr>
        <p:txBody>
          <a:bodyPr wrap="square" rtlCol="0" anchor="ctr"/>
          <a:lstStyle/>
          <a:p>
            <a:pPr algn="ctr" indent="0" marL="0">
              <a:buNone/>
            </a:pPr>
            <a:r>
              <a:rPr lang="en-US" sz="1800" b="1" dirty="0">
                <a:solidFill>
                  <a:srgbClr val="D4943A"/>
                </a:solidFill>
                <a:latin typeface="Cambria" pitchFamily="34" charset="0"/>
                <a:ea typeface="Cambria" pitchFamily="34" charset="-122"/>
                <a:cs typeface="Cambria" pitchFamily="34" charset="-120"/>
              </a:rPr>
              <a:t>2</a:t>
            </a:r>
            <a:endParaRPr lang="en-US" sz="1800" dirty="0"/>
          </a:p>
        </p:txBody>
      </p:sp>
      <p:sp>
        <p:nvSpPr>
          <p:cNvPr id="18" name="Text 16"/>
          <p:cNvSpPr/>
          <p:nvPr/>
        </p:nvSpPr>
        <p:spPr>
          <a:xfrm>
            <a:off x="1005840" y="2578608"/>
            <a:ext cx="7589520" cy="310896"/>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One piece of evidence</a:t>
            </a:r>
            <a:endParaRPr lang="en-US" sz="1300" dirty="0"/>
          </a:p>
        </p:txBody>
      </p:sp>
      <p:sp>
        <p:nvSpPr>
          <p:cNvPr id="19" name="Text 17"/>
          <p:cNvSpPr/>
          <p:nvPr/>
        </p:nvSpPr>
        <p:spPr>
          <a:xfrm>
            <a:off x="1005840" y="2926080"/>
            <a:ext cx="7589520" cy="347472"/>
          </a:xfrm>
          <a:prstGeom prst="rect">
            <a:avLst/>
          </a:prstGeom>
          <a:noFill/>
          <a:ln/>
        </p:spPr>
        <p:txBody>
          <a:bodyPr wrap="square" rtlCol="0" anchor="ctr"/>
          <a:lstStyle/>
          <a:p>
            <a:pPr indent="0" marL="0">
              <a:buNone/>
            </a:pPr>
            <a:r>
              <a:rPr lang="en-US" sz="1100" dirty="0">
                <a:solidFill>
                  <a:srgbClr val="3A4A5A"/>
                </a:solidFill>
                <a:latin typeface="Calibri" pitchFamily="34" charset="0"/>
                <a:ea typeface="Calibri" pitchFamily="34" charset="-122"/>
                <a:cs typeface="Calibri" pitchFamily="34" charset="-120"/>
              </a:rPr>
              <a:t>An example or quote from the source study image. Name the source type (primary / secondary).</a:t>
            </a:r>
            <a:endParaRPr lang="en-US" sz="1100" dirty="0"/>
          </a:p>
        </p:txBody>
      </p:sp>
      <p:sp>
        <p:nvSpPr>
          <p:cNvPr id="20" name="Shape 18"/>
          <p:cNvSpPr/>
          <p:nvPr/>
        </p:nvSpPr>
        <p:spPr>
          <a:xfrm>
            <a:off x="365760" y="3456432"/>
            <a:ext cx="8412480" cy="822960"/>
          </a:xfrm>
          <a:prstGeom prst="roundRect">
            <a:avLst>
              <a:gd name="adj" fmla="val 8889"/>
            </a:avLst>
          </a:prstGeom>
          <a:solidFill>
            <a:srgbClr val="FFFFFF"/>
          </a:solidFill>
          <a:ln w="12700">
            <a:solidFill>
              <a:srgbClr val="D8DCE8"/>
            </a:solidFill>
            <a:prstDash val="solid"/>
          </a:ln>
        </p:spPr>
      </p:sp>
      <p:sp>
        <p:nvSpPr>
          <p:cNvPr id="21" name="Shape 19"/>
          <p:cNvSpPr/>
          <p:nvPr/>
        </p:nvSpPr>
        <p:spPr>
          <a:xfrm>
            <a:off x="365760" y="3456432"/>
            <a:ext cx="54864" cy="822960"/>
          </a:xfrm>
          <a:prstGeom prst="rect">
            <a:avLst/>
          </a:prstGeom>
          <a:solidFill>
            <a:srgbClr val="D4943A"/>
          </a:solidFill>
          <a:ln/>
        </p:spPr>
      </p:sp>
      <p:sp>
        <p:nvSpPr>
          <p:cNvPr id="22" name="Text 20"/>
          <p:cNvSpPr/>
          <p:nvPr/>
        </p:nvSpPr>
        <p:spPr>
          <a:xfrm>
            <a:off x="475488" y="3529584"/>
            <a:ext cx="438912" cy="329184"/>
          </a:xfrm>
          <a:prstGeom prst="rect">
            <a:avLst/>
          </a:prstGeom>
          <a:noFill/>
          <a:ln/>
        </p:spPr>
        <p:txBody>
          <a:bodyPr wrap="square" rtlCol="0" anchor="ctr"/>
          <a:lstStyle/>
          <a:p>
            <a:pPr algn="ctr" indent="0" marL="0">
              <a:buNone/>
            </a:pPr>
            <a:r>
              <a:rPr lang="en-US" sz="1800" b="1" dirty="0">
                <a:solidFill>
                  <a:srgbClr val="D4943A"/>
                </a:solidFill>
                <a:latin typeface="Cambria" pitchFamily="34" charset="0"/>
                <a:ea typeface="Cambria" pitchFamily="34" charset="-122"/>
                <a:cs typeface="Cambria" pitchFamily="34" charset="-120"/>
              </a:rPr>
              <a:t>3</a:t>
            </a:r>
            <a:endParaRPr lang="en-US" sz="1800" dirty="0"/>
          </a:p>
        </p:txBody>
      </p:sp>
      <p:sp>
        <p:nvSpPr>
          <p:cNvPr id="23" name="Text 21"/>
          <p:cNvSpPr/>
          <p:nvPr/>
        </p:nvSpPr>
        <p:spPr>
          <a:xfrm>
            <a:off x="1005840" y="3511296"/>
            <a:ext cx="7589520" cy="310896"/>
          </a:xfrm>
          <a:prstGeom prst="rect">
            <a:avLst/>
          </a:prstGeom>
          <a:noFill/>
          <a:ln/>
        </p:spPr>
        <p:txBody>
          <a:bodyPr wrap="square"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One sentence explaining why this matters for readers</a:t>
            </a:r>
            <a:endParaRPr lang="en-US" sz="1300" dirty="0"/>
          </a:p>
        </p:txBody>
      </p:sp>
      <p:sp>
        <p:nvSpPr>
          <p:cNvPr id="24" name="Text 22"/>
          <p:cNvSpPr/>
          <p:nvPr/>
        </p:nvSpPr>
        <p:spPr>
          <a:xfrm>
            <a:off x="1005840" y="3858768"/>
            <a:ext cx="7589520" cy="347472"/>
          </a:xfrm>
          <a:prstGeom prst="rect">
            <a:avLst/>
          </a:prstGeom>
          <a:noFill/>
          <a:ln/>
        </p:spPr>
        <p:txBody>
          <a:bodyPr wrap="square" rtlCol="0" anchor="ctr"/>
          <a:lstStyle/>
          <a:p>
            <a:pPr indent="0" marL="0">
              <a:buNone/>
            </a:pPr>
            <a:r>
              <a:rPr lang="en-US" sz="1100" dirty="0">
                <a:solidFill>
                  <a:srgbClr val="3A4A5A"/>
                </a:solidFill>
                <a:latin typeface="Calibri" pitchFamily="34" charset="0"/>
                <a:ea typeface="Calibri" pitchFamily="34" charset="-122"/>
                <a:cs typeface="Calibri" pitchFamily="34" charset="-120"/>
              </a:rPr>
              <a:t>Connect it to honest reporting, or to why historians need multiple sources.</a:t>
            </a:r>
            <a:endParaRPr lang="en-US" sz="1100" dirty="0"/>
          </a:p>
        </p:txBody>
      </p:sp>
      <p:sp>
        <p:nvSpPr>
          <p:cNvPr id="25" name="Shape 23"/>
          <p:cNvSpPr/>
          <p:nvPr/>
        </p:nvSpPr>
        <p:spPr>
          <a:xfrm>
            <a:off x="365760" y="4425696"/>
            <a:ext cx="8412480" cy="384048"/>
          </a:xfrm>
          <a:prstGeom prst="roundRect">
            <a:avLst>
              <a:gd name="adj" fmla="val 19048"/>
            </a:avLst>
          </a:prstGeom>
          <a:solidFill>
            <a:srgbClr val="1A2D5A"/>
          </a:solidFill>
          <a:ln/>
        </p:spPr>
      </p:sp>
      <p:sp>
        <p:nvSpPr>
          <p:cNvPr id="26" name="Text 24"/>
          <p:cNvSpPr/>
          <p:nvPr/>
        </p:nvSpPr>
        <p:spPr>
          <a:xfrm>
            <a:off x="548640" y="4425696"/>
            <a:ext cx="8046720" cy="384048"/>
          </a:xfrm>
          <a:prstGeom prst="rect">
            <a:avLst/>
          </a:prstGeom>
          <a:noFill/>
          <a:ln/>
        </p:spPr>
        <p:txBody>
          <a:bodyPr wrap="square" rtlCol="0" anchor="ctr"/>
          <a:lstStyle/>
          <a:p>
            <a:pPr indent="0" marL="0">
              <a:buNone/>
            </a:pPr>
            <a:r>
              <a:rPr lang="en-US" sz="1150" i="1" dirty="0">
                <a:solidFill>
                  <a:srgbClr val="D6F2FB"/>
                </a:solidFill>
                <a:latin typeface="Calibri" pitchFamily="34" charset="0"/>
                <a:ea typeface="Calibri" pitchFamily="34" charset="-122"/>
                <a:cs typeface="Calibri" pitchFamily="34" charset="-120"/>
              </a:rPr>
              <a:t>ARCHIVE LINE: In one careful sentence, write what future citizens should remember about primary and secondary sources.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p:spPr>
      </p:sp>
      <p:sp>
        <p:nvSpPr>
          <p:cNvPr id="4" name="Shape 1"/>
          <p:cNvSpPr/>
          <p:nvPr/>
        </p:nvSpPr>
        <p:spPr>
          <a:xfrm>
            <a:off x="0" y="0"/>
            <a:ext cx="9144000" cy="54864"/>
          </a:xfrm>
          <a:prstGeom prst="rect">
            <a:avLst/>
          </a:prstGeom>
          <a:solidFill>
            <a:srgbClr val="D4943A"/>
          </a:solidFill>
          <a:ln/>
        </p:spPr>
      </p:sp>
      <p:sp>
        <p:nvSpPr>
          <p:cNvPr id="5" name="Text 2"/>
          <p:cNvSpPr/>
          <p:nvPr/>
        </p:nvSpPr>
        <p:spPr>
          <a:xfrm>
            <a:off x="365760" y="128016"/>
            <a:ext cx="8412480" cy="502920"/>
          </a:xfrm>
          <a:prstGeom prst="rect">
            <a:avLst/>
          </a:prstGeom>
          <a:noFill/>
          <a:ln/>
        </p:spPr>
        <p:txBody>
          <a:bodyPr wrap="square" rtlCol="0" anchor="ctr"/>
          <a:lstStyle/>
          <a:p>
            <a:pPr algn="ctr" indent="0" marL="0">
              <a:buNone/>
            </a:pPr>
            <a:r>
              <a:rPr lang="en-US" sz="3200" b="1" spc="400" kern="0" dirty="0">
                <a:solidFill>
                  <a:srgbClr val="D4943A"/>
                </a:solidFill>
                <a:latin typeface="Cambria" pitchFamily="34" charset="0"/>
                <a:ea typeface="Cambria" pitchFamily="34" charset="-122"/>
                <a:cs typeface="Cambria" pitchFamily="34" charset="-120"/>
              </a:rPr>
              <a:t>GOING TO PRESS</a:t>
            </a:r>
            <a:endParaRPr lang="en-US" sz="3200" dirty="0"/>
          </a:p>
        </p:txBody>
      </p:sp>
      <p:sp>
        <p:nvSpPr>
          <p:cNvPr id="6" name="Text 3"/>
          <p:cNvSpPr/>
          <p:nvPr/>
        </p:nvSpPr>
        <p:spPr>
          <a:xfrm>
            <a:off x="365760" y="658368"/>
            <a:ext cx="8412480" cy="274320"/>
          </a:xfrm>
          <a:prstGeom prst="rect">
            <a:avLst/>
          </a:prstGeom>
          <a:noFill/>
          <a:ln/>
        </p:spPr>
        <p:txBody>
          <a:bodyPr wrap="square" rtlCol="0" anchor="ctr"/>
          <a:lstStyle/>
          <a:p>
            <a:pPr algn="ctr" indent="0" marL="0">
              <a:buNone/>
            </a:pPr>
            <a:r>
              <a:rPr lang="en-US" sz="1200" i="1" dirty="0">
                <a:solidFill>
                  <a:srgbClr val="7A88A8"/>
                </a:solidFill>
                <a:latin typeface="Calibri" pitchFamily="34" charset="0"/>
                <a:ea typeface="Calibri" pitchFamily="34" charset="-122"/>
                <a:cs typeface="Calibri" pitchFamily="34" charset="-120"/>
              </a:rPr>
              <a:t>The Republic Gazette Certifies — Issue 1 Published</a:t>
            </a:r>
            <a:endParaRPr lang="en-US" sz="1200" dirty="0"/>
          </a:p>
        </p:txBody>
      </p:sp>
      <p:sp>
        <p:nvSpPr>
          <p:cNvPr id="7" name="Shape 4"/>
          <p:cNvSpPr/>
          <p:nvPr/>
        </p:nvSpPr>
        <p:spPr>
          <a:xfrm>
            <a:off x="914400" y="969264"/>
            <a:ext cx="7315200" cy="18288"/>
          </a:xfrm>
          <a:prstGeom prst="rect">
            <a:avLst/>
          </a:prstGeom>
          <a:solidFill>
            <a:srgbClr val="2A4070"/>
          </a:solidFill>
          <a:ln/>
        </p:spPr>
      </p:sp>
      <p:sp>
        <p:nvSpPr>
          <p:cNvPr id="8" name="Shape 5"/>
          <p:cNvSpPr/>
          <p:nvPr/>
        </p:nvSpPr>
        <p:spPr>
          <a:xfrm>
            <a:off x="457200" y="1042416"/>
            <a:ext cx="4114800" cy="457200"/>
          </a:xfrm>
          <a:prstGeom prst="roundRect">
            <a:avLst>
              <a:gd name="adj" fmla="val 16000"/>
            </a:avLst>
          </a:prstGeom>
          <a:solidFill>
            <a:srgbClr val="1A2D5A"/>
          </a:solidFill>
          <a:ln w="12700">
            <a:solidFill>
              <a:srgbClr val="2A4070"/>
            </a:solidFill>
            <a:prstDash val="solid"/>
          </a:ln>
        </p:spPr>
      </p:sp>
      <p:sp>
        <p:nvSpPr>
          <p:cNvPr id="9" name="Shape 6"/>
          <p:cNvSpPr/>
          <p:nvPr/>
        </p:nvSpPr>
        <p:spPr>
          <a:xfrm>
            <a:off x="548640" y="1133856"/>
            <a:ext cx="274320" cy="274320"/>
          </a:xfrm>
          <a:prstGeom prst="roundRect">
            <a:avLst>
              <a:gd name="adj" fmla="val 16667"/>
            </a:avLst>
          </a:prstGeom>
          <a:solidFill>
            <a:srgbClr val="0E1C42"/>
          </a:solidFill>
          <a:ln w="19050">
            <a:solidFill>
              <a:srgbClr val="55C8E8"/>
            </a:solidFill>
            <a:prstDash val="solid"/>
          </a:ln>
        </p:spPr>
      </p:sp>
      <p:sp>
        <p:nvSpPr>
          <p:cNvPr id="10" name="Text 7"/>
          <p:cNvSpPr/>
          <p:nvPr/>
        </p:nvSpPr>
        <p:spPr>
          <a:xfrm>
            <a:off x="914400" y="111556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Answered all 3 Editor’s Notebook questions</a:t>
            </a:r>
            <a:endParaRPr lang="en-US" sz="1200" dirty="0"/>
          </a:p>
        </p:txBody>
      </p:sp>
      <p:sp>
        <p:nvSpPr>
          <p:cNvPr id="11" name="Shape 8"/>
          <p:cNvSpPr/>
          <p:nvPr/>
        </p:nvSpPr>
        <p:spPr>
          <a:xfrm>
            <a:off x="457200" y="1591056"/>
            <a:ext cx="4114800" cy="457200"/>
          </a:xfrm>
          <a:prstGeom prst="roundRect">
            <a:avLst>
              <a:gd name="adj" fmla="val 16000"/>
            </a:avLst>
          </a:prstGeom>
          <a:solidFill>
            <a:srgbClr val="1A2D5A"/>
          </a:solidFill>
          <a:ln w="12700">
            <a:solidFill>
              <a:srgbClr val="2A4070"/>
            </a:solidFill>
            <a:prstDash val="solid"/>
          </a:ln>
        </p:spPr>
      </p:sp>
      <p:sp>
        <p:nvSpPr>
          <p:cNvPr id="12" name="Shape 9"/>
          <p:cNvSpPr/>
          <p:nvPr/>
        </p:nvSpPr>
        <p:spPr>
          <a:xfrm>
            <a:off x="548640" y="1682496"/>
            <a:ext cx="274320" cy="274320"/>
          </a:xfrm>
          <a:prstGeom prst="roundRect">
            <a:avLst>
              <a:gd name="adj" fmla="val 16667"/>
            </a:avLst>
          </a:prstGeom>
          <a:solidFill>
            <a:srgbClr val="0E1C42"/>
          </a:solidFill>
          <a:ln w="19050">
            <a:solidFill>
              <a:srgbClr val="55C8E8"/>
            </a:solidFill>
            <a:prstDash val="solid"/>
          </a:ln>
        </p:spPr>
      </p:sp>
      <p:sp>
        <p:nvSpPr>
          <p:cNvPr id="13" name="Text 10"/>
          <p:cNvSpPr/>
          <p:nvPr/>
        </p:nvSpPr>
        <p:spPr>
          <a:xfrm>
            <a:off x="914400" y="166420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Completed the Fact-Check questions</a:t>
            </a:r>
            <a:endParaRPr lang="en-US" sz="1200" dirty="0"/>
          </a:p>
        </p:txBody>
      </p:sp>
      <p:sp>
        <p:nvSpPr>
          <p:cNvPr id="14" name="Shape 11"/>
          <p:cNvSpPr/>
          <p:nvPr/>
        </p:nvSpPr>
        <p:spPr>
          <a:xfrm>
            <a:off x="457200" y="2139696"/>
            <a:ext cx="4114800" cy="457200"/>
          </a:xfrm>
          <a:prstGeom prst="roundRect">
            <a:avLst>
              <a:gd name="adj" fmla="val 16000"/>
            </a:avLst>
          </a:prstGeom>
          <a:solidFill>
            <a:srgbClr val="1A2D5A"/>
          </a:solidFill>
          <a:ln w="12700">
            <a:solidFill>
              <a:srgbClr val="2A4070"/>
            </a:solidFill>
            <a:prstDash val="solid"/>
          </a:ln>
        </p:spPr>
      </p:sp>
      <p:sp>
        <p:nvSpPr>
          <p:cNvPr id="15" name="Shape 12"/>
          <p:cNvSpPr/>
          <p:nvPr/>
        </p:nvSpPr>
        <p:spPr>
          <a:xfrm>
            <a:off x="548640" y="2231136"/>
            <a:ext cx="274320" cy="274320"/>
          </a:xfrm>
          <a:prstGeom prst="roundRect">
            <a:avLst>
              <a:gd name="adj" fmla="val 16667"/>
            </a:avLst>
          </a:prstGeom>
          <a:solidFill>
            <a:srgbClr val="0E1C42"/>
          </a:solidFill>
          <a:ln w="19050">
            <a:solidFill>
              <a:srgbClr val="55C8E8"/>
            </a:solidFill>
            <a:prstDash val="solid"/>
          </a:ln>
        </p:spPr>
      </p:sp>
      <p:sp>
        <p:nvSpPr>
          <p:cNvPr id="16" name="Text 13"/>
          <p:cNvSpPr/>
          <p:nvPr/>
        </p:nvSpPr>
        <p:spPr>
          <a:xfrm>
            <a:off x="914400" y="221284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Wrote a headline and Front Page Brief</a:t>
            </a:r>
            <a:endParaRPr lang="en-US" sz="1200" dirty="0"/>
          </a:p>
        </p:txBody>
      </p:sp>
      <p:sp>
        <p:nvSpPr>
          <p:cNvPr id="17" name="Shape 14"/>
          <p:cNvSpPr/>
          <p:nvPr/>
        </p:nvSpPr>
        <p:spPr>
          <a:xfrm>
            <a:off x="4754880" y="1042416"/>
            <a:ext cx="4114800" cy="457200"/>
          </a:xfrm>
          <a:prstGeom prst="roundRect">
            <a:avLst>
              <a:gd name="adj" fmla="val 16000"/>
            </a:avLst>
          </a:prstGeom>
          <a:solidFill>
            <a:srgbClr val="1A2D5A"/>
          </a:solidFill>
          <a:ln w="12700">
            <a:solidFill>
              <a:srgbClr val="2A4070"/>
            </a:solidFill>
            <a:prstDash val="solid"/>
          </a:ln>
        </p:spPr>
      </p:sp>
      <p:sp>
        <p:nvSpPr>
          <p:cNvPr id="18" name="Shape 15"/>
          <p:cNvSpPr/>
          <p:nvPr/>
        </p:nvSpPr>
        <p:spPr>
          <a:xfrm>
            <a:off x="4846320" y="1133856"/>
            <a:ext cx="274320" cy="274320"/>
          </a:xfrm>
          <a:prstGeom prst="roundRect">
            <a:avLst>
              <a:gd name="adj" fmla="val 16667"/>
            </a:avLst>
          </a:prstGeom>
          <a:solidFill>
            <a:srgbClr val="0E1C42"/>
          </a:solidFill>
          <a:ln w="19050">
            <a:solidFill>
              <a:srgbClr val="55C8E8"/>
            </a:solidFill>
            <a:prstDash val="solid"/>
          </a:ln>
        </p:spPr>
      </p:sp>
      <p:sp>
        <p:nvSpPr>
          <p:cNvPr id="19" name="Text 16"/>
          <p:cNvSpPr/>
          <p:nvPr/>
        </p:nvSpPr>
        <p:spPr>
          <a:xfrm>
            <a:off x="5212080" y="111556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Added your name to the byline</a:t>
            </a:r>
            <a:endParaRPr lang="en-US" sz="1200" dirty="0"/>
          </a:p>
        </p:txBody>
      </p:sp>
      <p:sp>
        <p:nvSpPr>
          <p:cNvPr id="20" name="Shape 17"/>
          <p:cNvSpPr/>
          <p:nvPr/>
        </p:nvSpPr>
        <p:spPr>
          <a:xfrm>
            <a:off x="4754880" y="1591056"/>
            <a:ext cx="4114800" cy="457200"/>
          </a:xfrm>
          <a:prstGeom prst="roundRect">
            <a:avLst>
              <a:gd name="adj" fmla="val 16000"/>
            </a:avLst>
          </a:prstGeom>
          <a:solidFill>
            <a:srgbClr val="1A2D5A"/>
          </a:solidFill>
          <a:ln w="12700">
            <a:solidFill>
              <a:srgbClr val="2A4070"/>
            </a:solidFill>
            <a:prstDash val="solid"/>
          </a:ln>
        </p:spPr>
      </p:sp>
      <p:sp>
        <p:nvSpPr>
          <p:cNvPr id="21" name="Shape 18"/>
          <p:cNvSpPr/>
          <p:nvPr/>
        </p:nvSpPr>
        <p:spPr>
          <a:xfrm>
            <a:off x="4846320" y="1682496"/>
            <a:ext cx="274320" cy="274320"/>
          </a:xfrm>
          <a:prstGeom prst="roundRect">
            <a:avLst>
              <a:gd name="adj" fmla="val 16667"/>
            </a:avLst>
          </a:prstGeom>
          <a:solidFill>
            <a:srgbClr val="0E1C42"/>
          </a:solidFill>
          <a:ln w="19050">
            <a:solidFill>
              <a:srgbClr val="55C8E8"/>
            </a:solidFill>
            <a:prstDash val="solid"/>
          </a:ln>
        </p:spPr>
      </p:sp>
      <p:sp>
        <p:nvSpPr>
          <p:cNvPr id="22" name="Text 19"/>
          <p:cNvSpPr/>
          <p:nvPr/>
        </p:nvSpPr>
        <p:spPr>
          <a:xfrm>
            <a:off x="5212080" y="166420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Wrote one careful Archive Line sentence</a:t>
            </a:r>
            <a:endParaRPr lang="en-US" sz="1200" dirty="0"/>
          </a:p>
        </p:txBody>
      </p:sp>
      <p:sp>
        <p:nvSpPr>
          <p:cNvPr id="23" name="Shape 20"/>
          <p:cNvSpPr/>
          <p:nvPr/>
        </p:nvSpPr>
        <p:spPr>
          <a:xfrm>
            <a:off x="4754880" y="2139696"/>
            <a:ext cx="4114800" cy="457200"/>
          </a:xfrm>
          <a:prstGeom prst="roundRect">
            <a:avLst>
              <a:gd name="adj" fmla="val 16000"/>
            </a:avLst>
          </a:prstGeom>
          <a:solidFill>
            <a:srgbClr val="1A2D5A"/>
          </a:solidFill>
          <a:ln w="12700">
            <a:solidFill>
              <a:srgbClr val="2A4070"/>
            </a:solidFill>
            <a:prstDash val="solid"/>
          </a:ln>
        </p:spPr>
      </p:sp>
      <p:sp>
        <p:nvSpPr>
          <p:cNvPr id="24" name="Shape 21"/>
          <p:cNvSpPr/>
          <p:nvPr/>
        </p:nvSpPr>
        <p:spPr>
          <a:xfrm>
            <a:off x="4846320" y="2231136"/>
            <a:ext cx="274320" cy="274320"/>
          </a:xfrm>
          <a:prstGeom prst="roundRect">
            <a:avLst>
              <a:gd name="adj" fmla="val 16667"/>
            </a:avLst>
          </a:prstGeom>
          <a:solidFill>
            <a:srgbClr val="0E1C42"/>
          </a:solidFill>
          <a:ln w="19050">
            <a:solidFill>
              <a:srgbClr val="55C8E8"/>
            </a:solidFill>
            <a:prstDash val="solid"/>
          </a:ln>
        </p:spPr>
      </p:sp>
      <p:sp>
        <p:nvSpPr>
          <p:cNvPr id="25" name="Text 22"/>
          <p:cNvSpPr/>
          <p:nvPr/>
        </p:nvSpPr>
        <p:spPr>
          <a:xfrm>
            <a:off x="5212080" y="2212848"/>
            <a:ext cx="3566160" cy="329184"/>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Copied or downloaded the Gathered Answers</a:t>
            </a:r>
            <a:endParaRPr lang="en-US" sz="1200" dirty="0"/>
          </a:p>
        </p:txBody>
      </p:sp>
      <p:sp>
        <p:nvSpPr>
          <p:cNvPr id="26" name="Shape 23"/>
          <p:cNvSpPr/>
          <p:nvPr/>
        </p:nvSpPr>
        <p:spPr>
          <a:xfrm>
            <a:off x="457200" y="3639312"/>
            <a:ext cx="8229600" cy="914400"/>
          </a:xfrm>
          <a:prstGeom prst="roundRect">
            <a:avLst>
              <a:gd name="adj" fmla="val 10000"/>
            </a:avLst>
          </a:prstGeom>
          <a:solidFill>
            <a:srgbClr val="1A2D5A"/>
          </a:solidFill>
          <a:ln w="19050">
            <a:solidFill>
              <a:srgbClr val="D4943A"/>
            </a:solidFill>
            <a:prstDash val="solid"/>
          </a:ln>
        </p:spPr>
      </p:sp>
      <p:sp>
        <p:nvSpPr>
          <p:cNvPr id="27" name="Text 24"/>
          <p:cNvSpPr/>
          <p:nvPr/>
        </p:nvSpPr>
        <p:spPr>
          <a:xfrm>
            <a:off x="640080" y="3694176"/>
            <a:ext cx="7863840" cy="228600"/>
          </a:xfrm>
          <a:prstGeom prst="rect">
            <a:avLst/>
          </a:prstGeom>
          <a:noFill/>
          <a:ln/>
        </p:spPr>
        <p:txBody>
          <a:bodyPr wrap="square"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IN THE NEXT ISSUE (5.01.02)</a:t>
            </a:r>
            <a:endParaRPr lang="en-US" sz="1000" dirty="0"/>
          </a:p>
        </p:txBody>
      </p:sp>
      <p:sp>
        <p:nvSpPr>
          <p:cNvPr id="28" name="Text 25"/>
          <p:cNvSpPr/>
          <p:nvPr/>
        </p:nvSpPr>
        <p:spPr>
          <a:xfrm>
            <a:off x="640080" y="3950208"/>
            <a:ext cx="7863840" cy="530352"/>
          </a:xfrm>
          <a:prstGeom prst="rect">
            <a:avLst/>
          </a:prstGeom>
          <a:noFill/>
          <a:ln/>
        </p:spPr>
        <p:txBody>
          <a:bodyPr wrap="square" rtlCol="0" anchor="ctr"/>
          <a:lstStyle/>
          <a:p>
            <a:pPr indent="0" marL="0">
              <a:buNone/>
            </a:pPr>
            <a:r>
              <a:rPr lang="en-US" sz="1200" dirty="0">
                <a:solidFill>
                  <a:srgbClr val="D6F2FB"/>
                </a:solidFill>
                <a:latin typeface="Calibri" pitchFamily="34" charset="0"/>
                <a:ea typeface="Calibri" pitchFamily="34" charset="-122"/>
                <a:cs typeface="Calibri" pitchFamily="34" charset="-120"/>
              </a:rPr>
              <a:t>Timelines and American History Periods — The Source Desk opens. The Hasty Herald has already claimed that timelines are 'just a list of dates with nothing to teach us.' Editors, sharpen your pencils.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2026-07-16T17:00:47Z</dcterms:created>
  <dcterms:modified xsi:type="dcterms:W3CDTF">2026-07-16T17:00:47Z</dcterms:modified>
</cp:coreProperties>
</file>