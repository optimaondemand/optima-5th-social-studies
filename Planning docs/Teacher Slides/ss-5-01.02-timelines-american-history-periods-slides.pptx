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Open by calling attention to the masthead. Say: 'The Source Desk opens today.' Read the guiding question aloud and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the Herald claim aloud with a skeptical expression. Ask 1–2 students to respond using the Chat Frame before revealing today's main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Acknowledge the Source Desk opening as a milestone. Read this as Ms. Avery welcoming the team to a new workstation. Tease the historical timeline they'll examine at the Desk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The key concept here is 'the shape is the point.' Dates are just labels. What matters is how events group into periods and how those periods connect. The Herald is partly right that dates exist — but wrong that they're all a timeline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Point to the visual as you name each period. Emphasize the shape — some periods are long and slow, some are sudden bursts of change. Ask: 'Which period looks the longest on the timeline? Why might that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The key question students need to ask is: 'Was this timeline made BY someone who was living through the events, or by a later historian studying them?' That determines the source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Point out that the lesson's own seven-period chart is a secondary source. Ask: 'Who decided these seven periods? Could the same history be divided differently?' This leads directly into the source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the real historical source students examine at the Source Desk tab. Critical observation: When was this printed? The 1860s primer could NOT include the Civil War as a completed period — the war was still happening. That's the 'horizon' of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the most important slide in the lesson. 'The horizon' concept explains WHY the primer doesn't include the Civil War — the author couldn't see past the moment they were living in. That's true of every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Connect directly to the Gazette Correction assignment. Students need to say what's PARTLY right first, then use specific evidence from the source to show what the Herald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Ask: 'What does courage look like for an editor or a historian?' Let students think before you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each step, thinking aloud. The key insight is in step 3: the absence of the Civil War is not an oversight — it's a horizon. The author literally could not include it because it was still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compares a secondary source timeline (modern museum) to the primary source (1860s primer). Both leave things out. Accept varied answers for 'what does it leave out' — there's no single correct answer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2–3 minutes. #3 is the trickiest — a 1775 almanac cannot know how the Revolution ends. #4 invites discussion about whose perspective shapes what gets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The Gazette Correction students write must include all three columns. Give the Herald credit first, then show what's missing, then offer the corrected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each question. Do NOT give answers — this is preparation, not instruction. Ask students to name what they know about each concept before clicking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each question aloud. Give students 1–2 minutes to take notes before moving to the Gazette Correction slide. Question 3 directly scaffolds the correction's three-part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each part. Model a strong corrected claim: 'While timelines do include dates, they also group events into periods and must be read as sources — made by someone, at a time, with a horizon.' The Archive Line is one memorable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the key ideas as a class recap. Then close by saying: 'You examined a real historical source, asked the right questions, and built a Gazette Correction. The Source Desk is officially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End with celebration. 'The Source Desk is officially open.' Read checklist items aloud. Acknowledge that Notebook question 3 was the hardest — and that wrestling with it IS the work of the historian.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p:spPr>
      </p:sp>
      <p:sp>
        <p:nvSpPr>
          <p:cNvPr id="4" name="Shape 1"/>
          <p:cNvSpPr/>
          <p:nvPr/>
        </p:nvSpPr>
        <p:spPr>
          <a:xfrm>
            <a:off x="0" y="256032"/>
            <a:ext cx="9144000" cy="41148"/>
          </a:xfrm>
          <a:prstGeom prst="rect">
            <a:avLst/>
          </a:prstGeom>
          <a:solidFill>
            <a:srgbClr val="D4943A"/>
          </a:solidFill>
          <a:ln/>
        </p:spPr>
      </p:sp>
      <p:sp>
        <p:nvSpPr>
          <p:cNvPr id="5" name="Text 2"/>
          <p:cNvSpPr/>
          <p:nvPr/>
        </p:nvSpPr>
        <p:spPr>
          <a:xfrm>
            <a:off x="457200" y="329184"/>
            <a:ext cx="8229600" cy="530352"/>
          </a:xfrm>
          <a:prstGeom prst="rect">
            <a:avLst/>
          </a:prstGeom>
          <a:noFill/>
          <a:ln/>
        </p:spPr>
        <p:txBody>
          <a:bodyPr wrap="square" rtlCol="0" anchor="ctr"/>
          <a:lstStyle/>
          <a:p>
            <a:pPr algn="ctr" indent="0" marL="0">
              <a:buNone/>
            </a:pPr>
            <a:r>
              <a:rPr lang="en-US" sz="2800" b="1" spc="400" kern="0" dirty="0">
                <a:solidFill>
                  <a:srgbClr val="D4943A"/>
                </a:solidFill>
                <a:latin typeface="Cambria" pitchFamily="34" charset="0"/>
                <a:ea typeface="Cambria" pitchFamily="34" charset="-122"/>
                <a:cs typeface="Cambria" pitchFamily="34" charset="-120"/>
              </a:rPr>
              <a:t>THE REPUBLIC GAZETTE</a:t>
            </a:r>
            <a:endParaRPr lang="en-US" sz="2800" dirty="0"/>
          </a:p>
        </p:txBody>
      </p:sp>
      <p:sp>
        <p:nvSpPr>
          <p:cNvPr id="6" name="Text 3"/>
          <p:cNvSpPr/>
          <p:nvPr/>
        </p:nvSpPr>
        <p:spPr>
          <a:xfrm>
            <a:off x="457200" y="877824"/>
            <a:ext cx="8229600" cy="256032"/>
          </a:xfrm>
          <a:prstGeom prst="rect">
            <a:avLst/>
          </a:prstGeom>
          <a:noFill/>
          <a:ln/>
        </p:spPr>
        <p:txBody>
          <a:bodyPr wrap="square" rtlCol="0" anchor="ctr"/>
          <a:lstStyle/>
          <a:p>
            <a:pPr algn="ctr" indent="0" marL="0">
              <a:buNone/>
            </a:pPr>
            <a:r>
              <a:rPr lang="en-US" sz="1150" i="1" dirty="0">
                <a:solidFill>
                  <a:srgbClr val="7A88A8"/>
                </a:solidFill>
                <a:latin typeface="Calibri" pitchFamily="34" charset="0"/>
                <a:ea typeface="Calibri" pitchFamily="34" charset="-122"/>
                <a:cs typeface="Calibri" pitchFamily="34" charset="-120"/>
              </a:rPr>
              <a:t>Honest Reporting  ·  Evidence First  ·  For Every Citizen</a:t>
            </a:r>
            <a:endParaRPr lang="en-US" sz="1150" dirty="0"/>
          </a:p>
        </p:txBody>
      </p:sp>
      <p:sp>
        <p:nvSpPr>
          <p:cNvPr id="7" name="Shape 4"/>
          <p:cNvSpPr/>
          <p:nvPr/>
        </p:nvSpPr>
        <p:spPr>
          <a:xfrm>
            <a:off x="1645920" y="1170432"/>
            <a:ext cx="5852160" cy="18288"/>
          </a:xfrm>
          <a:prstGeom prst="rect">
            <a:avLst/>
          </a:prstGeom>
          <a:solidFill>
            <a:srgbClr val="2A4070"/>
          </a:solidFill>
          <a:ln/>
        </p:spPr>
      </p:sp>
      <p:sp>
        <p:nvSpPr>
          <p:cNvPr id="8" name="Text 5"/>
          <p:cNvSpPr/>
          <p:nvPr/>
        </p:nvSpPr>
        <p:spPr>
          <a:xfrm>
            <a:off x="457200" y="1261872"/>
            <a:ext cx="8229600" cy="9144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Timelines and American</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History Periods</a:t>
            </a:r>
            <a:endParaRPr lang="en-US" sz="3000" dirty="0"/>
          </a:p>
        </p:txBody>
      </p:sp>
      <p:sp>
        <p:nvSpPr>
          <p:cNvPr id="9" name="Shape 6"/>
          <p:cNvSpPr/>
          <p:nvPr/>
        </p:nvSpPr>
        <p:spPr>
          <a:xfrm>
            <a:off x="2286000" y="2249424"/>
            <a:ext cx="4572000" cy="347472"/>
          </a:xfrm>
          <a:prstGeom prst="roundRect">
            <a:avLst>
              <a:gd name="adj" fmla="val 21053"/>
            </a:avLst>
          </a:prstGeom>
          <a:solidFill>
            <a:srgbClr val="1A8A7D"/>
          </a:solidFill>
          <a:ln/>
        </p:spPr>
      </p:sp>
      <p:sp>
        <p:nvSpPr>
          <p:cNvPr id="10" name="Text 7"/>
          <p:cNvSpPr/>
          <p:nvPr/>
        </p:nvSpPr>
        <p:spPr>
          <a:xfrm>
            <a:off x="2286000" y="2249424"/>
            <a:ext cx="4572000" cy="347472"/>
          </a:xfrm>
          <a:prstGeom prst="rect">
            <a:avLst/>
          </a:prstGeom>
          <a:noFill/>
          <a:ln/>
        </p:spPr>
        <p:txBody>
          <a:bodyPr wrap="square"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Source Desk — Opens Today</a:t>
            </a:r>
            <a:endParaRPr lang="en-US" sz="1200" dirty="0"/>
          </a:p>
        </p:txBody>
      </p:sp>
      <p:sp>
        <p:nvSpPr>
          <p:cNvPr id="11" name="Text 8"/>
          <p:cNvSpPr/>
          <p:nvPr/>
        </p:nvSpPr>
        <p:spPr>
          <a:xfrm>
            <a:off x="457200" y="2706624"/>
            <a:ext cx="8229600" cy="274320"/>
          </a:xfrm>
          <a:prstGeom prst="rect">
            <a:avLst/>
          </a:prstGeom>
          <a:noFill/>
          <a:ln/>
        </p:spPr>
        <p:txBody>
          <a:bodyPr wrap="square"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Vol. 1  ·  Issue 2  ·  Week 1  ·  Q1  ·  Unit 1: Tools of the Historian</a:t>
            </a:r>
            <a:endParaRPr lang="en-US" sz="1100" dirty="0"/>
          </a:p>
        </p:txBody>
      </p:sp>
      <p:sp>
        <p:nvSpPr>
          <p:cNvPr id="12" name="Shape 9"/>
          <p:cNvSpPr/>
          <p:nvPr/>
        </p:nvSpPr>
        <p:spPr>
          <a:xfrm>
            <a:off x="1920240" y="3090672"/>
            <a:ext cx="5303520" cy="804672"/>
          </a:xfrm>
          <a:prstGeom prst="roundRect">
            <a:avLst>
              <a:gd name="adj" fmla="val 9091"/>
            </a:avLst>
          </a:prstGeom>
          <a:solidFill>
            <a:srgbClr val="1A2D5A"/>
          </a:solidFill>
          <a:ln w="19050">
            <a:solidFill>
              <a:srgbClr val="8B2D26"/>
            </a:solidFill>
            <a:prstDash val="solid"/>
          </a:ln>
        </p:spPr>
      </p:sp>
      <p:sp>
        <p:nvSpPr>
          <p:cNvPr id="13" name="Text 10"/>
          <p:cNvSpPr/>
          <p:nvPr/>
        </p:nvSpPr>
        <p:spPr>
          <a:xfrm>
            <a:off x="2103120" y="3145536"/>
            <a:ext cx="4937760" cy="201168"/>
          </a:xfrm>
          <a:prstGeom prst="rect">
            <a:avLst/>
          </a:prstGeom>
          <a:noFill/>
          <a:ln/>
        </p:spPr>
        <p:txBody>
          <a:bodyPr wrap="square" rtlCol="0" anchor="ctr"/>
          <a:lstStyle/>
          <a:p>
            <a:pPr algn="ctr" indent="0" marL="0">
              <a:buNone/>
            </a:pPr>
            <a:r>
              <a:rPr lang="en-US" sz="900" b="1" spc="150" kern="0" dirty="0">
                <a:solidFill>
                  <a:srgbClr val="E8636B"/>
                </a:solidFill>
                <a:latin typeface="Calibri" pitchFamily="34" charset="0"/>
                <a:ea typeface="Calibri" pitchFamily="34" charset="-122"/>
                <a:cs typeface="Calibri" pitchFamily="34" charset="-120"/>
              </a:rPr>
              <a:t>THE HASTY HERALD CLAIMS:</a:t>
            </a:r>
            <a:endParaRPr lang="en-US" sz="900" dirty="0"/>
          </a:p>
        </p:txBody>
      </p:sp>
      <p:sp>
        <p:nvSpPr>
          <p:cNvPr id="14" name="Text 11"/>
          <p:cNvSpPr/>
          <p:nvPr/>
        </p:nvSpPr>
        <p:spPr>
          <a:xfrm>
            <a:off x="2103120" y="3346704"/>
            <a:ext cx="4937760" cy="457200"/>
          </a:xfrm>
          <a:prstGeom prst="rect">
            <a:avLst/>
          </a:prstGeom>
          <a:noFill/>
          <a:ln/>
        </p:spPr>
        <p:txBody>
          <a:bodyPr wrap="square" rtlCol="0" anchor="ctr"/>
          <a:lstStyle/>
          <a:p>
            <a:pPr algn="ctr" indent="0" marL="0">
              <a:buNone/>
            </a:pPr>
            <a:r>
              <a:rPr lang="en-US" sz="1300" i="1" dirty="0">
                <a:solidFill>
                  <a:srgbClr val="FAF3E0"/>
                </a:solidFill>
                <a:latin typeface="Cambria" pitchFamily="34" charset="0"/>
                <a:ea typeface="Cambria" pitchFamily="34" charset="-122"/>
                <a:cs typeface="Cambria" pitchFamily="34" charset="-120"/>
              </a:rPr>
              <a:t>"A timeline is just a list of dates; it cannot help explain history."</a:t>
            </a:r>
            <a:endParaRPr lang="en-US" sz="1300" dirty="0"/>
          </a:p>
        </p:txBody>
      </p:sp>
      <p:sp>
        <p:nvSpPr>
          <p:cNvPr id="15" name="Shape 12"/>
          <p:cNvSpPr/>
          <p:nvPr/>
        </p:nvSpPr>
        <p:spPr>
          <a:xfrm>
            <a:off x="0" y="3977640"/>
            <a:ext cx="9144000" cy="36576"/>
          </a:xfrm>
          <a:prstGeom prst="rect">
            <a:avLst/>
          </a:prstGeom>
          <a:solidFill>
            <a:srgbClr val="2A4070"/>
          </a:solidFill>
          <a:ln/>
        </p:spPr>
      </p:sp>
      <p:sp>
        <p:nvSpPr>
          <p:cNvPr id="16" name="Text 13"/>
          <p:cNvSpPr/>
          <p:nvPr/>
        </p:nvSpPr>
        <p:spPr>
          <a:xfrm>
            <a:off x="457200" y="4059936"/>
            <a:ext cx="2377440" cy="25603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Guiding Question:</a:t>
            </a:r>
            <a:endParaRPr lang="en-US" sz="1100" dirty="0"/>
          </a:p>
        </p:txBody>
      </p:sp>
      <p:sp>
        <p:nvSpPr>
          <p:cNvPr id="17" name="Text 14"/>
          <p:cNvSpPr/>
          <p:nvPr/>
        </p:nvSpPr>
        <p:spPr>
          <a:xfrm>
            <a:off x="2880360" y="4059936"/>
            <a:ext cx="5806440" cy="256032"/>
          </a:xfrm>
          <a:prstGeom prst="rect">
            <a:avLst/>
          </a:prstGeom>
          <a:noFill/>
          <a:ln/>
        </p:spPr>
        <p:txBody>
          <a:bodyPr wrap="square" rtlCol="0" anchor="ctr"/>
          <a:lstStyle/>
          <a:p>
            <a:pPr indent="0" marL="0">
              <a:buNone/>
            </a:pPr>
            <a:r>
              <a:rPr lang="en-US" sz="1100" i="1" dirty="0">
                <a:solidFill>
                  <a:srgbClr val="D6F2FB"/>
                </a:solidFill>
                <a:latin typeface="Calibri" pitchFamily="34" charset="0"/>
                <a:ea typeface="Calibri" pitchFamily="34" charset="-122"/>
                <a:cs typeface="Calibri" pitchFamily="34" charset="-120"/>
              </a:rPr>
              <a:t>When you read a timeline, what does the source actually tell you — and what does it leave out?</a:t>
            </a:r>
            <a:endParaRPr lang="en-US" sz="1100" dirty="0"/>
          </a:p>
        </p:txBody>
      </p:sp>
      <p:sp>
        <p:nvSpPr>
          <p:cNvPr id="18" name="Text 15"/>
          <p:cNvSpPr/>
          <p:nvPr/>
        </p:nvSpPr>
        <p:spPr>
          <a:xfrm>
            <a:off x="457200" y="4443984"/>
            <a:ext cx="8229600" cy="228600"/>
          </a:xfrm>
          <a:prstGeom prst="rect">
            <a:avLst/>
          </a:prstGeom>
          <a:noFill/>
          <a:ln/>
        </p:spPr>
        <p:txBody>
          <a:bodyPr wrap="square" rtlCol="0" anchor="ctr"/>
          <a:lstStyle/>
          <a:p>
            <a:pPr algn="ctr" indent="0" marL="0">
              <a:buNone/>
            </a:pPr>
            <a:r>
              <a:rPr lang="en-US" sz="1000" dirty="0">
                <a:solidFill>
                  <a:srgbClr val="2A4070"/>
                </a:solidFill>
                <a:latin typeface="Calibri" pitchFamily="34" charset="0"/>
                <a:ea typeface="Calibri" pitchFamily="34" charset="-122"/>
                <a:cs typeface="Calibri" pitchFamily="34" charset="-120"/>
              </a:rPr>
              <a:t>SS.5.A.1.1  ·  SS.5.A.1.2  ·  SS.5.G.1.1  |  Virtue Lens: Courage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3E0"/>
          </a:solidFill>
          <a:ln/>
        </p:spPr>
      </p:sp>
      <p:sp>
        <p:nvSpPr>
          <p:cNvPr id="3" name="Shape 1"/>
          <p:cNvSpPr/>
          <p:nvPr/>
        </p:nvSpPr>
        <p:spPr>
          <a:xfrm>
            <a:off x="0" y="0"/>
            <a:ext cx="9144000" cy="128016"/>
          </a:xfrm>
          <a:prstGeom prst="rect">
            <a:avLst/>
          </a:prstGeom>
          <a:solidFill>
            <a:srgbClr val="8B2D26"/>
          </a:solidFill>
          <a:ln/>
        </p:spPr>
      </p:sp>
      <p:sp>
        <p:nvSpPr>
          <p:cNvPr id="4" name="Text 2"/>
          <p:cNvSpPr/>
          <p:nvPr/>
        </p:nvSpPr>
        <p:spPr>
          <a:xfrm>
            <a:off x="365760" y="164592"/>
            <a:ext cx="8412480" cy="512064"/>
          </a:xfrm>
          <a:prstGeom prst="rect">
            <a:avLst/>
          </a:prstGeom>
          <a:noFill/>
          <a:ln/>
        </p:spPr>
        <p:txBody>
          <a:bodyPr wrap="square" rtlCol="0" anchor="ctr"/>
          <a:lstStyle/>
          <a:p>
            <a:pPr algn="ctr" indent="0" marL="0">
              <a:buNone/>
            </a:pPr>
            <a:r>
              <a:rPr lang="en-US" sz="3000" b="1" dirty="0">
                <a:solidFill>
                  <a:srgbClr val="8B2D26"/>
                </a:solidFill>
                <a:latin typeface="Cambria" pitchFamily="34" charset="0"/>
                <a:ea typeface="Cambria" pitchFamily="34" charset="-122"/>
                <a:cs typeface="Cambria" pitchFamily="34" charset="-120"/>
              </a:rPr>
              <a:t>THE HASTY HERALD</a:t>
            </a:r>
            <a:endParaRPr lang="en-US" sz="3000" dirty="0"/>
          </a:p>
        </p:txBody>
      </p:sp>
      <p:sp>
        <p:nvSpPr>
          <p:cNvPr id="5" name="Text 3"/>
          <p:cNvSpPr/>
          <p:nvPr/>
        </p:nvSpPr>
        <p:spPr>
          <a:xfrm>
            <a:off x="365760" y="676656"/>
            <a:ext cx="8412480" cy="219456"/>
          </a:xfrm>
          <a:prstGeom prst="rect">
            <a:avLst/>
          </a:prstGeom>
          <a:noFill/>
          <a:ln/>
        </p:spPr>
        <p:txBody>
          <a:bodyPr wrap="square" rtlCol="0" anchor="ctr"/>
          <a:lstStyle/>
          <a:p>
            <a:pPr algn="ctr" indent="0" marL="0">
              <a:buNone/>
            </a:pPr>
            <a:r>
              <a:rPr lang="en-US" sz="1100" i="1" dirty="0">
                <a:solidFill>
                  <a:srgbClr val="B83D2C"/>
                </a:solidFill>
                <a:latin typeface="Calibri" pitchFamily="34" charset="0"/>
                <a:ea typeface="Calibri" pitchFamily="34" charset="-122"/>
                <a:cs typeface="Calibri" pitchFamily="34" charset="-120"/>
              </a:rPr>
              <a:t>All the News in a Hurry  ·  First, Loud, Possibly Wrong</a:t>
            </a:r>
            <a:endParaRPr lang="en-US" sz="1100" dirty="0"/>
          </a:p>
        </p:txBody>
      </p:sp>
      <p:sp>
        <p:nvSpPr>
          <p:cNvPr id="6" name="Shape 4"/>
          <p:cNvSpPr/>
          <p:nvPr/>
        </p:nvSpPr>
        <p:spPr>
          <a:xfrm>
            <a:off x="457200" y="932688"/>
            <a:ext cx="8229600" cy="22860"/>
          </a:xfrm>
          <a:prstGeom prst="rect">
            <a:avLst/>
          </a:prstGeom>
          <a:solidFill>
            <a:srgbClr val="8B2D26"/>
          </a:solidFill>
          <a:ln/>
        </p:spPr>
      </p:sp>
      <p:sp>
        <p:nvSpPr>
          <p:cNvPr id="7" name="Text 5"/>
          <p:cNvSpPr/>
          <p:nvPr/>
        </p:nvSpPr>
        <p:spPr>
          <a:xfrm>
            <a:off x="457200" y="978408"/>
            <a:ext cx="8229600" cy="548640"/>
          </a:xfrm>
          <a:prstGeom prst="rect">
            <a:avLst/>
          </a:prstGeom>
          <a:noFill/>
          <a:ln/>
        </p:spPr>
        <p:txBody>
          <a:bodyPr wrap="square" rtlCol="0" anchor="ctr"/>
          <a:lstStyle/>
          <a:p>
            <a:pPr algn="ctr" indent="0" marL="0">
              <a:buNone/>
            </a:pPr>
            <a:r>
              <a:rPr lang="en-US" sz="2600" b="1" dirty="0">
                <a:solidFill>
                  <a:srgbClr val="8B2D26"/>
                </a:solidFill>
                <a:latin typeface="Cambria" pitchFamily="34" charset="0"/>
                <a:ea typeface="Cambria" pitchFamily="34" charset="-122"/>
                <a:cs typeface="Cambria" pitchFamily="34" charset="-120"/>
              </a:rPr>
              <a:t>Timelines Are Worthless!</a:t>
            </a:r>
            <a:endParaRPr lang="en-US" sz="2600" dirty="0"/>
          </a:p>
        </p:txBody>
      </p:sp>
      <p:sp>
        <p:nvSpPr>
          <p:cNvPr id="8" name="Shape 6"/>
          <p:cNvSpPr/>
          <p:nvPr/>
        </p:nvSpPr>
        <p:spPr>
          <a:xfrm>
            <a:off x="1371600" y="1609344"/>
            <a:ext cx="6400800" cy="822960"/>
          </a:xfrm>
          <a:prstGeom prst="roundRect">
            <a:avLst>
              <a:gd name="adj" fmla="val 6667"/>
            </a:avLst>
          </a:prstGeom>
          <a:solidFill>
            <a:srgbClr val="F5EDDA"/>
          </a:solidFill>
          <a:ln w="19050">
            <a:solidFill>
              <a:srgbClr val="C4A87A"/>
            </a:solidFill>
            <a:prstDash val="solid"/>
          </a:ln>
        </p:spPr>
      </p:sp>
      <p:sp>
        <p:nvSpPr>
          <p:cNvPr id="9" name="Text 7"/>
          <p:cNvSpPr/>
          <p:nvPr/>
        </p:nvSpPr>
        <p:spPr>
          <a:xfrm>
            <a:off x="1554480" y="1645920"/>
            <a:ext cx="6035040" cy="749808"/>
          </a:xfrm>
          <a:prstGeom prst="rect">
            <a:avLst/>
          </a:prstGeom>
          <a:noFill/>
          <a:ln/>
        </p:spPr>
        <p:txBody>
          <a:bodyPr wrap="square" rtlCol="0" anchor="ctr"/>
          <a:lstStyle/>
          <a:p>
            <a:pPr algn="ctr" indent="0" marL="0">
              <a:buNone/>
            </a:pPr>
            <a:r>
              <a:rPr lang="en-US" sz="1600" i="1" dirty="0">
                <a:solidFill>
                  <a:srgbClr val="3A2A1A"/>
                </a:solidFill>
                <a:latin typeface="Cambria" pitchFamily="34" charset="0"/>
                <a:ea typeface="Cambria" pitchFamily="34" charset="-122"/>
                <a:cs typeface="Cambria" pitchFamily="34" charset="-120"/>
              </a:rPr>
              <a:t>"A timeline is just a list of dates; it cannot help explain history."</a:t>
            </a:r>
            <a:endParaRPr lang="en-US" sz="1600" dirty="0"/>
          </a:p>
        </p:txBody>
      </p:sp>
      <p:sp>
        <p:nvSpPr>
          <p:cNvPr id="10" name="Shape 8"/>
          <p:cNvSpPr/>
          <p:nvPr/>
        </p:nvSpPr>
        <p:spPr>
          <a:xfrm>
            <a:off x="6400800" y="1481328"/>
            <a:ext cx="2286000" cy="457200"/>
          </a:xfrm>
          <a:prstGeom prst="roundRect">
            <a:avLst>
              <a:gd name="adj" fmla="val 12000"/>
            </a:avLst>
          </a:prstGeom>
          <a:solidFill>
            <a:srgbClr val="B83D2C"/>
          </a:solidFill>
          <a:ln/>
        </p:spPr>
      </p:sp>
      <p:sp>
        <p:nvSpPr>
          <p:cNvPr id="11" name="Text 9"/>
          <p:cNvSpPr/>
          <p:nvPr/>
        </p:nvSpPr>
        <p:spPr>
          <a:xfrm>
            <a:off x="6400800" y="1481328"/>
            <a:ext cx="22860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RUSHED TO PRINT!</a:t>
            </a:r>
            <a:endParaRPr lang="en-US" sz="1100" dirty="0"/>
          </a:p>
        </p:txBody>
      </p:sp>
      <p:sp>
        <p:nvSpPr>
          <p:cNvPr id="12" name="Text 10"/>
          <p:cNvSpPr/>
          <p:nvPr/>
        </p:nvSpPr>
        <p:spPr>
          <a:xfrm>
            <a:off x="457200" y="2542032"/>
            <a:ext cx="8229600" cy="438912"/>
          </a:xfrm>
          <a:prstGeom prst="rect">
            <a:avLst/>
          </a:prstGeom>
          <a:noFill/>
          <a:ln/>
        </p:spPr>
        <p:txBody>
          <a:bodyPr wrap="square" rtlCol="0" anchor="ctr"/>
          <a:lstStyle/>
          <a:p>
            <a:pPr algn="ctr" indent="0" marL="0">
              <a:buNone/>
            </a:pPr>
            <a:r>
              <a:rPr lang="en-US" sz="1200" dirty="0">
                <a:solidFill>
                  <a:srgbClr val="3A2A1A"/>
                </a:solidFill>
                <a:latin typeface="Calibri" pitchFamily="34" charset="0"/>
                <a:ea typeface="Calibri" pitchFamily="34" charset="-122"/>
                <a:cs typeface="Calibri" pitchFamily="34" charset="-120"/>
              </a:rPr>
              <a:t>Your job, Junior Editor: Examine a real timeline at the Source Desk — then publish a Gazette Correction that fixes the Herald's careless claim.</a:t>
            </a:r>
            <a:endParaRPr lang="en-US" sz="1200" dirty="0"/>
          </a:p>
        </p:txBody>
      </p:sp>
      <p:sp>
        <p:nvSpPr>
          <p:cNvPr id="13" name="Shape 11"/>
          <p:cNvSpPr/>
          <p:nvPr/>
        </p:nvSpPr>
        <p:spPr>
          <a:xfrm>
            <a:off x="365760" y="3090672"/>
            <a:ext cx="4572000" cy="1417320"/>
          </a:xfrm>
          <a:prstGeom prst="roundRect">
            <a:avLst>
              <a:gd name="adj" fmla="val 7742"/>
            </a:avLst>
          </a:prstGeom>
          <a:solidFill>
            <a:srgbClr val="1A2D5A"/>
          </a:solidFill>
          <a:ln w="12700">
            <a:solidFill>
              <a:srgbClr val="2A4070"/>
            </a:solidFill>
            <a:prstDash val="solid"/>
          </a:ln>
        </p:spPr>
      </p:sp>
      <p:sp>
        <p:nvSpPr>
          <p:cNvPr id="14" name="Text 12"/>
          <p:cNvSpPr/>
          <p:nvPr/>
        </p:nvSpPr>
        <p:spPr>
          <a:xfrm>
            <a:off x="502920" y="3145536"/>
            <a:ext cx="4297680" cy="201168"/>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3410712"/>
            <a:ext cx="4206240" cy="1005840"/>
          </a:xfrm>
          <a:prstGeom prst="rect">
            <a:avLst/>
          </a:prstGeom>
          <a:noFill/>
          <a:ln/>
        </p:spPr>
        <p:txBody>
          <a:bodyPr wrap="square"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part of the Herald's claim might be true?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 timelines do that a simple list of dates cannot?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you need to examine to test the Herald's claim?</a:t>
            </a:r>
            <a:endParaRPr lang="en-US" sz="1100" dirty="0"/>
          </a:p>
        </p:txBody>
      </p:sp>
      <p:sp>
        <p:nvSpPr>
          <p:cNvPr id="16" name="Shape 14"/>
          <p:cNvSpPr/>
          <p:nvPr/>
        </p:nvSpPr>
        <p:spPr>
          <a:xfrm>
            <a:off x="5120640" y="3090672"/>
            <a:ext cx="3611880" cy="1417320"/>
          </a:xfrm>
          <a:prstGeom prst="roundRect">
            <a:avLst>
              <a:gd name="adj" fmla="val 7742"/>
            </a:avLst>
          </a:prstGeom>
          <a:solidFill>
            <a:srgbClr val="FFF3DC"/>
          </a:solidFill>
          <a:ln w="19050">
            <a:solidFill>
              <a:srgbClr val="F5E6C8"/>
            </a:solidFill>
            <a:prstDash val="solid"/>
          </a:ln>
        </p:spPr>
      </p:sp>
      <p:sp>
        <p:nvSpPr>
          <p:cNvPr id="17" name="Text 15"/>
          <p:cNvSpPr/>
          <p:nvPr/>
        </p:nvSpPr>
        <p:spPr>
          <a:xfrm>
            <a:off x="5257800" y="3145536"/>
            <a:ext cx="3337560" cy="201168"/>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257800" y="3346704"/>
            <a:ext cx="3337560" cy="1097280"/>
          </a:xfrm>
          <a:prstGeom prst="rect">
            <a:avLst/>
          </a:prstGeom>
          <a:noFill/>
          <a:ln/>
        </p:spPr>
        <p:txBody>
          <a:bodyPr wrap="square"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Herald is wrong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timeline does more than list dates — it also..."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54864"/>
          </a:xfrm>
          <a:prstGeom prst="rect">
            <a:avLst/>
          </a:prstGeom>
          <a:solidFill>
            <a:srgbClr val="D4943A"/>
          </a:solidFill>
          <a:ln/>
        </p:spPr>
      </p:sp>
      <p:sp>
        <p:nvSpPr>
          <p:cNvPr id="4" name="Text 2"/>
          <p:cNvSpPr/>
          <p:nvPr/>
        </p:nvSpPr>
        <p:spPr>
          <a:xfrm>
            <a:off x="365760" y="128016"/>
            <a:ext cx="8412480" cy="274320"/>
          </a:xfrm>
          <a:prstGeom prst="rect">
            <a:avLst/>
          </a:prstGeom>
          <a:noFill/>
          <a:ln/>
        </p:spPr>
        <p:txBody>
          <a:bodyPr wrap="square" rtlCol="0" anchor="ctr"/>
          <a:lstStyle/>
          <a:p>
            <a:pPr algn="ctr" indent="0" marL="0">
              <a:buNone/>
            </a:pPr>
            <a:r>
              <a:rPr lang="en-US" sz="1100" b="1" spc="200" kern="0" dirty="0">
                <a:solidFill>
                  <a:srgbClr val="D4943A"/>
                </a:solidFill>
                <a:latin typeface="Calibri" pitchFamily="34" charset="0"/>
                <a:ea typeface="Calibri" pitchFamily="34" charset="-122"/>
                <a:cs typeface="Calibri" pitchFamily="34" charset="-120"/>
              </a:rPr>
              <a:t>DISPATCH  |  Vol. 1  ·  Issue 2</a:t>
            </a:r>
            <a:endParaRPr lang="en-US" sz="1100" dirty="0"/>
          </a:p>
        </p:txBody>
      </p:sp>
      <p:sp>
        <p:nvSpPr>
          <p:cNvPr id="5" name="Shape 3"/>
          <p:cNvSpPr/>
          <p:nvPr/>
        </p:nvSpPr>
        <p:spPr>
          <a:xfrm>
            <a:off x="365760" y="457200"/>
            <a:ext cx="8412480" cy="438912"/>
          </a:xfrm>
          <a:prstGeom prst="roundRect">
            <a:avLst>
              <a:gd name="adj" fmla="val 16667"/>
            </a:avLst>
          </a:prstGeom>
          <a:solidFill>
            <a:srgbClr val="1A8A7D">
              <a:alpha val="85000"/>
            </a:srgbClr>
          </a:solidFill>
          <a:ln/>
        </p:spPr>
      </p:sp>
      <p:sp>
        <p:nvSpPr>
          <p:cNvPr id="6" name="Text 4"/>
          <p:cNvSpPr/>
          <p:nvPr/>
        </p:nvSpPr>
        <p:spPr>
          <a:xfrm>
            <a:off x="548640" y="457200"/>
            <a:ext cx="8229600" cy="438912"/>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SOURCE DESK — OPEN FOR BUSINESS  |  Ms. Avery, Editor-in-Chief</a:t>
            </a:r>
            <a:endParaRPr lang="en-US" sz="1200" dirty="0"/>
          </a:p>
        </p:txBody>
      </p:sp>
      <p:sp>
        <p:nvSpPr>
          <p:cNvPr id="7" name="Text 5"/>
          <p:cNvSpPr/>
          <p:nvPr/>
        </p:nvSpPr>
        <p:spPr>
          <a:xfrm>
            <a:off x="457200" y="987552"/>
            <a:ext cx="8229600" cy="329184"/>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Yesterday we learned how to tell a primary source from a secondary one.</a:t>
            </a:r>
            <a:endParaRPr lang="en-US" sz="1300" dirty="0"/>
          </a:p>
        </p:txBody>
      </p:sp>
      <p:sp>
        <p:nvSpPr>
          <p:cNvPr id="8" name="Text 6"/>
          <p:cNvSpPr/>
          <p:nvPr/>
        </p:nvSpPr>
        <p:spPr>
          <a:xfrm>
            <a:off x="457200" y="1353312"/>
            <a:ext cx="8229600" cy="594360"/>
          </a:xfrm>
          <a:prstGeom prst="rect">
            <a:avLst/>
          </a:prstGeom>
          <a:noFill/>
          <a:ln/>
        </p:spPr>
        <p:txBody>
          <a:bodyPr wrap="square" rtlCol="0" anchor="ctr"/>
          <a:lstStyle/>
          <a:p>
            <a:pPr indent="0" marL="0">
              <a:buNone/>
            </a:pPr>
            <a:r>
              <a:rPr lang="en-US" sz="1300" dirty="0">
                <a:solidFill>
                  <a:srgbClr val="D6F2FB"/>
                </a:solidFill>
                <a:latin typeface="Calibri" pitchFamily="34" charset="0"/>
                <a:ea typeface="Calibri" pitchFamily="34" charset="-122"/>
                <a:cs typeface="Calibri" pitchFamily="34" charset="-120"/>
              </a:rPr>
              <a:t>Today a file marked 5.01.02 — Timelines and American History Periods arrives at the newly opened Source Desk. The Editor-in-Chief wants the team to examine the source carefully before the Gazette prints a word.</a:t>
            </a:r>
            <a:endParaRPr lang="en-US" sz="1300" dirty="0"/>
          </a:p>
        </p:txBody>
      </p:sp>
      <p:sp>
        <p:nvSpPr>
          <p:cNvPr id="9" name="Shape 7"/>
          <p:cNvSpPr/>
          <p:nvPr/>
        </p:nvSpPr>
        <p:spPr>
          <a:xfrm>
            <a:off x="914400" y="2029968"/>
            <a:ext cx="7315200" cy="457200"/>
          </a:xfrm>
          <a:prstGeom prst="roundRect">
            <a:avLst>
              <a:gd name="adj" fmla="val 16000"/>
            </a:avLst>
          </a:prstGeom>
          <a:solidFill>
            <a:srgbClr val="D4943A">
              <a:alpha val="80000"/>
            </a:srgbClr>
          </a:solidFill>
          <a:ln/>
        </p:spPr>
      </p:sp>
      <p:sp>
        <p:nvSpPr>
          <p:cNvPr id="10" name="Text 8"/>
          <p:cNvSpPr/>
          <p:nvPr/>
        </p:nvSpPr>
        <p:spPr>
          <a:xfrm>
            <a:off x="1097280" y="2029968"/>
            <a:ext cx="6949440" cy="4572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There is a problem. The Hasty Herald has already rushed to print.</a:t>
            </a:r>
            <a:endParaRPr lang="en-US" sz="1400" dirty="0"/>
          </a:p>
        </p:txBody>
      </p:sp>
      <p:sp>
        <p:nvSpPr>
          <p:cNvPr id="11" name="Shape 9"/>
          <p:cNvSpPr/>
          <p:nvPr/>
        </p:nvSpPr>
        <p:spPr>
          <a:xfrm>
            <a:off x="365760" y="2606040"/>
            <a:ext cx="8412480" cy="512064"/>
          </a:xfrm>
          <a:prstGeom prst="roundRect">
            <a:avLst>
              <a:gd name="adj" fmla="val 14286"/>
            </a:avLst>
          </a:prstGeom>
          <a:solidFill>
            <a:srgbClr val="1A2D5A"/>
          </a:solidFill>
          <a:ln w="12700">
            <a:solidFill>
              <a:srgbClr val="2A4070"/>
            </a:solidFill>
            <a:prstDash val="solid"/>
          </a:ln>
        </p:spPr>
      </p:sp>
      <p:sp>
        <p:nvSpPr>
          <p:cNvPr id="12" name="Text 10"/>
          <p:cNvSpPr/>
          <p:nvPr/>
        </p:nvSpPr>
        <p:spPr>
          <a:xfrm>
            <a:off x="594360" y="2660904"/>
            <a:ext cx="8046720" cy="402336"/>
          </a:xfrm>
          <a:prstGeom prst="rect">
            <a:avLst/>
          </a:prstGeom>
          <a:noFill/>
          <a:ln/>
        </p:spPr>
        <p:txBody>
          <a:bodyPr wrap="square" rtlCol="0" anchor="ctr"/>
          <a:lstStyle/>
          <a:p>
            <a:pPr indent="0" marL="0">
              <a:buNone/>
            </a:pPr>
            <a:r>
              <a:rPr lang="en-US" sz="1300" dirty="0">
                <a:solidFill>
                  <a:srgbClr val="D6F2FB"/>
                </a:solidFill>
                <a:latin typeface="Calibri" pitchFamily="34" charset="0"/>
                <a:ea typeface="Calibri" pitchFamily="34" charset="-122"/>
                <a:cs typeface="Calibri" pitchFamily="34" charset="-120"/>
              </a:rPr>
              <a:t>📅  The Source Desk opens today — your new workstation for examining sources.</a:t>
            </a:r>
            <a:endParaRPr lang="en-US" sz="1300" dirty="0"/>
          </a:p>
        </p:txBody>
      </p:sp>
      <p:sp>
        <p:nvSpPr>
          <p:cNvPr id="13" name="Shape 11"/>
          <p:cNvSpPr/>
          <p:nvPr/>
        </p:nvSpPr>
        <p:spPr>
          <a:xfrm>
            <a:off x="365760" y="3227832"/>
            <a:ext cx="8412480" cy="512064"/>
          </a:xfrm>
          <a:prstGeom prst="roundRect">
            <a:avLst>
              <a:gd name="adj" fmla="val 14286"/>
            </a:avLst>
          </a:prstGeom>
          <a:solidFill>
            <a:srgbClr val="1A2D5A"/>
          </a:solidFill>
          <a:ln w="12700">
            <a:solidFill>
              <a:srgbClr val="2A4070"/>
            </a:solidFill>
            <a:prstDash val="solid"/>
          </a:ln>
        </p:spPr>
      </p:sp>
      <p:sp>
        <p:nvSpPr>
          <p:cNvPr id="14" name="Text 12"/>
          <p:cNvSpPr/>
          <p:nvPr/>
        </p:nvSpPr>
        <p:spPr>
          <a:xfrm>
            <a:off x="594360" y="3282696"/>
            <a:ext cx="8046720" cy="402336"/>
          </a:xfrm>
          <a:prstGeom prst="rect">
            <a:avLst/>
          </a:prstGeom>
          <a:noFill/>
          <a:ln/>
        </p:spPr>
        <p:txBody>
          <a:bodyPr wrap="square" rtlCol="0" anchor="ctr"/>
          <a:lstStyle/>
          <a:p>
            <a:pPr indent="0" marL="0">
              <a:buNone/>
            </a:pPr>
            <a:r>
              <a:rPr lang="en-US" sz="1300" dirty="0">
                <a:solidFill>
                  <a:srgbClr val="D6F2FB"/>
                </a:solidFill>
                <a:latin typeface="Calibri" pitchFamily="34" charset="0"/>
                <a:ea typeface="Calibri" pitchFamily="34" charset="-122"/>
                <a:cs typeface="Calibri" pitchFamily="34" charset="-120"/>
              </a:rPr>
              <a:t>🔍  You will examine a real historical timeline and ask: What does it say? What does it leave out?</a:t>
            </a:r>
            <a:endParaRPr lang="en-US" sz="1300" dirty="0"/>
          </a:p>
        </p:txBody>
      </p:sp>
      <p:sp>
        <p:nvSpPr>
          <p:cNvPr id="15" name="Shape 13"/>
          <p:cNvSpPr/>
          <p:nvPr/>
        </p:nvSpPr>
        <p:spPr>
          <a:xfrm>
            <a:off x="365760" y="3849624"/>
            <a:ext cx="8412480" cy="512064"/>
          </a:xfrm>
          <a:prstGeom prst="roundRect">
            <a:avLst>
              <a:gd name="adj" fmla="val 14286"/>
            </a:avLst>
          </a:prstGeom>
          <a:solidFill>
            <a:srgbClr val="1A2D5A"/>
          </a:solidFill>
          <a:ln w="12700">
            <a:solidFill>
              <a:srgbClr val="2A4070"/>
            </a:solidFill>
            <a:prstDash val="solid"/>
          </a:ln>
        </p:spPr>
      </p:sp>
      <p:sp>
        <p:nvSpPr>
          <p:cNvPr id="16" name="Text 14"/>
          <p:cNvSpPr/>
          <p:nvPr/>
        </p:nvSpPr>
        <p:spPr>
          <a:xfrm>
            <a:off x="594360" y="3904488"/>
            <a:ext cx="8046720" cy="402336"/>
          </a:xfrm>
          <a:prstGeom prst="rect">
            <a:avLst/>
          </a:prstGeom>
          <a:noFill/>
          <a:ln/>
        </p:spPr>
        <p:txBody>
          <a:bodyPr wrap="square" rtlCol="0" anchor="ctr"/>
          <a:lstStyle/>
          <a:p>
            <a:pPr indent="0" marL="0">
              <a:buNone/>
            </a:pPr>
            <a:r>
              <a:rPr lang="en-US" sz="1300" dirty="0">
                <a:solidFill>
                  <a:srgbClr val="D6F2FB"/>
                </a:solidFill>
                <a:latin typeface="Calibri" pitchFamily="34" charset="0"/>
                <a:ea typeface="Calibri" pitchFamily="34" charset="-122"/>
                <a:cs typeface="Calibri" pitchFamily="34" charset="-120"/>
              </a:rPr>
              <a:t>✏️  Your job: publish a Gazette Correction that rewrites the Herald's claim with evidence.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1A8A7D"/>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Discovery: What Does a Timeline Actually Do?</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The Herald says 'just a list of dates' — let's test that</a:t>
            </a:r>
            <a:endParaRPr lang="en-US" sz="1050" dirty="0"/>
          </a:p>
        </p:txBody>
      </p:sp>
      <p:sp>
        <p:nvSpPr>
          <p:cNvPr id="7" name="Shape 5"/>
          <p:cNvSpPr/>
          <p:nvPr/>
        </p:nvSpPr>
        <p:spPr>
          <a:xfrm>
            <a:off x="365760" y="822960"/>
            <a:ext cx="8412480" cy="548640"/>
          </a:xfrm>
          <a:prstGeom prst="roundRect">
            <a:avLst>
              <a:gd name="adj" fmla="val 13333"/>
            </a:avLst>
          </a:prstGeom>
          <a:solidFill>
            <a:srgbClr val="FAF3E0"/>
          </a:solidFill>
          <a:ln w="12700">
            <a:solidFill>
              <a:srgbClr val="8B2D26"/>
            </a:solidFill>
            <a:prstDash val="solid"/>
          </a:ln>
        </p:spPr>
      </p:sp>
      <p:sp>
        <p:nvSpPr>
          <p:cNvPr id="8" name="Text 6"/>
          <p:cNvSpPr/>
          <p:nvPr/>
        </p:nvSpPr>
        <p:spPr>
          <a:xfrm>
            <a:off x="548640" y="822960"/>
            <a:ext cx="8046720" cy="548640"/>
          </a:xfrm>
          <a:prstGeom prst="rect">
            <a:avLst/>
          </a:prstGeom>
          <a:noFill/>
          <a:ln/>
        </p:spPr>
        <p:txBody>
          <a:bodyPr wrap="square" rtlCol="0" anchor="ctr"/>
          <a:lstStyle/>
          <a:p>
            <a:pPr indent="0" marL="0">
              <a:buNone/>
            </a:pPr>
            <a:r>
              <a:rPr lang="en-US" sz="1250" i="1" dirty="0">
                <a:solidFill>
                  <a:srgbClr val="8B2D26"/>
                </a:solidFill>
                <a:latin typeface="Cambria" pitchFamily="34" charset="0"/>
                <a:ea typeface="Cambria" pitchFamily="34" charset="-122"/>
                <a:cs typeface="Cambria" pitchFamily="34" charset="-120"/>
              </a:rPr>
              <a:t>THE HERALD SAYS: "A timeline is just a list of dates; it cannot help explain history."</a:t>
            </a:r>
            <a:endParaRPr lang="en-US" sz="1250" dirty="0"/>
          </a:p>
        </p:txBody>
      </p:sp>
      <p:sp>
        <p:nvSpPr>
          <p:cNvPr id="9" name="Shape 7"/>
          <p:cNvSpPr/>
          <p:nvPr/>
        </p:nvSpPr>
        <p:spPr>
          <a:xfrm>
            <a:off x="365760" y="1481328"/>
            <a:ext cx="4114800" cy="3200400"/>
          </a:xfrm>
          <a:prstGeom prst="roundRect">
            <a:avLst>
              <a:gd name="adj" fmla="val 2857"/>
            </a:avLst>
          </a:prstGeom>
          <a:solidFill>
            <a:srgbClr val="FFFFFF"/>
          </a:solidFill>
          <a:ln w="19050">
            <a:solidFill>
              <a:srgbClr val="E8636B"/>
            </a:solidFill>
            <a:prstDash val="solid"/>
          </a:ln>
        </p:spPr>
      </p:sp>
      <p:sp>
        <p:nvSpPr>
          <p:cNvPr id="10" name="Shape 8"/>
          <p:cNvSpPr/>
          <p:nvPr/>
        </p:nvSpPr>
        <p:spPr>
          <a:xfrm>
            <a:off x="365760" y="1481328"/>
            <a:ext cx="4114800" cy="384048"/>
          </a:xfrm>
          <a:prstGeom prst="roundRect">
            <a:avLst>
              <a:gd name="adj" fmla="val 23810"/>
            </a:avLst>
          </a:prstGeom>
          <a:solidFill>
            <a:srgbClr val="E8636B"/>
          </a:solidFill>
          <a:ln/>
        </p:spPr>
      </p:sp>
      <p:sp>
        <p:nvSpPr>
          <p:cNvPr id="11" name="Text 9"/>
          <p:cNvSpPr/>
          <p:nvPr/>
        </p:nvSpPr>
        <p:spPr>
          <a:xfrm>
            <a:off x="365760" y="1481328"/>
            <a:ext cx="4114800" cy="384048"/>
          </a:xfrm>
          <a:prstGeom prst="rect">
            <a:avLst/>
          </a:prstGeom>
          <a:noFill/>
          <a:ln/>
        </p:spPr>
        <p:txBody>
          <a:bodyPr wrap="square"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A PLAIN LIST OF DATES</a:t>
            </a:r>
            <a:endParaRPr lang="en-US" sz="1200" dirty="0"/>
          </a:p>
        </p:txBody>
      </p:sp>
      <p:sp>
        <p:nvSpPr>
          <p:cNvPr id="12" name="Text 10"/>
          <p:cNvSpPr/>
          <p:nvPr/>
        </p:nvSpPr>
        <p:spPr>
          <a:xfrm>
            <a:off x="548640" y="1956816"/>
            <a:ext cx="3749040" cy="45720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1492 — Columbus arrives</a:t>
            </a:r>
            <a:endParaRPr lang="en-US" sz="1200" dirty="0"/>
          </a:p>
        </p:txBody>
      </p:sp>
      <p:sp>
        <p:nvSpPr>
          <p:cNvPr id="13" name="Text 11"/>
          <p:cNvSpPr/>
          <p:nvPr/>
        </p:nvSpPr>
        <p:spPr>
          <a:xfrm>
            <a:off x="548640" y="2487168"/>
            <a:ext cx="3749040" cy="45720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1607 — Jamestown founded</a:t>
            </a:r>
            <a:endParaRPr lang="en-US" sz="1200" dirty="0"/>
          </a:p>
        </p:txBody>
      </p:sp>
      <p:sp>
        <p:nvSpPr>
          <p:cNvPr id="14" name="Text 12"/>
          <p:cNvSpPr/>
          <p:nvPr/>
        </p:nvSpPr>
        <p:spPr>
          <a:xfrm>
            <a:off x="548640" y="3017520"/>
            <a:ext cx="3749040" cy="45720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1776 — Declaration signed</a:t>
            </a:r>
            <a:endParaRPr lang="en-US" sz="1200" dirty="0"/>
          </a:p>
        </p:txBody>
      </p:sp>
      <p:sp>
        <p:nvSpPr>
          <p:cNvPr id="15" name="Text 13"/>
          <p:cNvSpPr/>
          <p:nvPr/>
        </p:nvSpPr>
        <p:spPr>
          <a:xfrm>
            <a:off x="548640" y="3547872"/>
            <a:ext cx="3749040" cy="45720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1865 — Civil War ends</a:t>
            </a:r>
            <a:endParaRPr lang="en-US" sz="1200" dirty="0"/>
          </a:p>
        </p:txBody>
      </p:sp>
      <p:sp>
        <p:nvSpPr>
          <p:cNvPr id="16" name="Text 14"/>
          <p:cNvSpPr/>
          <p:nvPr/>
        </p:nvSpPr>
        <p:spPr>
          <a:xfrm>
            <a:off x="548640" y="4078224"/>
            <a:ext cx="3749040" cy="457200"/>
          </a:xfrm>
          <a:prstGeom prst="rect">
            <a:avLst/>
          </a:prstGeom>
          <a:noFill/>
          <a:ln/>
        </p:spPr>
        <p:txBody>
          <a:bodyPr wrap="square" rtlCol="0" anchor="ctr"/>
          <a:lstStyle/>
          <a:p>
            <a:pPr indent="0" marL="0">
              <a:buNone/>
            </a:pPr>
            <a:r>
              <a:rPr lang="en-US" sz="1200" i="1" dirty="0">
                <a:solidFill>
                  <a:srgbClr val="E8636B"/>
                </a:solidFill>
                <a:latin typeface="Cambria" pitchFamily="34" charset="0"/>
                <a:ea typeface="Cambria" pitchFamily="34" charset="-122"/>
                <a:cs typeface="Cambria" pitchFamily="34" charset="-120"/>
              </a:rPr>
              <a:t>(no connections, no groupings, no shape)</a:t>
            </a:r>
            <a:endParaRPr lang="en-US" sz="1200" dirty="0"/>
          </a:p>
        </p:txBody>
      </p:sp>
      <p:sp>
        <p:nvSpPr>
          <p:cNvPr id="17" name="Shape 15"/>
          <p:cNvSpPr/>
          <p:nvPr/>
        </p:nvSpPr>
        <p:spPr>
          <a:xfrm>
            <a:off x="4663440" y="1481328"/>
            <a:ext cx="4114800" cy="3200400"/>
          </a:xfrm>
          <a:prstGeom prst="roundRect">
            <a:avLst>
              <a:gd name="adj" fmla="val 2857"/>
            </a:avLst>
          </a:prstGeom>
          <a:solidFill>
            <a:srgbClr val="FFFFFF"/>
          </a:solidFill>
          <a:ln w="19050">
            <a:solidFill>
              <a:srgbClr val="34B76F"/>
            </a:solidFill>
            <a:prstDash val="solid"/>
          </a:ln>
        </p:spPr>
      </p:sp>
      <p:sp>
        <p:nvSpPr>
          <p:cNvPr id="18" name="Shape 16"/>
          <p:cNvSpPr/>
          <p:nvPr/>
        </p:nvSpPr>
        <p:spPr>
          <a:xfrm>
            <a:off x="4663440" y="1481328"/>
            <a:ext cx="4114800" cy="384048"/>
          </a:xfrm>
          <a:prstGeom prst="roundRect">
            <a:avLst>
              <a:gd name="adj" fmla="val 23810"/>
            </a:avLst>
          </a:prstGeom>
          <a:solidFill>
            <a:srgbClr val="34B76F"/>
          </a:solidFill>
          <a:ln/>
        </p:spPr>
      </p:sp>
      <p:sp>
        <p:nvSpPr>
          <p:cNvPr id="19" name="Text 17"/>
          <p:cNvSpPr/>
          <p:nvPr/>
        </p:nvSpPr>
        <p:spPr>
          <a:xfrm>
            <a:off x="4663440" y="1481328"/>
            <a:ext cx="4114800" cy="384048"/>
          </a:xfrm>
          <a:prstGeom prst="rect">
            <a:avLst/>
          </a:prstGeom>
          <a:noFill/>
          <a:ln/>
        </p:spPr>
        <p:txBody>
          <a:bodyPr wrap="square"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A HISTORICAL TIMELINE</a:t>
            </a:r>
            <a:endParaRPr lang="en-US" sz="1200" dirty="0"/>
          </a:p>
        </p:txBody>
      </p:sp>
      <p:sp>
        <p:nvSpPr>
          <p:cNvPr id="20" name="Shape 18"/>
          <p:cNvSpPr/>
          <p:nvPr/>
        </p:nvSpPr>
        <p:spPr>
          <a:xfrm>
            <a:off x="4754880" y="1956816"/>
            <a:ext cx="3931920" cy="566928"/>
          </a:xfrm>
          <a:prstGeom prst="roundRect">
            <a:avLst>
              <a:gd name="adj" fmla="val 9677"/>
            </a:avLst>
          </a:prstGeom>
          <a:solidFill>
            <a:srgbClr val="E8F5F0"/>
          </a:solidFill>
          <a:ln/>
        </p:spPr>
      </p:sp>
      <p:sp>
        <p:nvSpPr>
          <p:cNvPr id="21" name="Text 19"/>
          <p:cNvSpPr/>
          <p:nvPr/>
        </p:nvSpPr>
        <p:spPr>
          <a:xfrm>
            <a:off x="4846320" y="2002536"/>
            <a:ext cx="3749040" cy="47548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Groups events into PERIODS (stretches of time)</a:t>
            </a:r>
            <a:endParaRPr lang="en-US" sz="1200" dirty="0"/>
          </a:p>
        </p:txBody>
      </p:sp>
      <p:sp>
        <p:nvSpPr>
          <p:cNvPr id="22" name="Shape 20"/>
          <p:cNvSpPr/>
          <p:nvPr/>
        </p:nvSpPr>
        <p:spPr>
          <a:xfrm>
            <a:off x="4754880" y="2615184"/>
            <a:ext cx="3931920" cy="566928"/>
          </a:xfrm>
          <a:prstGeom prst="roundRect">
            <a:avLst>
              <a:gd name="adj" fmla="val 9677"/>
            </a:avLst>
          </a:prstGeom>
          <a:solidFill>
            <a:srgbClr val="E8F5F0"/>
          </a:solidFill>
          <a:ln/>
        </p:spPr>
      </p:sp>
      <p:sp>
        <p:nvSpPr>
          <p:cNvPr id="23" name="Text 21"/>
          <p:cNvSpPr/>
          <p:nvPr/>
        </p:nvSpPr>
        <p:spPr>
          <a:xfrm>
            <a:off x="4846320" y="2660904"/>
            <a:ext cx="3749040" cy="47548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Shows how one period LEADS INTO the next</a:t>
            </a:r>
            <a:endParaRPr lang="en-US" sz="1200" dirty="0"/>
          </a:p>
        </p:txBody>
      </p:sp>
      <p:sp>
        <p:nvSpPr>
          <p:cNvPr id="24" name="Shape 22"/>
          <p:cNvSpPr/>
          <p:nvPr/>
        </p:nvSpPr>
        <p:spPr>
          <a:xfrm>
            <a:off x="4754880" y="3273552"/>
            <a:ext cx="3931920" cy="566928"/>
          </a:xfrm>
          <a:prstGeom prst="roundRect">
            <a:avLst>
              <a:gd name="adj" fmla="val 9677"/>
            </a:avLst>
          </a:prstGeom>
          <a:solidFill>
            <a:srgbClr val="E8F5F0"/>
          </a:solidFill>
          <a:ln/>
        </p:spPr>
      </p:sp>
      <p:sp>
        <p:nvSpPr>
          <p:cNvPr id="25" name="Text 23"/>
          <p:cNvSpPr/>
          <p:nvPr/>
        </p:nvSpPr>
        <p:spPr>
          <a:xfrm>
            <a:off x="4846320" y="3319272"/>
            <a:ext cx="3749040" cy="47548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Reveals the SHAPE of history (slow, then sudden)</a:t>
            </a:r>
            <a:endParaRPr lang="en-US" sz="1200" dirty="0"/>
          </a:p>
        </p:txBody>
      </p:sp>
      <p:sp>
        <p:nvSpPr>
          <p:cNvPr id="26" name="Shape 24"/>
          <p:cNvSpPr/>
          <p:nvPr/>
        </p:nvSpPr>
        <p:spPr>
          <a:xfrm>
            <a:off x="4754880" y="3931920"/>
            <a:ext cx="3931920" cy="566928"/>
          </a:xfrm>
          <a:prstGeom prst="roundRect">
            <a:avLst>
              <a:gd name="adj" fmla="val 9677"/>
            </a:avLst>
          </a:prstGeom>
          <a:solidFill>
            <a:srgbClr val="E8F5F0"/>
          </a:solidFill>
          <a:ln/>
        </p:spPr>
      </p:sp>
      <p:sp>
        <p:nvSpPr>
          <p:cNvPr id="27" name="Text 25"/>
          <p:cNvSpPr/>
          <p:nvPr/>
        </p:nvSpPr>
        <p:spPr>
          <a:xfrm>
            <a:off x="4846320" y="3977640"/>
            <a:ext cx="3749040" cy="47548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Is itself a SOURCE — made by someone, at a time, with choices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54864"/>
          </a:xfrm>
          <a:prstGeom prst="rect">
            <a:avLst/>
          </a:prstGeom>
          <a:solidFill>
            <a:srgbClr val="D4943A"/>
          </a:solidFill>
          <a:ln/>
        </p:spPr>
      </p:sp>
      <p:sp>
        <p:nvSpPr>
          <p:cNvPr id="4" name="Text 2"/>
          <p:cNvSpPr/>
          <p:nvPr/>
        </p:nvSpPr>
        <p:spPr>
          <a:xfrm>
            <a:off x="365760" y="109728"/>
            <a:ext cx="8412480" cy="50292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The Seven Periods of American History</a:t>
            </a:r>
            <a:endParaRPr lang="en-US" sz="2400" dirty="0"/>
          </a:p>
        </p:txBody>
      </p:sp>
      <p:sp>
        <p:nvSpPr>
          <p:cNvPr id="5" name="Text 3"/>
          <p:cNvSpPr/>
          <p:nvPr/>
        </p:nvSpPr>
        <p:spPr>
          <a:xfrm>
            <a:off x="365760" y="640080"/>
            <a:ext cx="8412480" cy="274320"/>
          </a:xfrm>
          <a:prstGeom prst="rect">
            <a:avLst/>
          </a:prstGeom>
          <a:noFill/>
          <a:ln/>
        </p:spPr>
        <p:txBody>
          <a:bodyPr wrap="square"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Historians group events into periods — stretches of time when life looked roughly similar.</a:t>
            </a:r>
            <a:endParaRPr lang="en-US" sz="1200" dirty="0"/>
          </a:p>
        </p:txBody>
      </p:sp>
      <p:sp>
        <p:nvSpPr>
          <p:cNvPr id="6" name="Shape 4"/>
          <p:cNvSpPr/>
          <p:nvPr/>
        </p:nvSpPr>
        <p:spPr>
          <a:xfrm>
            <a:off x="274320" y="1005840"/>
            <a:ext cx="1115568" cy="2651760"/>
          </a:xfrm>
          <a:prstGeom prst="roundRect">
            <a:avLst>
              <a:gd name="adj" fmla="val 6557"/>
            </a:avLst>
          </a:prstGeom>
          <a:solidFill>
            <a:srgbClr val="1A8A7D">
              <a:alpha val="80000"/>
            </a:srgbClr>
          </a:solidFill>
          <a:ln w="12700">
            <a:solidFill>
              <a:srgbClr val="1A8A7D"/>
            </a:solidFill>
            <a:prstDash val="solid"/>
          </a:ln>
        </p:spPr>
      </p:sp>
      <p:sp>
        <p:nvSpPr>
          <p:cNvPr id="7" name="Shape 5"/>
          <p:cNvSpPr/>
          <p:nvPr/>
        </p:nvSpPr>
        <p:spPr>
          <a:xfrm>
            <a:off x="274320" y="1005840"/>
            <a:ext cx="1115568" cy="347472"/>
          </a:xfrm>
          <a:prstGeom prst="roundRect">
            <a:avLst>
              <a:gd name="adj" fmla="val 21053"/>
            </a:avLst>
          </a:prstGeom>
          <a:solidFill>
            <a:srgbClr val="1A8A7D"/>
          </a:solidFill>
          <a:ln/>
        </p:spPr>
      </p:sp>
      <p:sp>
        <p:nvSpPr>
          <p:cNvPr id="8" name="Text 6"/>
          <p:cNvSpPr/>
          <p:nvPr/>
        </p:nvSpPr>
        <p:spPr>
          <a:xfrm>
            <a:off x="274320" y="1005840"/>
            <a:ext cx="1115568" cy="347472"/>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320040" y="1408176"/>
            <a:ext cx="1024128" cy="1280160"/>
          </a:xfrm>
          <a:prstGeom prst="rect">
            <a:avLst/>
          </a:prstGeom>
          <a:noFill/>
          <a:ln/>
        </p:spPr>
        <p:txBody>
          <a:bodyPr wrap="square" rtlCol="0" anchor="t"/>
          <a:lstStyle/>
          <a:p>
            <a:pPr algn="ctr" indent="0" marL="0">
              <a:buNone/>
            </a:pPr>
            <a:r>
              <a:rPr lang="en-US" sz="1000" b="1" dirty="0">
                <a:solidFill>
                  <a:srgbClr val="FFFFFF"/>
                </a:solidFill>
                <a:latin typeface="Calibri" pitchFamily="34" charset="0"/>
                <a:ea typeface="Calibri" pitchFamily="34" charset="-122"/>
                <a:cs typeface="Calibri" pitchFamily="34" charset="-120"/>
              </a:rPr>
              <a:t>Pre-Columbian</a:t>
            </a:r>
            <a:endParaRPr lang="en-US" sz="1000" dirty="0"/>
          </a:p>
        </p:txBody>
      </p:sp>
      <p:sp>
        <p:nvSpPr>
          <p:cNvPr id="10" name="Text 8"/>
          <p:cNvSpPr/>
          <p:nvPr/>
        </p:nvSpPr>
        <p:spPr>
          <a:xfrm>
            <a:off x="320040" y="2651760"/>
            <a:ext cx="1024128" cy="365760"/>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Before European contact</a:t>
            </a:r>
            <a:endParaRPr lang="en-US" sz="900" dirty="0"/>
          </a:p>
        </p:txBody>
      </p:sp>
      <p:sp>
        <p:nvSpPr>
          <p:cNvPr id="11" name="Shape 9"/>
          <p:cNvSpPr/>
          <p:nvPr/>
        </p:nvSpPr>
        <p:spPr>
          <a:xfrm>
            <a:off x="1508760" y="1005840"/>
            <a:ext cx="1115568" cy="2286000"/>
          </a:xfrm>
          <a:prstGeom prst="roundRect">
            <a:avLst>
              <a:gd name="adj" fmla="val 6557"/>
            </a:avLst>
          </a:prstGeom>
          <a:solidFill>
            <a:srgbClr val="8B6FC0">
              <a:alpha val="80000"/>
            </a:srgbClr>
          </a:solidFill>
          <a:ln w="12700">
            <a:solidFill>
              <a:srgbClr val="8B6FC0"/>
            </a:solidFill>
            <a:prstDash val="solid"/>
          </a:ln>
        </p:spPr>
      </p:sp>
      <p:sp>
        <p:nvSpPr>
          <p:cNvPr id="12" name="Shape 10"/>
          <p:cNvSpPr/>
          <p:nvPr/>
        </p:nvSpPr>
        <p:spPr>
          <a:xfrm>
            <a:off x="1508760" y="1005840"/>
            <a:ext cx="1115568" cy="347472"/>
          </a:xfrm>
          <a:prstGeom prst="roundRect">
            <a:avLst>
              <a:gd name="adj" fmla="val 21053"/>
            </a:avLst>
          </a:prstGeom>
          <a:solidFill>
            <a:srgbClr val="8B6FC0"/>
          </a:solidFill>
          <a:ln/>
        </p:spPr>
      </p:sp>
      <p:sp>
        <p:nvSpPr>
          <p:cNvPr id="13" name="Text 11"/>
          <p:cNvSpPr/>
          <p:nvPr/>
        </p:nvSpPr>
        <p:spPr>
          <a:xfrm>
            <a:off x="1508760" y="1005840"/>
            <a:ext cx="1115568" cy="347472"/>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554480" y="1408176"/>
            <a:ext cx="1024128" cy="1280160"/>
          </a:xfrm>
          <a:prstGeom prst="rect">
            <a:avLst/>
          </a:prstGeom>
          <a:noFill/>
          <a:ln/>
        </p:spPr>
        <p:txBody>
          <a:bodyPr wrap="square" rtlCol="0" anchor="t"/>
          <a:lstStyle/>
          <a:p>
            <a:pPr algn="ctr" indent="0" marL="0">
              <a:buNone/>
            </a:pPr>
            <a:r>
              <a:rPr lang="en-US" sz="1000" b="1" dirty="0">
                <a:solidFill>
                  <a:srgbClr val="FFFFFF"/>
                </a:solidFill>
                <a:latin typeface="Calibri" pitchFamily="34" charset="0"/>
                <a:ea typeface="Calibri" pitchFamily="34" charset="-122"/>
                <a:cs typeface="Calibri" pitchFamily="34" charset="-120"/>
              </a:rPr>
              <a:t>Exploration &amp; Contact</a:t>
            </a:r>
            <a:endParaRPr lang="en-US" sz="1000" dirty="0"/>
          </a:p>
        </p:txBody>
      </p:sp>
      <p:sp>
        <p:nvSpPr>
          <p:cNvPr id="15" name="Text 13"/>
          <p:cNvSpPr/>
          <p:nvPr/>
        </p:nvSpPr>
        <p:spPr>
          <a:xfrm>
            <a:off x="1554480" y="2651760"/>
            <a:ext cx="1024128" cy="365760"/>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1490s–1600s</a:t>
            </a:r>
            <a:endParaRPr lang="en-US" sz="900" dirty="0"/>
          </a:p>
        </p:txBody>
      </p:sp>
      <p:sp>
        <p:nvSpPr>
          <p:cNvPr id="16" name="Shape 14"/>
          <p:cNvSpPr/>
          <p:nvPr/>
        </p:nvSpPr>
        <p:spPr>
          <a:xfrm>
            <a:off x="2743200" y="1005840"/>
            <a:ext cx="1115568" cy="3200400"/>
          </a:xfrm>
          <a:prstGeom prst="roundRect">
            <a:avLst>
              <a:gd name="adj" fmla="val 6557"/>
            </a:avLst>
          </a:prstGeom>
          <a:solidFill>
            <a:srgbClr val="D4943A">
              <a:alpha val="80000"/>
            </a:srgbClr>
          </a:solidFill>
          <a:ln w="12700">
            <a:solidFill>
              <a:srgbClr val="D4943A"/>
            </a:solidFill>
            <a:prstDash val="solid"/>
          </a:ln>
        </p:spPr>
      </p:sp>
      <p:sp>
        <p:nvSpPr>
          <p:cNvPr id="17" name="Shape 15"/>
          <p:cNvSpPr/>
          <p:nvPr/>
        </p:nvSpPr>
        <p:spPr>
          <a:xfrm>
            <a:off x="2743200" y="1005840"/>
            <a:ext cx="1115568" cy="347472"/>
          </a:xfrm>
          <a:prstGeom prst="roundRect">
            <a:avLst>
              <a:gd name="adj" fmla="val 21053"/>
            </a:avLst>
          </a:prstGeom>
          <a:solidFill>
            <a:srgbClr val="D4943A"/>
          </a:solidFill>
          <a:ln/>
        </p:spPr>
      </p:sp>
      <p:sp>
        <p:nvSpPr>
          <p:cNvPr id="18" name="Text 16"/>
          <p:cNvSpPr/>
          <p:nvPr/>
        </p:nvSpPr>
        <p:spPr>
          <a:xfrm>
            <a:off x="2743200" y="1005840"/>
            <a:ext cx="1115568" cy="347472"/>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2788920" y="1408176"/>
            <a:ext cx="1024128" cy="1280160"/>
          </a:xfrm>
          <a:prstGeom prst="rect">
            <a:avLst/>
          </a:prstGeom>
          <a:noFill/>
          <a:ln/>
        </p:spPr>
        <p:txBody>
          <a:bodyPr wrap="square" rtlCol="0" anchor="t"/>
          <a:lstStyle/>
          <a:p>
            <a:pPr algn="ctr" indent="0" marL="0">
              <a:buNone/>
            </a:pPr>
            <a:r>
              <a:rPr lang="en-US" sz="1000" b="1" dirty="0">
                <a:solidFill>
                  <a:srgbClr val="FFFFFF"/>
                </a:solidFill>
                <a:latin typeface="Calibri" pitchFamily="34" charset="0"/>
                <a:ea typeface="Calibri" pitchFamily="34" charset="-122"/>
                <a:cs typeface="Calibri" pitchFamily="34" charset="-120"/>
              </a:rPr>
              <a:t>Colonial</a:t>
            </a:r>
            <a:endParaRPr lang="en-US" sz="1000" dirty="0"/>
          </a:p>
        </p:txBody>
      </p:sp>
      <p:sp>
        <p:nvSpPr>
          <p:cNvPr id="20" name="Text 18"/>
          <p:cNvSpPr/>
          <p:nvPr/>
        </p:nvSpPr>
        <p:spPr>
          <a:xfrm>
            <a:off x="2788920" y="2651760"/>
            <a:ext cx="1024128" cy="365760"/>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1600s–1750s</a:t>
            </a:r>
            <a:endParaRPr lang="en-US" sz="900" dirty="0"/>
          </a:p>
        </p:txBody>
      </p:sp>
      <p:sp>
        <p:nvSpPr>
          <p:cNvPr id="21" name="Shape 19"/>
          <p:cNvSpPr/>
          <p:nvPr/>
        </p:nvSpPr>
        <p:spPr>
          <a:xfrm>
            <a:off x="3977640" y="1005840"/>
            <a:ext cx="1115568" cy="2468880"/>
          </a:xfrm>
          <a:prstGeom prst="roundRect">
            <a:avLst>
              <a:gd name="adj" fmla="val 6557"/>
            </a:avLst>
          </a:prstGeom>
          <a:solidFill>
            <a:srgbClr val="E8636B">
              <a:alpha val="80000"/>
            </a:srgbClr>
          </a:solidFill>
          <a:ln w="12700">
            <a:solidFill>
              <a:srgbClr val="E8636B"/>
            </a:solidFill>
            <a:prstDash val="solid"/>
          </a:ln>
        </p:spPr>
      </p:sp>
      <p:sp>
        <p:nvSpPr>
          <p:cNvPr id="22" name="Shape 20"/>
          <p:cNvSpPr/>
          <p:nvPr/>
        </p:nvSpPr>
        <p:spPr>
          <a:xfrm>
            <a:off x="3977640" y="1005840"/>
            <a:ext cx="1115568" cy="347472"/>
          </a:xfrm>
          <a:prstGeom prst="roundRect">
            <a:avLst>
              <a:gd name="adj" fmla="val 21053"/>
            </a:avLst>
          </a:prstGeom>
          <a:solidFill>
            <a:srgbClr val="E8636B"/>
          </a:solidFill>
          <a:ln/>
        </p:spPr>
      </p:sp>
      <p:sp>
        <p:nvSpPr>
          <p:cNvPr id="23" name="Text 21"/>
          <p:cNvSpPr/>
          <p:nvPr/>
        </p:nvSpPr>
        <p:spPr>
          <a:xfrm>
            <a:off x="3977640" y="1005840"/>
            <a:ext cx="1115568" cy="347472"/>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4023360" y="1408176"/>
            <a:ext cx="1024128" cy="1280160"/>
          </a:xfrm>
          <a:prstGeom prst="rect">
            <a:avLst/>
          </a:prstGeom>
          <a:noFill/>
          <a:ln/>
        </p:spPr>
        <p:txBody>
          <a:bodyPr wrap="square" rtlCol="0" anchor="t"/>
          <a:lstStyle/>
          <a:p>
            <a:pPr algn="ctr" indent="0" marL="0">
              <a:buNone/>
            </a:pPr>
            <a:r>
              <a:rPr lang="en-US" sz="1000" b="1" dirty="0">
                <a:solidFill>
                  <a:srgbClr val="FFFFFF"/>
                </a:solidFill>
                <a:latin typeface="Calibri" pitchFamily="34" charset="0"/>
                <a:ea typeface="Calibri" pitchFamily="34" charset="-122"/>
                <a:cs typeface="Calibri" pitchFamily="34" charset="-120"/>
              </a:rPr>
              <a:t>Revolution &amp; Founding</a:t>
            </a:r>
            <a:endParaRPr lang="en-US" sz="1000" dirty="0"/>
          </a:p>
        </p:txBody>
      </p:sp>
      <p:sp>
        <p:nvSpPr>
          <p:cNvPr id="25" name="Text 23"/>
          <p:cNvSpPr/>
          <p:nvPr/>
        </p:nvSpPr>
        <p:spPr>
          <a:xfrm>
            <a:off x="4023360" y="2651760"/>
            <a:ext cx="1024128" cy="365760"/>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1760s–1790s</a:t>
            </a:r>
            <a:endParaRPr lang="en-US" sz="900" dirty="0"/>
          </a:p>
        </p:txBody>
      </p:sp>
      <p:sp>
        <p:nvSpPr>
          <p:cNvPr id="26" name="Shape 24"/>
          <p:cNvSpPr/>
          <p:nvPr/>
        </p:nvSpPr>
        <p:spPr>
          <a:xfrm>
            <a:off x="5212080" y="1005840"/>
            <a:ext cx="1115568" cy="2926080"/>
          </a:xfrm>
          <a:prstGeom prst="roundRect">
            <a:avLst>
              <a:gd name="adj" fmla="val 6557"/>
            </a:avLst>
          </a:prstGeom>
          <a:solidFill>
            <a:srgbClr val="34B76F">
              <a:alpha val="80000"/>
            </a:srgbClr>
          </a:solidFill>
          <a:ln w="12700">
            <a:solidFill>
              <a:srgbClr val="34B76F"/>
            </a:solidFill>
            <a:prstDash val="solid"/>
          </a:ln>
        </p:spPr>
      </p:sp>
      <p:sp>
        <p:nvSpPr>
          <p:cNvPr id="27" name="Shape 25"/>
          <p:cNvSpPr/>
          <p:nvPr/>
        </p:nvSpPr>
        <p:spPr>
          <a:xfrm>
            <a:off x="5212080" y="1005840"/>
            <a:ext cx="1115568" cy="347472"/>
          </a:xfrm>
          <a:prstGeom prst="roundRect">
            <a:avLst>
              <a:gd name="adj" fmla="val 21053"/>
            </a:avLst>
          </a:prstGeom>
          <a:solidFill>
            <a:srgbClr val="34B76F"/>
          </a:solidFill>
          <a:ln/>
        </p:spPr>
      </p:sp>
      <p:sp>
        <p:nvSpPr>
          <p:cNvPr id="28" name="Text 26"/>
          <p:cNvSpPr/>
          <p:nvPr/>
        </p:nvSpPr>
        <p:spPr>
          <a:xfrm>
            <a:off x="5212080" y="1005840"/>
            <a:ext cx="1115568" cy="347472"/>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7"/>
          <p:cNvSpPr/>
          <p:nvPr/>
        </p:nvSpPr>
        <p:spPr>
          <a:xfrm>
            <a:off x="5257800" y="1408176"/>
            <a:ext cx="1024128" cy="1280160"/>
          </a:xfrm>
          <a:prstGeom prst="rect">
            <a:avLst/>
          </a:prstGeom>
          <a:noFill/>
          <a:ln/>
        </p:spPr>
        <p:txBody>
          <a:bodyPr wrap="square" rtlCol="0" anchor="t"/>
          <a:lstStyle/>
          <a:p>
            <a:pPr algn="ctr" indent="0" marL="0">
              <a:buNone/>
            </a:pPr>
            <a:r>
              <a:rPr lang="en-US" sz="1000" b="1" dirty="0">
                <a:solidFill>
                  <a:srgbClr val="FFFFFF"/>
                </a:solidFill>
                <a:latin typeface="Calibri" pitchFamily="34" charset="0"/>
                <a:ea typeface="Calibri" pitchFamily="34" charset="-122"/>
                <a:cs typeface="Calibri" pitchFamily="34" charset="-120"/>
              </a:rPr>
              <a:t>Early Republic &amp; Expansion</a:t>
            </a:r>
            <a:endParaRPr lang="en-US" sz="1000" dirty="0"/>
          </a:p>
        </p:txBody>
      </p:sp>
      <p:sp>
        <p:nvSpPr>
          <p:cNvPr id="30" name="Text 28"/>
          <p:cNvSpPr/>
          <p:nvPr/>
        </p:nvSpPr>
        <p:spPr>
          <a:xfrm>
            <a:off x="5257800" y="2651760"/>
            <a:ext cx="1024128" cy="365760"/>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1800–1860</a:t>
            </a:r>
            <a:endParaRPr lang="en-US" sz="900" dirty="0"/>
          </a:p>
        </p:txBody>
      </p:sp>
      <p:sp>
        <p:nvSpPr>
          <p:cNvPr id="31" name="Shape 29"/>
          <p:cNvSpPr/>
          <p:nvPr/>
        </p:nvSpPr>
        <p:spPr>
          <a:xfrm>
            <a:off x="6446520" y="1005840"/>
            <a:ext cx="1115568" cy="2286000"/>
          </a:xfrm>
          <a:prstGeom prst="roundRect">
            <a:avLst>
              <a:gd name="adj" fmla="val 6557"/>
            </a:avLst>
          </a:prstGeom>
          <a:solidFill>
            <a:srgbClr val="55C8E8">
              <a:alpha val="80000"/>
            </a:srgbClr>
          </a:solidFill>
          <a:ln w="12700">
            <a:solidFill>
              <a:srgbClr val="55C8E8"/>
            </a:solidFill>
            <a:prstDash val="solid"/>
          </a:ln>
        </p:spPr>
      </p:sp>
      <p:sp>
        <p:nvSpPr>
          <p:cNvPr id="32" name="Shape 30"/>
          <p:cNvSpPr/>
          <p:nvPr/>
        </p:nvSpPr>
        <p:spPr>
          <a:xfrm>
            <a:off x="6446520" y="1005840"/>
            <a:ext cx="1115568" cy="347472"/>
          </a:xfrm>
          <a:prstGeom prst="roundRect">
            <a:avLst>
              <a:gd name="adj" fmla="val 21053"/>
            </a:avLst>
          </a:prstGeom>
          <a:solidFill>
            <a:srgbClr val="55C8E8"/>
          </a:solidFill>
          <a:ln/>
        </p:spPr>
      </p:sp>
      <p:sp>
        <p:nvSpPr>
          <p:cNvPr id="33" name="Text 31"/>
          <p:cNvSpPr/>
          <p:nvPr/>
        </p:nvSpPr>
        <p:spPr>
          <a:xfrm>
            <a:off x="6446520" y="1005840"/>
            <a:ext cx="1115568" cy="347472"/>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2"/>
          <p:cNvSpPr/>
          <p:nvPr/>
        </p:nvSpPr>
        <p:spPr>
          <a:xfrm>
            <a:off x="6492240" y="1408176"/>
            <a:ext cx="1024128" cy="1280160"/>
          </a:xfrm>
          <a:prstGeom prst="rect">
            <a:avLst/>
          </a:prstGeom>
          <a:noFill/>
          <a:ln/>
        </p:spPr>
        <p:txBody>
          <a:bodyPr wrap="square" rtlCol="0" anchor="t"/>
          <a:lstStyle/>
          <a:p>
            <a:pPr algn="ctr" indent="0" marL="0">
              <a:buNone/>
            </a:pPr>
            <a:r>
              <a:rPr lang="en-US" sz="1000" b="1" dirty="0">
                <a:solidFill>
                  <a:srgbClr val="FFFFFF"/>
                </a:solidFill>
                <a:latin typeface="Calibri" pitchFamily="34" charset="0"/>
                <a:ea typeface="Calibri" pitchFamily="34" charset="-122"/>
                <a:cs typeface="Calibri" pitchFamily="34" charset="-120"/>
              </a:rPr>
              <a:t>Civil War &amp; Reconstruction</a:t>
            </a:r>
            <a:endParaRPr lang="en-US" sz="1000" dirty="0"/>
          </a:p>
        </p:txBody>
      </p:sp>
      <p:sp>
        <p:nvSpPr>
          <p:cNvPr id="35" name="Text 33"/>
          <p:cNvSpPr/>
          <p:nvPr/>
        </p:nvSpPr>
        <p:spPr>
          <a:xfrm>
            <a:off x="6492240" y="2651760"/>
            <a:ext cx="1024128" cy="365760"/>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1861–1877</a:t>
            </a:r>
            <a:endParaRPr lang="en-US" sz="900" dirty="0"/>
          </a:p>
        </p:txBody>
      </p:sp>
      <p:sp>
        <p:nvSpPr>
          <p:cNvPr id="36" name="Shape 34"/>
          <p:cNvSpPr/>
          <p:nvPr/>
        </p:nvSpPr>
        <p:spPr>
          <a:xfrm>
            <a:off x="7680960" y="1005840"/>
            <a:ext cx="1115568" cy="2286000"/>
          </a:xfrm>
          <a:prstGeom prst="roundRect">
            <a:avLst>
              <a:gd name="adj" fmla="val 6557"/>
            </a:avLst>
          </a:prstGeom>
          <a:solidFill>
            <a:srgbClr val="7A88A8">
              <a:alpha val="80000"/>
            </a:srgbClr>
          </a:solidFill>
          <a:ln w="12700">
            <a:solidFill>
              <a:srgbClr val="7A88A8"/>
            </a:solidFill>
            <a:prstDash val="solid"/>
          </a:ln>
        </p:spPr>
      </p:sp>
      <p:sp>
        <p:nvSpPr>
          <p:cNvPr id="37" name="Shape 35"/>
          <p:cNvSpPr/>
          <p:nvPr/>
        </p:nvSpPr>
        <p:spPr>
          <a:xfrm>
            <a:off x="7680960" y="1005840"/>
            <a:ext cx="1115568" cy="347472"/>
          </a:xfrm>
          <a:prstGeom prst="roundRect">
            <a:avLst>
              <a:gd name="adj" fmla="val 21053"/>
            </a:avLst>
          </a:prstGeom>
          <a:solidFill>
            <a:srgbClr val="7A88A8"/>
          </a:solidFill>
          <a:ln/>
        </p:spPr>
      </p:sp>
      <p:sp>
        <p:nvSpPr>
          <p:cNvPr id="38" name="Text 36"/>
          <p:cNvSpPr/>
          <p:nvPr/>
        </p:nvSpPr>
        <p:spPr>
          <a:xfrm>
            <a:off x="7680960" y="1005840"/>
            <a:ext cx="1115568" cy="347472"/>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39" name="Text 37"/>
          <p:cNvSpPr/>
          <p:nvPr/>
        </p:nvSpPr>
        <p:spPr>
          <a:xfrm>
            <a:off x="7726680" y="1408176"/>
            <a:ext cx="1024128" cy="1280160"/>
          </a:xfrm>
          <a:prstGeom prst="rect">
            <a:avLst/>
          </a:prstGeom>
          <a:noFill/>
          <a:ln/>
        </p:spPr>
        <p:txBody>
          <a:bodyPr wrap="square" rtlCol="0" anchor="t"/>
          <a:lstStyle/>
          <a:p>
            <a:pPr algn="ctr" indent="0" marL="0">
              <a:buNone/>
            </a:pPr>
            <a:r>
              <a:rPr lang="en-US" sz="1000" b="1" dirty="0">
                <a:solidFill>
                  <a:srgbClr val="FFFFFF"/>
                </a:solidFill>
                <a:latin typeface="Calibri" pitchFamily="34" charset="0"/>
                <a:ea typeface="Calibri" pitchFamily="34" charset="-122"/>
                <a:cs typeface="Calibri" pitchFamily="34" charset="-120"/>
              </a:rPr>
              <a:t>Modern Era</a:t>
            </a:r>
            <a:endParaRPr lang="en-US" sz="1000" dirty="0"/>
          </a:p>
        </p:txBody>
      </p:sp>
      <p:sp>
        <p:nvSpPr>
          <p:cNvPr id="40" name="Text 38"/>
          <p:cNvSpPr/>
          <p:nvPr/>
        </p:nvSpPr>
        <p:spPr>
          <a:xfrm>
            <a:off x="7726680" y="2651760"/>
            <a:ext cx="1024128" cy="365760"/>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1877–present</a:t>
            </a:r>
            <a:endParaRPr lang="en-US" sz="900" dirty="0"/>
          </a:p>
        </p:txBody>
      </p:sp>
      <p:sp>
        <p:nvSpPr>
          <p:cNvPr id="41" name="Shape 39"/>
          <p:cNvSpPr/>
          <p:nvPr/>
        </p:nvSpPr>
        <p:spPr>
          <a:xfrm>
            <a:off x="365760" y="4041648"/>
            <a:ext cx="8412480" cy="731520"/>
          </a:xfrm>
          <a:prstGeom prst="roundRect">
            <a:avLst>
              <a:gd name="adj" fmla="val 10000"/>
            </a:avLst>
          </a:prstGeom>
          <a:solidFill>
            <a:srgbClr val="1A2D5A"/>
          </a:solidFill>
          <a:ln w="12700">
            <a:solidFill>
              <a:srgbClr val="D4943A"/>
            </a:solidFill>
            <a:prstDash val="solid"/>
          </a:ln>
        </p:spPr>
      </p:sp>
      <p:sp>
        <p:nvSpPr>
          <p:cNvPr id="42" name="Text 40"/>
          <p:cNvSpPr/>
          <p:nvPr/>
        </p:nvSpPr>
        <p:spPr>
          <a:xfrm>
            <a:off x="548640" y="4078224"/>
            <a:ext cx="8046720" cy="274320"/>
          </a:xfrm>
          <a:prstGeom prst="rect">
            <a:avLst/>
          </a:prstGeom>
          <a:noFill/>
          <a:ln/>
        </p:spPr>
        <p:txBody>
          <a:bodyPr wrap="square" rtlCol="0" anchor="ctr"/>
          <a:lstStyle/>
          <a:p>
            <a:pPr indent="0" marL="0">
              <a:buNone/>
            </a:pPr>
            <a:r>
              <a:rPr lang="en-US" sz="1300" b="1" dirty="0">
                <a:solidFill>
                  <a:srgbClr val="D4943A"/>
                </a:solidFill>
                <a:latin typeface="Cambria" pitchFamily="34" charset="0"/>
                <a:ea typeface="Cambria" pitchFamily="34" charset="-122"/>
                <a:cs typeface="Cambria" pitchFamily="34" charset="-120"/>
              </a:rPr>
              <a:t>The DATES aren't the point — the SHAPE is the point.</a:t>
            </a:r>
            <a:endParaRPr lang="en-US" sz="1300" dirty="0"/>
          </a:p>
        </p:txBody>
      </p:sp>
      <p:sp>
        <p:nvSpPr>
          <p:cNvPr id="43" name="Text 41"/>
          <p:cNvSpPr/>
          <p:nvPr/>
        </p:nvSpPr>
        <p:spPr>
          <a:xfrm>
            <a:off x="548640" y="4352544"/>
            <a:ext cx="8046720" cy="320040"/>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A long, slow colonial stretch. A sudden burst around 1776. A nation tested, then rebuilt. Periods help historians see that shape.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1A8A7D"/>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Timeline as Primary Source</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When the timeline itself WAS the document</a:t>
            </a:r>
            <a:endParaRPr lang="en-US" sz="1050" dirty="0"/>
          </a:p>
        </p:txBody>
      </p:sp>
      <p:sp>
        <p:nvSpPr>
          <p:cNvPr id="7" name="Shape 5"/>
          <p:cNvSpPr/>
          <p:nvPr/>
        </p:nvSpPr>
        <p:spPr>
          <a:xfrm>
            <a:off x="365760" y="822960"/>
            <a:ext cx="8412480" cy="749808"/>
          </a:xfrm>
          <a:prstGeom prst="roundRect">
            <a:avLst>
              <a:gd name="adj" fmla="val 12195"/>
            </a:avLst>
          </a:prstGeom>
          <a:solidFill>
            <a:srgbClr val="1A8A7D"/>
          </a:solidFill>
          <a:ln/>
        </p:spPr>
      </p:sp>
      <p:sp>
        <p:nvSpPr>
          <p:cNvPr id="8" name="Text 6"/>
          <p:cNvSpPr/>
          <p:nvPr/>
        </p:nvSpPr>
        <p:spPr>
          <a:xfrm>
            <a:off x="548640" y="850392"/>
            <a:ext cx="3657600" cy="237744"/>
          </a:xfrm>
          <a:prstGeom prst="rect">
            <a:avLst/>
          </a:prstGeom>
          <a:noFill/>
          <a:ln/>
        </p:spPr>
        <p:txBody>
          <a:bodyPr wrap="square"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TYPE A  —  Primary Source</a:t>
            </a:r>
            <a:endParaRPr lang="en-US" sz="1000" dirty="0"/>
          </a:p>
        </p:txBody>
      </p:sp>
      <p:sp>
        <p:nvSpPr>
          <p:cNvPr id="9" name="Text 7"/>
          <p:cNvSpPr/>
          <p:nvPr/>
        </p:nvSpPr>
        <p:spPr>
          <a:xfrm>
            <a:off x="548640" y="1097280"/>
            <a:ext cx="8046720" cy="420624"/>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A timeline IS a primary source when it was made at the time — by someone living through those events.</a:t>
            </a:r>
            <a:endParaRPr lang="en-US" sz="1350" dirty="0"/>
          </a:p>
        </p:txBody>
      </p:sp>
      <p:sp>
        <p:nvSpPr>
          <p:cNvPr id="10" name="Shape 8"/>
          <p:cNvSpPr/>
          <p:nvPr/>
        </p:nvSpPr>
        <p:spPr>
          <a:xfrm>
            <a:off x="365760" y="1700784"/>
            <a:ext cx="8412480" cy="822960"/>
          </a:xfrm>
          <a:prstGeom prst="roundRect">
            <a:avLst>
              <a:gd name="adj" fmla="val 8889"/>
            </a:avLst>
          </a:prstGeom>
          <a:solidFill>
            <a:srgbClr val="FFFFFF"/>
          </a:solidFill>
          <a:ln w="12700">
            <a:solidFill>
              <a:srgbClr val="B0CCBB"/>
            </a:solidFill>
            <a:prstDash val="solid"/>
          </a:ln>
        </p:spPr>
      </p:sp>
      <p:sp>
        <p:nvSpPr>
          <p:cNvPr id="11" name="Text 9"/>
          <p:cNvSpPr/>
          <p:nvPr/>
        </p:nvSpPr>
        <p:spPr>
          <a:xfrm>
            <a:off x="502920" y="1792224"/>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1143000" y="1773936"/>
            <a:ext cx="7315200" cy="274320"/>
          </a:xfrm>
          <a:prstGeom prst="rect">
            <a:avLst/>
          </a:prstGeom>
          <a:noFill/>
          <a:ln/>
        </p:spPr>
        <p:txBody>
          <a:bodyPr wrap="square"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An almanac printed in 1860</a:t>
            </a:r>
            <a:endParaRPr lang="en-US" sz="1300" dirty="0"/>
          </a:p>
        </p:txBody>
      </p:sp>
      <p:sp>
        <p:nvSpPr>
          <p:cNvPr id="13" name="Text 11"/>
          <p:cNvSpPr/>
          <p:nvPr/>
        </p:nvSpPr>
        <p:spPr>
          <a:xfrm>
            <a:off x="1143000" y="2066544"/>
            <a:ext cx="7315200" cy="384048"/>
          </a:xfrm>
          <a:prstGeom prst="rect">
            <a:avLst/>
          </a:prstGeom>
          <a:noFill/>
          <a:ln/>
        </p:spPr>
        <p:txBody>
          <a:bodyPr wrap="square" rtlCol="0" anchor="ctr"/>
          <a:lstStyle/>
          <a:p>
            <a:pPr indent="0" marL="0">
              <a:buNone/>
            </a:pPr>
            <a:r>
              <a:rPr lang="en-US" sz="1200" dirty="0">
                <a:solidFill>
                  <a:srgbClr val="3A4A5A"/>
                </a:solidFill>
                <a:latin typeface="Calibri" pitchFamily="34" charset="0"/>
                <a:ea typeface="Calibri" pitchFamily="34" charset="-122"/>
                <a:cs typeface="Calibri" pitchFamily="34" charset="-120"/>
              </a:rPr>
              <a:t>listing 'Epochs to Date' — the author was living through that era and chose what mattered enough to include.</a:t>
            </a:r>
            <a:endParaRPr lang="en-US" sz="1200" dirty="0"/>
          </a:p>
        </p:txBody>
      </p:sp>
      <p:sp>
        <p:nvSpPr>
          <p:cNvPr id="14" name="Shape 12"/>
          <p:cNvSpPr/>
          <p:nvPr/>
        </p:nvSpPr>
        <p:spPr>
          <a:xfrm>
            <a:off x="365760" y="2633472"/>
            <a:ext cx="8412480" cy="822960"/>
          </a:xfrm>
          <a:prstGeom prst="roundRect">
            <a:avLst>
              <a:gd name="adj" fmla="val 8889"/>
            </a:avLst>
          </a:prstGeom>
          <a:solidFill>
            <a:srgbClr val="FFFFFF"/>
          </a:solidFill>
          <a:ln w="12700">
            <a:solidFill>
              <a:srgbClr val="B0CCBB"/>
            </a:solidFill>
            <a:prstDash val="solid"/>
          </a:ln>
        </p:spPr>
      </p:sp>
      <p:sp>
        <p:nvSpPr>
          <p:cNvPr id="15" name="Text 13"/>
          <p:cNvSpPr/>
          <p:nvPr/>
        </p:nvSpPr>
        <p:spPr>
          <a:xfrm>
            <a:off x="502920" y="2724912"/>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1143000" y="2706624"/>
            <a:ext cx="7315200" cy="274320"/>
          </a:xfrm>
          <a:prstGeom prst="rect">
            <a:avLst/>
          </a:prstGeom>
          <a:noFill/>
          <a:ln/>
        </p:spPr>
        <p:txBody>
          <a:bodyPr wrap="square"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A family Bible's dates</a:t>
            </a:r>
            <a:endParaRPr lang="en-US" sz="1300" dirty="0"/>
          </a:p>
        </p:txBody>
      </p:sp>
      <p:sp>
        <p:nvSpPr>
          <p:cNvPr id="17" name="Text 15"/>
          <p:cNvSpPr/>
          <p:nvPr/>
        </p:nvSpPr>
        <p:spPr>
          <a:xfrm>
            <a:off x="1143000" y="2999232"/>
            <a:ext cx="7315200" cy="384048"/>
          </a:xfrm>
          <a:prstGeom prst="rect">
            <a:avLst/>
          </a:prstGeom>
          <a:noFill/>
          <a:ln/>
        </p:spPr>
        <p:txBody>
          <a:bodyPr wrap="square" rtlCol="0" anchor="ctr"/>
          <a:lstStyle/>
          <a:p>
            <a:pPr indent="0" marL="0">
              <a:buNone/>
            </a:pPr>
            <a:r>
              <a:rPr lang="en-US" sz="1200" dirty="0">
                <a:solidFill>
                  <a:srgbClr val="3A4A5A"/>
                </a:solidFill>
                <a:latin typeface="Calibri" pitchFamily="34" charset="0"/>
                <a:ea typeface="Calibri" pitchFamily="34" charset="-122"/>
                <a:cs typeface="Calibri" pitchFamily="34" charset="-120"/>
              </a:rPr>
              <a:t>recording births and deaths — a personal record made as events happened.</a:t>
            </a:r>
            <a:endParaRPr lang="en-US" sz="1200" dirty="0"/>
          </a:p>
        </p:txBody>
      </p:sp>
      <p:sp>
        <p:nvSpPr>
          <p:cNvPr id="18" name="Shape 16"/>
          <p:cNvSpPr/>
          <p:nvPr/>
        </p:nvSpPr>
        <p:spPr>
          <a:xfrm>
            <a:off x="365760" y="3566160"/>
            <a:ext cx="8412480" cy="822960"/>
          </a:xfrm>
          <a:prstGeom prst="roundRect">
            <a:avLst>
              <a:gd name="adj" fmla="val 8889"/>
            </a:avLst>
          </a:prstGeom>
          <a:solidFill>
            <a:srgbClr val="FFFFFF"/>
          </a:solidFill>
          <a:ln w="12700">
            <a:solidFill>
              <a:srgbClr val="B0CCBB"/>
            </a:solidFill>
            <a:prstDash val="solid"/>
          </a:ln>
        </p:spPr>
      </p:sp>
      <p:sp>
        <p:nvSpPr>
          <p:cNvPr id="19" name="Text 17"/>
          <p:cNvSpPr/>
          <p:nvPr/>
        </p:nvSpPr>
        <p:spPr>
          <a:xfrm>
            <a:off x="502920" y="3657600"/>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1143000" y="3639312"/>
            <a:ext cx="7315200" cy="274320"/>
          </a:xfrm>
          <a:prstGeom prst="rect">
            <a:avLst/>
          </a:prstGeom>
          <a:noFill/>
          <a:ln/>
        </p:spPr>
        <p:txBody>
          <a:bodyPr wrap="square"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A Revolutionary-era pamphlet</a:t>
            </a:r>
            <a:endParaRPr lang="en-US" sz="1300" dirty="0"/>
          </a:p>
        </p:txBody>
      </p:sp>
      <p:sp>
        <p:nvSpPr>
          <p:cNvPr id="21" name="Text 19"/>
          <p:cNvSpPr/>
          <p:nvPr/>
        </p:nvSpPr>
        <p:spPr>
          <a:xfrm>
            <a:off x="1143000" y="3931920"/>
            <a:ext cx="7315200" cy="384048"/>
          </a:xfrm>
          <a:prstGeom prst="rect">
            <a:avLst/>
          </a:prstGeom>
          <a:noFill/>
          <a:ln/>
        </p:spPr>
        <p:txBody>
          <a:bodyPr wrap="square" rtlCol="0" anchor="ctr"/>
          <a:lstStyle/>
          <a:p>
            <a:pPr indent="0" marL="0">
              <a:buNone/>
            </a:pPr>
            <a:r>
              <a:rPr lang="en-US" sz="1200" dirty="0">
                <a:solidFill>
                  <a:srgbClr val="3A4A5A"/>
                </a:solidFill>
                <a:latin typeface="Calibri" pitchFamily="34" charset="0"/>
                <a:ea typeface="Calibri" pitchFamily="34" charset="-122"/>
                <a:cs typeface="Calibri" pitchFamily="34" charset="-120"/>
              </a:rPr>
              <a:t>'Calendar of Events' — created by someone inside the Revolution, not looking back at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8B6FC0"/>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Timeline as Secondary Source</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When a historian built it from primary sources</a:t>
            </a:r>
            <a:endParaRPr lang="en-US" sz="1050" dirty="0"/>
          </a:p>
        </p:txBody>
      </p:sp>
      <p:sp>
        <p:nvSpPr>
          <p:cNvPr id="7" name="Shape 5"/>
          <p:cNvSpPr/>
          <p:nvPr/>
        </p:nvSpPr>
        <p:spPr>
          <a:xfrm>
            <a:off x="365760" y="822960"/>
            <a:ext cx="8412480" cy="749808"/>
          </a:xfrm>
          <a:prstGeom prst="roundRect">
            <a:avLst>
              <a:gd name="adj" fmla="val 12195"/>
            </a:avLst>
          </a:prstGeom>
          <a:solidFill>
            <a:srgbClr val="8B6FC0"/>
          </a:solidFill>
          <a:ln/>
        </p:spPr>
      </p:sp>
      <p:sp>
        <p:nvSpPr>
          <p:cNvPr id="8" name="Text 6"/>
          <p:cNvSpPr/>
          <p:nvPr/>
        </p:nvSpPr>
        <p:spPr>
          <a:xfrm>
            <a:off x="548640" y="850392"/>
            <a:ext cx="3657600" cy="237744"/>
          </a:xfrm>
          <a:prstGeom prst="rect">
            <a:avLst/>
          </a:prstGeom>
          <a:noFill/>
          <a:ln/>
        </p:spPr>
        <p:txBody>
          <a:bodyPr wrap="square"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TYPE B  —  Secondary Source</a:t>
            </a:r>
            <a:endParaRPr lang="en-US" sz="1000" dirty="0"/>
          </a:p>
        </p:txBody>
      </p:sp>
      <p:sp>
        <p:nvSpPr>
          <p:cNvPr id="9" name="Text 7"/>
          <p:cNvSpPr/>
          <p:nvPr/>
        </p:nvSpPr>
        <p:spPr>
          <a:xfrm>
            <a:off x="548640" y="1097280"/>
            <a:ext cx="8046720" cy="420624"/>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A timeline is a secondary source when later historians built it from many primary sources to help interpret the past.</a:t>
            </a:r>
            <a:endParaRPr lang="en-US" sz="1350" dirty="0"/>
          </a:p>
        </p:txBody>
      </p:sp>
      <p:sp>
        <p:nvSpPr>
          <p:cNvPr id="10" name="Shape 8"/>
          <p:cNvSpPr/>
          <p:nvPr/>
        </p:nvSpPr>
        <p:spPr>
          <a:xfrm>
            <a:off x="365760" y="1700784"/>
            <a:ext cx="8412480" cy="822960"/>
          </a:xfrm>
          <a:prstGeom prst="roundRect">
            <a:avLst>
              <a:gd name="adj" fmla="val 8889"/>
            </a:avLst>
          </a:prstGeom>
          <a:solidFill>
            <a:srgbClr val="FFFFFF"/>
          </a:solidFill>
          <a:ln w="12700">
            <a:solidFill>
              <a:srgbClr val="C0B0D8"/>
            </a:solidFill>
            <a:prstDash val="solid"/>
          </a:ln>
        </p:spPr>
      </p:sp>
      <p:sp>
        <p:nvSpPr>
          <p:cNvPr id="11" name="Text 9"/>
          <p:cNvSpPr/>
          <p:nvPr/>
        </p:nvSpPr>
        <p:spPr>
          <a:xfrm>
            <a:off x="502920" y="1792224"/>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1143000" y="1773936"/>
            <a:ext cx="7315200" cy="274320"/>
          </a:xfrm>
          <a:prstGeom prst="rect">
            <a:avLst/>
          </a:prstGeom>
          <a:noFill/>
          <a:ln/>
        </p:spPr>
        <p:txBody>
          <a:bodyPr wrap="square"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A modern textbook chart of the seven periods</a:t>
            </a:r>
            <a:endParaRPr lang="en-US" sz="1300" dirty="0"/>
          </a:p>
        </p:txBody>
      </p:sp>
      <p:sp>
        <p:nvSpPr>
          <p:cNvPr id="13" name="Text 11"/>
          <p:cNvSpPr/>
          <p:nvPr/>
        </p:nvSpPr>
        <p:spPr>
          <a:xfrm>
            <a:off x="1143000" y="2066544"/>
            <a:ext cx="7315200" cy="384048"/>
          </a:xfrm>
          <a:prstGeom prst="rect">
            <a:avLst/>
          </a:prstGeom>
          <a:noFill/>
          <a:ln/>
        </p:spPr>
        <p:txBody>
          <a:bodyPr wrap="square" rtlCol="0" anchor="ctr"/>
          <a:lstStyle/>
          <a:p>
            <a:pPr indent="0" marL="0">
              <a:buNone/>
            </a:pPr>
            <a:r>
              <a:rPr lang="en-US" sz="1200" dirty="0">
                <a:solidFill>
                  <a:srgbClr val="3A4A5A"/>
                </a:solidFill>
                <a:latin typeface="Calibri" pitchFamily="34" charset="0"/>
                <a:ea typeface="Calibri" pitchFamily="34" charset="-122"/>
                <a:cs typeface="Calibri" pitchFamily="34" charset="-120"/>
              </a:rPr>
              <a:t>A historian looked back at centuries of events and decided how to group them.</a:t>
            </a:r>
            <a:endParaRPr lang="en-US" sz="1200" dirty="0"/>
          </a:p>
        </p:txBody>
      </p:sp>
      <p:sp>
        <p:nvSpPr>
          <p:cNvPr id="14" name="Shape 12"/>
          <p:cNvSpPr/>
          <p:nvPr/>
        </p:nvSpPr>
        <p:spPr>
          <a:xfrm>
            <a:off x="365760" y="2633472"/>
            <a:ext cx="8412480" cy="822960"/>
          </a:xfrm>
          <a:prstGeom prst="roundRect">
            <a:avLst>
              <a:gd name="adj" fmla="val 8889"/>
            </a:avLst>
          </a:prstGeom>
          <a:solidFill>
            <a:srgbClr val="FFFFFF"/>
          </a:solidFill>
          <a:ln w="12700">
            <a:solidFill>
              <a:srgbClr val="C0B0D8"/>
            </a:solidFill>
            <a:prstDash val="solid"/>
          </a:ln>
        </p:spPr>
      </p:sp>
      <p:sp>
        <p:nvSpPr>
          <p:cNvPr id="15" name="Text 13"/>
          <p:cNvSpPr/>
          <p:nvPr/>
        </p:nvSpPr>
        <p:spPr>
          <a:xfrm>
            <a:off x="502920" y="2724912"/>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1143000" y="2706624"/>
            <a:ext cx="7315200" cy="274320"/>
          </a:xfrm>
          <a:prstGeom prst="rect">
            <a:avLst/>
          </a:prstGeom>
          <a:noFill/>
          <a:ln/>
        </p:spPr>
        <p:txBody>
          <a:bodyPr wrap="square"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A museum wall timeline</a:t>
            </a:r>
            <a:endParaRPr lang="en-US" sz="1300" dirty="0"/>
          </a:p>
        </p:txBody>
      </p:sp>
      <p:sp>
        <p:nvSpPr>
          <p:cNvPr id="17" name="Text 15"/>
          <p:cNvSpPr/>
          <p:nvPr/>
        </p:nvSpPr>
        <p:spPr>
          <a:xfrm>
            <a:off x="1143000" y="2999232"/>
            <a:ext cx="7315200" cy="384048"/>
          </a:xfrm>
          <a:prstGeom prst="rect">
            <a:avLst/>
          </a:prstGeom>
          <a:noFill/>
          <a:ln/>
        </p:spPr>
        <p:txBody>
          <a:bodyPr wrap="square" rtlCol="0" anchor="ctr"/>
          <a:lstStyle/>
          <a:p>
            <a:pPr indent="0" marL="0">
              <a:buNone/>
            </a:pPr>
            <a:r>
              <a:rPr lang="en-US" sz="1200" dirty="0">
                <a:solidFill>
                  <a:srgbClr val="3A4A5A"/>
                </a:solidFill>
                <a:latin typeface="Calibri" pitchFamily="34" charset="0"/>
                <a:ea typeface="Calibri" pitchFamily="34" charset="-122"/>
                <a:cs typeface="Calibri" pitchFamily="34" charset="-120"/>
              </a:rPr>
              <a:t>Curators chose which events to include, how to label periods, and what to emphasize.</a:t>
            </a:r>
            <a:endParaRPr lang="en-US" sz="1200" dirty="0"/>
          </a:p>
        </p:txBody>
      </p:sp>
      <p:sp>
        <p:nvSpPr>
          <p:cNvPr id="18" name="Shape 16"/>
          <p:cNvSpPr/>
          <p:nvPr/>
        </p:nvSpPr>
        <p:spPr>
          <a:xfrm>
            <a:off x="365760" y="3566160"/>
            <a:ext cx="8412480" cy="822960"/>
          </a:xfrm>
          <a:prstGeom prst="roundRect">
            <a:avLst>
              <a:gd name="adj" fmla="val 8889"/>
            </a:avLst>
          </a:prstGeom>
          <a:solidFill>
            <a:srgbClr val="FFFFFF"/>
          </a:solidFill>
          <a:ln w="12700">
            <a:solidFill>
              <a:srgbClr val="C0B0D8"/>
            </a:solidFill>
            <a:prstDash val="solid"/>
          </a:ln>
        </p:spPr>
      </p:sp>
      <p:sp>
        <p:nvSpPr>
          <p:cNvPr id="19" name="Text 17"/>
          <p:cNvSpPr/>
          <p:nvPr/>
        </p:nvSpPr>
        <p:spPr>
          <a:xfrm>
            <a:off x="502920" y="3657600"/>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1143000" y="3639312"/>
            <a:ext cx="7315200" cy="274320"/>
          </a:xfrm>
          <a:prstGeom prst="rect">
            <a:avLst/>
          </a:prstGeom>
          <a:noFill/>
          <a:ln/>
        </p:spPr>
        <p:txBody>
          <a:bodyPr wrap="square"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The chart in this very lesson</a:t>
            </a:r>
            <a:endParaRPr lang="en-US" sz="1300" dirty="0"/>
          </a:p>
        </p:txBody>
      </p:sp>
      <p:sp>
        <p:nvSpPr>
          <p:cNvPr id="21" name="Text 19"/>
          <p:cNvSpPr/>
          <p:nvPr/>
        </p:nvSpPr>
        <p:spPr>
          <a:xfrm>
            <a:off x="1143000" y="3931920"/>
            <a:ext cx="7315200" cy="384048"/>
          </a:xfrm>
          <a:prstGeom prst="rect">
            <a:avLst/>
          </a:prstGeom>
          <a:noFill/>
          <a:ln/>
        </p:spPr>
        <p:txBody>
          <a:bodyPr wrap="square" rtlCol="0" anchor="ctr"/>
          <a:lstStyle/>
          <a:p>
            <a:pPr indent="0" marL="0">
              <a:buNone/>
            </a:pPr>
            <a:r>
              <a:rPr lang="en-US" sz="1200" dirty="0">
                <a:solidFill>
                  <a:srgbClr val="3A4A5A"/>
                </a:solidFill>
                <a:latin typeface="Calibri" pitchFamily="34" charset="0"/>
                <a:ea typeface="Calibri" pitchFamily="34" charset="-122"/>
                <a:cs typeface="Calibri" pitchFamily="34" charset="-120"/>
              </a:rPr>
              <a:t>We built it using secondary sources. It's useful — but it reflects choices made long after the events.</a:t>
            </a:r>
            <a:endParaRPr lang="en-US" sz="1200" dirty="0"/>
          </a:p>
        </p:txBody>
      </p:sp>
      <p:sp>
        <p:nvSpPr>
          <p:cNvPr id="22" name="Shape 20"/>
          <p:cNvSpPr/>
          <p:nvPr/>
        </p:nvSpPr>
        <p:spPr>
          <a:xfrm>
            <a:off x="365760" y="4480560"/>
            <a:ext cx="8412480" cy="365760"/>
          </a:xfrm>
          <a:prstGeom prst="roundRect">
            <a:avLst>
              <a:gd name="adj" fmla="val 20000"/>
            </a:avLst>
          </a:prstGeom>
          <a:solidFill>
            <a:srgbClr val="FFF3DC"/>
          </a:solidFill>
          <a:ln w="12700">
            <a:solidFill>
              <a:srgbClr val="F5E6C8"/>
            </a:solidFill>
            <a:prstDash val="solid"/>
          </a:ln>
        </p:spPr>
      </p:sp>
      <p:sp>
        <p:nvSpPr>
          <p:cNvPr id="23" name="Text 21"/>
          <p:cNvSpPr/>
          <p:nvPr/>
        </p:nvSpPr>
        <p:spPr>
          <a:xfrm>
            <a:off x="548640" y="4480560"/>
            <a:ext cx="8046720" cy="365760"/>
          </a:xfrm>
          <a:prstGeom prst="rect">
            <a:avLst/>
          </a:prstGeom>
          <a:noFill/>
          <a:ln/>
        </p:spPr>
        <p:txBody>
          <a:bodyPr wrap="square" rtlCol="0" anchor="ctr"/>
          <a:lstStyle/>
          <a:p>
            <a:pPr indent="0" marL="0">
              <a:buNone/>
            </a:pPr>
            <a:r>
              <a:rPr lang="en-US" sz="1300" b="1" i="1" dirty="0">
                <a:solidFill>
                  <a:srgbClr val="D4943A"/>
                </a:solidFill>
                <a:latin typeface="Cambria" pitchFamily="34" charset="0"/>
                <a:ea typeface="Cambria" pitchFamily="34" charset="-122"/>
                <a:cs typeface="Cambria" pitchFamily="34" charset="-120"/>
              </a:rPr>
              <a:t>Every timeline is an ARGUMENT about which moments mattered — not just a neutral list.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D4943A"/>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Today's Source: An 1860s Schoolbook Timeline</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Source Desk — What does it say? What does it leave out?</a:t>
            </a:r>
            <a:endParaRPr lang="en-US" sz="1050" dirty="0"/>
          </a:p>
        </p:txBody>
      </p:sp>
      <p:sp>
        <p:nvSpPr>
          <p:cNvPr id="7" name="Shape 5"/>
          <p:cNvSpPr/>
          <p:nvPr/>
        </p:nvSpPr>
        <p:spPr>
          <a:xfrm>
            <a:off x="365760" y="841248"/>
            <a:ext cx="8412480" cy="457200"/>
          </a:xfrm>
          <a:prstGeom prst="roundRect">
            <a:avLst>
              <a:gd name="adj" fmla="val 16000"/>
            </a:avLst>
          </a:prstGeom>
          <a:solidFill>
            <a:srgbClr val="1A8A7D">
              <a:alpha val="80000"/>
            </a:srgbClr>
          </a:solidFill>
          <a:ln/>
        </p:spPr>
      </p:sp>
      <p:sp>
        <p:nvSpPr>
          <p:cNvPr id="8" name="Text 6"/>
          <p:cNvSpPr/>
          <p:nvPr/>
        </p:nvSpPr>
        <p:spPr>
          <a:xfrm>
            <a:off x="548640" y="841248"/>
            <a:ext cx="8046720" cy="457200"/>
          </a:xfrm>
          <a:prstGeom prst="rect">
            <a:avLst/>
          </a:prstGeom>
          <a:noFill/>
          <a:ln/>
        </p:spPr>
        <p:txBody>
          <a:bodyPr wrap="square" rtlCol="0" anchor="ctr"/>
          <a:lstStyle/>
          <a:p>
            <a:pPr indent="0" marL="0">
              <a:buNone/>
            </a:pPr>
            <a:r>
              <a:rPr lang="en-US" sz="1250" i="1" dirty="0">
                <a:solidFill>
                  <a:srgbClr val="0E1C42"/>
                </a:solidFill>
                <a:latin typeface="Calibri" pitchFamily="34" charset="0"/>
                <a:ea typeface="Calibri" pitchFamily="34" charset="-122"/>
                <a:cs typeface="Calibri" pitchFamily="34" charset="-120"/>
              </a:rPr>
              <a:t>A page from a school primer printed in the mid-1800s, dividing American history into 'epochs.'</a:t>
            </a:r>
            <a:endParaRPr lang="en-US" sz="1250" dirty="0"/>
          </a:p>
        </p:txBody>
      </p:sp>
      <p:sp>
        <p:nvSpPr>
          <p:cNvPr id="9" name="Shape 7"/>
          <p:cNvSpPr/>
          <p:nvPr/>
        </p:nvSpPr>
        <p:spPr>
          <a:xfrm>
            <a:off x="365760" y="1371600"/>
            <a:ext cx="5029200" cy="3291840"/>
          </a:xfrm>
          <a:prstGeom prst="roundRect">
            <a:avLst>
              <a:gd name="adj" fmla="val 3333"/>
            </a:avLst>
          </a:prstGeom>
          <a:solidFill>
            <a:srgbClr val="E2E8F4"/>
          </a:solidFill>
          <a:ln w="19050">
            <a:solidFill>
              <a:srgbClr val="B0B8CC"/>
            </a:solidFill>
            <a:prstDash val="dash"/>
          </a:ln>
        </p:spPr>
      </p:sp>
      <p:sp>
        <p:nvSpPr>
          <p:cNvPr id="10" name="Text 8"/>
          <p:cNvSpPr/>
          <p:nvPr/>
        </p:nvSpPr>
        <p:spPr>
          <a:xfrm>
            <a:off x="365760" y="1426464"/>
            <a:ext cx="5029200" cy="256032"/>
          </a:xfrm>
          <a:prstGeom prst="rect">
            <a:avLst/>
          </a:prstGeom>
          <a:noFill/>
          <a:ln/>
        </p:spPr>
        <p:txBody>
          <a:bodyPr wrap="square"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502920" y="1700784"/>
            <a:ext cx="4754880" cy="2834640"/>
          </a:xfrm>
          <a:prstGeom prst="rect">
            <a:avLst/>
          </a:prstGeom>
          <a:noFill/>
          <a:ln/>
        </p:spPr>
        <p:txBody>
          <a:bodyPr wrap="square" rtlCol="0" anchor="ctr"/>
          <a:lstStyle/>
          <a:p>
            <a:pPr algn="ctr" indent="0" marL="0">
              <a:buNone/>
            </a:pPr>
            <a:r>
              <a:rPr lang="en-US" sz="1050" i="1" dirty="0">
                <a:solidFill>
                  <a:srgbClr val="7A88A8"/>
                </a:solidFill>
                <a:latin typeface="Calibri" pitchFamily="34" charset="0"/>
                <a:ea typeface="Calibri" pitchFamily="34" charset="-122"/>
                <a:cs typeface="Calibri" pitchFamily="34" charset="-120"/>
              </a:rPr>
              <a:t>Page from a 19th-century American school primer (1840s–1890s) listing 'epochs' of American history.</a:t>
            </a:r>
            <a:endParaRPr lang="en-US" sz="1050" dirty="0"/>
          </a:p>
          <a:p>
            <a:pPr algn="ctr" indent="0" marL="0">
              <a:buNone/>
            </a:pPr>
            <a:r>
              <a:rPr lang="en-US" sz="1050" i="1" dirty="0">
                <a:solidFill>
                  <a:srgbClr val="7A88A8"/>
                </a:solidFill>
                <a:latin typeface="Calibri" pitchFamily="34" charset="0"/>
                <a:ea typeface="Calibri" pitchFamily="34" charset="-122"/>
                <a:cs typeface="Calibri" pitchFamily="34" charset="-120"/>
              </a:rPr>
              <a:t>Options: Goodrich's Pictorial History, Peter Parley's First Book of History, or an Old Farmer's Almanac chronology page.</a:t>
            </a:r>
            <a:endParaRPr lang="en-US" sz="1050" dirty="0"/>
          </a:p>
          <a:p>
            <a:pPr algn="ctr" indent="0" marL="0">
              <a:buNone/>
            </a:pPr>
            <a:r>
              <a:rPr lang="en-US" sz="1050" i="1" dirty="0">
                <a:solidFill>
                  <a:srgbClr val="7A88A8"/>
                </a:solidFill>
                <a:latin typeface="Calibri" pitchFamily="34" charset="0"/>
                <a:ea typeface="Calibri" pitchFamily="34" charset="-122"/>
                <a:cs typeface="Calibri" pitchFamily="34" charset="-120"/>
              </a:rPr>
              <a:t>Search: Library of Congress or Internet Archive — 'school history primer 1850 chronology'</a:t>
            </a:r>
            <a:endParaRPr lang="en-US" sz="1050" dirty="0"/>
          </a:p>
          <a:p>
            <a:pPr algn="ctr" indent="0" marL="0">
              <a:buNone/>
            </a:pPr>
            <a:r>
              <a:rPr lang="en-US" sz="1050" i="1" dirty="0">
                <a:solidFill>
                  <a:srgbClr val="7A88A8"/>
                </a:solidFill>
                <a:latin typeface="Calibri" pitchFamily="34" charset="0"/>
                <a:ea typeface="Calibri" pitchFamily="34" charset="-122"/>
                <a:cs typeface="Calibri" pitchFamily="34" charset="-120"/>
              </a:rPr>
              <a:t>source-5-01-02-epochs-american-history.jpg</a:t>
            </a:r>
            <a:endParaRPr lang="en-US" sz="1050" dirty="0"/>
          </a:p>
        </p:txBody>
      </p:sp>
      <p:sp>
        <p:nvSpPr>
          <p:cNvPr id="12" name="Shape 10"/>
          <p:cNvSpPr/>
          <p:nvPr/>
        </p:nvSpPr>
        <p:spPr>
          <a:xfrm>
            <a:off x="5577840" y="1371600"/>
            <a:ext cx="3200400" cy="3291840"/>
          </a:xfrm>
          <a:prstGeom prst="roundRect">
            <a:avLst>
              <a:gd name="adj" fmla="val 3429"/>
            </a:avLst>
          </a:prstGeom>
          <a:solidFill>
            <a:srgbClr val="1A2D5A"/>
          </a:solidFill>
          <a:ln/>
        </p:spPr>
      </p:sp>
      <p:sp>
        <p:nvSpPr>
          <p:cNvPr id="13" name="Text 11"/>
          <p:cNvSpPr/>
          <p:nvPr/>
        </p:nvSpPr>
        <p:spPr>
          <a:xfrm>
            <a:off x="5715000" y="1435608"/>
            <a:ext cx="2926080" cy="237744"/>
          </a:xfrm>
          <a:prstGeom prst="rect">
            <a:avLst/>
          </a:prstGeom>
          <a:noFill/>
          <a:ln/>
        </p:spPr>
        <p:txBody>
          <a:bodyPr wrap="square"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QUESTION LIKE A HISTORIAN</a:t>
            </a:r>
            <a:endParaRPr lang="en-US" sz="900" dirty="0"/>
          </a:p>
        </p:txBody>
      </p:sp>
      <p:sp>
        <p:nvSpPr>
          <p:cNvPr id="14" name="Shape 12"/>
          <p:cNvSpPr/>
          <p:nvPr/>
        </p:nvSpPr>
        <p:spPr>
          <a:xfrm>
            <a:off x="5715000" y="1737360"/>
            <a:ext cx="2926080" cy="621792"/>
          </a:xfrm>
          <a:prstGeom prst="roundRect">
            <a:avLst>
              <a:gd name="adj" fmla="val 8824"/>
            </a:avLst>
          </a:prstGeom>
          <a:solidFill>
            <a:srgbClr val="0E1C42"/>
          </a:solidFill>
          <a:ln/>
        </p:spPr>
      </p:sp>
      <p:sp>
        <p:nvSpPr>
          <p:cNvPr id="15" name="Shape 13"/>
          <p:cNvSpPr/>
          <p:nvPr/>
        </p:nvSpPr>
        <p:spPr>
          <a:xfrm>
            <a:off x="5715000" y="1737360"/>
            <a:ext cx="2926080" cy="219456"/>
          </a:xfrm>
          <a:prstGeom prst="roundRect">
            <a:avLst>
              <a:gd name="adj" fmla="val 25000"/>
            </a:avLst>
          </a:prstGeom>
          <a:solidFill>
            <a:srgbClr val="1A8A7D"/>
          </a:solidFill>
          <a:ln/>
        </p:spPr>
      </p:sp>
      <p:sp>
        <p:nvSpPr>
          <p:cNvPr id="16" name="Text 14"/>
          <p:cNvSpPr/>
          <p:nvPr/>
        </p:nvSpPr>
        <p:spPr>
          <a:xfrm>
            <a:off x="5779008" y="1737360"/>
            <a:ext cx="2798064"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do I SEE?</a:t>
            </a:r>
            <a:endParaRPr lang="en-US" sz="1000" dirty="0"/>
          </a:p>
        </p:txBody>
      </p:sp>
      <p:sp>
        <p:nvSpPr>
          <p:cNvPr id="17" name="Text 15"/>
          <p:cNvSpPr/>
          <p:nvPr/>
        </p:nvSpPr>
        <p:spPr>
          <a:xfrm>
            <a:off x="5779008" y="1975104"/>
            <a:ext cx="2798064" cy="329184"/>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Students respond...</a:t>
            </a:r>
            <a:endParaRPr lang="en-US" sz="1000" dirty="0"/>
          </a:p>
        </p:txBody>
      </p:sp>
      <p:sp>
        <p:nvSpPr>
          <p:cNvPr id="18" name="Shape 16"/>
          <p:cNvSpPr/>
          <p:nvPr/>
        </p:nvSpPr>
        <p:spPr>
          <a:xfrm>
            <a:off x="5715000" y="2450592"/>
            <a:ext cx="2926080" cy="621792"/>
          </a:xfrm>
          <a:prstGeom prst="roundRect">
            <a:avLst>
              <a:gd name="adj" fmla="val 8824"/>
            </a:avLst>
          </a:prstGeom>
          <a:solidFill>
            <a:srgbClr val="0E1C42"/>
          </a:solidFill>
          <a:ln/>
        </p:spPr>
      </p:sp>
      <p:sp>
        <p:nvSpPr>
          <p:cNvPr id="19" name="Shape 17"/>
          <p:cNvSpPr/>
          <p:nvPr/>
        </p:nvSpPr>
        <p:spPr>
          <a:xfrm>
            <a:off x="5715000" y="2450592"/>
            <a:ext cx="2926080" cy="219456"/>
          </a:xfrm>
          <a:prstGeom prst="roundRect">
            <a:avLst>
              <a:gd name="adj" fmla="val 25000"/>
            </a:avLst>
          </a:prstGeom>
          <a:solidFill>
            <a:srgbClr val="8B6FC0"/>
          </a:solidFill>
          <a:ln/>
        </p:spPr>
      </p:sp>
      <p:sp>
        <p:nvSpPr>
          <p:cNvPr id="20" name="Text 18"/>
          <p:cNvSpPr/>
          <p:nvPr/>
        </p:nvSpPr>
        <p:spPr>
          <a:xfrm>
            <a:off x="5779008" y="2450592"/>
            <a:ext cx="2798064"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does it MEAN?</a:t>
            </a:r>
            <a:endParaRPr lang="en-US" sz="1000" dirty="0"/>
          </a:p>
        </p:txBody>
      </p:sp>
      <p:sp>
        <p:nvSpPr>
          <p:cNvPr id="21" name="Text 19"/>
          <p:cNvSpPr/>
          <p:nvPr/>
        </p:nvSpPr>
        <p:spPr>
          <a:xfrm>
            <a:off x="5779008" y="2688336"/>
            <a:ext cx="2798064" cy="329184"/>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Students respond...</a:t>
            </a:r>
            <a:endParaRPr lang="en-US" sz="1000" dirty="0"/>
          </a:p>
        </p:txBody>
      </p:sp>
      <p:sp>
        <p:nvSpPr>
          <p:cNvPr id="22" name="Shape 20"/>
          <p:cNvSpPr/>
          <p:nvPr/>
        </p:nvSpPr>
        <p:spPr>
          <a:xfrm>
            <a:off x="5715000" y="3163824"/>
            <a:ext cx="2926080" cy="621792"/>
          </a:xfrm>
          <a:prstGeom prst="roundRect">
            <a:avLst>
              <a:gd name="adj" fmla="val 8824"/>
            </a:avLst>
          </a:prstGeom>
          <a:solidFill>
            <a:srgbClr val="0E1C42"/>
          </a:solidFill>
          <a:ln/>
        </p:spPr>
      </p:sp>
      <p:sp>
        <p:nvSpPr>
          <p:cNvPr id="23" name="Shape 21"/>
          <p:cNvSpPr/>
          <p:nvPr/>
        </p:nvSpPr>
        <p:spPr>
          <a:xfrm>
            <a:off x="5715000" y="3163824"/>
            <a:ext cx="2926080" cy="219456"/>
          </a:xfrm>
          <a:prstGeom prst="roundRect">
            <a:avLst>
              <a:gd name="adj" fmla="val 25000"/>
            </a:avLst>
          </a:prstGeom>
          <a:solidFill>
            <a:srgbClr val="D4943A"/>
          </a:solidFill>
          <a:ln/>
        </p:spPr>
      </p:sp>
      <p:sp>
        <p:nvSpPr>
          <p:cNvPr id="24" name="Text 22"/>
          <p:cNvSpPr/>
          <p:nvPr/>
        </p:nvSpPr>
        <p:spPr>
          <a:xfrm>
            <a:off x="5779008" y="3163824"/>
            <a:ext cx="2798064"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Why does it MATTER?</a:t>
            </a:r>
            <a:endParaRPr lang="en-US" sz="1000" dirty="0"/>
          </a:p>
        </p:txBody>
      </p:sp>
      <p:sp>
        <p:nvSpPr>
          <p:cNvPr id="25" name="Text 23"/>
          <p:cNvSpPr/>
          <p:nvPr/>
        </p:nvSpPr>
        <p:spPr>
          <a:xfrm>
            <a:off x="5779008" y="3401568"/>
            <a:ext cx="2798064" cy="329184"/>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Students respond...</a:t>
            </a:r>
            <a:endParaRPr lang="en-US" sz="1000" dirty="0"/>
          </a:p>
        </p:txBody>
      </p:sp>
      <p:sp>
        <p:nvSpPr>
          <p:cNvPr id="26" name="Shape 24"/>
          <p:cNvSpPr/>
          <p:nvPr/>
        </p:nvSpPr>
        <p:spPr>
          <a:xfrm>
            <a:off x="5715000" y="3877056"/>
            <a:ext cx="2926080" cy="621792"/>
          </a:xfrm>
          <a:prstGeom prst="roundRect">
            <a:avLst>
              <a:gd name="adj" fmla="val 8824"/>
            </a:avLst>
          </a:prstGeom>
          <a:solidFill>
            <a:srgbClr val="0E1C42"/>
          </a:solidFill>
          <a:ln/>
        </p:spPr>
      </p:sp>
      <p:sp>
        <p:nvSpPr>
          <p:cNvPr id="27" name="Shape 25"/>
          <p:cNvSpPr/>
          <p:nvPr/>
        </p:nvSpPr>
        <p:spPr>
          <a:xfrm>
            <a:off x="5715000" y="3877056"/>
            <a:ext cx="2926080" cy="219456"/>
          </a:xfrm>
          <a:prstGeom prst="roundRect">
            <a:avLst>
              <a:gd name="adj" fmla="val 25000"/>
            </a:avLst>
          </a:prstGeom>
          <a:solidFill>
            <a:srgbClr val="E8636B"/>
          </a:solidFill>
          <a:ln/>
        </p:spPr>
      </p:sp>
      <p:sp>
        <p:nvSpPr>
          <p:cNvPr id="28" name="Text 26"/>
          <p:cNvSpPr/>
          <p:nvPr/>
        </p:nvSpPr>
        <p:spPr>
          <a:xfrm>
            <a:off x="5779008" y="3877056"/>
            <a:ext cx="2798064"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BONUS: What does it LEAVE OUT? (Think: when was it made?)</a:t>
            </a:r>
            <a:endParaRPr lang="en-US" sz="1000" dirty="0"/>
          </a:p>
        </p:txBody>
      </p:sp>
      <p:sp>
        <p:nvSpPr>
          <p:cNvPr id="29" name="Text 27"/>
          <p:cNvSpPr/>
          <p:nvPr/>
        </p:nvSpPr>
        <p:spPr>
          <a:xfrm>
            <a:off x="5779008" y="4114800"/>
            <a:ext cx="2798064" cy="329184"/>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Students respond...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54864"/>
          </a:xfrm>
          <a:prstGeom prst="rect">
            <a:avLst/>
          </a:prstGeom>
          <a:solidFill>
            <a:srgbClr val="55C8E8"/>
          </a:solidFill>
          <a:ln/>
        </p:spPr>
      </p:sp>
      <p:sp>
        <p:nvSpPr>
          <p:cNvPr id="4" name="Text 2"/>
          <p:cNvSpPr/>
          <p:nvPr/>
        </p:nvSpPr>
        <p:spPr>
          <a:xfrm>
            <a:off x="365760" y="109728"/>
            <a:ext cx="841248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What the Source Reveals — and What It Leaves Out</a:t>
            </a:r>
            <a:endParaRPr lang="en-US" sz="2200" dirty="0"/>
          </a:p>
        </p:txBody>
      </p:sp>
      <p:sp>
        <p:nvSpPr>
          <p:cNvPr id="5" name="Text 3"/>
          <p:cNvSpPr/>
          <p:nvPr/>
        </p:nvSpPr>
        <p:spPr>
          <a:xfrm>
            <a:off x="365760" y="658368"/>
            <a:ext cx="8412480" cy="274320"/>
          </a:xfrm>
          <a:prstGeom prst="rect">
            <a:avLst/>
          </a:prstGeom>
          <a:noFill/>
          <a:ln/>
        </p:spPr>
        <p:txBody>
          <a:bodyPr wrap="square" rtlCol="0" anchor="ctr"/>
          <a:lstStyle/>
          <a:p>
            <a:pPr algn="ctr" indent="0" marL="0">
              <a:buNone/>
            </a:pPr>
            <a:r>
              <a:rPr lang="en-US" sz="1300" i="1" dirty="0">
                <a:solidFill>
                  <a:srgbClr val="55C8E8"/>
                </a:solidFill>
                <a:latin typeface="Calibri" pitchFamily="34" charset="0"/>
                <a:ea typeface="Calibri" pitchFamily="34" charset="-122"/>
                <a:cs typeface="Calibri" pitchFamily="34" charset="-120"/>
              </a:rPr>
              <a:t>Every source has a HORIZON — the edge of what its author could see.</a:t>
            </a:r>
            <a:endParaRPr lang="en-US" sz="1300" dirty="0"/>
          </a:p>
        </p:txBody>
      </p:sp>
      <p:sp>
        <p:nvSpPr>
          <p:cNvPr id="6" name="Shape 4"/>
          <p:cNvSpPr/>
          <p:nvPr/>
        </p:nvSpPr>
        <p:spPr>
          <a:xfrm>
            <a:off x="365760" y="1024128"/>
            <a:ext cx="4114800" cy="3474720"/>
          </a:xfrm>
          <a:prstGeom prst="roundRect">
            <a:avLst>
              <a:gd name="adj" fmla="val 2632"/>
            </a:avLst>
          </a:prstGeom>
          <a:solidFill>
            <a:srgbClr val="1A2D5A"/>
          </a:solidFill>
          <a:ln w="19050">
            <a:solidFill>
              <a:srgbClr val="34B76F"/>
            </a:solidFill>
            <a:prstDash val="solid"/>
          </a:ln>
        </p:spPr>
      </p:sp>
      <p:sp>
        <p:nvSpPr>
          <p:cNvPr id="7" name="Shape 5"/>
          <p:cNvSpPr/>
          <p:nvPr/>
        </p:nvSpPr>
        <p:spPr>
          <a:xfrm>
            <a:off x="365760" y="1024128"/>
            <a:ext cx="4114800" cy="365760"/>
          </a:xfrm>
          <a:prstGeom prst="roundRect">
            <a:avLst>
              <a:gd name="adj" fmla="val 25000"/>
            </a:avLst>
          </a:prstGeom>
          <a:solidFill>
            <a:srgbClr val="34B76F"/>
          </a:solidFill>
          <a:ln/>
        </p:spPr>
      </p:sp>
      <p:sp>
        <p:nvSpPr>
          <p:cNvPr id="8" name="Text 6"/>
          <p:cNvSpPr/>
          <p:nvPr/>
        </p:nvSpPr>
        <p:spPr>
          <a:xfrm>
            <a:off x="365760" y="1024128"/>
            <a:ext cx="4114800" cy="36576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WHAT THE PRIMER REVEALS</a:t>
            </a:r>
            <a:endParaRPr lang="en-US" sz="1000" dirty="0"/>
          </a:p>
        </p:txBody>
      </p:sp>
      <p:sp>
        <p:nvSpPr>
          <p:cNvPr id="9" name="Text 7"/>
          <p:cNvSpPr/>
          <p:nvPr/>
        </p:nvSpPr>
        <p:spPr>
          <a:xfrm>
            <a:off x="502920" y="1463040"/>
            <a:ext cx="3840480" cy="2926080"/>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How Americans in the 1860s divided their own history</a:t>
            </a:r>
            <a:endParaRPr lang="en-US" sz="1300" dirty="0"/>
          </a:p>
          <a:p>
            <a:pPr indent="0" marL="0">
              <a:buNone/>
            </a:pPr>
            <a:endParaRPr lang="en-US" sz="1300" dirty="0"/>
          </a:p>
          <a:p>
            <a:pPr indent="0" marL="0">
              <a:buNone/>
            </a:pPr>
            <a:r>
              <a:rPr lang="en-US" sz="1300" dirty="0">
                <a:solidFill>
                  <a:srgbClr val="D6F2FB"/>
                </a:solidFill>
                <a:latin typeface="Calibri" pitchFamily="34" charset="0"/>
                <a:ea typeface="Calibri" pitchFamily="34" charset="-122"/>
                <a:cs typeface="Calibri" pitchFamily="34" charset="-120"/>
              </a:rPr>
              <a:t>Which 'epochs' mattered to that generation</a:t>
            </a:r>
            <a:endParaRPr lang="en-US" sz="1300" dirty="0"/>
          </a:p>
          <a:p>
            <a:pPr indent="0" marL="0">
              <a:buNone/>
            </a:pPr>
            <a:endParaRPr lang="en-US" sz="1300" dirty="0"/>
          </a:p>
          <a:p>
            <a:pPr indent="0" marL="0">
              <a:buNone/>
            </a:pPr>
            <a:r>
              <a:rPr lang="en-US" sz="1300" dirty="0">
                <a:solidFill>
                  <a:srgbClr val="D6F2FB"/>
                </a:solidFill>
                <a:latin typeface="Calibri" pitchFamily="34" charset="0"/>
                <a:ea typeface="Calibri" pitchFamily="34" charset="-122"/>
                <a:cs typeface="Calibri" pitchFamily="34" charset="-120"/>
              </a:rPr>
              <a:t>The language they used for different eras</a:t>
            </a:r>
            <a:endParaRPr lang="en-US" sz="1300" dirty="0"/>
          </a:p>
          <a:p>
            <a:pPr indent="0" marL="0">
              <a:buNone/>
            </a:pPr>
            <a:endParaRPr lang="en-US" sz="1300" dirty="0"/>
          </a:p>
          <a:p>
            <a:pPr indent="0" marL="0">
              <a:buNone/>
            </a:pPr>
            <a:r>
              <a:rPr lang="en-US" sz="1300" dirty="0">
                <a:solidFill>
                  <a:srgbClr val="D6F2FB"/>
                </a:solidFill>
                <a:latin typeface="Calibri" pitchFamily="34" charset="0"/>
                <a:ea typeface="Calibri" pitchFamily="34" charset="-122"/>
                <a:cs typeface="Calibri" pitchFamily="34" charset="-120"/>
              </a:rPr>
              <a:t>That timeline-making was a common school activity</a:t>
            </a:r>
            <a:endParaRPr lang="en-US" sz="1300" dirty="0"/>
          </a:p>
        </p:txBody>
      </p:sp>
      <p:sp>
        <p:nvSpPr>
          <p:cNvPr id="10" name="Shape 8"/>
          <p:cNvSpPr/>
          <p:nvPr/>
        </p:nvSpPr>
        <p:spPr>
          <a:xfrm>
            <a:off x="4663440" y="1024128"/>
            <a:ext cx="4114800" cy="3474720"/>
          </a:xfrm>
          <a:prstGeom prst="roundRect">
            <a:avLst>
              <a:gd name="adj" fmla="val 2632"/>
            </a:avLst>
          </a:prstGeom>
          <a:solidFill>
            <a:srgbClr val="1A2D5A"/>
          </a:solidFill>
          <a:ln w="19050">
            <a:solidFill>
              <a:srgbClr val="E8636B"/>
            </a:solidFill>
            <a:prstDash val="solid"/>
          </a:ln>
        </p:spPr>
      </p:sp>
      <p:sp>
        <p:nvSpPr>
          <p:cNvPr id="11" name="Shape 9"/>
          <p:cNvSpPr/>
          <p:nvPr/>
        </p:nvSpPr>
        <p:spPr>
          <a:xfrm>
            <a:off x="4663440" y="1024128"/>
            <a:ext cx="4114800" cy="365760"/>
          </a:xfrm>
          <a:prstGeom prst="roundRect">
            <a:avLst>
              <a:gd name="adj" fmla="val 25000"/>
            </a:avLst>
          </a:prstGeom>
          <a:solidFill>
            <a:srgbClr val="E8636B"/>
          </a:solidFill>
          <a:ln/>
        </p:spPr>
      </p:sp>
      <p:sp>
        <p:nvSpPr>
          <p:cNvPr id="12" name="Text 10"/>
          <p:cNvSpPr/>
          <p:nvPr/>
        </p:nvSpPr>
        <p:spPr>
          <a:xfrm>
            <a:off x="4663440" y="1024128"/>
            <a:ext cx="4114800" cy="36576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WHAT THE PRIMER LEAVES OUT</a:t>
            </a:r>
            <a:endParaRPr lang="en-US" sz="1000" dirty="0"/>
          </a:p>
        </p:txBody>
      </p:sp>
      <p:sp>
        <p:nvSpPr>
          <p:cNvPr id="13" name="Text 11"/>
          <p:cNvSpPr/>
          <p:nvPr/>
        </p:nvSpPr>
        <p:spPr>
          <a:xfrm>
            <a:off x="4800600" y="1463040"/>
            <a:ext cx="3840480" cy="2926080"/>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The Civil War as a completed chapter — it was still happening</a:t>
            </a:r>
            <a:endParaRPr lang="en-US" sz="1300" dirty="0"/>
          </a:p>
          <a:p>
            <a:pPr indent="0" marL="0">
              <a:buNone/>
            </a:pPr>
            <a:endParaRPr lang="en-US" sz="1300" dirty="0"/>
          </a:p>
          <a:p>
            <a:pPr indent="0" marL="0">
              <a:buNone/>
            </a:pPr>
            <a:r>
              <a:rPr lang="en-US" sz="1300" dirty="0">
                <a:solidFill>
                  <a:srgbClr val="D6F2FB"/>
                </a:solidFill>
                <a:latin typeface="Calibri" pitchFamily="34" charset="0"/>
                <a:ea typeface="Calibri" pitchFamily="34" charset="-122"/>
                <a:cs typeface="Calibri" pitchFamily="34" charset="-120"/>
              </a:rPr>
              <a:t>Reconstruction — hadn't occurred yet</a:t>
            </a:r>
            <a:endParaRPr lang="en-US" sz="1300" dirty="0"/>
          </a:p>
          <a:p>
            <a:pPr indent="0" marL="0">
              <a:buNone/>
            </a:pPr>
            <a:endParaRPr lang="en-US" sz="1300" dirty="0"/>
          </a:p>
          <a:p>
            <a:pPr indent="0" marL="0">
              <a:buNone/>
            </a:pPr>
            <a:r>
              <a:rPr lang="en-US" sz="1300" dirty="0">
                <a:solidFill>
                  <a:srgbClr val="D6F2FB"/>
                </a:solidFill>
                <a:latin typeface="Calibri" pitchFamily="34" charset="0"/>
                <a:ea typeface="Calibri" pitchFamily="34" charset="-122"/>
                <a:cs typeface="Calibri" pitchFamily="34" charset="-120"/>
              </a:rPr>
              <a:t>Perspectives of enslaved people, Native peoples, and others outside the author's view</a:t>
            </a:r>
            <a:endParaRPr lang="en-US" sz="1300" dirty="0"/>
          </a:p>
          <a:p>
            <a:pPr indent="0" marL="0">
              <a:buNone/>
            </a:pPr>
            <a:endParaRPr lang="en-US" sz="1300" dirty="0"/>
          </a:p>
          <a:p>
            <a:pPr indent="0" marL="0">
              <a:buNone/>
            </a:pPr>
            <a:r>
              <a:rPr lang="en-US" sz="1300" dirty="0">
                <a:solidFill>
                  <a:srgbClr val="D6F2FB"/>
                </a:solidFill>
                <a:latin typeface="Calibri" pitchFamily="34" charset="0"/>
                <a:ea typeface="Calibri" pitchFamily="34" charset="-122"/>
                <a:cs typeface="Calibri" pitchFamily="34" charset="-120"/>
              </a:rPr>
              <a:t>Everything that happened after it was printed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34B76F"/>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This Matters — Timelines Are Arguments</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Connecting source analysis to honest reporting</a:t>
            </a:r>
            <a:endParaRPr lang="en-US" sz="1050" dirty="0"/>
          </a:p>
        </p:txBody>
      </p:sp>
      <p:sp>
        <p:nvSpPr>
          <p:cNvPr id="7" name="Shape 5"/>
          <p:cNvSpPr/>
          <p:nvPr/>
        </p:nvSpPr>
        <p:spPr>
          <a:xfrm>
            <a:off x="365760" y="822960"/>
            <a:ext cx="8412480" cy="804672"/>
          </a:xfrm>
          <a:prstGeom prst="roundRect">
            <a:avLst>
              <a:gd name="adj" fmla="val 11364"/>
            </a:avLst>
          </a:prstGeom>
          <a:solidFill>
            <a:srgbClr val="0E1C42"/>
          </a:solidFill>
          <a:ln/>
        </p:spPr>
      </p:sp>
      <p:sp>
        <p:nvSpPr>
          <p:cNvPr id="8" name="Text 6"/>
          <p:cNvSpPr/>
          <p:nvPr/>
        </p:nvSpPr>
        <p:spPr>
          <a:xfrm>
            <a:off x="548640" y="859536"/>
            <a:ext cx="8046720" cy="274320"/>
          </a:xfrm>
          <a:prstGeom prst="rect">
            <a:avLst/>
          </a:prstGeom>
          <a:noFill/>
          <a:ln/>
        </p:spPr>
        <p:txBody>
          <a:bodyPr wrap="square" rtlCol="0" anchor="ctr"/>
          <a:lstStyle/>
          <a:p>
            <a:pPr indent="0" marL="0">
              <a:buNone/>
            </a:pPr>
            <a:r>
              <a:rPr lang="en-US" sz="1350" i="1" dirty="0">
                <a:solidFill>
                  <a:srgbClr val="7A88A8"/>
                </a:solidFill>
                <a:latin typeface="Calibri" pitchFamily="34" charset="0"/>
                <a:ea typeface="Calibri" pitchFamily="34" charset="-122"/>
                <a:cs typeface="Calibri" pitchFamily="34" charset="-120"/>
              </a:rPr>
              <a:t>The Hasty Herald is partly right.</a:t>
            </a:r>
            <a:endParaRPr lang="en-US" sz="1350" dirty="0"/>
          </a:p>
        </p:txBody>
      </p:sp>
      <p:sp>
        <p:nvSpPr>
          <p:cNvPr id="9" name="Text 7"/>
          <p:cNvSpPr/>
          <p:nvPr/>
        </p:nvSpPr>
        <p:spPr>
          <a:xfrm>
            <a:off x="548640" y="1143000"/>
            <a:ext cx="8046720" cy="438912"/>
          </a:xfrm>
          <a:prstGeom prst="rect">
            <a:avLst/>
          </a:prstGeom>
          <a:noFill/>
          <a:ln/>
        </p:spPr>
        <p:txBody>
          <a:bodyPr wrap="square" rtlCol="0" anchor="t"/>
          <a:lstStyle/>
          <a:p>
            <a:pPr indent="0" marL="0">
              <a:buNone/>
            </a:pPr>
            <a:r>
              <a:rPr lang="en-US" sz="1300" i="1" dirty="0">
                <a:solidFill>
                  <a:srgbClr val="D4943A"/>
                </a:solidFill>
                <a:latin typeface="Cambria" pitchFamily="34" charset="0"/>
                <a:ea typeface="Cambria" pitchFamily="34" charset="-122"/>
                <a:cs typeface="Cambria" pitchFamily="34" charset="-120"/>
              </a:rPr>
              <a:t>Timelines DO have dates. But every timeline is also an ARGUMENT about which moments mattered, which didn't, and how the past is divided. That's not nothing — that's historical thinking.</a:t>
            </a:r>
            <a:endParaRPr lang="en-US" sz="1300" dirty="0"/>
          </a:p>
        </p:txBody>
      </p:sp>
      <p:sp>
        <p:nvSpPr>
          <p:cNvPr id="10" name="Shape 8"/>
          <p:cNvSpPr/>
          <p:nvPr/>
        </p:nvSpPr>
        <p:spPr>
          <a:xfrm>
            <a:off x="256032" y="1828800"/>
            <a:ext cx="2715768" cy="2834640"/>
          </a:xfrm>
          <a:prstGeom prst="roundRect">
            <a:avLst>
              <a:gd name="adj" fmla="val 3367"/>
            </a:avLst>
          </a:prstGeom>
          <a:solidFill>
            <a:srgbClr val="FFFFFF"/>
          </a:solidFill>
          <a:ln w="12700">
            <a:solidFill>
              <a:srgbClr val="D8DCE8"/>
            </a:solidFill>
            <a:prstDash val="solid"/>
          </a:ln>
        </p:spPr>
      </p:sp>
      <p:sp>
        <p:nvSpPr>
          <p:cNvPr id="11" name="Text 9"/>
          <p:cNvSpPr/>
          <p:nvPr/>
        </p:nvSpPr>
        <p:spPr>
          <a:xfrm>
            <a:off x="256032" y="1892808"/>
            <a:ext cx="271576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365760" y="2350008"/>
            <a:ext cx="2496312" cy="310896"/>
          </a:xfrm>
          <a:prstGeom prst="rect">
            <a:avLst/>
          </a:prstGeom>
          <a:noFill/>
          <a:ln/>
        </p:spPr>
        <p:txBody>
          <a:bodyPr wrap="square"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For the Source Desk</a:t>
            </a:r>
            <a:endParaRPr lang="en-US" sz="1300" dirty="0"/>
          </a:p>
        </p:txBody>
      </p:sp>
      <p:sp>
        <p:nvSpPr>
          <p:cNvPr id="13" name="Text 11"/>
          <p:cNvSpPr/>
          <p:nvPr/>
        </p:nvSpPr>
        <p:spPr>
          <a:xfrm>
            <a:off x="365760" y="2697480"/>
            <a:ext cx="2496312" cy="1828800"/>
          </a:xfrm>
          <a:prstGeom prst="rect">
            <a:avLst/>
          </a:prstGeom>
          <a:noFill/>
          <a:ln/>
        </p:spPr>
        <p:txBody>
          <a:bodyPr wrap="square" rtlCol="0" anchor="t"/>
          <a:lstStyle/>
          <a:p>
            <a:pPr indent="0" marL="0">
              <a:buNone/>
            </a:pPr>
            <a:r>
              <a:rPr lang="en-US" sz="1200" dirty="0">
                <a:solidFill>
                  <a:srgbClr val="3A4A5A"/>
                </a:solidFill>
                <a:latin typeface="Calibri" pitchFamily="34" charset="0"/>
                <a:ea typeface="Calibri" pitchFamily="34" charset="-122"/>
                <a:cs typeface="Calibri" pitchFamily="34" charset="-120"/>
              </a:rPr>
              <a:t>An honest editor asks: who built this timeline, when, and what choices did they make about what to include?</a:t>
            </a:r>
            <a:endParaRPr lang="en-US" sz="1200" dirty="0"/>
          </a:p>
        </p:txBody>
      </p:sp>
      <p:sp>
        <p:nvSpPr>
          <p:cNvPr id="14" name="Shape 12"/>
          <p:cNvSpPr/>
          <p:nvPr/>
        </p:nvSpPr>
        <p:spPr>
          <a:xfrm>
            <a:off x="3154680" y="1828800"/>
            <a:ext cx="2715768" cy="2834640"/>
          </a:xfrm>
          <a:prstGeom prst="roundRect">
            <a:avLst>
              <a:gd name="adj" fmla="val 3367"/>
            </a:avLst>
          </a:prstGeom>
          <a:solidFill>
            <a:srgbClr val="FFFFFF"/>
          </a:solidFill>
          <a:ln w="12700">
            <a:solidFill>
              <a:srgbClr val="D8DCE8"/>
            </a:solidFill>
            <a:prstDash val="solid"/>
          </a:ln>
        </p:spPr>
      </p:sp>
      <p:sp>
        <p:nvSpPr>
          <p:cNvPr id="15" name="Text 13"/>
          <p:cNvSpPr/>
          <p:nvPr/>
        </p:nvSpPr>
        <p:spPr>
          <a:xfrm>
            <a:off x="3154680" y="1892808"/>
            <a:ext cx="271576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3264408" y="2350008"/>
            <a:ext cx="2496312" cy="310896"/>
          </a:xfrm>
          <a:prstGeom prst="rect">
            <a:avLst/>
          </a:prstGeom>
          <a:noFill/>
          <a:ln/>
        </p:spPr>
        <p:txBody>
          <a:bodyPr wrap="square"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For American History</a:t>
            </a:r>
            <a:endParaRPr lang="en-US" sz="1300" dirty="0"/>
          </a:p>
        </p:txBody>
      </p:sp>
      <p:sp>
        <p:nvSpPr>
          <p:cNvPr id="17" name="Text 15"/>
          <p:cNvSpPr/>
          <p:nvPr/>
        </p:nvSpPr>
        <p:spPr>
          <a:xfrm>
            <a:off x="3264408" y="2697480"/>
            <a:ext cx="2496312" cy="1828800"/>
          </a:xfrm>
          <a:prstGeom prst="rect">
            <a:avLst/>
          </a:prstGeom>
          <a:noFill/>
          <a:ln/>
        </p:spPr>
        <p:txBody>
          <a:bodyPr wrap="square" rtlCol="0" anchor="t"/>
          <a:lstStyle/>
          <a:p>
            <a:pPr indent="0" marL="0">
              <a:buNone/>
            </a:pPr>
            <a:r>
              <a:rPr lang="en-US" sz="1200" dirty="0">
                <a:solidFill>
                  <a:srgbClr val="3A4A5A"/>
                </a:solidFill>
                <a:latin typeface="Calibri" pitchFamily="34" charset="0"/>
                <a:ea typeface="Calibri" pitchFamily="34" charset="-122"/>
                <a:cs typeface="Calibri" pitchFamily="34" charset="-120"/>
              </a:rPr>
              <a:t>The way we divide history affects which stories we tell. A timeline that starts with Europeans may leave out centuries of Indigenous history.</a:t>
            </a:r>
            <a:endParaRPr lang="en-US" sz="1200" dirty="0"/>
          </a:p>
        </p:txBody>
      </p:sp>
      <p:sp>
        <p:nvSpPr>
          <p:cNvPr id="18" name="Shape 16"/>
          <p:cNvSpPr/>
          <p:nvPr/>
        </p:nvSpPr>
        <p:spPr>
          <a:xfrm>
            <a:off x="6053328" y="1828800"/>
            <a:ext cx="2715768" cy="2834640"/>
          </a:xfrm>
          <a:prstGeom prst="roundRect">
            <a:avLst>
              <a:gd name="adj" fmla="val 3367"/>
            </a:avLst>
          </a:prstGeom>
          <a:solidFill>
            <a:srgbClr val="FFFFFF"/>
          </a:solidFill>
          <a:ln w="12700">
            <a:solidFill>
              <a:srgbClr val="D8DCE8"/>
            </a:solidFill>
            <a:prstDash val="solid"/>
          </a:ln>
        </p:spPr>
      </p:sp>
      <p:sp>
        <p:nvSpPr>
          <p:cNvPr id="19" name="Text 17"/>
          <p:cNvSpPr/>
          <p:nvPr/>
        </p:nvSpPr>
        <p:spPr>
          <a:xfrm>
            <a:off x="6053328" y="1892808"/>
            <a:ext cx="271576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6163056" y="2350008"/>
            <a:ext cx="2496312" cy="310896"/>
          </a:xfrm>
          <a:prstGeom prst="rect">
            <a:avLst/>
          </a:prstGeom>
          <a:noFill/>
          <a:ln/>
        </p:spPr>
        <p:txBody>
          <a:bodyPr wrap="square"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For Your Gazette Correction</a:t>
            </a:r>
            <a:endParaRPr lang="en-US" sz="1300" dirty="0"/>
          </a:p>
        </p:txBody>
      </p:sp>
      <p:sp>
        <p:nvSpPr>
          <p:cNvPr id="21" name="Text 19"/>
          <p:cNvSpPr/>
          <p:nvPr/>
        </p:nvSpPr>
        <p:spPr>
          <a:xfrm>
            <a:off x="6163056" y="2697480"/>
            <a:ext cx="2496312" cy="1828800"/>
          </a:xfrm>
          <a:prstGeom prst="rect">
            <a:avLst/>
          </a:prstGeom>
          <a:noFill/>
          <a:ln/>
        </p:spPr>
        <p:txBody>
          <a:bodyPr wrap="square" rtlCol="0" anchor="t"/>
          <a:lstStyle/>
          <a:p>
            <a:pPr indent="0" marL="0">
              <a:buNone/>
            </a:pPr>
            <a:r>
              <a:rPr lang="en-US" sz="1200" dirty="0">
                <a:solidFill>
                  <a:srgbClr val="3A4A5A"/>
                </a:solidFill>
                <a:latin typeface="Calibri" pitchFamily="34" charset="0"/>
                <a:ea typeface="Calibri" pitchFamily="34" charset="-122"/>
                <a:cs typeface="Calibri" pitchFamily="34" charset="-120"/>
              </a:rPr>
              <a:t>Your Correction must say what the Herald got partly right AND then show — with evidence — what a timeline actually does that a plain list of dates can't.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p:spPr>
      </p:sp>
      <p:sp>
        <p:nvSpPr>
          <p:cNvPr id="4" name="Shape 1"/>
          <p:cNvSpPr/>
          <p:nvPr/>
        </p:nvSpPr>
        <p:spPr>
          <a:xfrm>
            <a:off x="0" y="0"/>
            <a:ext cx="9144000" cy="54864"/>
          </a:xfrm>
          <a:prstGeom prst="rect">
            <a:avLst/>
          </a:prstGeom>
          <a:solidFill>
            <a:srgbClr val="D4943A"/>
          </a:solidFill>
          <a:ln/>
        </p:spPr>
      </p:sp>
      <p:sp>
        <p:nvSpPr>
          <p:cNvPr id="5" name="Text 2"/>
          <p:cNvSpPr/>
          <p:nvPr/>
        </p:nvSpPr>
        <p:spPr>
          <a:xfrm>
            <a:off x="365760" y="128016"/>
            <a:ext cx="8412480" cy="292608"/>
          </a:xfrm>
          <a:prstGeom prst="rect">
            <a:avLst/>
          </a:prstGeom>
          <a:noFill/>
          <a:ln/>
        </p:spPr>
        <p:txBody>
          <a:bodyPr wrap="square" rtlCol="0" anchor="ctr"/>
          <a:lstStyle/>
          <a:p>
            <a:pPr algn="ctr" indent="0" marL="0">
              <a:buNone/>
            </a:pPr>
            <a:r>
              <a:rPr lang="en-US" sz="1100" b="1" spc="300" kern="0" dirty="0">
                <a:solidFill>
                  <a:srgbClr val="D4943A"/>
                </a:solidFill>
                <a:latin typeface="Calibri" pitchFamily="34" charset="0"/>
                <a:ea typeface="Calibri" pitchFamily="34" charset="-122"/>
                <a:cs typeface="Calibri" pitchFamily="34" charset="-120"/>
              </a:rPr>
              <a:t>VIRTUE SPOTLIGHT</a:t>
            </a:r>
            <a:endParaRPr lang="en-US" sz="1100" dirty="0"/>
          </a:p>
        </p:txBody>
      </p:sp>
      <p:sp>
        <p:nvSpPr>
          <p:cNvPr id="6" name="Shape 3"/>
          <p:cNvSpPr/>
          <p:nvPr/>
        </p:nvSpPr>
        <p:spPr>
          <a:xfrm>
            <a:off x="2286000" y="512064"/>
            <a:ext cx="4572000" cy="868680"/>
          </a:xfrm>
          <a:prstGeom prst="roundRect">
            <a:avLst>
              <a:gd name="adj" fmla="val 12632"/>
            </a:avLst>
          </a:prstGeom>
          <a:solidFill>
            <a:srgbClr val="E8636B"/>
          </a:solidFill>
          <a:ln/>
        </p:spPr>
      </p:sp>
      <p:sp>
        <p:nvSpPr>
          <p:cNvPr id="7" name="Text 4"/>
          <p:cNvSpPr/>
          <p:nvPr/>
        </p:nvSpPr>
        <p:spPr>
          <a:xfrm>
            <a:off x="2286000" y="512064"/>
            <a:ext cx="4572000" cy="868680"/>
          </a:xfrm>
          <a:prstGeom prst="rect">
            <a:avLst/>
          </a:prstGeom>
          <a:noFill/>
          <a:ln/>
        </p:spPr>
        <p:txBody>
          <a:bodyPr wrap="square" rtlCol="0" anchor="ctr"/>
          <a:lstStyle/>
          <a:p>
            <a:pPr algn="ctr" indent="0" marL="0">
              <a:buNone/>
            </a:pPr>
            <a:r>
              <a:rPr lang="en-US" sz="3800" b="1" spc="400" kern="0" dirty="0">
                <a:solidFill>
                  <a:srgbClr val="FFFFFF"/>
                </a:solidFill>
                <a:latin typeface="Cambria" pitchFamily="34" charset="0"/>
                <a:ea typeface="Cambria" pitchFamily="34" charset="-122"/>
                <a:cs typeface="Cambria" pitchFamily="34" charset="-120"/>
              </a:rPr>
              <a:t>COURAGE</a:t>
            </a:r>
            <a:endParaRPr lang="en-US" sz="3800" dirty="0"/>
          </a:p>
        </p:txBody>
      </p:sp>
      <p:sp>
        <p:nvSpPr>
          <p:cNvPr id="8" name="Shape 5"/>
          <p:cNvSpPr/>
          <p:nvPr/>
        </p:nvSpPr>
        <p:spPr>
          <a:xfrm>
            <a:off x="731520" y="1481328"/>
            <a:ext cx="7680960" cy="658368"/>
          </a:xfrm>
          <a:prstGeom prst="roundRect">
            <a:avLst>
              <a:gd name="adj" fmla="val 11111"/>
            </a:avLst>
          </a:prstGeom>
          <a:solidFill>
            <a:srgbClr val="1A2D5A"/>
          </a:solidFill>
          <a:ln/>
        </p:spPr>
      </p:sp>
      <p:sp>
        <p:nvSpPr>
          <p:cNvPr id="9" name="Text 6"/>
          <p:cNvSpPr/>
          <p:nvPr/>
        </p:nvSpPr>
        <p:spPr>
          <a:xfrm>
            <a:off x="914400" y="1517904"/>
            <a:ext cx="7315200" cy="566928"/>
          </a:xfrm>
          <a:prstGeom prst="rect">
            <a:avLst/>
          </a:prstGeom>
          <a:noFill/>
          <a:ln/>
        </p:spPr>
        <p:txBody>
          <a:bodyPr wrap="square" rtlCol="0" anchor="ctr"/>
          <a:lstStyle/>
          <a:p>
            <a:pPr algn="ctr" indent="0" marL="0">
              <a:buNone/>
            </a:pPr>
            <a:r>
              <a:rPr lang="en-US" sz="1300" i="1" dirty="0">
                <a:solidFill>
                  <a:srgbClr val="D6F2FB"/>
                </a:solidFill>
                <a:latin typeface="Calibri" pitchFamily="34" charset="0"/>
                <a:ea typeface="Calibri" pitchFamily="34" charset="-122"/>
                <a:cs typeface="Calibri" pitchFamily="34" charset="-120"/>
              </a:rPr>
              <a:t>Doing the right thing even when it's harder or less popular than the easy path. For editors and historians, courage means printing the careful truth even when the rushed, easy story is louder.</a:t>
            </a:r>
            <a:endParaRPr lang="en-US" sz="1300" dirty="0"/>
          </a:p>
        </p:txBody>
      </p:sp>
      <p:sp>
        <p:nvSpPr>
          <p:cNvPr id="10" name="Shape 7"/>
          <p:cNvSpPr/>
          <p:nvPr/>
        </p:nvSpPr>
        <p:spPr>
          <a:xfrm>
            <a:off x="365760" y="2267712"/>
            <a:ext cx="8412480" cy="1691640"/>
          </a:xfrm>
          <a:prstGeom prst="roundRect">
            <a:avLst>
              <a:gd name="adj" fmla="val 5405"/>
            </a:avLst>
          </a:prstGeom>
          <a:solidFill>
            <a:srgbClr val="1A2D5A"/>
          </a:solidFill>
          <a:ln w="12700">
            <a:solidFill>
              <a:srgbClr val="E8636B"/>
            </a:solidFill>
            <a:prstDash val="solid"/>
          </a:ln>
        </p:spPr>
      </p:sp>
      <p:sp>
        <p:nvSpPr>
          <p:cNvPr id="11" name="Text 8"/>
          <p:cNvSpPr/>
          <p:nvPr/>
        </p:nvSpPr>
        <p:spPr>
          <a:xfrm>
            <a:off x="548640" y="2340864"/>
            <a:ext cx="8046720" cy="274320"/>
          </a:xfrm>
          <a:prstGeom prst="rect">
            <a:avLst/>
          </a:prstGeom>
          <a:noFill/>
          <a:ln/>
        </p:spPr>
        <p:txBody>
          <a:bodyPr wrap="square" rtlCol="0" anchor="ctr"/>
          <a:lstStyle/>
          <a:p>
            <a:pPr indent="0" marL="0">
              <a:buNone/>
            </a:pPr>
            <a:r>
              <a:rPr lang="en-US" sz="1200" b="1" dirty="0">
                <a:solidFill>
                  <a:srgbClr val="E8636B"/>
                </a:solidFill>
                <a:latin typeface="Calibri" pitchFamily="34" charset="0"/>
                <a:ea typeface="Calibri" pitchFamily="34" charset="-122"/>
                <a:cs typeface="Calibri" pitchFamily="34" charset="-120"/>
              </a:rPr>
              <a:t>Courage in Action — Today's Lesson</a:t>
            </a:r>
            <a:endParaRPr lang="en-US" sz="1200" dirty="0"/>
          </a:p>
        </p:txBody>
      </p:sp>
      <p:sp>
        <p:nvSpPr>
          <p:cNvPr id="12" name="Text 9"/>
          <p:cNvSpPr/>
          <p:nvPr/>
        </p:nvSpPr>
        <p:spPr>
          <a:xfrm>
            <a:off x="548640" y="2651760"/>
            <a:ext cx="8046720" cy="1234440"/>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The Herald sounds certain that timelines are worthless. It would be easier to nod along than to push back.</a:t>
            </a:r>
            <a:endParaRPr lang="en-US" sz="1300" dirty="0"/>
          </a:p>
          <a:p>
            <a:pPr indent="0" marL="0">
              <a:buNone/>
            </a:pPr>
            <a:endParaRPr lang="en-US" sz="1300" dirty="0"/>
          </a:p>
          <a:p>
            <a:pPr indent="0" marL="0">
              <a:buNone/>
            </a:pPr>
            <a:r>
              <a:rPr lang="en-US" sz="1300" dirty="0">
                <a:solidFill>
                  <a:srgbClr val="D6F2FB"/>
                </a:solidFill>
                <a:latin typeface="Calibri" pitchFamily="34" charset="0"/>
                <a:ea typeface="Calibri" pitchFamily="34" charset="-122"/>
                <a:cs typeface="Calibri" pitchFamily="34" charset="-120"/>
              </a:rPr>
              <a:t>A courageous editor examines a real timeline, names what it actually does, and publishes a careful Correction — even when it means contradicting a louder voice.</a:t>
            </a:r>
            <a:endParaRPr lang="en-US" sz="1300" dirty="0"/>
          </a:p>
        </p:txBody>
      </p:sp>
      <p:sp>
        <p:nvSpPr>
          <p:cNvPr id="13" name="Text 10"/>
          <p:cNvSpPr/>
          <p:nvPr/>
        </p:nvSpPr>
        <p:spPr>
          <a:xfrm>
            <a:off x="731520" y="4069080"/>
            <a:ext cx="7680960" cy="365760"/>
          </a:xfrm>
          <a:prstGeom prst="rect">
            <a:avLst/>
          </a:prstGeom>
          <a:noFill/>
          <a:ln/>
        </p:spPr>
        <p:txBody>
          <a:bodyPr wrap="square" rtlCol="0" anchor="ctr"/>
          <a:lstStyle/>
          <a:p>
            <a:pPr algn="ctr" indent="0" marL="0">
              <a:buNone/>
            </a:pPr>
            <a:r>
              <a:rPr lang="en-US" sz="1200" i="1" dirty="0">
                <a:solidFill>
                  <a:srgbClr val="7A88A8"/>
                </a:solidFill>
                <a:latin typeface="Cambria" pitchFamily="34" charset="0"/>
                <a:ea typeface="Cambria" pitchFamily="34" charset="-122"/>
                <a:cs typeface="Cambria" pitchFamily="34" charset="-120"/>
              </a:rPr>
              <a:t>"A courageous editor prints the careful truth even when the rushed, easy story is louder."  — Ms. Avery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55C8E8"/>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Guided Practice — Teacher Models It</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Asking three questions about the 1860s primer</a:t>
            </a:r>
            <a:endParaRPr lang="en-US" sz="1050" dirty="0"/>
          </a:p>
        </p:txBody>
      </p:sp>
      <p:sp>
        <p:nvSpPr>
          <p:cNvPr id="7" name="Shape 5"/>
          <p:cNvSpPr/>
          <p:nvPr/>
        </p:nvSpPr>
        <p:spPr>
          <a:xfrm>
            <a:off x="365760" y="804672"/>
            <a:ext cx="1371600" cy="329184"/>
          </a:xfrm>
          <a:prstGeom prst="roundRect">
            <a:avLst>
              <a:gd name="adj" fmla="val 27778"/>
            </a:avLst>
          </a:prstGeom>
          <a:solidFill>
            <a:srgbClr val="55C8E8"/>
          </a:solidFill>
          <a:ln/>
        </p:spPr>
      </p:sp>
      <p:sp>
        <p:nvSpPr>
          <p:cNvPr id="8" name="Text 6"/>
          <p:cNvSpPr/>
          <p:nvPr/>
        </p:nvSpPr>
        <p:spPr>
          <a:xfrm>
            <a:off x="365760" y="804672"/>
            <a:ext cx="1371600" cy="329184"/>
          </a:xfrm>
          <a:prstGeom prst="rect">
            <a:avLst/>
          </a:prstGeom>
          <a:noFill/>
          <a:ln/>
        </p:spPr>
        <p:txBody>
          <a:bodyPr wrap="square"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I DO</a:t>
            </a:r>
            <a:endParaRPr lang="en-US" sz="1400" dirty="0"/>
          </a:p>
        </p:txBody>
      </p:sp>
      <p:sp>
        <p:nvSpPr>
          <p:cNvPr id="9" name="Shape 7"/>
          <p:cNvSpPr/>
          <p:nvPr/>
        </p:nvSpPr>
        <p:spPr>
          <a:xfrm>
            <a:off x="365760" y="1216152"/>
            <a:ext cx="8412480" cy="475488"/>
          </a:xfrm>
          <a:prstGeom prst="roundRect">
            <a:avLst>
              <a:gd name="adj" fmla="val 15385"/>
            </a:avLst>
          </a:prstGeom>
          <a:solidFill>
            <a:srgbClr val="1A2D5A"/>
          </a:solidFill>
          <a:ln/>
        </p:spPr>
      </p:sp>
      <p:sp>
        <p:nvSpPr>
          <p:cNvPr id="10" name="Text 8"/>
          <p:cNvSpPr/>
          <p:nvPr/>
        </p:nvSpPr>
        <p:spPr>
          <a:xfrm>
            <a:off x="548640" y="1216152"/>
            <a:ext cx="8046720" cy="475488"/>
          </a:xfrm>
          <a:prstGeom prst="rect">
            <a:avLst/>
          </a:prstGeom>
          <a:noFill/>
          <a:ln/>
        </p:spPr>
        <p:txBody>
          <a:bodyPr wrap="square" rtlCol="0" anchor="ctr"/>
          <a:lstStyle/>
          <a:p>
            <a:pPr indent="0" marL="0">
              <a:buNone/>
            </a:pPr>
            <a:r>
              <a:rPr lang="en-US" sz="1400" i="1" dirty="0">
                <a:solidFill>
                  <a:srgbClr val="D4943A"/>
                </a:solidFill>
                <a:latin typeface="Cambria" pitchFamily="34" charset="0"/>
                <a:ea typeface="Cambria" pitchFamily="34" charset="-122"/>
                <a:cs typeface="Cambria" pitchFamily="34" charset="-120"/>
              </a:rPr>
              <a:t>Source: A page from an 1860s American school primer listing 'epochs' of history.</a:t>
            </a:r>
            <a:endParaRPr lang="en-US" sz="1400" dirty="0"/>
          </a:p>
        </p:txBody>
      </p:sp>
      <p:sp>
        <p:nvSpPr>
          <p:cNvPr id="11" name="Shape 9"/>
          <p:cNvSpPr/>
          <p:nvPr/>
        </p:nvSpPr>
        <p:spPr>
          <a:xfrm>
            <a:off x="365760" y="1828800"/>
            <a:ext cx="8412480" cy="731520"/>
          </a:xfrm>
          <a:prstGeom prst="roundRect">
            <a:avLst>
              <a:gd name="adj" fmla="val 10000"/>
            </a:avLst>
          </a:prstGeom>
          <a:solidFill>
            <a:srgbClr val="FFFFFF"/>
          </a:solidFill>
          <a:ln w="12700">
            <a:solidFill>
              <a:srgbClr val="D8DCE8"/>
            </a:solidFill>
            <a:prstDash val="solid"/>
          </a:ln>
        </p:spPr>
      </p:sp>
      <p:sp>
        <p:nvSpPr>
          <p:cNvPr id="12" name="Shape 10"/>
          <p:cNvSpPr/>
          <p:nvPr/>
        </p:nvSpPr>
        <p:spPr>
          <a:xfrm>
            <a:off x="365760" y="1828800"/>
            <a:ext cx="2103120" cy="731520"/>
          </a:xfrm>
          <a:prstGeom prst="roundRect">
            <a:avLst>
              <a:gd name="adj" fmla="val 10000"/>
            </a:avLst>
          </a:prstGeom>
          <a:solidFill>
            <a:srgbClr val="1A8A7D"/>
          </a:solidFill>
          <a:ln/>
        </p:spPr>
      </p:sp>
      <p:sp>
        <p:nvSpPr>
          <p:cNvPr id="13" name="Text 11"/>
          <p:cNvSpPr/>
          <p:nvPr/>
        </p:nvSpPr>
        <p:spPr>
          <a:xfrm>
            <a:off x="365760" y="1828800"/>
            <a:ext cx="2103120" cy="7315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What do I SEE?</a:t>
            </a:r>
            <a:endParaRPr lang="en-US" sz="1250" dirty="0"/>
          </a:p>
        </p:txBody>
      </p:sp>
      <p:sp>
        <p:nvSpPr>
          <p:cNvPr id="14" name="Text 12"/>
          <p:cNvSpPr/>
          <p:nvPr/>
        </p:nvSpPr>
        <p:spPr>
          <a:xfrm>
            <a:off x="2560320" y="1920240"/>
            <a:ext cx="6126480" cy="56692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An old book page with a list of epochs. The paper looks aged. The author grouped American history into named periods.</a:t>
            </a:r>
            <a:endParaRPr lang="en-US" sz="1200" dirty="0"/>
          </a:p>
        </p:txBody>
      </p:sp>
      <p:sp>
        <p:nvSpPr>
          <p:cNvPr id="15" name="Shape 13"/>
          <p:cNvSpPr/>
          <p:nvPr/>
        </p:nvSpPr>
        <p:spPr>
          <a:xfrm>
            <a:off x="365760" y="2670048"/>
            <a:ext cx="8412480" cy="731520"/>
          </a:xfrm>
          <a:prstGeom prst="roundRect">
            <a:avLst>
              <a:gd name="adj" fmla="val 10000"/>
            </a:avLst>
          </a:prstGeom>
          <a:solidFill>
            <a:srgbClr val="FFFFFF"/>
          </a:solidFill>
          <a:ln w="12700">
            <a:solidFill>
              <a:srgbClr val="D8DCE8"/>
            </a:solidFill>
            <a:prstDash val="solid"/>
          </a:ln>
        </p:spPr>
      </p:sp>
      <p:sp>
        <p:nvSpPr>
          <p:cNvPr id="16" name="Shape 14"/>
          <p:cNvSpPr/>
          <p:nvPr/>
        </p:nvSpPr>
        <p:spPr>
          <a:xfrm>
            <a:off x="365760" y="2670048"/>
            <a:ext cx="2103120" cy="731520"/>
          </a:xfrm>
          <a:prstGeom prst="roundRect">
            <a:avLst>
              <a:gd name="adj" fmla="val 10000"/>
            </a:avLst>
          </a:prstGeom>
          <a:solidFill>
            <a:srgbClr val="8B6FC0"/>
          </a:solidFill>
          <a:ln/>
        </p:spPr>
      </p:sp>
      <p:sp>
        <p:nvSpPr>
          <p:cNvPr id="17" name="Text 15"/>
          <p:cNvSpPr/>
          <p:nvPr/>
        </p:nvSpPr>
        <p:spPr>
          <a:xfrm>
            <a:off x="365760" y="2670048"/>
            <a:ext cx="2103120" cy="7315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What does it MEAN?</a:t>
            </a:r>
            <a:endParaRPr lang="en-US" sz="1250" dirty="0"/>
          </a:p>
        </p:txBody>
      </p:sp>
      <p:sp>
        <p:nvSpPr>
          <p:cNvPr id="18" name="Text 16"/>
          <p:cNvSpPr/>
          <p:nvPr/>
        </p:nvSpPr>
        <p:spPr>
          <a:xfrm>
            <a:off x="2560320" y="2761488"/>
            <a:ext cx="6126480" cy="56692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 author made choices about how to divide history. This reflects what mattered to someone writing in the 1860s.</a:t>
            </a:r>
            <a:endParaRPr lang="en-US" sz="1200" dirty="0"/>
          </a:p>
        </p:txBody>
      </p:sp>
      <p:sp>
        <p:nvSpPr>
          <p:cNvPr id="19" name="Shape 17"/>
          <p:cNvSpPr/>
          <p:nvPr/>
        </p:nvSpPr>
        <p:spPr>
          <a:xfrm>
            <a:off x="365760" y="3511296"/>
            <a:ext cx="8412480" cy="731520"/>
          </a:xfrm>
          <a:prstGeom prst="roundRect">
            <a:avLst>
              <a:gd name="adj" fmla="val 10000"/>
            </a:avLst>
          </a:prstGeom>
          <a:solidFill>
            <a:srgbClr val="FFFFFF"/>
          </a:solidFill>
          <a:ln w="12700">
            <a:solidFill>
              <a:srgbClr val="D8DCE8"/>
            </a:solidFill>
            <a:prstDash val="solid"/>
          </a:ln>
        </p:spPr>
      </p:sp>
      <p:sp>
        <p:nvSpPr>
          <p:cNvPr id="20" name="Shape 18"/>
          <p:cNvSpPr/>
          <p:nvPr/>
        </p:nvSpPr>
        <p:spPr>
          <a:xfrm>
            <a:off x="365760" y="3511296"/>
            <a:ext cx="2103120" cy="731520"/>
          </a:xfrm>
          <a:prstGeom prst="roundRect">
            <a:avLst>
              <a:gd name="adj" fmla="val 10000"/>
            </a:avLst>
          </a:prstGeom>
          <a:solidFill>
            <a:srgbClr val="E8636B"/>
          </a:solidFill>
          <a:ln/>
        </p:spPr>
      </p:sp>
      <p:sp>
        <p:nvSpPr>
          <p:cNvPr id="21" name="Text 19"/>
          <p:cNvSpPr/>
          <p:nvPr/>
        </p:nvSpPr>
        <p:spPr>
          <a:xfrm>
            <a:off x="365760" y="3511296"/>
            <a:ext cx="2103120" cy="7315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What does it LEAVE OUT?</a:t>
            </a:r>
            <a:endParaRPr lang="en-US" sz="1250" dirty="0"/>
          </a:p>
        </p:txBody>
      </p:sp>
      <p:sp>
        <p:nvSpPr>
          <p:cNvPr id="22" name="Text 20"/>
          <p:cNvSpPr/>
          <p:nvPr/>
        </p:nvSpPr>
        <p:spPr>
          <a:xfrm>
            <a:off x="2560320" y="3602736"/>
            <a:ext cx="6126480" cy="56692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 Civil War isn't here as a completed period. The book was printed DURING the war — the author couldn't see what would happen next.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34B76F"/>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We Try Together</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Apply the three questions as a class</a:t>
            </a:r>
            <a:endParaRPr lang="en-US" sz="1050" dirty="0"/>
          </a:p>
        </p:txBody>
      </p:sp>
      <p:sp>
        <p:nvSpPr>
          <p:cNvPr id="7" name="Shape 5"/>
          <p:cNvSpPr/>
          <p:nvPr/>
        </p:nvSpPr>
        <p:spPr>
          <a:xfrm>
            <a:off x="365760" y="804672"/>
            <a:ext cx="2011680" cy="329184"/>
          </a:xfrm>
          <a:prstGeom prst="roundRect">
            <a:avLst>
              <a:gd name="adj" fmla="val 27778"/>
            </a:avLst>
          </a:prstGeom>
          <a:solidFill>
            <a:srgbClr val="34B76F"/>
          </a:solidFill>
          <a:ln/>
        </p:spPr>
      </p:sp>
      <p:sp>
        <p:nvSpPr>
          <p:cNvPr id="8" name="Text 6"/>
          <p:cNvSpPr/>
          <p:nvPr/>
        </p:nvSpPr>
        <p:spPr>
          <a:xfrm>
            <a:off x="365760" y="804672"/>
            <a:ext cx="2011680"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 DO</a:t>
            </a:r>
            <a:endParaRPr lang="en-US" sz="1400" dirty="0"/>
          </a:p>
        </p:txBody>
      </p:sp>
      <p:sp>
        <p:nvSpPr>
          <p:cNvPr id="9" name="Shape 7"/>
          <p:cNvSpPr/>
          <p:nvPr/>
        </p:nvSpPr>
        <p:spPr>
          <a:xfrm>
            <a:off x="365760" y="1216152"/>
            <a:ext cx="8412480" cy="475488"/>
          </a:xfrm>
          <a:prstGeom prst="roundRect">
            <a:avLst>
              <a:gd name="adj" fmla="val 15385"/>
            </a:avLst>
          </a:prstGeom>
          <a:solidFill>
            <a:srgbClr val="0E1C42"/>
          </a:solidFill>
          <a:ln/>
        </p:spPr>
      </p:sp>
      <p:sp>
        <p:nvSpPr>
          <p:cNvPr id="10" name="Text 8"/>
          <p:cNvSpPr/>
          <p:nvPr/>
        </p:nvSpPr>
        <p:spPr>
          <a:xfrm>
            <a:off x="548640" y="1216152"/>
            <a:ext cx="8046720" cy="475488"/>
          </a:xfrm>
          <a:prstGeom prst="rect">
            <a:avLst/>
          </a:prstGeom>
          <a:noFill/>
          <a:ln/>
        </p:spPr>
        <p:txBody>
          <a:bodyPr wrap="square" rtlCol="0" anchor="ctr"/>
          <a:lstStyle/>
          <a:p>
            <a:pPr indent="0" marL="0">
              <a:buNone/>
            </a:pPr>
            <a:r>
              <a:rPr lang="en-US" sz="1400" i="1" dirty="0">
                <a:solidFill>
                  <a:srgbClr val="55C8E8"/>
                </a:solidFill>
                <a:latin typeface="Cambria" pitchFamily="34" charset="0"/>
                <a:ea typeface="Cambria" pitchFamily="34" charset="-122"/>
                <a:cs typeface="Cambria" pitchFamily="34" charset="-120"/>
              </a:rPr>
              <a:t>Source: A modern museum timeline of the seven American history periods (like the one on Slide 5).</a:t>
            </a:r>
            <a:endParaRPr lang="en-US" sz="1400" dirty="0"/>
          </a:p>
        </p:txBody>
      </p:sp>
      <p:sp>
        <p:nvSpPr>
          <p:cNvPr id="11" name="Text 9"/>
          <p:cNvSpPr/>
          <p:nvPr/>
        </p:nvSpPr>
        <p:spPr>
          <a:xfrm>
            <a:off x="457200" y="1783080"/>
            <a:ext cx="8229600" cy="27432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Compare this modern museum timeline to the 1860s primer. Take turns answering.</a:t>
            </a:r>
            <a:endParaRPr lang="en-US" sz="1200" dirty="0"/>
          </a:p>
        </p:txBody>
      </p:sp>
      <p:sp>
        <p:nvSpPr>
          <p:cNvPr id="12" name="Shape 10"/>
          <p:cNvSpPr/>
          <p:nvPr/>
        </p:nvSpPr>
        <p:spPr>
          <a:xfrm>
            <a:off x="256032" y="2139696"/>
            <a:ext cx="2715768" cy="2423160"/>
          </a:xfrm>
          <a:prstGeom prst="roundRect">
            <a:avLst>
              <a:gd name="adj" fmla="val 3774"/>
            </a:avLst>
          </a:prstGeom>
          <a:solidFill>
            <a:srgbClr val="E8F5F0"/>
          </a:solidFill>
          <a:ln w="19050">
            <a:solidFill>
              <a:srgbClr val="34B76F"/>
            </a:solidFill>
            <a:prstDash val="solid"/>
          </a:ln>
        </p:spPr>
      </p:sp>
      <p:sp>
        <p:nvSpPr>
          <p:cNvPr id="13" name="Shape 11"/>
          <p:cNvSpPr/>
          <p:nvPr/>
        </p:nvSpPr>
        <p:spPr>
          <a:xfrm>
            <a:off x="329184" y="2194560"/>
            <a:ext cx="2569464" cy="365760"/>
          </a:xfrm>
          <a:prstGeom prst="roundRect">
            <a:avLst>
              <a:gd name="adj" fmla="val 15000"/>
            </a:avLst>
          </a:prstGeom>
          <a:solidFill>
            <a:srgbClr val="34B76F"/>
          </a:solidFill>
          <a:ln/>
        </p:spPr>
      </p:sp>
      <p:sp>
        <p:nvSpPr>
          <p:cNvPr id="14" name="Text 12"/>
          <p:cNvSpPr/>
          <p:nvPr/>
        </p:nvSpPr>
        <p:spPr>
          <a:xfrm>
            <a:off x="329184" y="2194560"/>
            <a:ext cx="2569464"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do I SEE?</a:t>
            </a:r>
            <a:endParaRPr lang="en-US" sz="1300" dirty="0"/>
          </a:p>
        </p:txBody>
      </p:sp>
      <p:sp>
        <p:nvSpPr>
          <p:cNvPr id="15" name="Text 13"/>
          <p:cNvSpPr/>
          <p:nvPr/>
        </p:nvSpPr>
        <p:spPr>
          <a:xfrm>
            <a:off x="393192" y="2633472"/>
            <a:ext cx="2441448" cy="1828800"/>
          </a:xfrm>
          <a:prstGeom prst="rect">
            <a:avLst/>
          </a:prstGeom>
          <a:noFill/>
          <a:ln/>
        </p:spPr>
        <p:txBody>
          <a:bodyPr wrap="square" rtlCol="0" anchor="t"/>
          <a:lstStyle/>
          <a:p>
            <a:pPr indent="0" marL="0">
              <a:buNone/>
            </a:pPr>
            <a:r>
              <a:rPr lang="en-US" sz="1100" i="1" dirty="0">
                <a:solidFill>
                  <a:srgbClr val="B0B8CC"/>
                </a:solidFill>
                <a:latin typeface="Calibri" pitchFamily="34" charset="0"/>
                <a:ea typeface="Calibri" pitchFamily="34" charset="-122"/>
                <a:cs typeface="Calibri" pitchFamily="34" charset="-120"/>
              </a:rPr>
              <a:t>Students respond...</a:t>
            </a:r>
            <a:endParaRPr lang="en-US" sz="1100" dirty="0"/>
          </a:p>
        </p:txBody>
      </p:sp>
      <p:sp>
        <p:nvSpPr>
          <p:cNvPr id="16" name="Shape 14"/>
          <p:cNvSpPr/>
          <p:nvPr/>
        </p:nvSpPr>
        <p:spPr>
          <a:xfrm>
            <a:off x="3154680" y="2139696"/>
            <a:ext cx="2715768" cy="2423160"/>
          </a:xfrm>
          <a:prstGeom prst="roundRect">
            <a:avLst>
              <a:gd name="adj" fmla="val 3774"/>
            </a:avLst>
          </a:prstGeom>
          <a:solidFill>
            <a:srgbClr val="FFF3DC"/>
          </a:solidFill>
          <a:ln w="19050">
            <a:solidFill>
              <a:srgbClr val="D4943A"/>
            </a:solidFill>
            <a:prstDash val="solid"/>
          </a:ln>
        </p:spPr>
      </p:sp>
      <p:sp>
        <p:nvSpPr>
          <p:cNvPr id="17" name="Shape 15"/>
          <p:cNvSpPr/>
          <p:nvPr/>
        </p:nvSpPr>
        <p:spPr>
          <a:xfrm>
            <a:off x="3227832" y="2194560"/>
            <a:ext cx="2569464" cy="365760"/>
          </a:xfrm>
          <a:prstGeom prst="roundRect">
            <a:avLst>
              <a:gd name="adj" fmla="val 15000"/>
            </a:avLst>
          </a:prstGeom>
          <a:solidFill>
            <a:srgbClr val="D4943A"/>
          </a:solidFill>
          <a:ln/>
        </p:spPr>
      </p:sp>
      <p:sp>
        <p:nvSpPr>
          <p:cNvPr id="18" name="Text 16"/>
          <p:cNvSpPr/>
          <p:nvPr/>
        </p:nvSpPr>
        <p:spPr>
          <a:xfrm>
            <a:off x="3227832" y="2194560"/>
            <a:ext cx="2569464"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does it MEAN?</a:t>
            </a:r>
            <a:endParaRPr lang="en-US" sz="1300" dirty="0"/>
          </a:p>
        </p:txBody>
      </p:sp>
      <p:sp>
        <p:nvSpPr>
          <p:cNvPr id="19" name="Text 17"/>
          <p:cNvSpPr/>
          <p:nvPr/>
        </p:nvSpPr>
        <p:spPr>
          <a:xfrm>
            <a:off x="3291840" y="2633472"/>
            <a:ext cx="2441448" cy="1828800"/>
          </a:xfrm>
          <a:prstGeom prst="rect">
            <a:avLst/>
          </a:prstGeom>
          <a:noFill/>
          <a:ln/>
        </p:spPr>
        <p:txBody>
          <a:bodyPr wrap="square" rtlCol="0" anchor="t"/>
          <a:lstStyle/>
          <a:p>
            <a:pPr indent="0" marL="0">
              <a:buNone/>
            </a:pPr>
            <a:r>
              <a:rPr lang="en-US" sz="1100" i="1" dirty="0">
                <a:solidFill>
                  <a:srgbClr val="B0B8CC"/>
                </a:solidFill>
                <a:latin typeface="Calibri" pitchFamily="34" charset="0"/>
                <a:ea typeface="Calibri" pitchFamily="34" charset="-122"/>
                <a:cs typeface="Calibri" pitchFamily="34" charset="-120"/>
              </a:rPr>
              <a:t>Students respond...</a:t>
            </a:r>
            <a:endParaRPr lang="en-US" sz="1100" dirty="0"/>
          </a:p>
        </p:txBody>
      </p:sp>
      <p:sp>
        <p:nvSpPr>
          <p:cNvPr id="20" name="Shape 18"/>
          <p:cNvSpPr/>
          <p:nvPr/>
        </p:nvSpPr>
        <p:spPr>
          <a:xfrm>
            <a:off x="6053328" y="2139696"/>
            <a:ext cx="2715768" cy="2423160"/>
          </a:xfrm>
          <a:prstGeom prst="roundRect">
            <a:avLst>
              <a:gd name="adj" fmla="val 3774"/>
            </a:avLst>
          </a:prstGeom>
          <a:solidFill>
            <a:srgbClr val="FFE8E8"/>
          </a:solidFill>
          <a:ln w="19050">
            <a:solidFill>
              <a:srgbClr val="E8636B"/>
            </a:solidFill>
            <a:prstDash val="solid"/>
          </a:ln>
        </p:spPr>
      </p:sp>
      <p:sp>
        <p:nvSpPr>
          <p:cNvPr id="21" name="Shape 19"/>
          <p:cNvSpPr/>
          <p:nvPr/>
        </p:nvSpPr>
        <p:spPr>
          <a:xfrm>
            <a:off x="6126480" y="2194560"/>
            <a:ext cx="2569464" cy="365760"/>
          </a:xfrm>
          <a:prstGeom prst="roundRect">
            <a:avLst>
              <a:gd name="adj" fmla="val 15000"/>
            </a:avLst>
          </a:prstGeom>
          <a:solidFill>
            <a:srgbClr val="E8636B"/>
          </a:solidFill>
          <a:ln/>
        </p:spPr>
      </p:sp>
      <p:sp>
        <p:nvSpPr>
          <p:cNvPr id="22" name="Text 20"/>
          <p:cNvSpPr/>
          <p:nvPr/>
        </p:nvSpPr>
        <p:spPr>
          <a:xfrm>
            <a:off x="6126480" y="2194560"/>
            <a:ext cx="2569464"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does it LEAVE OUT?</a:t>
            </a:r>
            <a:endParaRPr lang="en-US" sz="1300" dirty="0"/>
          </a:p>
        </p:txBody>
      </p:sp>
      <p:sp>
        <p:nvSpPr>
          <p:cNvPr id="23" name="Text 21"/>
          <p:cNvSpPr/>
          <p:nvPr/>
        </p:nvSpPr>
        <p:spPr>
          <a:xfrm>
            <a:off x="6190488" y="2633472"/>
            <a:ext cx="2441448" cy="1828800"/>
          </a:xfrm>
          <a:prstGeom prst="rect">
            <a:avLst/>
          </a:prstGeom>
          <a:noFill/>
          <a:ln/>
        </p:spPr>
        <p:txBody>
          <a:bodyPr wrap="square" rtlCol="0" anchor="t"/>
          <a:lstStyle/>
          <a:p>
            <a:pPr indent="0" marL="0">
              <a:buNone/>
            </a:pPr>
            <a:r>
              <a:rPr lang="en-US" sz="1100" i="1" dirty="0">
                <a:solidFill>
                  <a:srgbClr val="B0B8CC"/>
                </a:solidFill>
                <a:latin typeface="Calibri" pitchFamily="34" charset="0"/>
                <a:ea typeface="Calibri" pitchFamily="34" charset="-122"/>
                <a:cs typeface="Calibri" pitchFamily="34" charset="-120"/>
              </a:rPr>
              <a:t>Students respond...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D4943A"/>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Your Turn — You Decide</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Apply it independently in your Editor's Notebook</a:t>
            </a:r>
            <a:endParaRPr lang="en-US" sz="1050" dirty="0"/>
          </a:p>
        </p:txBody>
      </p:sp>
      <p:sp>
        <p:nvSpPr>
          <p:cNvPr id="7" name="Shape 5"/>
          <p:cNvSpPr/>
          <p:nvPr/>
        </p:nvSpPr>
        <p:spPr>
          <a:xfrm>
            <a:off x="365760" y="804672"/>
            <a:ext cx="2011680" cy="329184"/>
          </a:xfrm>
          <a:prstGeom prst="roundRect">
            <a:avLst>
              <a:gd name="adj" fmla="val 27778"/>
            </a:avLst>
          </a:prstGeom>
          <a:solidFill>
            <a:srgbClr val="D4943A"/>
          </a:solidFill>
          <a:ln/>
        </p:spPr>
      </p:sp>
      <p:sp>
        <p:nvSpPr>
          <p:cNvPr id="8" name="Text 6"/>
          <p:cNvSpPr/>
          <p:nvPr/>
        </p:nvSpPr>
        <p:spPr>
          <a:xfrm>
            <a:off x="365760" y="804672"/>
            <a:ext cx="2011680"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 DO</a:t>
            </a:r>
            <a:endParaRPr lang="en-US" sz="1400" dirty="0"/>
          </a:p>
        </p:txBody>
      </p:sp>
      <p:sp>
        <p:nvSpPr>
          <p:cNvPr id="9" name="Text 7"/>
          <p:cNvSpPr/>
          <p:nvPr/>
        </p:nvSpPr>
        <p:spPr>
          <a:xfrm>
            <a:off x="457200" y="1225296"/>
            <a:ext cx="8229600" cy="310896"/>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For each timeline below, answer: Primary or Secondary? What does it LEAVE OUT and why?</a:t>
            </a:r>
            <a:endParaRPr lang="en-US" sz="1200" dirty="0"/>
          </a:p>
        </p:txBody>
      </p:sp>
      <p:sp>
        <p:nvSpPr>
          <p:cNvPr id="10" name="Shape 8"/>
          <p:cNvSpPr/>
          <p:nvPr/>
        </p:nvSpPr>
        <p:spPr>
          <a:xfrm>
            <a:off x="365760" y="1664208"/>
            <a:ext cx="8412480" cy="676656"/>
          </a:xfrm>
          <a:prstGeom prst="roundRect">
            <a:avLst>
              <a:gd name="adj" fmla="val 10811"/>
            </a:avLst>
          </a:prstGeom>
          <a:solidFill>
            <a:srgbClr val="FFFFFF"/>
          </a:solidFill>
          <a:ln w="12700">
            <a:solidFill>
              <a:srgbClr val="D8DCE8"/>
            </a:solidFill>
            <a:prstDash val="solid"/>
          </a:ln>
        </p:spPr>
      </p:sp>
      <p:sp>
        <p:nvSpPr>
          <p:cNvPr id="11" name="Text 9"/>
          <p:cNvSpPr/>
          <p:nvPr/>
        </p:nvSpPr>
        <p:spPr>
          <a:xfrm>
            <a:off x="548640" y="1719072"/>
            <a:ext cx="5029200" cy="27432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1. A family Bible recording births and deaths from 1780 to 1820.</a:t>
            </a:r>
            <a:endParaRPr lang="en-US" sz="1200" dirty="0"/>
          </a:p>
        </p:txBody>
      </p:sp>
      <p:sp>
        <p:nvSpPr>
          <p:cNvPr id="12" name="Shape 10"/>
          <p:cNvSpPr/>
          <p:nvPr/>
        </p:nvSpPr>
        <p:spPr>
          <a:xfrm>
            <a:off x="548640" y="2011680"/>
            <a:ext cx="5029200" cy="237744"/>
          </a:xfrm>
          <a:prstGeom prst="roundRect">
            <a:avLst>
              <a:gd name="adj" fmla="val 23077"/>
            </a:avLst>
          </a:prstGeom>
          <a:solidFill>
            <a:srgbClr val="FFF3DC"/>
          </a:solidFill>
          <a:ln/>
        </p:spPr>
      </p:sp>
      <p:sp>
        <p:nvSpPr>
          <p:cNvPr id="13" name="Text 11"/>
          <p:cNvSpPr/>
          <p:nvPr/>
        </p:nvSpPr>
        <p:spPr>
          <a:xfrm>
            <a:off x="640080" y="2020824"/>
            <a:ext cx="4846320" cy="219456"/>
          </a:xfrm>
          <a:prstGeom prst="rect">
            <a:avLst/>
          </a:prstGeom>
          <a:noFill/>
          <a:ln/>
        </p:spPr>
        <p:txBody>
          <a:bodyPr wrap="square"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Scaffold: Was it made during those years, by family members living through them?</a:t>
            </a:r>
            <a:endParaRPr lang="en-US" sz="1000" dirty="0"/>
          </a:p>
        </p:txBody>
      </p:sp>
      <p:sp>
        <p:nvSpPr>
          <p:cNvPr id="14" name="Shape 12"/>
          <p:cNvSpPr/>
          <p:nvPr/>
        </p:nvSpPr>
        <p:spPr>
          <a:xfrm>
            <a:off x="5669280" y="1719072"/>
            <a:ext cx="2743200" cy="530352"/>
          </a:xfrm>
          <a:prstGeom prst="roundRect">
            <a:avLst>
              <a:gd name="adj" fmla="val 10345"/>
            </a:avLst>
          </a:prstGeom>
          <a:solidFill>
            <a:srgbClr val="F0F2F8"/>
          </a:solidFill>
          <a:ln w="12700">
            <a:solidFill>
              <a:srgbClr val="B0B8CC"/>
            </a:solidFill>
            <a:prstDash val="dash"/>
          </a:ln>
        </p:spPr>
      </p:sp>
      <p:sp>
        <p:nvSpPr>
          <p:cNvPr id="15" name="Text 13"/>
          <p:cNvSpPr/>
          <p:nvPr/>
        </p:nvSpPr>
        <p:spPr>
          <a:xfrm>
            <a:off x="5760720" y="1773936"/>
            <a:ext cx="2560320" cy="402336"/>
          </a:xfrm>
          <a:prstGeom prst="rect">
            <a:avLst/>
          </a:prstGeom>
          <a:noFill/>
          <a:ln/>
        </p:spPr>
        <p:txBody>
          <a:bodyPr wrap="square"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My answer: ___________</a:t>
            </a:r>
            <a:endParaRPr lang="en-US" sz="1100" dirty="0"/>
          </a:p>
        </p:txBody>
      </p:sp>
      <p:sp>
        <p:nvSpPr>
          <p:cNvPr id="16" name="Shape 14"/>
          <p:cNvSpPr/>
          <p:nvPr/>
        </p:nvSpPr>
        <p:spPr>
          <a:xfrm>
            <a:off x="365760" y="2432304"/>
            <a:ext cx="8412480" cy="676656"/>
          </a:xfrm>
          <a:prstGeom prst="roundRect">
            <a:avLst>
              <a:gd name="adj" fmla="val 10811"/>
            </a:avLst>
          </a:prstGeom>
          <a:solidFill>
            <a:srgbClr val="FFFFFF"/>
          </a:solidFill>
          <a:ln w="12700">
            <a:solidFill>
              <a:srgbClr val="D8DCE8"/>
            </a:solidFill>
            <a:prstDash val="solid"/>
          </a:ln>
        </p:spPr>
      </p:sp>
      <p:sp>
        <p:nvSpPr>
          <p:cNvPr id="17" name="Text 15"/>
          <p:cNvSpPr/>
          <p:nvPr/>
        </p:nvSpPr>
        <p:spPr>
          <a:xfrm>
            <a:off x="548640" y="2487168"/>
            <a:ext cx="5029200" cy="27432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2. A textbook chapter timeline of the Civil War, published in 2015.</a:t>
            </a:r>
            <a:endParaRPr lang="en-US" sz="1200" dirty="0"/>
          </a:p>
        </p:txBody>
      </p:sp>
      <p:sp>
        <p:nvSpPr>
          <p:cNvPr id="18" name="Shape 16"/>
          <p:cNvSpPr/>
          <p:nvPr/>
        </p:nvSpPr>
        <p:spPr>
          <a:xfrm>
            <a:off x="548640" y="2779776"/>
            <a:ext cx="5029200" cy="237744"/>
          </a:xfrm>
          <a:prstGeom prst="roundRect">
            <a:avLst>
              <a:gd name="adj" fmla="val 23077"/>
            </a:avLst>
          </a:prstGeom>
          <a:solidFill>
            <a:srgbClr val="FFF3DC"/>
          </a:solidFill>
          <a:ln/>
        </p:spPr>
      </p:sp>
      <p:sp>
        <p:nvSpPr>
          <p:cNvPr id="19" name="Text 17"/>
          <p:cNvSpPr/>
          <p:nvPr/>
        </p:nvSpPr>
        <p:spPr>
          <a:xfrm>
            <a:off x="640080" y="2788920"/>
            <a:ext cx="4846320" cy="219456"/>
          </a:xfrm>
          <a:prstGeom prst="rect">
            <a:avLst/>
          </a:prstGeom>
          <a:noFill/>
          <a:ln/>
        </p:spPr>
        <p:txBody>
          <a:bodyPr wrap="square"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Scaffold: Was the author alive during the Civil War?</a:t>
            </a:r>
            <a:endParaRPr lang="en-US" sz="1000" dirty="0"/>
          </a:p>
        </p:txBody>
      </p:sp>
      <p:sp>
        <p:nvSpPr>
          <p:cNvPr id="20" name="Shape 18"/>
          <p:cNvSpPr/>
          <p:nvPr/>
        </p:nvSpPr>
        <p:spPr>
          <a:xfrm>
            <a:off x="5669280" y="2487168"/>
            <a:ext cx="2743200" cy="530352"/>
          </a:xfrm>
          <a:prstGeom prst="roundRect">
            <a:avLst>
              <a:gd name="adj" fmla="val 10345"/>
            </a:avLst>
          </a:prstGeom>
          <a:solidFill>
            <a:srgbClr val="F0F2F8"/>
          </a:solidFill>
          <a:ln w="12700">
            <a:solidFill>
              <a:srgbClr val="B0B8CC"/>
            </a:solidFill>
            <a:prstDash val="dash"/>
          </a:ln>
        </p:spPr>
      </p:sp>
      <p:sp>
        <p:nvSpPr>
          <p:cNvPr id="21" name="Text 19"/>
          <p:cNvSpPr/>
          <p:nvPr/>
        </p:nvSpPr>
        <p:spPr>
          <a:xfrm>
            <a:off x="5760720" y="2542032"/>
            <a:ext cx="2560320" cy="402336"/>
          </a:xfrm>
          <a:prstGeom prst="rect">
            <a:avLst/>
          </a:prstGeom>
          <a:noFill/>
          <a:ln/>
        </p:spPr>
        <p:txBody>
          <a:bodyPr wrap="square"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My answer: ___________</a:t>
            </a:r>
            <a:endParaRPr lang="en-US" sz="1100" dirty="0"/>
          </a:p>
        </p:txBody>
      </p:sp>
      <p:sp>
        <p:nvSpPr>
          <p:cNvPr id="22" name="Shape 20"/>
          <p:cNvSpPr/>
          <p:nvPr/>
        </p:nvSpPr>
        <p:spPr>
          <a:xfrm>
            <a:off x="365760" y="3200400"/>
            <a:ext cx="8412480" cy="676656"/>
          </a:xfrm>
          <a:prstGeom prst="roundRect">
            <a:avLst>
              <a:gd name="adj" fmla="val 10811"/>
            </a:avLst>
          </a:prstGeom>
          <a:solidFill>
            <a:srgbClr val="FFFFFF"/>
          </a:solidFill>
          <a:ln w="12700">
            <a:solidFill>
              <a:srgbClr val="D8DCE8"/>
            </a:solidFill>
            <a:prstDash val="solid"/>
          </a:ln>
        </p:spPr>
      </p:sp>
      <p:sp>
        <p:nvSpPr>
          <p:cNvPr id="23" name="Text 21"/>
          <p:cNvSpPr/>
          <p:nvPr/>
        </p:nvSpPr>
        <p:spPr>
          <a:xfrm>
            <a:off x="548640" y="3255264"/>
            <a:ext cx="5029200" cy="27432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3. A Revolutionary-era almanac listing 'events of this year' — printed in 1775.</a:t>
            </a:r>
            <a:endParaRPr lang="en-US" sz="1200" dirty="0"/>
          </a:p>
        </p:txBody>
      </p:sp>
      <p:sp>
        <p:nvSpPr>
          <p:cNvPr id="24" name="Shape 22"/>
          <p:cNvSpPr/>
          <p:nvPr/>
        </p:nvSpPr>
        <p:spPr>
          <a:xfrm>
            <a:off x="548640" y="3547872"/>
            <a:ext cx="5029200" cy="237744"/>
          </a:xfrm>
          <a:prstGeom prst="roundRect">
            <a:avLst>
              <a:gd name="adj" fmla="val 23077"/>
            </a:avLst>
          </a:prstGeom>
          <a:solidFill>
            <a:srgbClr val="FFF3DC"/>
          </a:solidFill>
          <a:ln/>
        </p:spPr>
      </p:sp>
      <p:sp>
        <p:nvSpPr>
          <p:cNvPr id="25" name="Text 23"/>
          <p:cNvSpPr/>
          <p:nvPr/>
        </p:nvSpPr>
        <p:spPr>
          <a:xfrm>
            <a:off x="640080" y="3557016"/>
            <a:ext cx="4846320" cy="219456"/>
          </a:xfrm>
          <a:prstGeom prst="rect">
            <a:avLst/>
          </a:prstGeom>
          <a:noFill/>
          <a:ln/>
        </p:spPr>
        <p:txBody>
          <a:bodyPr wrap="square"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Scaffold: Think about the horizon: what can't the 1775 author know?</a:t>
            </a:r>
            <a:endParaRPr lang="en-US" sz="1000" dirty="0"/>
          </a:p>
        </p:txBody>
      </p:sp>
      <p:sp>
        <p:nvSpPr>
          <p:cNvPr id="26" name="Shape 24"/>
          <p:cNvSpPr/>
          <p:nvPr/>
        </p:nvSpPr>
        <p:spPr>
          <a:xfrm>
            <a:off x="5669280" y="3255264"/>
            <a:ext cx="2743200" cy="530352"/>
          </a:xfrm>
          <a:prstGeom prst="roundRect">
            <a:avLst>
              <a:gd name="adj" fmla="val 10345"/>
            </a:avLst>
          </a:prstGeom>
          <a:solidFill>
            <a:srgbClr val="F0F2F8"/>
          </a:solidFill>
          <a:ln w="12700">
            <a:solidFill>
              <a:srgbClr val="B0B8CC"/>
            </a:solidFill>
            <a:prstDash val="dash"/>
          </a:ln>
        </p:spPr>
      </p:sp>
      <p:sp>
        <p:nvSpPr>
          <p:cNvPr id="27" name="Text 25"/>
          <p:cNvSpPr/>
          <p:nvPr/>
        </p:nvSpPr>
        <p:spPr>
          <a:xfrm>
            <a:off x="5760720" y="3310128"/>
            <a:ext cx="2560320" cy="402336"/>
          </a:xfrm>
          <a:prstGeom prst="rect">
            <a:avLst/>
          </a:prstGeom>
          <a:noFill/>
          <a:ln/>
        </p:spPr>
        <p:txBody>
          <a:bodyPr wrap="square"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My answer: ___________</a:t>
            </a:r>
            <a:endParaRPr lang="en-US" sz="1100" dirty="0"/>
          </a:p>
        </p:txBody>
      </p:sp>
      <p:sp>
        <p:nvSpPr>
          <p:cNvPr id="28" name="Shape 26"/>
          <p:cNvSpPr/>
          <p:nvPr/>
        </p:nvSpPr>
        <p:spPr>
          <a:xfrm>
            <a:off x="365760" y="3968496"/>
            <a:ext cx="8412480" cy="676656"/>
          </a:xfrm>
          <a:prstGeom prst="roundRect">
            <a:avLst>
              <a:gd name="adj" fmla="val 10811"/>
            </a:avLst>
          </a:prstGeom>
          <a:solidFill>
            <a:srgbClr val="FFFFFF"/>
          </a:solidFill>
          <a:ln w="12700">
            <a:solidFill>
              <a:srgbClr val="D8DCE8"/>
            </a:solidFill>
            <a:prstDash val="solid"/>
          </a:ln>
        </p:spPr>
      </p:sp>
      <p:sp>
        <p:nvSpPr>
          <p:cNvPr id="29" name="Text 27"/>
          <p:cNvSpPr/>
          <p:nvPr/>
        </p:nvSpPr>
        <p:spPr>
          <a:xfrm>
            <a:off x="548640" y="4023360"/>
            <a:ext cx="5029200" cy="27432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4. A museum wall timeline covering 'American History, 1600–2020.'</a:t>
            </a:r>
            <a:endParaRPr lang="en-US" sz="1200" dirty="0"/>
          </a:p>
        </p:txBody>
      </p:sp>
      <p:sp>
        <p:nvSpPr>
          <p:cNvPr id="30" name="Shape 28"/>
          <p:cNvSpPr/>
          <p:nvPr/>
        </p:nvSpPr>
        <p:spPr>
          <a:xfrm>
            <a:off x="548640" y="4315968"/>
            <a:ext cx="5029200" cy="237744"/>
          </a:xfrm>
          <a:prstGeom prst="roundRect">
            <a:avLst>
              <a:gd name="adj" fmla="val 23077"/>
            </a:avLst>
          </a:prstGeom>
          <a:solidFill>
            <a:srgbClr val="FFF3DC"/>
          </a:solidFill>
          <a:ln/>
        </p:spPr>
      </p:sp>
      <p:sp>
        <p:nvSpPr>
          <p:cNvPr id="31" name="Text 29"/>
          <p:cNvSpPr/>
          <p:nvPr/>
        </p:nvSpPr>
        <p:spPr>
          <a:xfrm>
            <a:off x="640080" y="4325112"/>
            <a:ext cx="4846320" cy="219456"/>
          </a:xfrm>
          <a:prstGeom prst="rect">
            <a:avLst/>
          </a:prstGeom>
          <a:noFill/>
          <a:ln/>
        </p:spPr>
        <p:txBody>
          <a:bodyPr wrap="square"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Scaffold: Who made this, when, and what choices did they make about what to include?</a:t>
            </a:r>
            <a:endParaRPr lang="en-US" sz="1000" dirty="0"/>
          </a:p>
        </p:txBody>
      </p:sp>
      <p:sp>
        <p:nvSpPr>
          <p:cNvPr id="32" name="Shape 30"/>
          <p:cNvSpPr/>
          <p:nvPr/>
        </p:nvSpPr>
        <p:spPr>
          <a:xfrm>
            <a:off x="5669280" y="4023360"/>
            <a:ext cx="2743200" cy="530352"/>
          </a:xfrm>
          <a:prstGeom prst="roundRect">
            <a:avLst>
              <a:gd name="adj" fmla="val 10345"/>
            </a:avLst>
          </a:prstGeom>
          <a:solidFill>
            <a:srgbClr val="F0F2F8"/>
          </a:solidFill>
          <a:ln w="12700">
            <a:solidFill>
              <a:srgbClr val="B0B8CC"/>
            </a:solidFill>
            <a:prstDash val="dash"/>
          </a:ln>
        </p:spPr>
      </p:sp>
      <p:sp>
        <p:nvSpPr>
          <p:cNvPr id="33" name="Text 31"/>
          <p:cNvSpPr/>
          <p:nvPr/>
        </p:nvSpPr>
        <p:spPr>
          <a:xfrm>
            <a:off x="5760720" y="4078224"/>
            <a:ext cx="2560320" cy="402336"/>
          </a:xfrm>
          <a:prstGeom prst="rect">
            <a:avLst/>
          </a:prstGeom>
          <a:noFill/>
          <a:ln/>
        </p:spPr>
        <p:txBody>
          <a:bodyPr wrap="square"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My answer: ___________</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E8636B"/>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Error Analysis — What Did the Herald Miss?</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Understanding the mistake so we can correct it fairly</a:t>
            </a:r>
            <a:endParaRPr lang="en-US" sz="1050" dirty="0"/>
          </a:p>
        </p:txBody>
      </p:sp>
      <p:sp>
        <p:nvSpPr>
          <p:cNvPr id="7" name="Shape 5"/>
          <p:cNvSpPr/>
          <p:nvPr/>
        </p:nvSpPr>
        <p:spPr>
          <a:xfrm>
            <a:off x="365760" y="804672"/>
            <a:ext cx="8412480" cy="566928"/>
          </a:xfrm>
          <a:prstGeom prst="roundRect">
            <a:avLst>
              <a:gd name="adj" fmla="val 12903"/>
            </a:avLst>
          </a:prstGeom>
          <a:solidFill>
            <a:srgbClr val="FAF3E0"/>
          </a:solidFill>
          <a:ln w="19050">
            <a:solidFill>
              <a:srgbClr val="8B2D26"/>
            </a:solidFill>
            <a:prstDash val="solid"/>
          </a:ln>
        </p:spPr>
      </p:sp>
      <p:sp>
        <p:nvSpPr>
          <p:cNvPr id="8" name="Text 6"/>
          <p:cNvSpPr/>
          <p:nvPr/>
        </p:nvSpPr>
        <p:spPr>
          <a:xfrm>
            <a:off x="548640" y="804672"/>
            <a:ext cx="8046720" cy="566928"/>
          </a:xfrm>
          <a:prstGeom prst="rect">
            <a:avLst/>
          </a:prstGeom>
          <a:noFill/>
          <a:ln/>
        </p:spPr>
        <p:txBody>
          <a:bodyPr wrap="square" rtlCol="0" anchor="ctr"/>
          <a:lstStyle/>
          <a:p>
            <a:pPr indent="0" marL="0">
              <a:buNone/>
            </a:pPr>
            <a:r>
              <a:rPr lang="en-US" sz="1300" i="1" dirty="0">
                <a:solidFill>
                  <a:srgbClr val="8B2D26"/>
                </a:solidFill>
                <a:latin typeface="Cambria" pitchFamily="34" charset="0"/>
                <a:ea typeface="Cambria" pitchFamily="34" charset="-122"/>
                <a:cs typeface="Cambria" pitchFamily="34" charset="-120"/>
              </a:rPr>
              <a:t>HERALD CLAIM: "A timeline is just a list of dates; it cannot help explain history."</a:t>
            </a:r>
            <a:endParaRPr lang="en-US" sz="1300" dirty="0"/>
          </a:p>
        </p:txBody>
      </p:sp>
      <p:sp>
        <p:nvSpPr>
          <p:cNvPr id="9" name="Shape 7"/>
          <p:cNvSpPr/>
          <p:nvPr/>
        </p:nvSpPr>
        <p:spPr>
          <a:xfrm>
            <a:off x="274320" y="1499616"/>
            <a:ext cx="2715768" cy="3154680"/>
          </a:xfrm>
          <a:prstGeom prst="roundRect">
            <a:avLst>
              <a:gd name="adj" fmla="val 3367"/>
            </a:avLst>
          </a:prstGeom>
          <a:solidFill>
            <a:srgbClr val="FFFFFF"/>
          </a:solidFill>
          <a:ln w="25400">
            <a:solidFill>
              <a:srgbClr val="34B76F"/>
            </a:solidFill>
            <a:prstDash val="solid"/>
          </a:ln>
        </p:spPr>
      </p:sp>
      <p:sp>
        <p:nvSpPr>
          <p:cNvPr id="10" name="Shape 8"/>
          <p:cNvSpPr/>
          <p:nvPr/>
        </p:nvSpPr>
        <p:spPr>
          <a:xfrm>
            <a:off x="365760" y="1554480"/>
            <a:ext cx="2532888" cy="329184"/>
          </a:xfrm>
          <a:prstGeom prst="roundRect">
            <a:avLst>
              <a:gd name="adj" fmla="val 16667"/>
            </a:avLst>
          </a:prstGeom>
          <a:solidFill>
            <a:srgbClr val="34B76F"/>
          </a:solidFill>
          <a:ln/>
        </p:spPr>
      </p:sp>
      <p:sp>
        <p:nvSpPr>
          <p:cNvPr id="11" name="Text 9"/>
          <p:cNvSpPr/>
          <p:nvPr/>
        </p:nvSpPr>
        <p:spPr>
          <a:xfrm>
            <a:off x="365760" y="1554480"/>
            <a:ext cx="2532888" cy="329184"/>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WHAT'S TRUE</a:t>
            </a:r>
            <a:endParaRPr lang="en-US" sz="950" dirty="0"/>
          </a:p>
        </p:txBody>
      </p:sp>
      <p:sp>
        <p:nvSpPr>
          <p:cNvPr id="12" name="Text 10"/>
          <p:cNvSpPr/>
          <p:nvPr/>
        </p:nvSpPr>
        <p:spPr>
          <a:xfrm>
            <a:off x="438912" y="1938528"/>
            <a:ext cx="2386584" cy="2624328"/>
          </a:xfrm>
          <a:prstGeom prst="rect">
            <a:avLst/>
          </a:prstGeom>
          <a:noFill/>
          <a:ln/>
        </p:spPr>
        <p:txBody>
          <a:bodyPr wrap="square" rtlCol="0" anchor="t"/>
          <a:lstStyle/>
          <a:p>
            <a:pPr indent="0" marL="0">
              <a:buNone/>
            </a:pPr>
            <a:r>
              <a:rPr lang="en-US" sz="1300" dirty="0">
                <a:solidFill>
                  <a:srgbClr val="0E1C42"/>
                </a:solidFill>
                <a:latin typeface="Calibri" pitchFamily="34" charset="0"/>
                <a:ea typeface="Calibri" pitchFamily="34" charset="-122"/>
                <a:cs typeface="Calibri" pitchFamily="34" charset="-120"/>
              </a:rPr>
              <a:t>Timelines DO include dates. That part is accurate. The Herald is not completely wrong — dates are real elements of a timeline.</a:t>
            </a:r>
            <a:endParaRPr lang="en-US" sz="1300" dirty="0"/>
          </a:p>
        </p:txBody>
      </p:sp>
      <p:sp>
        <p:nvSpPr>
          <p:cNvPr id="13" name="Shape 11"/>
          <p:cNvSpPr/>
          <p:nvPr/>
        </p:nvSpPr>
        <p:spPr>
          <a:xfrm>
            <a:off x="3154680" y="1499616"/>
            <a:ext cx="2715768" cy="3154680"/>
          </a:xfrm>
          <a:prstGeom prst="roundRect">
            <a:avLst>
              <a:gd name="adj" fmla="val 3367"/>
            </a:avLst>
          </a:prstGeom>
          <a:solidFill>
            <a:srgbClr val="FFFFFF"/>
          </a:solidFill>
          <a:ln w="25400">
            <a:solidFill>
              <a:srgbClr val="E8636B"/>
            </a:solidFill>
            <a:prstDash val="solid"/>
          </a:ln>
        </p:spPr>
      </p:sp>
      <p:sp>
        <p:nvSpPr>
          <p:cNvPr id="14" name="Shape 12"/>
          <p:cNvSpPr/>
          <p:nvPr/>
        </p:nvSpPr>
        <p:spPr>
          <a:xfrm>
            <a:off x="3246120" y="1554480"/>
            <a:ext cx="2532888" cy="329184"/>
          </a:xfrm>
          <a:prstGeom prst="roundRect">
            <a:avLst>
              <a:gd name="adj" fmla="val 16667"/>
            </a:avLst>
          </a:prstGeom>
          <a:solidFill>
            <a:srgbClr val="E8636B"/>
          </a:solidFill>
          <a:ln/>
        </p:spPr>
      </p:sp>
      <p:sp>
        <p:nvSpPr>
          <p:cNvPr id="15" name="Text 13"/>
          <p:cNvSpPr/>
          <p:nvPr/>
        </p:nvSpPr>
        <p:spPr>
          <a:xfrm>
            <a:off x="3246120" y="1554480"/>
            <a:ext cx="2532888" cy="329184"/>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THE ERROR</a:t>
            </a:r>
            <a:endParaRPr lang="en-US" sz="950" dirty="0"/>
          </a:p>
        </p:txBody>
      </p:sp>
      <p:sp>
        <p:nvSpPr>
          <p:cNvPr id="16" name="Text 14"/>
          <p:cNvSpPr/>
          <p:nvPr/>
        </p:nvSpPr>
        <p:spPr>
          <a:xfrm>
            <a:off x="3319272" y="1938528"/>
            <a:ext cx="2386584" cy="2624328"/>
          </a:xfrm>
          <a:prstGeom prst="rect">
            <a:avLst/>
          </a:prstGeom>
          <a:noFill/>
          <a:ln/>
        </p:spPr>
        <p:txBody>
          <a:bodyPr wrap="square" rtlCol="0" anchor="t"/>
          <a:lstStyle/>
          <a:p>
            <a:pPr indent="0" marL="0">
              <a:buNone/>
            </a:pPr>
            <a:r>
              <a:rPr lang="en-US" sz="1300" dirty="0">
                <a:solidFill>
                  <a:srgbClr val="0E1C42"/>
                </a:solidFill>
                <a:latin typeface="Calibri" pitchFamily="34" charset="0"/>
                <a:ea typeface="Calibri" pitchFamily="34" charset="-122"/>
                <a:cs typeface="Calibri" pitchFamily="34" charset="-120"/>
              </a:rPr>
              <a:t>"Just" and "cannot help explain" are the problems. Timelines group events into periods, show connections, and are themselves sources that historians interrogate.</a:t>
            </a:r>
            <a:endParaRPr lang="en-US" sz="1300" dirty="0"/>
          </a:p>
        </p:txBody>
      </p:sp>
      <p:sp>
        <p:nvSpPr>
          <p:cNvPr id="17" name="Shape 15"/>
          <p:cNvSpPr/>
          <p:nvPr/>
        </p:nvSpPr>
        <p:spPr>
          <a:xfrm>
            <a:off x="6035040" y="1499616"/>
            <a:ext cx="2715768" cy="3154680"/>
          </a:xfrm>
          <a:prstGeom prst="roundRect">
            <a:avLst>
              <a:gd name="adj" fmla="val 3367"/>
            </a:avLst>
          </a:prstGeom>
          <a:solidFill>
            <a:srgbClr val="FFFFFF"/>
          </a:solidFill>
          <a:ln w="25400">
            <a:solidFill>
              <a:srgbClr val="1A8A7D"/>
            </a:solidFill>
            <a:prstDash val="solid"/>
          </a:ln>
        </p:spPr>
      </p:sp>
      <p:sp>
        <p:nvSpPr>
          <p:cNvPr id="18" name="Shape 16"/>
          <p:cNvSpPr/>
          <p:nvPr/>
        </p:nvSpPr>
        <p:spPr>
          <a:xfrm>
            <a:off x="6126480" y="1554480"/>
            <a:ext cx="2532888" cy="329184"/>
          </a:xfrm>
          <a:prstGeom prst="roundRect">
            <a:avLst>
              <a:gd name="adj" fmla="val 16667"/>
            </a:avLst>
          </a:prstGeom>
          <a:solidFill>
            <a:srgbClr val="1A8A7D"/>
          </a:solidFill>
          <a:ln/>
        </p:spPr>
      </p:sp>
      <p:sp>
        <p:nvSpPr>
          <p:cNvPr id="19" name="Text 17"/>
          <p:cNvSpPr/>
          <p:nvPr/>
        </p:nvSpPr>
        <p:spPr>
          <a:xfrm>
            <a:off x="6126480" y="1554480"/>
            <a:ext cx="2532888" cy="329184"/>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THE CORRECTION</a:t>
            </a:r>
            <a:endParaRPr lang="en-US" sz="950" dirty="0"/>
          </a:p>
        </p:txBody>
      </p:sp>
      <p:sp>
        <p:nvSpPr>
          <p:cNvPr id="20" name="Text 18"/>
          <p:cNvSpPr/>
          <p:nvPr/>
        </p:nvSpPr>
        <p:spPr>
          <a:xfrm>
            <a:off x="6199632" y="1938528"/>
            <a:ext cx="2386584" cy="2624328"/>
          </a:xfrm>
          <a:prstGeom prst="rect">
            <a:avLst/>
          </a:prstGeom>
          <a:noFill/>
          <a:ln/>
        </p:spPr>
        <p:txBody>
          <a:bodyPr wrap="square" rtlCol="0" anchor="t"/>
          <a:lstStyle/>
          <a:p>
            <a:pPr indent="0" marL="0">
              <a:buNone/>
            </a:pPr>
            <a:r>
              <a:rPr lang="en-US" sz="1300" dirty="0">
                <a:solidFill>
                  <a:srgbClr val="0E1C42"/>
                </a:solidFill>
                <a:latin typeface="Calibri" pitchFamily="34" charset="0"/>
                <a:ea typeface="Calibri" pitchFamily="34" charset="-122"/>
                <a:cs typeface="Calibri" pitchFamily="34" charset="-120"/>
              </a:rPr>
              <a:t>Timelines are arguments about which moments mattered. An honest editor reads them as sources — asking who built it, when, and what choices were made.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54864"/>
          </a:xfrm>
          <a:prstGeom prst="rect">
            <a:avLst/>
          </a:prstGeom>
          <a:solidFill>
            <a:srgbClr val="55C8E8"/>
          </a:solidFill>
          <a:ln/>
        </p:spPr>
      </p:sp>
      <p:sp>
        <p:nvSpPr>
          <p:cNvPr id="4" name="Text 2"/>
          <p:cNvSpPr/>
          <p:nvPr/>
        </p:nvSpPr>
        <p:spPr>
          <a:xfrm>
            <a:off x="365760" y="109728"/>
            <a:ext cx="8412480" cy="347472"/>
          </a:xfrm>
          <a:prstGeom prst="rect">
            <a:avLst/>
          </a:prstGeom>
          <a:noFill/>
          <a:ln/>
        </p:spPr>
        <p:txBody>
          <a:bodyPr wrap="square" rtlCol="0" anchor="ctr"/>
          <a:lstStyle/>
          <a:p>
            <a:pPr algn="ctr" indent="0" marL="0">
              <a:buNone/>
            </a:pPr>
            <a:r>
              <a:rPr lang="en-US" sz="1300" b="1" spc="200" kern="0" dirty="0">
                <a:solidFill>
                  <a:srgbClr val="55C8E8"/>
                </a:solidFill>
                <a:latin typeface="Calibri" pitchFamily="34" charset="0"/>
                <a:ea typeface="Calibri" pitchFamily="34" charset="-122"/>
                <a:cs typeface="Calibri" pitchFamily="34" charset="-120"/>
              </a:rPr>
              <a:t>FACT-CHECK PREVIEW</a:t>
            </a:r>
            <a:endParaRPr lang="en-US" sz="1300" dirty="0"/>
          </a:p>
        </p:txBody>
      </p:sp>
      <p:sp>
        <p:nvSpPr>
          <p:cNvPr id="5" name="Text 3"/>
          <p:cNvSpPr/>
          <p:nvPr/>
        </p:nvSpPr>
        <p:spPr>
          <a:xfrm>
            <a:off x="365760" y="512064"/>
            <a:ext cx="8412480" cy="256032"/>
          </a:xfrm>
          <a:prstGeom prst="rect">
            <a:avLst/>
          </a:prstGeom>
          <a:noFill/>
          <a:ln/>
        </p:spPr>
        <p:txBody>
          <a:bodyPr wrap="square"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Before the Gazette goes to press, fact-check the claims.</a:t>
            </a:r>
            <a:endParaRPr lang="en-US" sz="1200" dirty="0"/>
          </a:p>
        </p:txBody>
      </p:sp>
      <p:sp>
        <p:nvSpPr>
          <p:cNvPr id="6" name="Shape 4"/>
          <p:cNvSpPr/>
          <p:nvPr/>
        </p:nvSpPr>
        <p:spPr>
          <a:xfrm>
            <a:off x="365760" y="914400"/>
            <a:ext cx="8412480" cy="1097280"/>
          </a:xfrm>
          <a:prstGeom prst="roundRect">
            <a:avLst>
              <a:gd name="adj" fmla="val 8333"/>
            </a:avLst>
          </a:prstGeom>
          <a:solidFill>
            <a:srgbClr val="1A2D5A"/>
          </a:solidFill>
          <a:ln w="12700">
            <a:solidFill>
              <a:srgbClr val="2A4070"/>
            </a:solidFill>
            <a:prstDash val="solid"/>
          </a:ln>
        </p:spPr>
      </p:sp>
      <p:sp>
        <p:nvSpPr>
          <p:cNvPr id="7" name="Text 5"/>
          <p:cNvSpPr/>
          <p:nvPr/>
        </p:nvSpPr>
        <p:spPr>
          <a:xfrm>
            <a:off x="548640" y="1005840"/>
            <a:ext cx="8046720" cy="502920"/>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1. What does a 'period' do in a historical timeline?</a:t>
            </a:r>
            <a:endParaRPr lang="en-US" sz="1350" dirty="0"/>
          </a:p>
        </p:txBody>
      </p:sp>
      <p:sp>
        <p:nvSpPr>
          <p:cNvPr id="8" name="Shape 6"/>
          <p:cNvSpPr/>
          <p:nvPr/>
        </p:nvSpPr>
        <p:spPr>
          <a:xfrm>
            <a:off x="548640" y="1591056"/>
            <a:ext cx="5120640" cy="310896"/>
          </a:xfrm>
          <a:prstGeom prst="roundRect">
            <a:avLst>
              <a:gd name="adj" fmla="val 17647"/>
            </a:avLst>
          </a:prstGeom>
          <a:solidFill>
            <a:srgbClr val="0E1C42"/>
          </a:solidFill>
          <a:ln/>
        </p:spPr>
      </p:sp>
      <p:sp>
        <p:nvSpPr>
          <p:cNvPr id="9" name="Text 7"/>
          <p:cNvSpPr/>
          <p:nvPr/>
        </p:nvSpPr>
        <p:spPr>
          <a:xfrm>
            <a:off x="640080" y="1591056"/>
            <a:ext cx="4937760" cy="310896"/>
          </a:xfrm>
          <a:prstGeom prst="rect">
            <a:avLst/>
          </a:prstGeom>
          <a:noFill/>
          <a:ln/>
        </p:spPr>
        <p:txBody>
          <a:bodyPr wrap="square"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Think: Lists every year? OR groups events and shows connections between them?</a:t>
            </a:r>
            <a:endParaRPr lang="en-US" sz="1100" dirty="0"/>
          </a:p>
        </p:txBody>
      </p:sp>
      <p:sp>
        <p:nvSpPr>
          <p:cNvPr id="10" name="Shape 8"/>
          <p:cNvSpPr/>
          <p:nvPr/>
        </p:nvSpPr>
        <p:spPr>
          <a:xfrm>
            <a:off x="365760" y="2176272"/>
            <a:ext cx="8412480" cy="1097280"/>
          </a:xfrm>
          <a:prstGeom prst="roundRect">
            <a:avLst>
              <a:gd name="adj" fmla="val 8333"/>
            </a:avLst>
          </a:prstGeom>
          <a:solidFill>
            <a:srgbClr val="1A2D5A"/>
          </a:solidFill>
          <a:ln w="12700">
            <a:solidFill>
              <a:srgbClr val="2A4070"/>
            </a:solidFill>
            <a:prstDash val="solid"/>
          </a:ln>
        </p:spPr>
      </p:sp>
      <p:sp>
        <p:nvSpPr>
          <p:cNvPr id="11" name="Text 9"/>
          <p:cNvSpPr/>
          <p:nvPr/>
        </p:nvSpPr>
        <p:spPr>
          <a:xfrm>
            <a:off x="548640" y="2267712"/>
            <a:ext cx="8046720" cy="502920"/>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2. An 1860s schoolbook 'Epochs of American History' page does NOT list the Civil War. The best explanation is...</a:t>
            </a:r>
            <a:endParaRPr lang="en-US" sz="1350" dirty="0"/>
          </a:p>
        </p:txBody>
      </p:sp>
      <p:sp>
        <p:nvSpPr>
          <p:cNvPr id="12" name="Shape 10"/>
          <p:cNvSpPr/>
          <p:nvPr/>
        </p:nvSpPr>
        <p:spPr>
          <a:xfrm>
            <a:off x="548640" y="2852928"/>
            <a:ext cx="5120640" cy="310896"/>
          </a:xfrm>
          <a:prstGeom prst="roundRect">
            <a:avLst>
              <a:gd name="adj" fmla="val 17647"/>
            </a:avLst>
          </a:prstGeom>
          <a:solidFill>
            <a:srgbClr val="0E1C42"/>
          </a:solidFill>
          <a:ln/>
        </p:spPr>
      </p:sp>
      <p:sp>
        <p:nvSpPr>
          <p:cNvPr id="13" name="Text 11"/>
          <p:cNvSpPr/>
          <p:nvPr/>
        </p:nvSpPr>
        <p:spPr>
          <a:xfrm>
            <a:off x="640080" y="2852928"/>
            <a:ext cx="4937760" cy="310896"/>
          </a:xfrm>
          <a:prstGeom prst="rect">
            <a:avLst/>
          </a:prstGeom>
          <a:noFill/>
          <a:ln/>
        </p:spPr>
        <p:txBody>
          <a:bodyPr wrap="square"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Think: Think about when the book was printed. Could the author see past that moment?</a:t>
            </a:r>
            <a:endParaRPr lang="en-US" sz="1100" dirty="0"/>
          </a:p>
        </p:txBody>
      </p:sp>
      <p:sp>
        <p:nvSpPr>
          <p:cNvPr id="14" name="Shape 12"/>
          <p:cNvSpPr/>
          <p:nvPr/>
        </p:nvSpPr>
        <p:spPr>
          <a:xfrm>
            <a:off x="365760" y="3438144"/>
            <a:ext cx="8412480" cy="1097280"/>
          </a:xfrm>
          <a:prstGeom prst="roundRect">
            <a:avLst>
              <a:gd name="adj" fmla="val 8333"/>
            </a:avLst>
          </a:prstGeom>
          <a:solidFill>
            <a:srgbClr val="1A2D5A"/>
          </a:solidFill>
          <a:ln w="12700">
            <a:solidFill>
              <a:srgbClr val="2A4070"/>
            </a:solidFill>
            <a:prstDash val="solid"/>
          </a:ln>
        </p:spPr>
      </p:sp>
      <p:sp>
        <p:nvSpPr>
          <p:cNvPr id="15" name="Text 13"/>
          <p:cNvSpPr/>
          <p:nvPr/>
        </p:nvSpPr>
        <p:spPr>
          <a:xfrm>
            <a:off x="548640" y="3529584"/>
            <a:ext cx="8046720" cy="502920"/>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3. An honest editor reading the same timeline as the Hasty Herald would...</a:t>
            </a:r>
            <a:endParaRPr lang="en-US" sz="1350" dirty="0"/>
          </a:p>
        </p:txBody>
      </p:sp>
      <p:sp>
        <p:nvSpPr>
          <p:cNvPr id="16" name="Shape 14"/>
          <p:cNvSpPr/>
          <p:nvPr/>
        </p:nvSpPr>
        <p:spPr>
          <a:xfrm>
            <a:off x="548640" y="4114800"/>
            <a:ext cx="5120640" cy="310896"/>
          </a:xfrm>
          <a:prstGeom prst="roundRect">
            <a:avLst>
              <a:gd name="adj" fmla="val 17647"/>
            </a:avLst>
          </a:prstGeom>
          <a:solidFill>
            <a:srgbClr val="0E1C42"/>
          </a:solidFill>
          <a:ln/>
        </p:spPr>
      </p:sp>
      <p:sp>
        <p:nvSpPr>
          <p:cNvPr id="17" name="Text 15"/>
          <p:cNvSpPr/>
          <p:nvPr/>
        </p:nvSpPr>
        <p:spPr>
          <a:xfrm>
            <a:off x="640080" y="4114800"/>
            <a:ext cx="4937760" cy="310896"/>
          </a:xfrm>
          <a:prstGeom prst="rect">
            <a:avLst/>
          </a:prstGeom>
          <a:noFill/>
          <a:ln/>
        </p:spPr>
        <p:txBody>
          <a:bodyPr wrap="square"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Think: What would Ms. Avery do? Print it as-is? Or ask who made it, when, and what it leaves out?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D4943A"/>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Assignment Preview — Editor's Notebook Questions</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Three questions that prepare you for the Gazette Correction</a:t>
            </a:r>
            <a:endParaRPr lang="en-US" sz="1050" dirty="0"/>
          </a:p>
        </p:txBody>
      </p:sp>
      <p:sp>
        <p:nvSpPr>
          <p:cNvPr id="7" name="Text 5"/>
          <p:cNvSpPr/>
          <p:nvPr/>
        </p:nvSpPr>
        <p:spPr>
          <a:xfrm>
            <a:off x="365760" y="822960"/>
            <a:ext cx="8412480" cy="310896"/>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Write a few sentences for each in your Editor's Notebook. These notes will help you write the Gazette Correction.</a:t>
            </a:r>
            <a:endParaRPr lang="en-US" sz="1200" dirty="0"/>
          </a:p>
        </p:txBody>
      </p:sp>
      <p:sp>
        <p:nvSpPr>
          <p:cNvPr id="8" name="Shape 6"/>
          <p:cNvSpPr/>
          <p:nvPr/>
        </p:nvSpPr>
        <p:spPr>
          <a:xfrm>
            <a:off x="365760" y="1243584"/>
            <a:ext cx="8412480" cy="1051560"/>
          </a:xfrm>
          <a:prstGeom prst="roundRect">
            <a:avLst>
              <a:gd name="adj" fmla="val 8696"/>
            </a:avLst>
          </a:prstGeom>
          <a:solidFill>
            <a:srgbClr val="FFFFFF"/>
          </a:solidFill>
          <a:ln w="12700">
            <a:solidFill>
              <a:srgbClr val="D8DCE8"/>
            </a:solidFill>
            <a:prstDash val="solid"/>
          </a:ln>
        </p:spPr>
      </p:sp>
      <p:sp>
        <p:nvSpPr>
          <p:cNvPr id="9" name="Shape 7"/>
          <p:cNvSpPr/>
          <p:nvPr/>
        </p:nvSpPr>
        <p:spPr>
          <a:xfrm>
            <a:off x="365760" y="1243584"/>
            <a:ext cx="502920" cy="1051560"/>
          </a:xfrm>
          <a:prstGeom prst="roundRect">
            <a:avLst>
              <a:gd name="adj" fmla="val 18182"/>
            </a:avLst>
          </a:prstGeom>
          <a:solidFill>
            <a:srgbClr val="1A8A7D"/>
          </a:solidFill>
          <a:ln/>
        </p:spPr>
      </p:sp>
      <p:sp>
        <p:nvSpPr>
          <p:cNvPr id="10" name="Text 8"/>
          <p:cNvSpPr/>
          <p:nvPr/>
        </p:nvSpPr>
        <p:spPr>
          <a:xfrm>
            <a:off x="365760" y="1243584"/>
            <a:ext cx="502920" cy="10515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1" name="Text 9"/>
          <p:cNvSpPr/>
          <p:nvPr/>
        </p:nvSpPr>
        <p:spPr>
          <a:xfrm>
            <a:off x="1005840" y="1335024"/>
            <a:ext cx="7662672" cy="475488"/>
          </a:xfrm>
          <a:prstGeom prst="rect">
            <a:avLst/>
          </a:prstGeom>
          <a:noFill/>
          <a:ln/>
        </p:spPr>
        <p:txBody>
          <a:bodyPr wrap="square"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Name two periods of American history in order, and explain how the second one grew out of the first.</a:t>
            </a:r>
            <a:endParaRPr lang="en-US" sz="1300" dirty="0"/>
          </a:p>
        </p:txBody>
      </p:sp>
      <p:sp>
        <p:nvSpPr>
          <p:cNvPr id="12" name="Shape 10"/>
          <p:cNvSpPr/>
          <p:nvPr/>
        </p:nvSpPr>
        <p:spPr>
          <a:xfrm>
            <a:off x="1005840" y="1847088"/>
            <a:ext cx="7662672" cy="329184"/>
          </a:xfrm>
          <a:prstGeom prst="roundRect">
            <a:avLst>
              <a:gd name="adj" fmla="val 16667"/>
            </a:avLst>
          </a:prstGeom>
          <a:solidFill>
            <a:srgbClr val="FFF3DC"/>
          </a:solidFill>
          <a:ln/>
        </p:spPr>
      </p:sp>
      <p:sp>
        <p:nvSpPr>
          <p:cNvPr id="13" name="Text 11"/>
          <p:cNvSpPr/>
          <p:nvPr/>
        </p:nvSpPr>
        <p:spPr>
          <a:xfrm>
            <a:off x="1097280" y="1865376"/>
            <a:ext cx="7479792" cy="292608"/>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Scaffold: Choose any two adjacent periods from the seven. Explain the connection — what changed and why?</a:t>
            </a:r>
            <a:endParaRPr lang="en-US" sz="1100" dirty="0"/>
          </a:p>
        </p:txBody>
      </p:sp>
      <p:sp>
        <p:nvSpPr>
          <p:cNvPr id="14" name="Shape 12"/>
          <p:cNvSpPr/>
          <p:nvPr/>
        </p:nvSpPr>
        <p:spPr>
          <a:xfrm>
            <a:off x="365760" y="2414016"/>
            <a:ext cx="8412480" cy="1051560"/>
          </a:xfrm>
          <a:prstGeom prst="roundRect">
            <a:avLst>
              <a:gd name="adj" fmla="val 8696"/>
            </a:avLst>
          </a:prstGeom>
          <a:solidFill>
            <a:srgbClr val="FFFFFF"/>
          </a:solidFill>
          <a:ln w="12700">
            <a:solidFill>
              <a:srgbClr val="D8DCE8"/>
            </a:solidFill>
            <a:prstDash val="solid"/>
          </a:ln>
        </p:spPr>
      </p:sp>
      <p:sp>
        <p:nvSpPr>
          <p:cNvPr id="15" name="Shape 13"/>
          <p:cNvSpPr/>
          <p:nvPr/>
        </p:nvSpPr>
        <p:spPr>
          <a:xfrm>
            <a:off x="365760" y="2414016"/>
            <a:ext cx="502920" cy="1051560"/>
          </a:xfrm>
          <a:prstGeom prst="roundRect">
            <a:avLst>
              <a:gd name="adj" fmla="val 18182"/>
            </a:avLst>
          </a:prstGeom>
          <a:solidFill>
            <a:srgbClr val="1A8A7D"/>
          </a:solidFill>
          <a:ln/>
        </p:spPr>
      </p:sp>
      <p:sp>
        <p:nvSpPr>
          <p:cNvPr id="16" name="Text 14"/>
          <p:cNvSpPr/>
          <p:nvPr/>
        </p:nvSpPr>
        <p:spPr>
          <a:xfrm>
            <a:off x="365760" y="2414016"/>
            <a:ext cx="502920" cy="10515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7" name="Text 15"/>
          <p:cNvSpPr/>
          <p:nvPr/>
        </p:nvSpPr>
        <p:spPr>
          <a:xfrm>
            <a:off x="1005840" y="2505456"/>
            <a:ext cx="7662672" cy="475488"/>
          </a:xfrm>
          <a:prstGeom prst="rect">
            <a:avLst/>
          </a:prstGeom>
          <a:noFill/>
          <a:ln/>
        </p:spPr>
        <p:txBody>
          <a:bodyPr wrap="square"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Is the 1860s primer page a primary or secondary source — and what evidence in the source tells you so?</a:t>
            </a:r>
            <a:endParaRPr lang="en-US" sz="1300" dirty="0"/>
          </a:p>
        </p:txBody>
      </p:sp>
      <p:sp>
        <p:nvSpPr>
          <p:cNvPr id="18" name="Shape 16"/>
          <p:cNvSpPr/>
          <p:nvPr/>
        </p:nvSpPr>
        <p:spPr>
          <a:xfrm>
            <a:off x="1005840" y="3017520"/>
            <a:ext cx="7662672" cy="329184"/>
          </a:xfrm>
          <a:prstGeom prst="roundRect">
            <a:avLst>
              <a:gd name="adj" fmla="val 16667"/>
            </a:avLst>
          </a:prstGeom>
          <a:solidFill>
            <a:srgbClr val="FFF3DC"/>
          </a:solidFill>
          <a:ln/>
        </p:spPr>
      </p:sp>
      <p:sp>
        <p:nvSpPr>
          <p:cNvPr id="19" name="Text 17"/>
          <p:cNvSpPr/>
          <p:nvPr/>
        </p:nvSpPr>
        <p:spPr>
          <a:xfrm>
            <a:off x="1097280" y="3035808"/>
            <a:ext cx="7479792" cy="292608"/>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Scaffold: Look at when it was made and who made it. Find one specific detail in the source that helps you decide.</a:t>
            </a:r>
            <a:endParaRPr lang="en-US" sz="1100" dirty="0"/>
          </a:p>
        </p:txBody>
      </p:sp>
      <p:sp>
        <p:nvSpPr>
          <p:cNvPr id="20" name="Shape 18"/>
          <p:cNvSpPr/>
          <p:nvPr/>
        </p:nvSpPr>
        <p:spPr>
          <a:xfrm>
            <a:off x="365760" y="3584448"/>
            <a:ext cx="8412480" cy="1051560"/>
          </a:xfrm>
          <a:prstGeom prst="roundRect">
            <a:avLst>
              <a:gd name="adj" fmla="val 8696"/>
            </a:avLst>
          </a:prstGeom>
          <a:solidFill>
            <a:srgbClr val="FFFFFF"/>
          </a:solidFill>
          <a:ln w="12700">
            <a:solidFill>
              <a:srgbClr val="D8DCE8"/>
            </a:solidFill>
            <a:prstDash val="solid"/>
          </a:ln>
        </p:spPr>
      </p:sp>
      <p:sp>
        <p:nvSpPr>
          <p:cNvPr id="21" name="Shape 19"/>
          <p:cNvSpPr/>
          <p:nvPr/>
        </p:nvSpPr>
        <p:spPr>
          <a:xfrm>
            <a:off x="365760" y="3584448"/>
            <a:ext cx="502920" cy="1051560"/>
          </a:xfrm>
          <a:prstGeom prst="roundRect">
            <a:avLst>
              <a:gd name="adj" fmla="val 18182"/>
            </a:avLst>
          </a:prstGeom>
          <a:solidFill>
            <a:srgbClr val="1A8A7D"/>
          </a:solidFill>
          <a:ln/>
        </p:spPr>
      </p:sp>
      <p:sp>
        <p:nvSpPr>
          <p:cNvPr id="22" name="Text 20"/>
          <p:cNvSpPr/>
          <p:nvPr/>
        </p:nvSpPr>
        <p:spPr>
          <a:xfrm>
            <a:off x="365760" y="3584448"/>
            <a:ext cx="502920" cy="10515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3" name="Text 21"/>
          <p:cNvSpPr/>
          <p:nvPr/>
        </p:nvSpPr>
        <p:spPr>
          <a:xfrm>
            <a:off x="1005840" y="3675888"/>
            <a:ext cx="7662672" cy="475488"/>
          </a:xfrm>
          <a:prstGeom prst="rect">
            <a:avLst/>
          </a:prstGeom>
          <a:noFill/>
          <a:ln/>
        </p:spPr>
        <p:txBody>
          <a:bodyPr wrap="square"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The Hasty Herald said 'A timeline is just a list of dates; it cannot help explain history.' What's partly right about that? What's missing?</a:t>
            </a:r>
            <a:endParaRPr lang="en-US" sz="1300" dirty="0"/>
          </a:p>
        </p:txBody>
      </p:sp>
      <p:sp>
        <p:nvSpPr>
          <p:cNvPr id="24" name="Shape 22"/>
          <p:cNvSpPr/>
          <p:nvPr/>
        </p:nvSpPr>
        <p:spPr>
          <a:xfrm>
            <a:off x="1005840" y="4187952"/>
            <a:ext cx="7662672" cy="329184"/>
          </a:xfrm>
          <a:prstGeom prst="roundRect">
            <a:avLst>
              <a:gd name="adj" fmla="val 16667"/>
            </a:avLst>
          </a:prstGeom>
          <a:solidFill>
            <a:srgbClr val="FFF3DC"/>
          </a:solidFill>
          <a:ln/>
        </p:spPr>
      </p:sp>
      <p:sp>
        <p:nvSpPr>
          <p:cNvPr id="25" name="Text 23"/>
          <p:cNvSpPr/>
          <p:nvPr/>
        </p:nvSpPr>
        <p:spPr>
          <a:xfrm>
            <a:off x="1097280" y="4206240"/>
            <a:ext cx="7479792" cy="292608"/>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Scaffold: Say what the Herald got right first — then explain what a timeline actually does that a plain list can't.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8B2D26"/>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Gazette Correction — Vol. 1  ·  Issue 2</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Setting the record straight with evidence</a:t>
            </a:r>
            <a:endParaRPr lang="en-US" sz="1050" dirty="0"/>
          </a:p>
        </p:txBody>
      </p:sp>
      <p:sp>
        <p:nvSpPr>
          <p:cNvPr id="7" name="Shape 5"/>
          <p:cNvSpPr/>
          <p:nvPr/>
        </p:nvSpPr>
        <p:spPr>
          <a:xfrm>
            <a:off x="365760" y="804672"/>
            <a:ext cx="2743200" cy="329184"/>
          </a:xfrm>
          <a:prstGeom prst="roundRect">
            <a:avLst>
              <a:gd name="adj" fmla="val 22222"/>
            </a:avLst>
          </a:prstGeom>
          <a:solidFill>
            <a:srgbClr val="8B2D26"/>
          </a:solidFill>
          <a:ln/>
        </p:spPr>
      </p:sp>
      <p:sp>
        <p:nvSpPr>
          <p:cNvPr id="8" name="Text 6"/>
          <p:cNvSpPr/>
          <p:nvPr/>
        </p:nvSpPr>
        <p:spPr>
          <a:xfrm>
            <a:off x="365760" y="804672"/>
            <a:ext cx="2743200" cy="329184"/>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GAZETTE CORRECTION</a:t>
            </a:r>
            <a:endParaRPr lang="en-US" sz="1000" dirty="0"/>
          </a:p>
        </p:txBody>
      </p:sp>
      <p:sp>
        <p:nvSpPr>
          <p:cNvPr id="9" name="Text 7"/>
          <p:cNvSpPr/>
          <p:nvPr/>
        </p:nvSpPr>
        <p:spPr>
          <a:xfrm>
            <a:off x="365760" y="1225296"/>
            <a:ext cx="8412480" cy="27432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What goes in a Gazette Correction:</a:t>
            </a:r>
            <a:endParaRPr lang="en-US" sz="1200" dirty="0"/>
          </a:p>
        </p:txBody>
      </p:sp>
      <p:sp>
        <p:nvSpPr>
          <p:cNvPr id="10" name="Shape 8"/>
          <p:cNvSpPr/>
          <p:nvPr/>
        </p:nvSpPr>
        <p:spPr>
          <a:xfrm>
            <a:off x="365760" y="1591056"/>
            <a:ext cx="8412480" cy="841248"/>
          </a:xfrm>
          <a:prstGeom prst="roundRect">
            <a:avLst>
              <a:gd name="adj" fmla="val 8696"/>
            </a:avLst>
          </a:prstGeom>
          <a:solidFill>
            <a:srgbClr val="FFFFFF"/>
          </a:solidFill>
          <a:ln w="12700">
            <a:solidFill>
              <a:srgbClr val="D8DCE8"/>
            </a:solidFill>
            <a:prstDash val="solid"/>
          </a:ln>
        </p:spPr>
      </p:sp>
      <p:sp>
        <p:nvSpPr>
          <p:cNvPr id="11" name="Shape 9"/>
          <p:cNvSpPr/>
          <p:nvPr/>
        </p:nvSpPr>
        <p:spPr>
          <a:xfrm>
            <a:off x="365760" y="1591056"/>
            <a:ext cx="54864" cy="841248"/>
          </a:xfrm>
          <a:prstGeom prst="rect">
            <a:avLst/>
          </a:prstGeom>
          <a:solidFill>
            <a:srgbClr val="8B2D26"/>
          </a:solidFill>
          <a:ln/>
        </p:spPr>
      </p:sp>
      <p:sp>
        <p:nvSpPr>
          <p:cNvPr id="12" name="Text 10"/>
          <p:cNvSpPr/>
          <p:nvPr/>
        </p:nvSpPr>
        <p:spPr>
          <a:xfrm>
            <a:off x="475488" y="1682496"/>
            <a:ext cx="438912" cy="329184"/>
          </a:xfrm>
          <a:prstGeom prst="rect">
            <a:avLst/>
          </a:prstGeom>
          <a:noFill/>
          <a:ln/>
        </p:spPr>
        <p:txBody>
          <a:bodyPr wrap="square" rtlCol="0" anchor="ctr"/>
          <a:lstStyle/>
          <a:p>
            <a:pPr algn="ctr" indent="0" marL="0">
              <a:buNone/>
            </a:pPr>
            <a:r>
              <a:rPr lang="en-US" sz="1800" b="1" dirty="0">
                <a:solidFill>
                  <a:srgbClr val="8B2D26"/>
                </a:solidFill>
                <a:latin typeface="Cambria" pitchFamily="34" charset="0"/>
                <a:ea typeface="Cambria" pitchFamily="34" charset="-122"/>
                <a:cs typeface="Cambria" pitchFamily="34" charset="-120"/>
              </a:rPr>
              <a:t>1</a:t>
            </a:r>
            <a:endParaRPr lang="en-US" sz="1800" dirty="0"/>
          </a:p>
        </p:txBody>
      </p:sp>
      <p:sp>
        <p:nvSpPr>
          <p:cNvPr id="13" name="Text 11"/>
          <p:cNvSpPr/>
          <p:nvPr/>
        </p:nvSpPr>
        <p:spPr>
          <a:xfrm>
            <a:off x="1005840" y="1645920"/>
            <a:ext cx="7589520" cy="310896"/>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One sentence on what the Herald got partly right</a:t>
            </a:r>
            <a:endParaRPr lang="en-US" sz="1300" dirty="0"/>
          </a:p>
        </p:txBody>
      </p:sp>
      <p:sp>
        <p:nvSpPr>
          <p:cNvPr id="14" name="Text 12"/>
          <p:cNvSpPr/>
          <p:nvPr/>
        </p:nvSpPr>
        <p:spPr>
          <a:xfrm>
            <a:off x="1005840" y="1993392"/>
            <a:ext cx="7589520" cy="365760"/>
          </a:xfrm>
          <a:prstGeom prst="rect">
            <a:avLst/>
          </a:prstGeom>
          <a:noFill/>
          <a:ln/>
        </p:spPr>
        <p:txBody>
          <a:bodyPr wrap="square" rtlCol="0" anchor="ctr"/>
          <a:lstStyle/>
          <a:p>
            <a:pPr indent="0" marL="0">
              <a:buNone/>
            </a:pPr>
            <a:r>
              <a:rPr lang="en-US" sz="1100" dirty="0">
                <a:solidFill>
                  <a:srgbClr val="3A4A5A"/>
                </a:solidFill>
                <a:latin typeface="Calibri" pitchFamily="34" charset="0"/>
                <a:ea typeface="Calibri" pitchFamily="34" charset="-122"/>
                <a:cs typeface="Calibri" pitchFamily="34" charset="-120"/>
              </a:rPr>
              <a:t>Give credit first. 'The Herald is correct that timelines include dates.' This shows honest, fair editorial judgment.</a:t>
            </a:r>
            <a:endParaRPr lang="en-US" sz="1100" dirty="0"/>
          </a:p>
        </p:txBody>
      </p:sp>
      <p:sp>
        <p:nvSpPr>
          <p:cNvPr id="15" name="Shape 13"/>
          <p:cNvSpPr/>
          <p:nvPr/>
        </p:nvSpPr>
        <p:spPr>
          <a:xfrm>
            <a:off x="365760" y="2542032"/>
            <a:ext cx="8412480" cy="841248"/>
          </a:xfrm>
          <a:prstGeom prst="roundRect">
            <a:avLst>
              <a:gd name="adj" fmla="val 8696"/>
            </a:avLst>
          </a:prstGeom>
          <a:solidFill>
            <a:srgbClr val="FFFFFF"/>
          </a:solidFill>
          <a:ln w="12700">
            <a:solidFill>
              <a:srgbClr val="D8DCE8"/>
            </a:solidFill>
            <a:prstDash val="solid"/>
          </a:ln>
        </p:spPr>
      </p:sp>
      <p:sp>
        <p:nvSpPr>
          <p:cNvPr id="16" name="Shape 14"/>
          <p:cNvSpPr/>
          <p:nvPr/>
        </p:nvSpPr>
        <p:spPr>
          <a:xfrm>
            <a:off x="365760" y="2542032"/>
            <a:ext cx="54864" cy="841248"/>
          </a:xfrm>
          <a:prstGeom prst="rect">
            <a:avLst/>
          </a:prstGeom>
          <a:solidFill>
            <a:srgbClr val="8B2D26"/>
          </a:solidFill>
          <a:ln/>
        </p:spPr>
      </p:sp>
      <p:sp>
        <p:nvSpPr>
          <p:cNvPr id="17" name="Text 15"/>
          <p:cNvSpPr/>
          <p:nvPr/>
        </p:nvSpPr>
        <p:spPr>
          <a:xfrm>
            <a:off x="475488" y="2633472"/>
            <a:ext cx="438912" cy="329184"/>
          </a:xfrm>
          <a:prstGeom prst="rect">
            <a:avLst/>
          </a:prstGeom>
          <a:noFill/>
          <a:ln/>
        </p:spPr>
        <p:txBody>
          <a:bodyPr wrap="square" rtlCol="0" anchor="ctr"/>
          <a:lstStyle/>
          <a:p>
            <a:pPr algn="ctr" indent="0" marL="0">
              <a:buNone/>
            </a:pPr>
            <a:r>
              <a:rPr lang="en-US" sz="1800" b="1" dirty="0">
                <a:solidFill>
                  <a:srgbClr val="8B2D26"/>
                </a:solidFill>
                <a:latin typeface="Cambria" pitchFamily="34" charset="0"/>
                <a:ea typeface="Cambria" pitchFamily="34" charset="-122"/>
                <a:cs typeface="Cambria" pitchFamily="34" charset="-120"/>
              </a:rPr>
              <a:t>2</a:t>
            </a:r>
            <a:endParaRPr lang="en-US" sz="1800" dirty="0"/>
          </a:p>
        </p:txBody>
      </p:sp>
      <p:sp>
        <p:nvSpPr>
          <p:cNvPr id="18" name="Text 16"/>
          <p:cNvSpPr/>
          <p:nvPr/>
        </p:nvSpPr>
        <p:spPr>
          <a:xfrm>
            <a:off x="1005840" y="2596896"/>
            <a:ext cx="7589520" cy="310896"/>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Two sentences quoting or describing evidence from the source</a:t>
            </a:r>
            <a:endParaRPr lang="en-US" sz="1300" dirty="0"/>
          </a:p>
        </p:txBody>
      </p:sp>
      <p:sp>
        <p:nvSpPr>
          <p:cNvPr id="19" name="Text 17"/>
          <p:cNvSpPr/>
          <p:nvPr/>
        </p:nvSpPr>
        <p:spPr>
          <a:xfrm>
            <a:off x="1005840" y="2944368"/>
            <a:ext cx="7589520" cy="365760"/>
          </a:xfrm>
          <a:prstGeom prst="rect">
            <a:avLst/>
          </a:prstGeom>
          <a:noFill/>
          <a:ln/>
        </p:spPr>
        <p:txBody>
          <a:bodyPr wrap="square" rtlCol="0" anchor="ctr"/>
          <a:lstStyle/>
          <a:p>
            <a:pPr indent="0" marL="0">
              <a:buNone/>
            </a:pPr>
            <a:r>
              <a:rPr lang="en-US" sz="1100" dirty="0">
                <a:solidFill>
                  <a:srgbClr val="3A4A5A"/>
                </a:solidFill>
                <a:latin typeface="Calibri" pitchFamily="34" charset="0"/>
                <a:ea typeface="Calibri" pitchFamily="34" charset="-122"/>
                <a:cs typeface="Calibri" pitchFamily="34" charset="-120"/>
              </a:rPr>
              <a:t>Reference the 1860s primer. Name specifically what you observed — what it includes, and what its horizon prevents it from including.</a:t>
            </a:r>
            <a:endParaRPr lang="en-US" sz="1100" dirty="0"/>
          </a:p>
        </p:txBody>
      </p:sp>
      <p:sp>
        <p:nvSpPr>
          <p:cNvPr id="20" name="Shape 18"/>
          <p:cNvSpPr/>
          <p:nvPr/>
        </p:nvSpPr>
        <p:spPr>
          <a:xfrm>
            <a:off x="365760" y="3493008"/>
            <a:ext cx="8412480" cy="841248"/>
          </a:xfrm>
          <a:prstGeom prst="roundRect">
            <a:avLst>
              <a:gd name="adj" fmla="val 8696"/>
            </a:avLst>
          </a:prstGeom>
          <a:solidFill>
            <a:srgbClr val="FFFFFF"/>
          </a:solidFill>
          <a:ln w="12700">
            <a:solidFill>
              <a:srgbClr val="D8DCE8"/>
            </a:solidFill>
            <a:prstDash val="solid"/>
          </a:ln>
        </p:spPr>
      </p:sp>
      <p:sp>
        <p:nvSpPr>
          <p:cNvPr id="21" name="Shape 19"/>
          <p:cNvSpPr/>
          <p:nvPr/>
        </p:nvSpPr>
        <p:spPr>
          <a:xfrm>
            <a:off x="365760" y="3493008"/>
            <a:ext cx="54864" cy="841248"/>
          </a:xfrm>
          <a:prstGeom prst="rect">
            <a:avLst/>
          </a:prstGeom>
          <a:solidFill>
            <a:srgbClr val="8B2D26"/>
          </a:solidFill>
          <a:ln/>
        </p:spPr>
      </p:sp>
      <p:sp>
        <p:nvSpPr>
          <p:cNvPr id="22" name="Text 20"/>
          <p:cNvSpPr/>
          <p:nvPr/>
        </p:nvSpPr>
        <p:spPr>
          <a:xfrm>
            <a:off x="475488" y="3584448"/>
            <a:ext cx="438912" cy="329184"/>
          </a:xfrm>
          <a:prstGeom prst="rect">
            <a:avLst/>
          </a:prstGeom>
          <a:noFill/>
          <a:ln/>
        </p:spPr>
        <p:txBody>
          <a:bodyPr wrap="square" rtlCol="0" anchor="ctr"/>
          <a:lstStyle/>
          <a:p>
            <a:pPr algn="ctr" indent="0" marL="0">
              <a:buNone/>
            </a:pPr>
            <a:r>
              <a:rPr lang="en-US" sz="1800" b="1" dirty="0">
                <a:solidFill>
                  <a:srgbClr val="8B2D26"/>
                </a:solidFill>
                <a:latin typeface="Cambria" pitchFamily="34" charset="0"/>
                <a:ea typeface="Cambria" pitchFamily="34" charset="-122"/>
                <a:cs typeface="Cambria" pitchFamily="34" charset="-120"/>
              </a:rPr>
              <a:t>3</a:t>
            </a:r>
            <a:endParaRPr lang="en-US" sz="1800" dirty="0"/>
          </a:p>
        </p:txBody>
      </p:sp>
      <p:sp>
        <p:nvSpPr>
          <p:cNvPr id="23" name="Text 21"/>
          <p:cNvSpPr/>
          <p:nvPr/>
        </p:nvSpPr>
        <p:spPr>
          <a:xfrm>
            <a:off x="1005840" y="3547872"/>
            <a:ext cx="7589520" cy="310896"/>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One careful sentence with the Gazette's corrected claim</a:t>
            </a:r>
            <a:endParaRPr lang="en-US" sz="1300" dirty="0"/>
          </a:p>
        </p:txBody>
      </p:sp>
      <p:sp>
        <p:nvSpPr>
          <p:cNvPr id="24" name="Text 22"/>
          <p:cNvSpPr/>
          <p:nvPr/>
        </p:nvSpPr>
        <p:spPr>
          <a:xfrm>
            <a:off x="1005840" y="3895344"/>
            <a:ext cx="7589520" cy="365760"/>
          </a:xfrm>
          <a:prstGeom prst="rect">
            <a:avLst/>
          </a:prstGeom>
          <a:noFill/>
          <a:ln/>
        </p:spPr>
        <p:txBody>
          <a:bodyPr wrap="square" rtlCol="0" anchor="ctr"/>
          <a:lstStyle/>
          <a:p>
            <a:pPr indent="0" marL="0">
              <a:buNone/>
            </a:pPr>
            <a:r>
              <a:rPr lang="en-US" sz="1100" dirty="0">
                <a:solidFill>
                  <a:srgbClr val="3A4A5A"/>
                </a:solidFill>
                <a:latin typeface="Calibri" pitchFamily="34" charset="0"/>
                <a:ea typeface="Calibri" pitchFamily="34" charset="-122"/>
                <a:cs typeface="Calibri" pitchFamily="34" charset="-120"/>
              </a:rPr>
              <a:t>Show all three: what the Herald said, what the evidence shows, and what a careful reader should conclude.</a:t>
            </a:r>
            <a:endParaRPr lang="en-US" sz="1100" dirty="0"/>
          </a:p>
        </p:txBody>
      </p:sp>
      <p:sp>
        <p:nvSpPr>
          <p:cNvPr id="25" name="Shape 23"/>
          <p:cNvSpPr/>
          <p:nvPr/>
        </p:nvSpPr>
        <p:spPr>
          <a:xfrm>
            <a:off x="365760" y="4434840"/>
            <a:ext cx="8412480" cy="384048"/>
          </a:xfrm>
          <a:prstGeom prst="roundRect">
            <a:avLst>
              <a:gd name="adj" fmla="val 19048"/>
            </a:avLst>
          </a:prstGeom>
          <a:solidFill>
            <a:srgbClr val="1A2D5A"/>
          </a:solidFill>
          <a:ln/>
        </p:spPr>
      </p:sp>
      <p:sp>
        <p:nvSpPr>
          <p:cNvPr id="26" name="Text 24"/>
          <p:cNvSpPr/>
          <p:nvPr/>
        </p:nvSpPr>
        <p:spPr>
          <a:xfrm>
            <a:off x="548640" y="4434840"/>
            <a:ext cx="8046720" cy="384048"/>
          </a:xfrm>
          <a:prstGeom prst="rect">
            <a:avLst/>
          </a:prstGeom>
          <a:noFill/>
          <a:ln/>
        </p:spPr>
        <p:txBody>
          <a:bodyPr wrap="square" rtlCol="0" anchor="ctr"/>
          <a:lstStyle/>
          <a:p>
            <a:pPr indent="0" marL="0">
              <a:buNone/>
            </a:pPr>
            <a:r>
              <a:rPr lang="en-US" sz="1150" i="1" dirty="0">
                <a:solidFill>
                  <a:srgbClr val="D6F2FB"/>
                </a:solidFill>
                <a:latin typeface="Calibri" pitchFamily="34" charset="0"/>
                <a:ea typeface="Calibri" pitchFamily="34" charset="-122"/>
                <a:cs typeface="Calibri" pitchFamily="34" charset="-120"/>
              </a:rPr>
              <a:t>ARCHIVE LINE: In one careful sentence, write what future citizens should remember about reading timelines as historical sources.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54864"/>
          </a:xfrm>
          <a:prstGeom prst="rect">
            <a:avLst/>
          </a:prstGeom>
          <a:solidFill>
            <a:srgbClr val="D4943A"/>
          </a:solidFill>
          <a:ln/>
        </p:spPr>
      </p:sp>
      <p:sp>
        <p:nvSpPr>
          <p:cNvPr id="4" name="Text 2"/>
          <p:cNvSpPr/>
          <p:nvPr/>
        </p:nvSpPr>
        <p:spPr>
          <a:xfrm>
            <a:off x="365760" y="109728"/>
            <a:ext cx="8412480" cy="347472"/>
          </a:xfrm>
          <a:prstGeom prst="rect">
            <a:avLst/>
          </a:prstGeom>
          <a:noFill/>
          <a:ln/>
        </p:spPr>
        <p:txBody>
          <a:bodyPr wrap="square" rtlCol="0" anchor="ctr"/>
          <a:lstStyle/>
          <a:p>
            <a:pPr algn="ctr" indent="0" marL="0">
              <a:buNone/>
            </a:pPr>
            <a:r>
              <a:rPr lang="en-US" sz="1200" b="1" spc="200" kern="0" dirty="0">
                <a:solidFill>
                  <a:srgbClr val="D4943A"/>
                </a:solidFill>
                <a:latin typeface="Calibri" pitchFamily="34" charset="0"/>
                <a:ea typeface="Calibri" pitchFamily="34" charset="-122"/>
                <a:cs typeface="Calibri" pitchFamily="34" charset="-120"/>
              </a:rPr>
              <a:t>IN THE NEXT ISSUE (5.01.03)</a:t>
            </a:r>
            <a:endParaRPr lang="en-US" sz="1200" dirty="0"/>
          </a:p>
        </p:txBody>
      </p:sp>
      <p:sp>
        <p:nvSpPr>
          <p:cNvPr id="5" name="Shape 3"/>
          <p:cNvSpPr/>
          <p:nvPr/>
        </p:nvSpPr>
        <p:spPr>
          <a:xfrm>
            <a:off x="914400" y="548640"/>
            <a:ext cx="7315200" cy="502920"/>
          </a:xfrm>
          <a:prstGeom prst="roundRect">
            <a:avLst>
              <a:gd name="adj" fmla="val 14545"/>
            </a:avLst>
          </a:prstGeom>
          <a:solidFill>
            <a:srgbClr val="1A8A7D"/>
          </a:solidFill>
          <a:ln/>
        </p:spPr>
      </p:sp>
      <p:sp>
        <p:nvSpPr>
          <p:cNvPr id="6" name="Text 4"/>
          <p:cNvSpPr/>
          <p:nvPr/>
        </p:nvSpPr>
        <p:spPr>
          <a:xfrm>
            <a:off x="914400" y="548640"/>
            <a:ext cx="731520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Geographic Tools for Historical Questions</a:t>
            </a:r>
            <a:endParaRPr lang="en-US" sz="1800" dirty="0"/>
          </a:p>
        </p:txBody>
      </p:sp>
      <p:sp>
        <p:nvSpPr>
          <p:cNvPr id="7" name="Shape 5"/>
          <p:cNvSpPr/>
          <p:nvPr/>
        </p:nvSpPr>
        <p:spPr>
          <a:xfrm>
            <a:off x="457200" y="1170432"/>
            <a:ext cx="8229600" cy="658368"/>
          </a:xfrm>
          <a:prstGeom prst="roundRect">
            <a:avLst>
              <a:gd name="adj" fmla="val 11111"/>
            </a:avLst>
          </a:prstGeom>
          <a:solidFill>
            <a:srgbClr val="1A2D5A"/>
          </a:solidFill>
          <a:ln w="12700">
            <a:solidFill>
              <a:srgbClr val="8B2D26"/>
            </a:solidFill>
            <a:prstDash val="solid"/>
          </a:ln>
        </p:spPr>
      </p:sp>
      <p:sp>
        <p:nvSpPr>
          <p:cNvPr id="8" name="Text 6"/>
          <p:cNvSpPr/>
          <p:nvPr/>
        </p:nvSpPr>
        <p:spPr>
          <a:xfrm>
            <a:off x="640080" y="1207008"/>
            <a:ext cx="7863840" cy="566928"/>
          </a:xfrm>
          <a:prstGeom prst="rect">
            <a:avLst/>
          </a:prstGeom>
          <a:noFill/>
          <a:ln/>
        </p:spPr>
        <p:txBody>
          <a:bodyPr wrap="square" rtlCol="0" anchor="ctr"/>
          <a:lstStyle/>
          <a:p>
            <a:pPr indent="0" marL="0">
              <a:buNone/>
            </a:pPr>
            <a:r>
              <a:rPr lang="en-US" sz="1300" dirty="0">
                <a:solidFill>
                  <a:srgbClr val="FAF3E0"/>
                </a:solidFill>
                <a:latin typeface="Calibri" pitchFamily="34" charset="0"/>
                <a:ea typeface="Calibri" pitchFamily="34" charset="-122"/>
                <a:cs typeface="Calibri" pitchFamily="34" charset="-120"/>
              </a:rPr>
              <a:t>A new dispatch arrives at the Front Page Desk — and The Hasty Herald has already rushed to print the claim that geography is only about WHERE places are, not WHY events happened.</a:t>
            </a:r>
            <a:endParaRPr lang="en-US" sz="1300" dirty="0"/>
          </a:p>
        </p:txBody>
      </p:sp>
      <p:sp>
        <p:nvSpPr>
          <p:cNvPr id="9" name="Text 7"/>
          <p:cNvSpPr/>
          <p:nvPr/>
        </p:nvSpPr>
        <p:spPr>
          <a:xfrm>
            <a:off x="365760" y="1965960"/>
            <a:ext cx="8412480" cy="292608"/>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Issue 2 Key Ideas to Remember</a:t>
            </a:r>
            <a:endParaRPr lang="en-US" sz="1200" dirty="0"/>
          </a:p>
        </p:txBody>
      </p:sp>
      <p:sp>
        <p:nvSpPr>
          <p:cNvPr id="10" name="Shape 8"/>
          <p:cNvSpPr/>
          <p:nvPr/>
        </p:nvSpPr>
        <p:spPr>
          <a:xfrm>
            <a:off x="365760" y="2331720"/>
            <a:ext cx="8412480" cy="530352"/>
          </a:xfrm>
          <a:prstGeom prst="roundRect">
            <a:avLst>
              <a:gd name="adj" fmla="val 13793"/>
            </a:avLst>
          </a:prstGeom>
          <a:solidFill>
            <a:srgbClr val="1A2D5A"/>
          </a:solidFill>
          <a:ln/>
        </p:spPr>
      </p:sp>
      <p:sp>
        <p:nvSpPr>
          <p:cNvPr id="11" name="Text 9"/>
          <p:cNvSpPr/>
          <p:nvPr/>
        </p:nvSpPr>
        <p:spPr>
          <a:xfrm>
            <a:off x="548640" y="2386584"/>
            <a:ext cx="8046720" cy="42062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  A timeline does more than list dates — it groups events into periods and shows how one led to the next.</a:t>
            </a:r>
            <a:endParaRPr lang="en-US" sz="1200" dirty="0"/>
          </a:p>
        </p:txBody>
      </p:sp>
      <p:sp>
        <p:nvSpPr>
          <p:cNvPr id="12" name="Shape 10"/>
          <p:cNvSpPr/>
          <p:nvPr/>
        </p:nvSpPr>
        <p:spPr>
          <a:xfrm>
            <a:off x="365760" y="2953512"/>
            <a:ext cx="8412480" cy="530352"/>
          </a:xfrm>
          <a:prstGeom prst="roundRect">
            <a:avLst>
              <a:gd name="adj" fmla="val 13793"/>
            </a:avLst>
          </a:prstGeom>
          <a:solidFill>
            <a:srgbClr val="1A2D5A"/>
          </a:solidFill>
          <a:ln/>
        </p:spPr>
      </p:sp>
      <p:sp>
        <p:nvSpPr>
          <p:cNvPr id="13" name="Text 11"/>
          <p:cNvSpPr/>
          <p:nvPr/>
        </p:nvSpPr>
        <p:spPr>
          <a:xfrm>
            <a:off x="548640" y="3008376"/>
            <a:ext cx="8046720" cy="42062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  Every timeline is an ARGUMENT: someone chose what to include, what to name, and where to draw the lines.</a:t>
            </a:r>
            <a:endParaRPr lang="en-US" sz="1200" dirty="0"/>
          </a:p>
        </p:txBody>
      </p:sp>
      <p:sp>
        <p:nvSpPr>
          <p:cNvPr id="14" name="Shape 12"/>
          <p:cNvSpPr/>
          <p:nvPr/>
        </p:nvSpPr>
        <p:spPr>
          <a:xfrm>
            <a:off x="365760" y="3575304"/>
            <a:ext cx="8412480" cy="530352"/>
          </a:xfrm>
          <a:prstGeom prst="roundRect">
            <a:avLst>
              <a:gd name="adj" fmla="val 13793"/>
            </a:avLst>
          </a:prstGeom>
          <a:solidFill>
            <a:srgbClr val="1A2D5A"/>
          </a:solidFill>
          <a:ln/>
        </p:spPr>
      </p:sp>
      <p:sp>
        <p:nvSpPr>
          <p:cNvPr id="15" name="Text 13"/>
          <p:cNvSpPr/>
          <p:nvPr/>
        </p:nvSpPr>
        <p:spPr>
          <a:xfrm>
            <a:off x="548640" y="3630168"/>
            <a:ext cx="8046720" cy="42062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  Every source has a HORIZON — the edge of what its author could see at the time it was made.</a:t>
            </a:r>
            <a:endParaRPr lang="en-US" sz="1200" dirty="0"/>
          </a:p>
        </p:txBody>
      </p:sp>
      <p:sp>
        <p:nvSpPr>
          <p:cNvPr id="16" name="Shape 14"/>
          <p:cNvSpPr/>
          <p:nvPr/>
        </p:nvSpPr>
        <p:spPr>
          <a:xfrm>
            <a:off x="365760" y="4197096"/>
            <a:ext cx="8412480" cy="530352"/>
          </a:xfrm>
          <a:prstGeom prst="roundRect">
            <a:avLst>
              <a:gd name="adj" fmla="val 13793"/>
            </a:avLst>
          </a:prstGeom>
          <a:solidFill>
            <a:srgbClr val="1A2D5A"/>
          </a:solidFill>
          <a:ln/>
        </p:spPr>
      </p:sp>
      <p:sp>
        <p:nvSpPr>
          <p:cNvPr id="17" name="Text 15"/>
          <p:cNvSpPr/>
          <p:nvPr/>
        </p:nvSpPr>
        <p:spPr>
          <a:xfrm>
            <a:off x="548640" y="4251960"/>
            <a:ext cx="8046720" cy="42062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  An honest editor asks: Who built this timeline? When? What choices did they make? What did they leave out?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p:spPr>
      </p:sp>
      <p:sp>
        <p:nvSpPr>
          <p:cNvPr id="4" name="Shape 1"/>
          <p:cNvSpPr/>
          <p:nvPr/>
        </p:nvSpPr>
        <p:spPr>
          <a:xfrm>
            <a:off x="0" y="0"/>
            <a:ext cx="9144000" cy="54864"/>
          </a:xfrm>
          <a:prstGeom prst="rect">
            <a:avLst/>
          </a:prstGeom>
          <a:solidFill>
            <a:srgbClr val="D4943A"/>
          </a:solidFill>
          <a:ln/>
        </p:spPr>
      </p:sp>
      <p:sp>
        <p:nvSpPr>
          <p:cNvPr id="5" name="Text 2"/>
          <p:cNvSpPr/>
          <p:nvPr/>
        </p:nvSpPr>
        <p:spPr>
          <a:xfrm>
            <a:off x="365760" y="128016"/>
            <a:ext cx="8412480" cy="502920"/>
          </a:xfrm>
          <a:prstGeom prst="rect">
            <a:avLst/>
          </a:prstGeom>
          <a:noFill/>
          <a:ln/>
        </p:spPr>
        <p:txBody>
          <a:bodyPr wrap="square" rtlCol="0" anchor="ctr"/>
          <a:lstStyle/>
          <a:p>
            <a:pPr algn="ctr" indent="0" marL="0">
              <a:buNone/>
            </a:pPr>
            <a:r>
              <a:rPr lang="en-US" sz="3200" b="1" spc="400" kern="0" dirty="0">
                <a:solidFill>
                  <a:srgbClr val="D4943A"/>
                </a:solidFill>
                <a:latin typeface="Cambria" pitchFamily="34" charset="0"/>
                <a:ea typeface="Cambria" pitchFamily="34" charset="-122"/>
                <a:cs typeface="Cambria" pitchFamily="34" charset="-120"/>
              </a:rPr>
              <a:t>GOING TO PRESS</a:t>
            </a:r>
            <a:endParaRPr lang="en-US" sz="3200" dirty="0"/>
          </a:p>
        </p:txBody>
      </p:sp>
      <p:sp>
        <p:nvSpPr>
          <p:cNvPr id="6" name="Text 3"/>
          <p:cNvSpPr/>
          <p:nvPr/>
        </p:nvSpPr>
        <p:spPr>
          <a:xfrm>
            <a:off x="365760" y="658368"/>
            <a:ext cx="8412480" cy="274320"/>
          </a:xfrm>
          <a:prstGeom prst="rect">
            <a:avLst/>
          </a:prstGeom>
          <a:noFill/>
          <a:ln/>
        </p:spPr>
        <p:txBody>
          <a:bodyPr wrap="square" rtlCol="0" anchor="ctr"/>
          <a:lstStyle/>
          <a:p>
            <a:pPr algn="ctr" indent="0" marL="0">
              <a:buNone/>
            </a:pPr>
            <a:r>
              <a:rPr lang="en-US" sz="1150" i="1" dirty="0">
                <a:solidFill>
                  <a:srgbClr val="7A88A8"/>
                </a:solidFill>
                <a:latin typeface="Calibri" pitchFamily="34" charset="0"/>
                <a:ea typeface="Calibri" pitchFamily="34" charset="-122"/>
                <a:cs typeface="Calibri" pitchFamily="34" charset="-120"/>
              </a:rPr>
              <a:t>The Republic Gazette Certifies — Issue 2 Published  ·  Source Desk Is Open</a:t>
            </a:r>
            <a:endParaRPr lang="en-US" sz="1150" dirty="0"/>
          </a:p>
        </p:txBody>
      </p:sp>
      <p:sp>
        <p:nvSpPr>
          <p:cNvPr id="7" name="Shape 4"/>
          <p:cNvSpPr/>
          <p:nvPr/>
        </p:nvSpPr>
        <p:spPr>
          <a:xfrm>
            <a:off x="914400" y="969264"/>
            <a:ext cx="7315200" cy="18288"/>
          </a:xfrm>
          <a:prstGeom prst="rect">
            <a:avLst/>
          </a:prstGeom>
          <a:solidFill>
            <a:srgbClr val="2A4070"/>
          </a:solidFill>
          <a:ln/>
        </p:spPr>
      </p:sp>
      <p:sp>
        <p:nvSpPr>
          <p:cNvPr id="8" name="Shape 5"/>
          <p:cNvSpPr/>
          <p:nvPr/>
        </p:nvSpPr>
        <p:spPr>
          <a:xfrm>
            <a:off x="457200" y="1042416"/>
            <a:ext cx="4114800" cy="475488"/>
          </a:xfrm>
          <a:prstGeom prst="roundRect">
            <a:avLst>
              <a:gd name="adj" fmla="val 15385"/>
            </a:avLst>
          </a:prstGeom>
          <a:solidFill>
            <a:srgbClr val="1A2D5A"/>
          </a:solidFill>
          <a:ln w="12700">
            <a:solidFill>
              <a:srgbClr val="2A4070"/>
            </a:solidFill>
            <a:prstDash val="solid"/>
          </a:ln>
        </p:spPr>
      </p:sp>
      <p:sp>
        <p:nvSpPr>
          <p:cNvPr id="9" name="Shape 6"/>
          <p:cNvSpPr/>
          <p:nvPr/>
        </p:nvSpPr>
        <p:spPr>
          <a:xfrm>
            <a:off x="548640" y="1143000"/>
            <a:ext cx="274320" cy="274320"/>
          </a:xfrm>
          <a:prstGeom prst="roundRect">
            <a:avLst>
              <a:gd name="adj" fmla="val 16667"/>
            </a:avLst>
          </a:prstGeom>
          <a:solidFill>
            <a:srgbClr val="0E1C42"/>
          </a:solidFill>
          <a:ln w="19050">
            <a:solidFill>
              <a:srgbClr val="55C8E8"/>
            </a:solidFill>
            <a:prstDash val="solid"/>
          </a:ln>
        </p:spPr>
      </p:sp>
      <p:sp>
        <p:nvSpPr>
          <p:cNvPr id="10" name="Text 7"/>
          <p:cNvSpPr/>
          <p:nvPr/>
        </p:nvSpPr>
        <p:spPr>
          <a:xfrm>
            <a:off x="914400" y="1124712"/>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Answered all 3 Editor's Notebook questions</a:t>
            </a:r>
            <a:endParaRPr lang="en-US" sz="1200" dirty="0"/>
          </a:p>
        </p:txBody>
      </p:sp>
      <p:sp>
        <p:nvSpPr>
          <p:cNvPr id="11" name="Shape 8"/>
          <p:cNvSpPr/>
          <p:nvPr/>
        </p:nvSpPr>
        <p:spPr>
          <a:xfrm>
            <a:off x="457200" y="1609344"/>
            <a:ext cx="4114800" cy="475488"/>
          </a:xfrm>
          <a:prstGeom prst="roundRect">
            <a:avLst>
              <a:gd name="adj" fmla="val 15385"/>
            </a:avLst>
          </a:prstGeom>
          <a:solidFill>
            <a:srgbClr val="1A2D5A"/>
          </a:solidFill>
          <a:ln w="12700">
            <a:solidFill>
              <a:srgbClr val="2A4070"/>
            </a:solidFill>
            <a:prstDash val="solid"/>
          </a:ln>
        </p:spPr>
      </p:sp>
      <p:sp>
        <p:nvSpPr>
          <p:cNvPr id="12" name="Shape 9"/>
          <p:cNvSpPr/>
          <p:nvPr/>
        </p:nvSpPr>
        <p:spPr>
          <a:xfrm>
            <a:off x="548640" y="1709928"/>
            <a:ext cx="274320" cy="274320"/>
          </a:xfrm>
          <a:prstGeom prst="roundRect">
            <a:avLst>
              <a:gd name="adj" fmla="val 16667"/>
            </a:avLst>
          </a:prstGeom>
          <a:solidFill>
            <a:srgbClr val="0E1C42"/>
          </a:solidFill>
          <a:ln w="19050">
            <a:solidFill>
              <a:srgbClr val="55C8E8"/>
            </a:solidFill>
            <a:prstDash val="solid"/>
          </a:ln>
        </p:spPr>
      </p:sp>
      <p:sp>
        <p:nvSpPr>
          <p:cNvPr id="13" name="Text 10"/>
          <p:cNvSpPr/>
          <p:nvPr/>
        </p:nvSpPr>
        <p:spPr>
          <a:xfrm>
            <a:off x="914400" y="1691640"/>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Completed the Fact-Check questions</a:t>
            </a:r>
            <a:endParaRPr lang="en-US" sz="1200" dirty="0"/>
          </a:p>
        </p:txBody>
      </p:sp>
      <p:sp>
        <p:nvSpPr>
          <p:cNvPr id="14" name="Shape 11"/>
          <p:cNvSpPr/>
          <p:nvPr/>
        </p:nvSpPr>
        <p:spPr>
          <a:xfrm>
            <a:off x="457200" y="2176272"/>
            <a:ext cx="4114800" cy="475488"/>
          </a:xfrm>
          <a:prstGeom prst="roundRect">
            <a:avLst>
              <a:gd name="adj" fmla="val 15385"/>
            </a:avLst>
          </a:prstGeom>
          <a:solidFill>
            <a:srgbClr val="1A2D5A"/>
          </a:solidFill>
          <a:ln w="12700">
            <a:solidFill>
              <a:srgbClr val="2A4070"/>
            </a:solidFill>
            <a:prstDash val="solid"/>
          </a:ln>
        </p:spPr>
      </p:sp>
      <p:sp>
        <p:nvSpPr>
          <p:cNvPr id="15" name="Shape 12"/>
          <p:cNvSpPr/>
          <p:nvPr/>
        </p:nvSpPr>
        <p:spPr>
          <a:xfrm>
            <a:off x="548640" y="2276856"/>
            <a:ext cx="274320" cy="274320"/>
          </a:xfrm>
          <a:prstGeom prst="roundRect">
            <a:avLst>
              <a:gd name="adj" fmla="val 16667"/>
            </a:avLst>
          </a:prstGeom>
          <a:solidFill>
            <a:srgbClr val="0E1C42"/>
          </a:solidFill>
          <a:ln w="19050">
            <a:solidFill>
              <a:srgbClr val="55C8E8"/>
            </a:solidFill>
            <a:prstDash val="solid"/>
          </a:ln>
        </p:spPr>
      </p:sp>
      <p:sp>
        <p:nvSpPr>
          <p:cNvPr id="16" name="Text 13"/>
          <p:cNvSpPr/>
          <p:nvPr/>
        </p:nvSpPr>
        <p:spPr>
          <a:xfrm>
            <a:off x="914400" y="2258568"/>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Wrote a headline and Gazette Correction</a:t>
            </a:r>
            <a:endParaRPr lang="en-US" sz="1200" dirty="0"/>
          </a:p>
        </p:txBody>
      </p:sp>
      <p:sp>
        <p:nvSpPr>
          <p:cNvPr id="17" name="Shape 14"/>
          <p:cNvSpPr/>
          <p:nvPr/>
        </p:nvSpPr>
        <p:spPr>
          <a:xfrm>
            <a:off x="4754880" y="1042416"/>
            <a:ext cx="4114800" cy="475488"/>
          </a:xfrm>
          <a:prstGeom prst="roundRect">
            <a:avLst>
              <a:gd name="adj" fmla="val 15385"/>
            </a:avLst>
          </a:prstGeom>
          <a:solidFill>
            <a:srgbClr val="1A2D5A"/>
          </a:solidFill>
          <a:ln w="12700">
            <a:solidFill>
              <a:srgbClr val="2A4070"/>
            </a:solidFill>
            <a:prstDash val="solid"/>
          </a:ln>
        </p:spPr>
      </p:sp>
      <p:sp>
        <p:nvSpPr>
          <p:cNvPr id="18" name="Shape 15"/>
          <p:cNvSpPr/>
          <p:nvPr/>
        </p:nvSpPr>
        <p:spPr>
          <a:xfrm>
            <a:off x="4846320" y="1143000"/>
            <a:ext cx="274320" cy="274320"/>
          </a:xfrm>
          <a:prstGeom prst="roundRect">
            <a:avLst>
              <a:gd name="adj" fmla="val 16667"/>
            </a:avLst>
          </a:prstGeom>
          <a:solidFill>
            <a:srgbClr val="0E1C42"/>
          </a:solidFill>
          <a:ln w="19050">
            <a:solidFill>
              <a:srgbClr val="55C8E8"/>
            </a:solidFill>
            <a:prstDash val="solid"/>
          </a:ln>
        </p:spPr>
      </p:sp>
      <p:sp>
        <p:nvSpPr>
          <p:cNvPr id="19" name="Text 16"/>
          <p:cNvSpPr/>
          <p:nvPr/>
        </p:nvSpPr>
        <p:spPr>
          <a:xfrm>
            <a:off x="5212080" y="1124712"/>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Added your name to the byline</a:t>
            </a:r>
            <a:endParaRPr lang="en-US" sz="1200" dirty="0"/>
          </a:p>
        </p:txBody>
      </p:sp>
      <p:sp>
        <p:nvSpPr>
          <p:cNvPr id="20" name="Shape 17"/>
          <p:cNvSpPr/>
          <p:nvPr/>
        </p:nvSpPr>
        <p:spPr>
          <a:xfrm>
            <a:off x="4754880" y="1609344"/>
            <a:ext cx="4114800" cy="475488"/>
          </a:xfrm>
          <a:prstGeom prst="roundRect">
            <a:avLst>
              <a:gd name="adj" fmla="val 15385"/>
            </a:avLst>
          </a:prstGeom>
          <a:solidFill>
            <a:srgbClr val="1A2D5A"/>
          </a:solidFill>
          <a:ln w="12700">
            <a:solidFill>
              <a:srgbClr val="2A4070"/>
            </a:solidFill>
            <a:prstDash val="solid"/>
          </a:ln>
        </p:spPr>
      </p:sp>
      <p:sp>
        <p:nvSpPr>
          <p:cNvPr id="21" name="Shape 18"/>
          <p:cNvSpPr/>
          <p:nvPr/>
        </p:nvSpPr>
        <p:spPr>
          <a:xfrm>
            <a:off x="4846320" y="1709928"/>
            <a:ext cx="274320" cy="274320"/>
          </a:xfrm>
          <a:prstGeom prst="roundRect">
            <a:avLst>
              <a:gd name="adj" fmla="val 16667"/>
            </a:avLst>
          </a:prstGeom>
          <a:solidFill>
            <a:srgbClr val="0E1C42"/>
          </a:solidFill>
          <a:ln w="19050">
            <a:solidFill>
              <a:srgbClr val="55C8E8"/>
            </a:solidFill>
            <a:prstDash val="solid"/>
          </a:ln>
        </p:spPr>
      </p:sp>
      <p:sp>
        <p:nvSpPr>
          <p:cNvPr id="22" name="Text 19"/>
          <p:cNvSpPr/>
          <p:nvPr/>
        </p:nvSpPr>
        <p:spPr>
          <a:xfrm>
            <a:off x="5212080" y="1691640"/>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Wrote one careful Archive Line sentence</a:t>
            </a:r>
            <a:endParaRPr lang="en-US" sz="1200" dirty="0"/>
          </a:p>
        </p:txBody>
      </p:sp>
      <p:sp>
        <p:nvSpPr>
          <p:cNvPr id="23" name="Shape 20"/>
          <p:cNvSpPr/>
          <p:nvPr/>
        </p:nvSpPr>
        <p:spPr>
          <a:xfrm>
            <a:off x="4754880" y="2176272"/>
            <a:ext cx="4114800" cy="475488"/>
          </a:xfrm>
          <a:prstGeom prst="roundRect">
            <a:avLst>
              <a:gd name="adj" fmla="val 15385"/>
            </a:avLst>
          </a:prstGeom>
          <a:solidFill>
            <a:srgbClr val="1A2D5A"/>
          </a:solidFill>
          <a:ln w="12700">
            <a:solidFill>
              <a:srgbClr val="2A4070"/>
            </a:solidFill>
            <a:prstDash val="solid"/>
          </a:ln>
        </p:spPr>
      </p:sp>
      <p:sp>
        <p:nvSpPr>
          <p:cNvPr id="24" name="Shape 21"/>
          <p:cNvSpPr/>
          <p:nvPr/>
        </p:nvSpPr>
        <p:spPr>
          <a:xfrm>
            <a:off x="4846320" y="2276856"/>
            <a:ext cx="274320" cy="274320"/>
          </a:xfrm>
          <a:prstGeom prst="roundRect">
            <a:avLst>
              <a:gd name="adj" fmla="val 16667"/>
            </a:avLst>
          </a:prstGeom>
          <a:solidFill>
            <a:srgbClr val="0E1C42"/>
          </a:solidFill>
          <a:ln w="19050">
            <a:solidFill>
              <a:srgbClr val="55C8E8"/>
            </a:solidFill>
            <a:prstDash val="solid"/>
          </a:ln>
        </p:spPr>
      </p:sp>
      <p:sp>
        <p:nvSpPr>
          <p:cNvPr id="25" name="Text 22"/>
          <p:cNvSpPr/>
          <p:nvPr/>
        </p:nvSpPr>
        <p:spPr>
          <a:xfrm>
            <a:off x="5212080" y="2258568"/>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Copied or downloaded the Gathered Answers</a:t>
            </a:r>
            <a:endParaRPr lang="en-US" sz="1200" dirty="0"/>
          </a:p>
        </p:txBody>
      </p:sp>
      <p:sp>
        <p:nvSpPr>
          <p:cNvPr id="26" name="Shape 23"/>
          <p:cNvSpPr/>
          <p:nvPr/>
        </p:nvSpPr>
        <p:spPr>
          <a:xfrm>
            <a:off x="457200" y="3675888"/>
            <a:ext cx="8229600" cy="960120"/>
          </a:xfrm>
          <a:prstGeom prst="roundRect">
            <a:avLst>
              <a:gd name="adj" fmla="val 9524"/>
            </a:avLst>
          </a:prstGeom>
          <a:solidFill>
            <a:srgbClr val="1A2D5A"/>
          </a:solidFill>
          <a:ln w="19050">
            <a:solidFill>
              <a:srgbClr val="D4943A"/>
            </a:solidFill>
            <a:prstDash val="solid"/>
          </a:ln>
        </p:spPr>
      </p:sp>
      <p:sp>
        <p:nvSpPr>
          <p:cNvPr id="27" name="Text 24"/>
          <p:cNvSpPr/>
          <p:nvPr/>
        </p:nvSpPr>
        <p:spPr>
          <a:xfrm>
            <a:off x="640080" y="3730752"/>
            <a:ext cx="7863840" cy="274320"/>
          </a:xfrm>
          <a:prstGeom prst="rect">
            <a:avLst/>
          </a:prstGeom>
          <a:noFill/>
          <a:ln/>
        </p:spPr>
        <p:txBody>
          <a:bodyPr wrap="square"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WELL DONE, JUNIOR EDITOR.</a:t>
            </a:r>
            <a:endParaRPr lang="en-US" sz="1100" dirty="0"/>
          </a:p>
        </p:txBody>
      </p:sp>
      <p:sp>
        <p:nvSpPr>
          <p:cNvPr id="28" name="Text 25"/>
          <p:cNvSpPr/>
          <p:nvPr/>
        </p:nvSpPr>
        <p:spPr>
          <a:xfrm>
            <a:off x="640080" y="4023360"/>
            <a:ext cx="7863840" cy="530352"/>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You read a real timeline as a source, named what it left out, and published a Correction the Hasty Herald couldn't write. The Source Desk is officially open.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2026-07-16T17:05:53Z</dcterms:created>
  <dcterms:modified xsi:type="dcterms:W3CDTF">2026-07-16T17:05:53Z</dcterms:modified>
</cp:coreProperties>
</file>